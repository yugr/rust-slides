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1"/>
  </p:notesMasterIdLst>
  <p:sldIdLst>
    <p:sldId id="256" r:id="rId2"/>
    <p:sldId id="290" r:id="rId3"/>
    <p:sldId id="302" r:id="rId4"/>
    <p:sldId id="291" r:id="rId5"/>
    <p:sldId id="292" r:id="rId6"/>
    <p:sldId id="261" r:id="rId7"/>
    <p:sldId id="260" r:id="rId8"/>
    <p:sldId id="300" r:id="rId9"/>
    <p:sldId id="298" r:id="rId10"/>
    <p:sldId id="259" r:id="rId11"/>
    <p:sldId id="257" r:id="rId12"/>
    <p:sldId id="264" r:id="rId13"/>
    <p:sldId id="480" r:id="rId14"/>
    <p:sldId id="301" r:id="rId15"/>
    <p:sldId id="269" r:id="rId16"/>
    <p:sldId id="271" r:id="rId17"/>
    <p:sldId id="272" r:id="rId18"/>
    <p:sldId id="270" r:id="rId19"/>
    <p:sldId id="276" r:id="rId20"/>
    <p:sldId id="273" r:id="rId21"/>
    <p:sldId id="278" r:id="rId22"/>
    <p:sldId id="279" r:id="rId23"/>
    <p:sldId id="288" r:id="rId24"/>
    <p:sldId id="282" r:id="rId25"/>
    <p:sldId id="304" r:id="rId26"/>
    <p:sldId id="305" r:id="rId27"/>
    <p:sldId id="294" r:id="rId28"/>
    <p:sldId id="287" r:id="rId29"/>
    <p:sldId id="306" r:id="rId30"/>
    <p:sldId id="283" r:id="rId31"/>
    <p:sldId id="284" r:id="rId32"/>
    <p:sldId id="297" r:id="rId33"/>
    <p:sldId id="470" r:id="rId34"/>
    <p:sldId id="274" r:id="rId35"/>
    <p:sldId id="296" r:id="rId36"/>
    <p:sldId id="286" r:id="rId37"/>
    <p:sldId id="472" r:id="rId38"/>
    <p:sldId id="307" r:id="rId39"/>
    <p:sldId id="285" r:id="rId40"/>
    <p:sldId id="295" r:id="rId41"/>
    <p:sldId id="281" r:id="rId42"/>
    <p:sldId id="280" r:id="rId43"/>
    <p:sldId id="293" r:id="rId44"/>
    <p:sldId id="303" r:id="rId45"/>
    <p:sldId id="299" r:id="rId46"/>
    <p:sldId id="277" r:id="rId47"/>
    <p:sldId id="275" r:id="rId48"/>
    <p:sldId id="308" r:id="rId49"/>
    <p:sldId id="309" r:id="rId50"/>
    <p:sldId id="311" r:id="rId51"/>
    <p:sldId id="312" r:id="rId52"/>
    <p:sldId id="314" r:id="rId53"/>
    <p:sldId id="315" r:id="rId54"/>
    <p:sldId id="316" r:id="rId55"/>
    <p:sldId id="321" r:id="rId56"/>
    <p:sldId id="317" r:id="rId57"/>
    <p:sldId id="318" r:id="rId58"/>
    <p:sldId id="322" r:id="rId59"/>
    <p:sldId id="319" r:id="rId60"/>
    <p:sldId id="320" r:id="rId61"/>
    <p:sldId id="329" r:id="rId62"/>
    <p:sldId id="330" r:id="rId63"/>
    <p:sldId id="357" r:id="rId64"/>
    <p:sldId id="359" r:id="rId65"/>
    <p:sldId id="368" r:id="rId66"/>
    <p:sldId id="454" r:id="rId67"/>
    <p:sldId id="360" r:id="rId68"/>
    <p:sldId id="369" r:id="rId69"/>
    <p:sldId id="367" r:id="rId70"/>
    <p:sldId id="362" r:id="rId71"/>
    <p:sldId id="471" r:id="rId72"/>
    <p:sldId id="361" r:id="rId73"/>
    <p:sldId id="365" r:id="rId74"/>
    <p:sldId id="371" r:id="rId75"/>
    <p:sldId id="372" r:id="rId76"/>
    <p:sldId id="373" r:id="rId77"/>
    <p:sldId id="363" r:id="rId78"/>
    <p:sldId id="364" r:id="rId79"/>
    <p:sldId id="335" r:id="rId80"/>
    <p:sldId id="336" r:id="rId81"/>
    <p:sldId id="380" r:id="rId82"/>
    <p:sldId id="376" r:id="rId83"/>
    <p:sldId id="418" r:id="rId84"/>
    <p:sldId id="417" r:id="rId85"/>
    <p:sldId id="416" r:id="rId86"/>
    <p:sldId id="378" r:id="rId87"/>
    <p:sldId id="375" r:id="rId88"/>
    <p:sldId id="419" r:id="rId89"/>
    <p:sldId id="377" r:id="rId90"/>
    <p:sldId id="331" r:id="rId91"/>
    <p:sldId id="381" r:id="rId92"/>
    <p:sldId id="422" r:id="rId93"/>
    <p:sldId id="421" r:id="rId94"/>
    <p:sldId id="384" r:id="rId95"/>
    <p:sldId id="423" r:id="rId96"/>
    <p:sldId id="385" r:id="rId97"/>
    <p:sldId id="386" r:id="rId98"/>
    <p:sldId id="387" r:id="rId99"/>
    <p:sldId id="327" r:id="rId100"/>
    <p:sldId id="461" r:id="rId101"/>
    <p:sldId id="462" r:id="rId102"/>
    <p:sldId id="463" r:id="rId103"/>
    <p:sldId id="464" r:id="rId104"/>
    <p:sldId id="455" r:id="rId105"/>
    <p:sldId id="456" r:id="rId106"/>
    <p:sldId id="457" r:id="rId107"/>
    <p:sldId id="458" r:id="rId108"/>
    <p:sldId id="465" r:id="rId109"/>
    <p:sldId id="466" r:id="rId110"/>
    <p:sldId id="467" r:id="rId111"/>
    <p:sldId id="323" r:id="rId112"/>
    <p:sldId id="395" r:id="rId113"/>
    <p:sldId id="424" r:id="rId114"/>
    <p:sldId id="425" r:id="rId115"/>
    <p:sldId id="427" r:id="rId116"/>
    <p:sldId id="426" r:id="rId117"/>
    <p:sldId id="397" r:id="rId118"/>
    <p:sldId id="431" r:id="rId119"/>
    <p:sldId id="482" r:id="rId120"/>
    <p:sldId id="432" r:id="rId121"/>
    <p:sldId id="398" r:id="rId122"/>
    <p:sldId id="399" r:id="rId123"/>
    <p:sldId id="428" r:id="rId124"/>
    <p:sldId id="430" r:id="rId125"/>
    <p:sldId id="435" r:id="rId126"/>
    <p:sldId id="400" r:id="rId127"/>
    <p:sldId id="401" r:id="rId128"/>
    <p:sldId id="333" r:id="rId129"/>
    <p:sldId id="402" r:id="rId130"/>
    <p:sldId id="437" r:id="rId131"/>
    <p:sldId id="439" r:id="rId132"/>
    <p:sldId id="403" r:id="rId133"/>
    <p:sldId id="438" r:id="rId134"/>
    <p:sldId id="404" r:id="rId135"/>
    <p:sldId id="436" r:id="rId136"/>
    <p:sldId id="440" r:id="rId137"/>
    <p:sldId id="407" r:id="rId138"/>
    <p:sldId id="408" r:id="rId139"/>
    <p:sldId id="325" r:id="rId140"/>
    <p:sldId id="441" r:id="rId141"/>
    <p:sldId id="258" r:id="rId142"/>
    <p:sldId id="442" r:id="rId143"/>
    <p:sldId id="443" r:id="rId144"/>
    <p:sldId id="444" r:id="rId145"/>
    <p:sldId id="262" r:id="rId146"/>
    <p:sldId id="445" r:id="rId147"/>
    <p:sldId id="483" r:id="rId148"/>
    <p:sldId id="446" r:id="rId149"/>
    <p:sldId id="447" r:id="rId150"/>
    <p:sldId id="448" r:id="rId151"/>
    <p:sldId id="450" r:id="rId152"/>
    <p:sldId id="451" r:id="rId153"/>
    <p:sldId id="414" r:id="rId154"/>
    <p:sldId id="415" r:id="rId155"/>
    <p:sldId id="268" r:id="rId156"/>
    <p:sldId id="452" r:id="rId157"/>
    <p:sldId id="474" r:id="rId158"/>
    <p:sldId id="469" r:id="rId159"/>
    <p:sldId id="468" r:id="rId160"/>
    <p:sldId id="473" r:id="rId161"/>
    <p:sldId id="267" r:id="rId162"/>
    <p:sldId id="337" r:id="rId163"/>
    <p:sldId id="265" r:id="rId164"/>
    <p:sldId id="484" r:id="rId165"/>
    <p:sldId id="266" r:id="rId166"/>
    <p:sldId id="433" r:id="rId167"/>
    <p:sldId id="289" r:id="rId168"/>
    <p:sldId id="453" r:id="rId169"/>
    <p:sldId id="434" r:id="rId17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sus" initials="A" lastIdx="5" clrIdx="0">
    <p:extLst>
      <p:ext uri="{19B8F6BF-5375-455C-9EA6-DF929625EA0E}">
        <p15:presenceInfo xmlns:p15="http://schemas.microsoft.com/office/powerpoint/2012/main" userId="Asu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90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notesMaster" Target="notesMasters/notesMaster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2" Type="http://schemas.openxmlformats.org/officeDocument/2006/relationships/commentAuthors" Target="commentAuthor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viewProps" Target="view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theme" Target="theme/theme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tableStyles" Target="tableStyle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876068-F81C-4E93-8398-C6F4BAF68747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50068E-63B5-4F5C-A960-A599937AE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923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8E5FC-277C-4CAD-8299-2A1F3533C8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A51917-1CD0-4C4F-B6F8-EDD1410750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D0735D-453A-4979-A48F-F4D0283C3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966CA-BBB7-4443-BE9D-EFD07F3021E5}" type="datetime1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A53E63-E716-4A70-80EE-F5D08530F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F5264A-48A8-4832-AFBC-A98A977AA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022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808AB-8E00-453F-B352-3D4BF4CD2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286CCA-090D-42AC-95D0-4A04B8DD88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E0767-1E2C-4CE9-A7DC-F97C8AA70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B1A39-07E6-4DBD-ABBE-EAF3092D4259}" type="datetime1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CAA7A9-15BA-41A5-9E8D-464CA2404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66C41-C57E-4D22-9E8A-B4FB1888B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207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E47FC-A2E6-420E-9B59-3BD664A28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ACADF5-6117-4830-A0ED-B9214B7B2B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148A07-8724-4A76-817E-DAD6845AA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B0A41-885D-48C0-9F9D-F981EF2F568F}" type="datetime1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7FBE2-BE11-43B4-821D-6EBB64916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42DAF3-7F32-4359-97BE-E97E1A522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773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6C7AD-6C55-4FA5-B045-C3B387DD1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788E50-A7BE-4476-B401-14799C61FD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DAC909-EA98-4CF7-931E-854479F6B2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F0FC90-720E-47B7-8AF1-F92A0890E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B9584-5F83-4C45-AE49-6234E0E1AEF0}" type="datetime1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5A7FFA-E072-4518-851B-2AC8F813C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A1C09B-9E0E-4CE2-90DF-307143EC0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080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E535F-842C-4F23-94E0-D3BD9BF66D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DDC99D-AC1C-4886-A961-263B09A33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817F1D-3F85-4E5D-9C10-EE928CF1AE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038AFC-11E6-4169-8C73-52D31C17A4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043A94-C9A1-4B9C-A69F-C4BCF9FC2B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8BB971-C87E-4C02-9CE9-D2785BB8E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08517-F1F2-4917-AD4E-90AFD9389CC6}" type="datetime1">
              <a:rPr lang="en-US" smtClean="0"/>
              <a:t>4/18/2026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B8A222-A574-4837-BA0A-8911E66B2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E41E22-045C-464D-B7C8-6E216DA3D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411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2DAE55-6268-4ADF-844B-5E502B897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DE728E-F367-464B-91DA-EFBAA73E1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CB413-2E2D-4299-B58F-A87DC2533D1D}" type="datetime1">
              <a:rPr lang="en-US" smtClean="0"/>
              <a:t>4/18/2026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DCC1EE-28A4-4B2C-A320-76B3BBEA8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20D340-12B3-491D-8109-3DB22F269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685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3D3078-7340-4053-9402-D6DF4AEE7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6283D-D87B-4651-9756-E0D231D9E06F}" type="datetime1">
              <a:rPr lang="en-US" smtClean="0"/>
              <a:t>4/18/2026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C75A91-28A5-42A7-AF1E-B64FEEC7A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9F9872-B8CB-4781-8789-C63113492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390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229F0-8616-4EE0-95D5-4BF5615C6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4E6002-0DD0-4B9C-A340-4F291CE3E8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8D6570-670B-47CC-8226-19CC37709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2BBF32-9C51-41BF-95D4-6E9ED7AA6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C4534-F427-495A-908E-1C2745183F2F}" type="datetime1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A0060C-3C2F-452D-8457-84E4653A52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DFA2BB-BCC2-4E42-B0C9-E4DDDED81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711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62F1D-787D-4BE5-8171-B436584C0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8B29C1-8B7F-40D2-9630-6128753A89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DD3B68-26F2-45F0-9C67-0FFEC81CF2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52746-0DA2-4B3D-B9C0-DDEE786DF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73CAC-1F47-4E73-875F-5DD96C29AB63}" type="datetime1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5FE50-E84D-43DA-928F-88A9F66F3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14DC1E-2353-4199-9203-76CB11548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558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85571-E35E-459B-AB0E-ABB1A2186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4D9B00-4968-450F-A957-AEEE313AEA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D60B35-DD4B-4C24-B56F-349C3952A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77ACD-65BF-4941-9A66-0AD85B5D2744}" type="datetime1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52B01C-1E74-4462-B53E-CA87E1939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8A8D4E-F669-4128-A76B-EC6BABF76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9480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C04F65-30C7-4474-9D6C-AA02759D5C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886F7F-D879-4D6B-AAA7-0CC635C101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221E3-40B2-4393-AA83-84C40AADD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867262-16C2-4CEB-85BD-6BBD800A84F2}" type="datetime1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5B2D8-4285-4D57-B10C-C55FD083F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4DF8DD-1382-42FE-A53C-77FD02474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826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A301CD-62E3-4539-B56F-577FB878E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951756-F4E4-459B-8A5F-C11840935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523741-CB30-4536-A2AB-CC3EF7F207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ED86D1-42A6-4E56-9738-C463DDE67D86}" type="datetime1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80981E-93FF-4B93-B078-3CB92BD8B2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2B726-E1AE-4669-B602-C21096B6EA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5309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z-inform" TargetMode="External"/><Relationship Id="rId4" Type="http://schemas.openxmlformats.org/officeDocument/2006/relationships/hyperlink" Target="https://github.com/yugr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hyperlink" Target="https://wiki.c2.com/?SufficientlySmartCompile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xhere.com/ru/photo/870592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users.rust-lang.org/t/what-kind-of-performance-rust-is-trying-to-achieve/1674/2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private/tree/yugr/baseline" TargetMode="External"/><Relationship Id="rId2" Type="http://schemas.openxmlformats.org/officeDocument/2006/relationships/hyperlink" Target="https://github.com/yugr/rust-private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mmons.wikimedia.org/wiki/File:Olympic_types_of_sport_with_icons.png" TargetMode="Externa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gG4BJ23BFBE&amp;t=72s" TargetMode="External"/><Relationship Id="rId2" Type="http://schemas.openxmlformats.org/officeDocument/2006/relationships/hyperlink" Target="https://www.youtube.com/watch?v=3fchvdSPpZY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XdHBSxDsVlM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.rust-lang.org/book/ch16-00-concurrency.html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book/ch20-00-advanced-features.html" TargetMode="External"/><Relationship Id="rId2" Type="http://schemas.openxmlformats.org/officeDocument/2006/relationships/hyperlink" Target="https://doc.rust-lang.org/nomicon/meet-safe-and-unsafe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flickr.com/photos/cazatoma/8746664127" TargetMode="External"/><Relationship Id="rId4" Type="http://schemas.openxmlformats.org/officeDocument/2006/relationships/image" Target="../media/image10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rust/comments/kpqmrh/comment/gi3u2ki" TargetMode="External"/><Relationship Id="rId2" Type="http://schemas.openxmlformats.org/officeDocument/2006/relationships/hyperlink" Target="https://www.reddit.com/r/rust/comments/9jsqyg/comment/e6ufwcm/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features/cons/bounds-checks" TargetMode="Externa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awpixel.com/image/5958324/free-public-domain-cc0-photo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hyperlink" Target="https://www.microsoft.com/en-us/msrc/blog/2019/07/a-proactive-approach-to-more-secure-code" TargetMode="External"/><Relationship Id="rId7" Type="http://schemas.openxmlformats.org/officeDocument/2006/relationships/hyperlink" Target="https://security.googleblog.com/2024/11/retrofitting-spatial-safety-to-hundreds.html" TargetMode="External"/><Relationship Id="rId2" Type="http://schemas.openxmlformats.org/officeDocument/2006/relationships/hyperlink" Target="https://cwe.mitre.org/top25/archive/2024/2024_cwe_top25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cisa.gov/sites/default/files/feeds/known_exploited_vulnerabilities.json" TargetMode="External"/><Relationship Id="rId5" Type="http://schemas.openxmlformats.org/officeDocument/2006/relationships/hyperlink" Target="https://github.com/CVEProject/cvelistV5/tree/main/cves/2024" TargetMode="External"/><Relationship Id="rId4" Type="http://schemas.openxmlformats.org/officeDocument/2006/relationships/hyperlink" Target="https://www.chromium.org/Home/chromium-security/memory-safety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cpedia.org/highway-signs/s/safety.html" TargetMode="External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blob/main/features/cons/bounds-checks/btb.md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tklad/bounds-check-cost/blob/master/src/main.rs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aY744zdfe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176s9nEfE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yale.edu/homes/abhishek/gupta-isca23.pdf" TargetMode="External"/><Relationship Id="rId2" Type="http://schemas.openxmlformats.org/officeDocument/2006/relationships/hyperlink" Target="https://github.com/rust-lang/rfcs/blob/master/text/0560-integer-overflow.md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rust-lang/rust/issues/50759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ickwilcox.com/blog/autovec/" TargetMode="External"/><Relationship Id="rId2" Type="http://schemas.openxmlformats.org/officeDocument/2006/relationships/hyperlink" Target="https://github.com/fschutt/fastblur/pull/3/change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harr.org/matt/blog/2018/04/18/ispc-origins" TargetMode="Externa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orkinjurysource.com/preventing-slip-and-fall-injuries-at-work/" TargetMode="External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rust-lang/rust/pull/36072/files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ust-lang/rust/issues/102303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image-rs/jpeg-decoder/pull/167/files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hyperlink" Target="https://github.com/dropbox/rust-brotli/blob/238c9c539b446d7d980e0a50795752c45dd3359e/src/enc/static_dict.rs#L123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pexels.com/photo/close-up-of-a-person-cutting-bread-19359855/" TargetMode="Externa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emorysafety.org/blog/rav1d-performance-optimization/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6TzEPaaEs" TargetMode="External"/><Relationship Id="rId2" Type="http://schemas.openxmlformats.org/officeDocument/2006/relationships/hyperlink" Target="https://godbolt.org/z/P8de874c1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je69173xv" TargetMode="External"/><Relationship Id="rId2" Type="http://schemas.openxmlformats.org/officeDocument/2006/relationships/hyperlink" Target="https://godbolt.org/z/P8de874c1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ust-lang/rust/issues/106539" TargetMode="External"/><Relationship Id="rId2" Type="http://schemas.openxmlformats.org/officeDocument/2006/relationships/hyperlink" Target="https://www.reddit.com/r/rust/comments/yaft60/zerocost_iterator_abstractionsnot_so_zerocost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hyperlink" Target="https://www.publicdomainpictures.net/en/view-image.php?image=235675&amp;picture=man-carrying-stack-of-boxes" TargetMode="External"/><Relationship Id="rId4" Type="http://schemas.openxmlformats.org/officeDocument/2006/relationships/hyperlink" Target="https://users.rust-lang.org/t/are-iterators-even-efficient/36050/2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G3bfGEhnG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arcin-osowski/cmov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slides/tree/main/features/cons/bounds-checks/count-loops" TargetMode="External"/><Relationship Id="rId2" Type="http://schemas.openxmlformats.org/officeDocument/2006/relationships/hyperlink" Target="https://github.com/yugr/rust-slides/blob/main/features/cons/bounds-checks/count-panic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yugr/rust-private/tree/yugr/disable-bounds-checks/2" TargetMode="External"/><Relationship Id="rId4" Type="http://schemas.openxmlformats.org/officeDocument/2006/relationships/hyperlink" Target="https://github.com/yugr/rust-slides/blob/main/features/cons/bounds-checks/analysis.md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github.com/yugr/rust-private/tree/yugr/disable-bounds-checks/2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discourse.llvm.org/t/rfc-c-buffer-hardening/65734" TargetMode="External"/><Relationship Id="rId7" Type="http://schemas.openxmlformats.org/officeDocument/2006/relationships/image" Target="../media/image20.jpg"/><Relationship Id="rId2" Type="http://schemas.openxmlformats.org/officeDocument/2006/relationships/hyperlink" Target="https://github.com/yugr/rust-slides/tree/main/features/cons/bounds-checks/bounds-test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nl.no/Mount_Everest" TargetMode="External"/><Relationship Id="rId5" Type="http://schemas.openxmlformats.org/officeDocument/2006/relationships/image" Target="../media/image19.png"/><Relationship Id="rId4" Type="http://schemas.openxmlformats.org/officeDocument/2006/relationships/hyperlink" Target="https://github.com/yugr/slides/blob/main/CppZeroCost/2025/EN.pdf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6MG5vdefK" TargetMode="External"/><Relationship Id="rId2" Type="http://schemas.openxmlformats.org/officeDocument/2006/relationships/hyperlink" Target="https://godbolt.org/z/jGT6adEYM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ust-lang/rust/issues/50759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chandlerc.blog/posts/2024/11/story-time-bounds-checking" TargetMode="External"/><Relationship Id="rId2" Type="http://schemas.openxmlformats.org/officeDocument/2006/relationships/hyperlink" Target="https://shnatsel.medium.com/how-to-avoid-bounds-checks-in-rust-without-unsafe-f65e618b4c1e" TargetMode="Externa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features/pros/alias" TargetMode="Externa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ons.wikimedia.org/wiki/File:Hercules_slaying_the_Hydra.gif" TargetMode="External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nqdax4vEP" TargetMode="Externa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dl.acm.org/doi/abs/10.1145/161494.161501" TargetMode="External"/><Relationship Id="rId2" Type="http://schemas.openxmlformats.org/officeDocument/2006/relationships/hyperlink" Target="https://dl.acm.org/doi/10.1145/99583.99599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l.acm.org/doi/10.1145/3605573.3605644" TargetMode="External"/><Relationship Id="rId5" Type="http://schemas.openxmlformats.org/officeDocument/2006/relationships/hyperlink" Target="https://dl.acm.org/doi/10.5555/645989.674312" TargetMode="External"/><Relationship Id="rId4" Type="http://schemas.openxmlformats.org/officeDocument/2006/relationships/hyperlink" Target="https://www.microsoft.com/en-us/research/wp-content/uploads/2016/02/tr-2001-38.pdf" TargetMode="Externa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6WoTzoo5v" TargetMode="Externa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ust-lang/rust/issues/16515" TargetMode="External"/><Relationship Id="rId2" Type="http://schemas.openxmlformats.org/officeDocument/2006/relationships/hyperlink" Target="http://llvm.org/docs/LangRef.html#noalias-and-alias-scope-metadata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odbolt.org/z/WjY9rxex7" TargetMode="External"/><Relationship Id="rId4" Type="http://schemas.openxmlformats.org/officeDocument/2006/relationships/hyperlink" Target="https://github.com/rust-lang/rust/commit/71f5cfb21f3fd2f1740bced061c66ff112fec259" TargetMode="Externa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private/tree/yugr/force-aliasing/2" TargetMode="External"/><Relationship Id="rId2" Type="http://schemas.openxmlformats.org/officeDocument/2006/relationships/hyperlink" Target="https://github.com/yugr/rust-slides/blob/main/features/pros/alias/analysis.md#prevalence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github.com/yugr/rust-private/tree/yugr/force-aliasing/2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dl.acm.org/doi/abs/10.1145/161494.161501" TargetMode="External"/><Relationship Id="rId7" Type="http://schemas.openxmlformats.org/officeDocument/2006/relationships/hyperlink" Target="https://github.com/travisdowns/uarch-bench/wiki/Memory-Disambiguation-on-Skylake" TargetMode="External"/><Relationship Id="rId2" Type="http://schemas.openxmlformats.org/officeDocument/2006/relationships/hyperlink" Target="https://dl.acm.org/doi/10.1145/99583.99599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l.acm.org/doi/10.1145/3605573.3605644" TargetMode="External"/><Relationship Id="rId5" Type="http://schemas.openxmlformats.org/officeDocument/2006/relationships/hyperlink" Target="https://dl.acm.org/doi/10.5555/645989.674312" TargetMode="External"/><Relationship Id="rId4" Type="http://schemas.openxmlformats.org/officeDocument/2006/relationships/hyperlink" Target="https://www.microsoft.com/en-us/research/wp-content/uploads/2016/02/tr-2001-38.pdf" TargetMode="Externa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features/cons/init" TargetMode="Externa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pen-std.org/jtc1/sc22/wg21/docs/papers/2023/p2723r1.html#real-world" TargetMode="External"/><Relationship Id="rId2" Type="http://schemas.openxmlformats.org/officeDocument/2006/relationships/hyperlink" Target="https://github.com/microsoft/MSRC-Security-Research/blob/master/presentations/2019_09_CppCon/CppCon2019%20-%20Killing%20Uninitialized%20Memory.pdf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pexels.com/photo/vintage-water-tap-dripping-in-black-and-white-29725026/" TargetMode="External"/><Relationship Id="rId4" Type="http://schemas.openxmlformats.org/officeDocument/2006/relationships/image" Target="../media/image26.jpe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kyouko-taiga.github.io/swift-thoughts/tutorial/chapter-1" TargetMode="External"/><Relationship Id="rId2" Type="http://schemas.openxmlformats.org/officeDocument/2006/relationships/hyperlink" Target="https://ericlippert.com/2012/03/05/why-are-local-variables-definitely-assigned-in-unreachable-statements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open-std.org/jtc1/sc22/wg21/docs/papers/2024/p2795r5.html" TargetMode="External"/><Relationship Id="rId5" Type="http://schemas.openxmlformats.org/officeDocument/2006/relationships/hyperlink" Target="https://medium.com/@AlexanderObregon/how-javas-default-values-for-variables-work-9256ce8ed620" TargetMode="External"/><Relationship Id="rId4" Type="http://schemas.openxmlformats.org/officeDocument/2006/relationships/hyperlink" Target="https://go.dev/ref/spec#The_zero_value" TargetMode="Externa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valgrind/tree/yugr/deadwrites/3" TargetMode="External"/><Relationship Id="rId2" Type="http://schemas.openxmlformats.org/officeDocument/2006/relationships/hyperlink" Target="https://github.com/yugr/rust-slides/tree/main/features/cons/init/count-stores" TargetMode="Externa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okio-rs/tokio/pull/1744#issuecomment-554543881" TargetMode="External"/><Relationship Id="rId2" Type="http://schemas.openxmlformats.org/officeDocument/2006/relationships/hyperlink" Target="https://github.com/rust-lang/rust/pull/26950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hadravid.github.io/posts/2025-05-rav1d-faster/" TargetMode="External"/><Relationship Id="rId5" Type="http://schemas.openxmlformats.org/officeDocument/2006/relationships/hyperlink" Target="https://github.com/rust-lang/rfcs/pull/837#issuecomment-75497481" TargetMode="External"/><Relationship Id="rId4" Type="http://schemas.openxmlformats.org/officeDocument/2006/relationships/hyperlink" Target="https://github.com/shadow/shadow/issues/1643" TargetMode="Externa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.rust-lang.org/std/ptr/macro.addr_of_mut.html" TargetMode="Externa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rQWjF8NvqAU" TargetMode="External"/><Relationship Id="rId2" Type="http://schemas.openxmlformats.org/officeDocument/2006/relationships/hyperlink" Target="https://github.com/microsoft/MSRC-Security-Research/blob/master/presentations/2019_09_CppCon/CppCon2019%20-%20Killing%20Uninitialized%20Memory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open-std.org/jtc1/sc22/wg21/docs/papers/2024/p2795r5.html" TargetMode="Externa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features/pros/static" TargetMode="External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hyperlink" Target="https://reviews.llvm.org/D23980" TargetMode="Externa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CppRussia/blob/master/2024/EN.pdf" TargetMode="Externa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MM7Tchx49" TargetMode="Externa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llvm.org/docs/CodingStandards.html#id59" TargetMode="External"/><Relationship Id="rId2" Type="http://schemas.openxmlformats.org/officeDocument/2006/relationships/hyperlink" Target="https://google.github.io/styleguide/cppguide.html#Internal_Linkage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yugr/llvm-project/commits/yugr/internal-private/2" TargetMode="External"/><Relationship Id="rId5" Type="http://schemas.openxmlformats.org/officeDocument/2006/relationships/hyperlink" Target="https://chromium.googlesource.com/chromium/src/+/main/styleguide/c++/c++.md#unnamed-namespaces" TargetMode="External"/><Relationship Id="rId4" Type="http://schemas.openxmlformats.org/officeDocument/2006/relationships/hyperlink" Target="https://isocpp.github.io/CppCoreGuidelines/CppCoreGuidelines#rs-unnamed2" TargetMode="Externa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Localizer" TargetMode="External"/><Relationship Id="rId2" Type="http://schemas.openxmlformats.org/officeDocument/2006/relationships/hyperlink" Target="https://github.com/yugr/rust-slides/blob/main/features/pros/static/0001-Remove-internal-functions.patch" TargetMode="Externa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github.com/yugr/rust-slides/blob/main/features/pros/static/0001-Remove-internal-functions.patch" TargetMode="Externa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archive.org/web/20240309202636/https:/embeddedgurus.com/stack-overflow/2008/12/efficient-c-tips-5-make-local-functions-static/" TargetMode="Externa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slides/tree/main/features/pros/copy-elision" TargetMode="External"/><Relationship Id="rId2" Type="http://schemas.openxmlformats.org/officeDocument/2006/relationships/hyperlink" Target="https://github.com/yugr/rust-slides/tree/main/features/cons/placement-new" TargetMode="External"/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pp-ru/ideas/issues/256" TargetMode="External"/><Relationship Id="rId2" Type="http://schemas.openxmlformats.org/officeDocument/2006/relationships/hyperlink" Target="https://assets.ctfassets.net/oxjq45e8ilak/2eGPH36FWGYOPN2dgTom47/eb317b89aab933d9f28a367a7dcb1083/Roman_Rusyayev_Anton_Polukhin_Nastoyashcheye_i_budushcheye_copy_elision_2020_06_28_15_51_59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yugr/rust-slides/tree/main/features/pros/copy-elision" TargetMode="Externa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rust-lang.github.io/rust-project-goals/2025h2/in-place-initialization.html" TargetMode="Externa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hyperlink" Target="https://rust-lang.github.io/rust-project-goals/2025h2/mir-move-elimination.html" TargetMode="External"/><Relationship Id="rId2" Type="http://schemas.openxmlformats.org/officeDocument/2006/relationships/hyperlink" Target="https://rust-lang.github.io/rust-project-goals/2025h2/in-place-initialization.html" TargetMode="Externa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hyperlink" Target="https://assets.ctfassets.net/oxjq45e8ilak/2eGPH36FWGYOPN2dgTom47/eb317b89aab933d9f28a367a7dcb1083/Roman_Rusyayev_Anton_Polukhin_Nastoyashcheye_i_budushcheye_copy_elision_2020_06_28_15_51_59.pdf" TargetMode="Externa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features/pros/niche" TargetMode="External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hyperlink" Target="https://katecpp.github.io/struct-members-order/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70118259@N00/3173642531" TargetMode="Externa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odbolt.org/z/GMoejn7rd" TargetMode="External"/><Relationship Id="rId4" Type="http://schemas.openxmlformats.org/officeDocument/2006/relationships/hyperlink" Target="https://godbolt.org/z/MxYh7bv34" TargetMode="Externa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odbolt.org/z/n8a1x9nWr" TargetMode="Externa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hyperlink" Target="https://nowmediagroup.tv/blog/10-must-read-books-why-multidisciplinary-reading-is-a-must/" TargetMode="External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ust-lang/rfcs/pull/3204" TargetMode="Externa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github.com/Sedeniono/tiny-optional?tab=readme-ov-file#use-case-1-wasting-no-memory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private/tree/zakhar/struct-reorder" TargetMode="External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atb.org/esr/structure-packing/" TargetMode="Externa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features/cons/arithmetic-checks" TargetMode="External"/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hyperlink" Target="https://cwe.mitre.org/top25/archive/2019/2019_cwe_top25.html" TargetMode="External"/><Relationship Id="rId7" Type="http://schemas.openxmlformats.org/officeDocument/2006/relationships/hyperlink" Target="https://github.com/yugr/slides/blob/main/CppZeroCost/2025/EN.pdf" TargetMode="External"/><Relationship Id="rId2" Type="http://schemas.openxmlformats.org/officeDocument/2006/relationships/hyperlink" Target="https://cwe.mitre.org/top25/archive/2024/2024_cwe_top25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blog.regehr.org/archives/1559" TargetMode="External"/><Relationship Id="rId5" Type="http://schemas.openxmlformats.org/officeDocument/2006/relationships/hyperlink" Target="https://gcc.gnu.org/bugzilla/show_bug.cgi?id=35412" TargetMode="External"/><Relationship Id="rId10" Type="http://schemas.openxmlformats.org/officeDocument/2006/relationships/hyperlink" Target="https://www.researchgate.net/publication/336109913_Famous_Failures_Revisited_A_Focus_on_System_Integration" TargetMode="External"/><Relationship Id="rId4" Type="http://schemas.openxmlformats.org/officeDocument/2006/relationships/hyperlink" Target="https://gcc.gnu.org/legacy-ml/gcc-patches/2000-10/msg00607.html" TargetMode="External"/><Relationship Id="rId9" Type="http://schemas.openxmlformats.org/officeDocument/2006/relationships/image" Target="../media/image38.png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ust-lang/rfcs/pull/560#issuecomment-69403142" TargetMode="Externa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hyperlink" Target="http://danluu.com/integer-overflow/" TargetMode="External"/><Relationship Id="rId2" Type="http://schemas.openxmlformats.org/officeDocument/2006/relationships/hyperlink" Target="https://news.ycombinator.com/item?id=8766264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odbolt.org/z/43h1c87M5" TargetMode="External"/><Relationship Id="rId4" Type="http://schemas.openxmlformats.org/officeDocument/2006/relationships/hyperlink" Target="https://godbolt.org/z/1x49jffv3" TargetMode="Externa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hyperlink" Target="https://kristerw.blogspot.com/2016/02/how-undefined-signed-overflow-enables.html?m=1" TargetMode="Externa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c1sMcxfsP" TargetMode="External"/><Relationship Id="rId2" Type="http://schemas.openxmlformats.org/officeDocument/2006/relationships/hyperlink" Target="https://godbolt.org/z/Yssq68Gja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youtu.be/yG1OZ69H_-o?t=2358" TargetMode="Externa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reddit.com/r/rust/comments/15tvuio/comment/jwnumm3/?utm_source=share&amp;utm_medium=web3x&amp;utm_name=web3xcss&amp;utm_term=1&amp;utm_content=share_button" TargetMode="Externa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blob/main/features/cons/arithmetic-checks/analysis.md#optimizations" TargetMode="Externa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github.com/yugr/rust-private/tree/yugr/no-overflow-checks/2" TargetMode="Externa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github.com/yugr/rust-private/tree/yugr/force-overflow-checks/2" TargetMode="Externa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ust-lang/rfcs/pull/560" TargetMode="External"/><Relationship Id="rId7" Type="http://schemas.openxmlformats.org/officeDocument/2006/relationships/hyperlink" Target="https://web.ist.utl.pt/nuno.lopes/pubs/ub-pldi25.pdf" TargetMode="External"/><Relationship Id="rId2" Type="http://schemas.openxmlformats.org/officeDocument/2006/relationships/hyperlink" Target="https://github.com/rust-lang/rfcs/blob/master/text/0560-integer-overflow.md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kristerw.blogspot.com/2016/02/how-undefined-signed-overflow-enables.html?m=1" TargetMode="External"/><Relationship Id="rId5" Type="http://schemas.openxmlformats.org/officeDocument/2006/relationships/hyperlink" Target="https://users.cs.utah.edu/~regehr/papers/overflow12.pdf" TargetMode="External"/><Relationship Id="rId4" Type="http://schemas.openxmlformats.org/officeDocument/2006/relationships/hyperlink" Target="https://huonw.github.io/blog/2016/04/myths-and-legends-about-integer-overflow-in-rust" TargetMode="Externa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slides/tree/main/features/cons/stdlib" TargetMode="External"/><Relationship Id="rId2" Type="http://schemas.openxmlformats.org/officeDocument/2006/relationships/hyperlink" Target="https://github.com/yugr/rust-slides/tree/main/features/pros/stdlib" TargetMode="External"/><Relationship Id="rId1" Type="http://schemas.openxmlformats.org/officeDocument/2006/relationships/slideLayout" Target="../slideLayouts/slideLayout3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oa67f1j5z" TargetMode="Externa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ust-lang/rust/issues/60673" TargetMode="External"/><Relationship Id="rId2" Type="http://schemas.openxmlformats.org/officeDocument/2006/relationships/hyperlink" Target="https://github.com/yugr/rust-slides/tree/main/features/pros/stdlib/hash-benchmark" TargetMode="Externa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github.com/yugr/rust-private/tree/yugr/stdlib/no-char-checks/2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github.com/yugr/rust-private/tree/yugr/stdlib/no-overflow-checks/2" TargetMode="Externa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lvm/llvm-project/blob/2ae4b92a1cf01b7d09f70ccc919eca2b5d02b080/libcxx/include/__algorithm/sort.h#L375" TargetMode="External"/><Relationship Id="rId2" Type="http://schemas.openxmlformats.org/officeDocument/2006/relationships/hyperlink" Target="https://github.com/yugr/rust-slides/tree/main/features/pros/stdlib/tree-benchmark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yugr/rust-slides/tree/main/features/pros/stdlib/sort-benchmark" TargetMode="Externa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oultapher/sort-research-rs/blob/main/writeup/sort_safety/text.md" TargetMode="Externa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features/cons/fastmath" TargetMode="External"/><Relationship Id="rId1" Type="http://schemas.openxmlformats.org/officeDocument/2006/relationships/slideLayout" Target="../slideLayouts/slideLayout3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6sn7G4r4P" TargetMode="External"/><Relationship Id="rId2" Type="http://schemas.openxmlformats.org/officeDocument/2006/relationships/hyperlink" Target="https://godbolt.org/z/Tqvsv4Tqs" TargetMode="Externa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j6P1ohcTr" TargetMode="External"/><Relationship Id="rId2" Type="http://schemas.openxmlformats.org/officeDocument/2006/relationships/hyperlink" Target="https://godbolt.org/z/v5vvEb1Th" TargetMode="Externa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a5GME55MM" TargetMode="External"/><Relationship Id="rId2" Type="http://schemas.openxmlformats.org/officeDocument/2006/relationships/hyperlink" Target="https://godbolt.org/z/hjzWejv38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odbolt.org/z/dMeKc8PW9" TargetMode="External"/><Relationship Id="rId4" Type="http://schemas.openxmlformats.org/officeDocument/2006/relationships/hyperlink" Target="https://godbolt.org/z/nancn6j8x" TargetMode="Externa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zvPTo9fz4" TargetMode="External"/><Relationship Id="rId2" Type="http://schemas.openxmlformats.org/officeDocument/2006/relationships/hyperlink" Target="https://godbolt.org/z/qTTY4r7Yx" TargetMode="Externa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3e8sM1dh9" TargetMode="External"/><Relationship Id="rId2" Type="http://schemas.openxmlformats.org/officeDocument/2006/relationships/hyperlink" Target="https://godbolt.org/z/v5YEq7hbY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odbolt.org/z/zoWrsfr1h" TargetMode="External"/><Relationship Id="rId4" Type="http://schemas.openxmlformats.org/officeDocument/2006/relationships/hyperlink" Target="https://godbolt.org/z/TYab9sndr" TargetMode="Externa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nv33ffaqx" TargetMode="External"/><Relationship Id="rId2" Type="http://schemas.openxmlformats.org/officeDocument/2006/relationships/hyperlink" Target="https://godbolt.org/z/MPPoc5oea" TargetMode="Externa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rYebWsfco" TargetMode="Externa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ust-lang/rust/issues/21690#issuecomment-2664787927" TargetMode="Externa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hyperlink" Target="https://internals.rust-lang.org/t/suggestion-ffastmath-intrinsics-in-stable/14447" TargetMode="Externa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private/tree/zakhar/algebraic-math" TargetMode="Externa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yugr/rust-private/tree/zakhar/fast-math" TargetMode="Externa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hyperlink" Target="https://llvm.org/devmtg/2024-10/slides/techtalk/Kaylor-Towards-Useful-Fast-Math.pdf" TargetMode="External"/><Relationship Id="rId2" Type="http://schemas.openxmlformats.org/officeDocument/2006/relationships/hyperlink" Target="https://kristerw.github.io/2021/10/19/fast-math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rlp.net/blog/taming-float-sums/" TargetMode="External"/><Relationship Id="rId5" Type="http://schemas.openxmlformats.org/officeDocument/2006/relationships/hyperlink" Target="https://www.open-std.org/jtc1/sc22/wg21/docs/papers/2025/p3715r0.html" TargetMode="External"/><Relationship Id="rId4" Type="http://schemas.openxmlformats.org/officeDocument/2006/relationships/hyperlink" Target="https://simonbyrne.github.io/notes/fastmath/" TargetMode="Externa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hyperlink" Target="https://github.com/yugr/rust-private/tree/yugr/disable-all-checks/1" TargetMode="Externa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hyperlink" Target="https://github.com/yugr/rust-private/tree/yugr/disable-all-checks/1" TargetMode="Externa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hyperlink" Target="https://github.com/yugr/rust-slides/blob/main/benchmarks/rust/histogram.py" TargetMode="Externa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hyperlink" Target="https://github.com/yugr/rust-slides/blob/main/benchmarks/rust/histogram.py" TargetMode="External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slides/blob/main/benchmarks/cpp/histogram.py" TargetMode="Externa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eedpix.com/photo/1171460/weigh-plus-minus-horizontal-plus-minus-balance-sheet-cost-calculation-course" TargetMode="External"/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yugr/rust-slides/tree/main/features/cons/probestack" TargetMode="External"/><Relationship Id="rId3" Type="http://schemas.openxmlformats.org/officeDocument/2006/relationships/hyperlink" Target="https://github.com/yugr/rust-slides/tree/main/features/cons/panics" TargetMode="External"/><Relationship Id="rId7" Type="http://schemas.openxmlformats.org/officeDocument/2006/relationships/hyperlink" Target="https://github.com/yugr/rust-slides/tree/main/features/pros/vtable" TargetMode="External"/><Relationship Id="rId2" Type="http://schemas.openxmlformats.org/officeDocument/2006/relationships/hyperlink" Target="https://github.com/yugr/rust-slides/tree/main/features/cons/cgu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yugr/rust-slides/tree/main/features/pros/noplt" TargetMode="External"/><Relationship Id="rId5" Type="http://schemas.openxmlformats.org/officeDocument/2006/relationships/hyperlink" Target="https://github.com/yugr/rust-slides/tree/main/features/pros/abi" TargetMode="External"/><Relationship Id="rId10" Type="http://schemas.openxmlformats.org/officeDocument/2006/relationships/hyperlink" Target="https://vectorportal.com/vector/timeglass/34811" TargetMode="External"/><Relationship Id="rId4" Type="http://schemas.openxmlformats.org/officeDocument/2006/relationships/hyperlink" Target="https://github.com/yugr/rust-slides/tree/main/features/pros/gc-sections" TargetMode="External"/><Relationship Id="rId9" Type="http://schemas.openxmlformats.org/officeDocument/2006/relationships/image" Target="../media/image53.png"/></Relationships>
</file>

<file path=ppt/slides/_rels/slide163.xml.rels><?xml version="1.0" encoding="UTF-8" standalone="yes"?>
<Relationships xmlns="http://schemas.openxmlformats.org/package/2006/relationships"><Relationship Id="rId8" Type="http://schemas.openxmlformats.org/officeDocument/2006/relationships/hyperlink" Target="https://codeberg.org/amonakov" TargetMode="External"/><Relationship Id="rId3" Type="http://schemas.openxmlformats.org/officeDocument/2006/relationships/hyperlink" Target="https://github.com/yugr/rust-slides/blob/main/EN.pdf" TargetMode="External"/><Relationship Id="rId7" Type="http://schemas.openxmlformats.org/officeDocument/2006/relationships/hyperlink" Target="https://github.com/amonakov" TargetMode="External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kobzol" TargetMode="External"/><Relationship Id="rId5" Type="http://schemas.openxmlformats.org/officeDocument/2006/relationships/hyperlink" Target="https://github.com/Gabriel-Fallen" TargetMode="External"/><Relationship Id="rId4" Type="http://schemas.openxmlformats.org/officeDocument/2006/relationships/hyperlink" Target="https://github.com/petrochenkov" TargetMode="External"/><Relationship Id="rId9" Type="http://schemas.openxmlformats.org/officeDocument/2006/relationships/hyperlink" Target="https://mastodon.social/@pervognsen" TargetMode="Externa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materials" TargetMode="Externa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benchmarks" TargetMode="Externa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slides/tree/main/benchmarks/cpp/ffmpeg-bench" TargetMode="External"/><Relationship Id="rId7" Type="http://schemas.openxmlformats.org/officeDocument/2006/relationships/hyperlink" Target="https://github.com/yugr/rust-slides/issues/55" TargetMode="External"/><Relationship Id="rId2" Type="http://schemas.openxmlformats.org/officeDocument/2006/relationships/hyperlink" Target="https://github.com/yugr/rust-slides/tree/main/benchmarks/cpp/llvm-bench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horonix-test-suite.com/" TargetMode="External"/><Relationship Id="rId5" Type="http://schemas.openxmlformats.org/officeDocument/2006/relationships/hyperlink" Target="https://github.com/yugr/rust-slides/tree/main/benchmarks/cpp/PTS" TargetMode="External"/><Relationship Id="rId4" Type="http://schemas.openxmlformats.org/officeDocument/2006/relationships/hyperlink" Target="https://zatoichi-engineer.github.io/2017/10/04/stack-smashing-protection.html#performance-cost" TargetMode="Externa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uInit" TargetMode="Externa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09DE8-A7DE-48D8-AF7F-E86E2218FC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Performance of Rust language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4F02A-C8D6-4179-9140-FD2C998121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May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0EBCA2-4DAF-414F-A5EE-354B3D2F9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4861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22AED-D104-474B-84D9-AD5561170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us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DA289D-91F9-4067-9253-842C67CAF0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257" y="4138566"/>
            <a:ext cx="1448991" cy="18621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0A333A7-8B6B-47B6-9EDF-04148C3CF8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6753" y="2218765"/>
            <a:ext cx="1524000" cy="1524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46AA54-D228-4271-8F18-9F5F75E411D1}"/>
              </a:ext>
            </a:extLst>
          </p:cNvPr>
          <p:cNvSpPr txBox="1"/>
          <p:nvPr/>
        </p:nvSpPr>
        <p:spPr>
          <a:xfrm>
            <a:off x="3753968" y="2103602"/>
            <a:ext cx="633132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Yuri </a:t>
            </a:r>
            <a:r>
              <a:rPr lang="en-US" dirty="0" err="1"/>
              <a:t>Gribov</a:t>
            </a:r>
            <a:r>
              <a:rPr lang="en-US" dirty="0"/>
              <a:t> (</a:t>
            </a:r>
            <a:r>
              <a:rPr lang="en-US" dirty="0" err="1"/>
              <a:t>yugr</a:t>
            </a:r>
            <a:r>
              <a:rPr lang="en-US" dirty="0"/>
              <a:t>, </a:t>
            </a:r>
            <a:r>
              <a:rPr lang="en-US" dirty="0" err="1"/>
              <a:t>the_real_yugr</a:t>
            </a:r>
            <a:r>
              <a:rPr lang="en-US" dirty="0"/>
              <a:t>), </a:t>
            </a:r>
            <a:r>
              <a:rPr lang="en-US" dirty="0">
                <a:hlinkClick r:id="rId4"/>
              </a:rPr>
              <a:t>https://github.com/yugr</a:t>
            </a:r>
            <a:endParaRPr lang="ru-RU" dirty="0"/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Developer and fan of system SW </a:t>
            </a:r>
            <a:r>
              <a:rPr lang="ru-RU" dirty="0"/>
              <a:t>(</a:t>
            </a:r>
            <a:r>
              <a:rPr lang="en-US" dirty="0"/>
              <a:t>compilers</a:t>
            </a:r>
            <a:r>
              <a:rPr lang="ru-RU" dirty="0"/>
              <a:t>, </a:t>
            </a:r>
            <a:r>
              <a:rPr lang="en-US" dirty="0"/>
              <a:t>runtimes</a:t>
            </a:r>
            <a:r>
              <a:rPr lang="ru-RU" dirty="0"/>
              <a:t>, </a:t>
            </a:r>
            <a:r>
              <a:rPr lang="en-US" dirty="0"/>
              <a:t>verification tools, </a:t>
            </a:r>
            <a:r>
              <a:rPr lang="en-US" dirty="0" err="1"/>
              <a:t>etc</a:t>
            </a:r>
            <a:r>
              <a:rPr lang="ru-RU" dirty="0"/>
              <a:t>.)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Compiler </a:t>
            </a:r>
            <a:r>
              <a:rPr lang="en-US" dirty="0" err="1"/>
              <a:t>teamlead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189DAC-DC40-432C-8CDA-AB74CC849162}"/>
              </a:ext>
            </a:extLst>
          </p:cNvPr>
          <p:cNvSpPr txBox="1"/>
          <p:nvPr/>
        </p:nvSpPr>
        <p:spPr>
          <a:xfrm>
            <a:off x="3753969" y="4607980"/>
            <a:ext cx="58293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Zakhar </a:t>
            </a:r>
            <a:r>
              <a:rPr lang="en-US" dirty="0" err="1"/>
              <a:t>Akimov</a:t>
            </a:r>
            <a:r>
              <a:rPr lang="en-US" dirty="0"/>
              <a:t>, </a:t>
            </a:r>
            <a:r>
              <a:rPr lang="en-US" dirty="0">
                <a:hlinkClick r:id="rId5"/>
              </a:rPr>
              <a:t>https://github.com/z-inform</a:t>
            </a:r>
            <a:endParaRPr lang="ru-RU" dirty="0"/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Developer of general-purpose and AI compilers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ML-in-compilers expert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0FFBF9-CAA1-499A-A684-513B1BA14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6239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18DF9-DDF2-48F4-A881-B36DF3BB2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language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6DEBD-4BE7-4CB8-9B39-EE3FE39F0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Language for high-performance system programming</a:t>
            </a:r>
          </a:p>
          <a:p>
            <a:pPr lvl="1"/>
            <a:r>
              <a:rPr lang="en-US" dirty="0"/>
              <a:t>Zero cost/overhead abstractions: don’t pay for what you don’t use + no (or minimal) runtime overhead (iterators, closures, traits, etc.)</a:t>
            </a:r>
          </a:p>
          <a:p>
            <a:pPr lvl="1"/>
            <a:r>
              <a:rPr lang="en-US" dirty="0"/>
              <a:t>Allows low-level tuning (SIMD, inline assembler, compiler </a:t>
            </a:r>
            <a:r>
              <a:rPr lang="en-US" dirty="0" err="1"/>
              <a:t>intrinsics</a:t>
            </a:r>
            <a:r>
              <a:rPr lang="en-US" dirty="0"/>
              <a:t> like __</a:t>
            </a:r>
            <a:r>
              <a:rPr lang="en-US" dirty="0" err="1"/>
              <a:t>builtin_expect</a:t>
            </a:r>
            <a:r>
              <a:rPr lang="en-US" dirty="0"/>
              <a:t>, etc.)</a:t>
            </a:r>
          </a:p>
          <a:p>
            <a:r>
              <a:rPr lang="en-US" dirty="0"/>
              <a:t>Supports modern programming paradigms</a:t>
            </a:r>
            <a:endParaRPr lang="ru-RU" dirty="0"/>
          </a:p>
          <a:p>
            <a:pPr lvl="1"/>
            <a:r>
              <a:rPr lang="en-US" dirty="0"/>
              <a:t>Procedural,</a:t>
            </a:r>
            <a:r>
              <a:rPr lang="ru-RU" dirty="0"/>
              <a:t> </a:t>
            </a:r>
            <a:r>
              <a:rPr lang="en-US" dirty="0"/>
              <a:t>functional and object-oriented programming</a:t>
            </a:r>
          </a:p>
          <a:p>
            <a:pPr lvl="1"/>
            <a:r>
              <a:rPr lang="en-US" dirty="0"/>
              <a:t>Static and runtime polymorphism</a:t>
            </a:r>
          </a:p>
          <a:p>
            <a:pPr lvl="1"/>
            <a:r>
              <a:rPr lang="en-US" dirty="0"/>
              <a:t>Metaprogramming</a:t>
            </a:r>
          </a:p>
          <a:p>
            <a:r>
              <a:rPr lang="en-US" dirty="0"/>
              <a:t>Reduces number of UBs through stricter language rules and runtime checks</a:t>
            </a:r>
          </a:p>
          <a:p>
            <a:pPr lvl="1"/>
            <a:r>
              <a:rPr lang="en-US" dirty="0"/>
              <a:t>Especially memory safety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03CE1C-BF6B-4832-8357-487E09E6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716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9D266-DCB4-4472-B804-C46A1C7CA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performance: Disadvantages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673D49-B112-4B11-9AD6-71D331EF6C7F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Runtime checks</a:t>
            </a:r>
            <a:endParaRPr lang="ru-RU" dirty="0"/>
          </a:p>
          <a:p>
            <a:r>
              <a:rPr lang="en-US" dirty="0"/>
              <a:t>Forced initialization</a:t>
            </a:r>
          </a:p>
          <a:p>
            <a:r>
              <a:rPr lang="en-US" dirty="0"/>
              <a:t>Integer overflows are defined behavior</a:t>
            </a:r>
            <a:endParaRPr lang="ru-RU" dirty="0"/>
          </a:p>
          <a:p>
            <a:r>
              <a:rPr lang="en-US" dirty="0"/>
              <a:t>Performance-robustness tradeoffs in </a:t>
            </a:r>
            <a:r>
              <a:rPr lang="en-US" dirty="0" err="1"/>
              <a:t>stdlib</a:t>
            </a:r>
            <a:endParaRPr lang="en-US" dirty="0"/>
          </a:p>
          <a:p>
            <a:r>
              <a:rPr lang="ru-RU" dirty="0"/>
              <a:t>...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6D918-12E0-42A0-AC72-36B6C2730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</a:t>
            </a:fld>
            <a:endParaRPr lang="en-US"/>
          </a:p>
        </p:txBody>
      </p:sp>
      <p:pic>
        <p:nvPicPr>
          <p:cNvPr id="1026" name="Picture 2" descr="Plus, Minus icon - Free Download PNG ...">
            <a:extLst>
              <a:ext uri="{FF2B5EF4-FFF2-40B4-BE49-F238E27FC236}">
                <a16:creationId xmlns:a16="http://schemas.microsoft.com/office/drawing/2014/main" id="{8C9F0949-E7A9-496D-813D-A4916C2DC4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80251" y="365125"/>
            <a:ext cx="1681443" cy="1681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7247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9D266-DCB4-4472-B804-C46A1C7CA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performance: 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F11E3-E455-4924-AA1C-701D47881F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673D49-B112-4B11-9AD6-71D331EF6C7F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More aggressive alias analysis</a:t>
            </a:r>
          </a:p>
          <a:p>
            <a:pPr lvl="1"/>
            <a:r>
              <a:rPr lang="en-US" dirty="0"/>
              <a:t>Basically restrict-by-default</a:t>
            </a:r>
          </a:p>
          <a:p>
            <a:r>
              <a:rPr lang="en-US" dirty="0"/>
              <a:t>Structure layout optimizations</a:t>
            </a:r>
          </a:p>
          <a:p>
            <a:pPr lvl="1"/>
            <a:r>
              <a:rPr lang="en-US" dirty="0"/>
              <a:t>Field reorder and niche optimizations</a:t>
            </a:r>
          </a:p>
          <a:p>
            <a:r>
              <a:rPr lang="en-US" dirty="0"/>
              <a:t>More efficient standard library containers</a:t>
            </a:r>
          </a:p>
          <a:p>
            <a:r>
              <a:rPr lang="en-US" dirty="0"/>
              <a:t>...</a:t>
            </a:r>
            <a:endParaRPr lang="ru-R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6D918-12E0-42A0-AC72-36B6C2730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</a:t>
            </a:fld>
            <a:endParaRPr lang="en-US"/>
          </a:p>
        </p:txBody>
      </p:sp>
      <p:pic>
        <p:nvPicPr>
          <p:cNvPr id="8" name="Picture 2" descr="Plus, Minus icon - Free Download PNG ...">
            <a:extLst>
              <a:ext uri="{FF2B5EF4-FFF2-40B4-BE49-F238E27FC236}">
                <a16:creationId xmlns:a16="http://schemas.microsoft.com/office/drawing/2014/main" id="{B22C295E-DA79-4A3D-A8BB-57324B7111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80251" y="365125"/>
            <a:ext cx="1681443" cy="1681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7115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3E1C6-BA6C-4297-9FD0-C1E66B4CF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 of this talk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F11C00-33DC-4488-AAE1-C01FE5C393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“expensive”</a:t>
            </a:r>
            <a:r>
              <a:rPr lang="ru-RU" dirty="0"/>
              <a:t> </a:t>
            </a:r>
            <a:r>
              <a:rPr lang="en-US" dirty="0"/>
              <a:t>are Rust checks in practice?</a:t>
            </a:r>
          </a:p>
          <a:p>
            <a:pPr lvl="1"/>
            <a:r>
              <a:rPr lang="en-US" dirty="0"/>
              <a:t>Compared to Rust without checks and/or C/C++</a:t>
            </a:r>
          </a:p>
          <a:p>
            <a:pPr lvl="1"/>
            <a:r>
              <a:rPr lang="en-US" dirty="0"/>
              <a:t>What are the immediate (extra instructions) and indirect </a:t>
            </a:r>
            <a:r>
              <a:rPr lang="ru-RU" dirty="0"/>
              <a:t>(</a:t>
            </a:r>
            <a:r>
              <a:rPr lang="en-US" dirty="0"/>
              <a:t>disabling optimizations, I$/BTB pressure)</a:t>
            </a:r>
            <a:r>
              <a:rPr lang="ru-RU" dirty="0"/>
              <a:t> </a:t>
            </a:r>
            <a:r>
              <a:rPr lang="en-US" dirty="0"/>
              <a:t>consequences</a:t>
            </a:r>
          </a:p>
          <a:p>
            <a:r>
              <a:rPr lang="en-US" dirty="0"/>
              <a:t>Can</a:t>
            </a:r>
            <a:r>
              <a:rPr lang="ru-RU" dirty="0"/>
              <a:t> </a:t>
            </a:r>
            <a:r>
              <a:rPr lang="en-US" dirty="0">
                <a:hlinkClick r:id="rId2"/>
              </a:rPr>
              <a:t>Sufficiently Smart</a:t>
            </a:r>
            <a:r>
              <a:rPr lang="en-US" dirty="0"/>
              <a:t> (Heroic) Compilers © help to mitigate overheads?</a:t>
            </a:r>
          </a:p>
          <a:p>
            <a:r>
              <a:rPr lang="en-US" dirty="0"/>
              <a:t>And if not, can developer help compiler to get rid of them?</a:t>
            </a:r>
          </a:p>
          <a:p>
            <a:r>
              <a:rPr lang="en-US" dirty="0"/>
              <a:t>On the contrary, what language features help compiler to optimize code better?</a:t>
            </a:r>
          </a:p>
          <a:p>
            <a:endParaRPr lang="en-US" dirty="0"/>
          </a:p>
        </p:txBody>
      </p:sp>
      <p:pic>
        <p:nvPicPr>
          <p:cNvPr id="4" name="Picture 4" descr="картинки : доска, колесо, игра, отдых, Красный, цвет, Цель, круг,  соревнование, стрела, Симметрия, Выстрел, центр, Игры, Победитель,  Прицеливаться, дартс, Успех, Гол, достижение, Точность, удар, Точный,  Дартборд, Индивидуальные виды спорта, Внутренние ...">
            <a:extLst>
              <a:ext uri="{FF2B5EF4-FFF2-40B4-BE49-F238E27FC236}">
                <a16:creationId xmlns:a16="http://schemas.microsoft.com/office/drawing/2014/main" id="{4A68C681-A33E-4B88-B5AE-F5006C0F4B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8324" y="681037"/>
            <a:ext cx="2125476" cy="1414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5C6A656-DDAE-439A-B4C1-7E9D7E507316}"/>
              </a:ext>
            </a:extLst>
          </p:cNvPr>
          <p:cNvSpPr txBox="1"/>
          <p:nvPr/>
        </p:nvSpPr>
        <p:spPr>
          <a:xfrm>
            <a:off x="9022556" y="2091882"/>
            <a:ext cx="25370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4"/>
              </a:rPr>
              <a:t>https://pxhere.com/ru/photo/870592</a:t>
            </a:r>
            <a:endParaRPr lang="en-US" sz="1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F54C16-16CD-4CD8-934B-798A6C49D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9982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F42C0-E7EA-4553-A526-BBFA4F2C6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Opinion of language creators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D79FAB-0F7A-4F38-BA82-1168FFF727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Steven </a:t>
            </a:r>
            <a:r>
              <a:rPr lang="en-US" dirty="0" err="1">
                <a:hlinkClick r:id="rId2"/>
              </a:rPr>
              <a:t>Klabnik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en-US" dirty="0"/>
              <a:t>"Generally Rust is the same order of magnitude as C. Sometimes faster, sometimes slower”</a:t>
            </a:r>
          </a:p>
          <a:p>
            <a:pPr lvl="1"/>
            <a:r>
              <a:rPr lang="en-US" dirty="0"/>
              <a:t>“Rust prioritizes memory safety above all else. But speed is a close second"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2507E8-7692-4A0F-985F-E2A82E37E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161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F6CC3-E58F-4B6F-B5D5-594EBF70F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Overhead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2797A-519E-433F-A038-B1E37653A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can we estimate overheads caused by checks?</a:t>
            </a:r>
          </a:p>
          <a:p>
            <a:r>
              <a:rPr lang="en-US" dirty="0"/>
              <a:t>Rust compiler does not provide flags to disable safety checks</a:t>
            </a:r>
          </a:p>
          <a:p>
            <a:r>
              <a:rPr lang="en-US" dirty="0"/>
              <a:t>We will compare regular Rust with </a:t>
            </a:r>
            <a:r>
              <a:rPr lang="en-US" dirty="0">
                <a:hlinkClick r:id="rId2"/>
              </a:rPr>
              <a:t>patched Rust</a:t>
            </a:r>
            <a:r>
              <a:rPr lang="ru-RU" dirty="0"/>
              <a:t> </a:t>
            </a:r>
            <a:r>
              <a:rPr lang="en-US" dirty="0"/>
              <a:t>with disabled checks</a:t>
            </a:r>
            <a:endParaRPr lang="ru-RU" dirty="0"/>
          </a:p>
          <a:p>
            <a:pPr lvl="1"/>
            <a:r>
              <a:rPr lang="en-US" dirty="0"/>
              <a:t>Repo with modified compiler: </a:t>
            </a:r>
            <a:r>
              <a:rPr lang="en-US" dirty="0" err="1">
                <a:hlinkClick r:id="rId2"/>
              </a:rPr>
              <a:t>yugr</a:t>
            </a:r>
            <a:r>
              <a:rPr lang="en-US" dirty="0">
                <a:hlinkClick r:id="rId2"/>
              </a:rPr>
              <a:t>/rust-private</a:t>
            </a:r>
            <a:endParaRPr lang="en-US" dirty="0"/>
          </a:p>
          <a:p>
            <a:pPr lvl="1"/>
            <a:r>
              <a:rPr lang="en-US" dirty="0"/>
              <a:t>Baseline branch </a:t>
            </a:r>
            <a:r>
              <a:rPr lang="en-US" dirty="0" err="1">
                <a:hlinkClick r:id="rId3"/>
              </a:rPr>
              <a:t>yugr</a:t>
            </a:r>
            <a:r>
              <a:rPr lang="en-US" dirty="0">
                <a:hlinkClick r:id="rId3"/>
              </a:rPr>
              <a:t>/baseline</a:t>
            </a:r>
            <a:r>
              <a:rPr lang="en-US" dirty="0"/>
              <a:t> (on top of </a:t>
            </a:r>
            <a:r>
              <a:rPr lang="ru-RU" dirty="0"/>
              <a:t>1.87.0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Disabled </a:t>
            </a:r>
            <a:r>
              <a:rPr lang="en-US" dirty="0" err="1"/>
              <a:t>hashtable</a:t>
            </a:r>
            <a:r>
              <a:rPr lang="en-US" dirty="0"/>
              <a:t> randomization and forced function alignment for better measurement stability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671CC-A3F9-40EE-84C9-50E37290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0575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5CA1B-E0AE-4385-B529-287CD5DF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Benchmarks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A4F79-CC8D-4D79-B7AC-BED163797E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Rust compiler runtime benchmarks</a:t>
            </a:r>
          </a:p>
          <a:p>
            <a:r>
              <a:rPr lang="en-US" dirty="0"/>
              <a:t>Benchmarks from large open-source Rust projects from various domains:</a:t>
            </a:r>
            <a:endParaRPr lang="ru-RU" dirty="0"/>
          </a:p>
          <a:p>
            <a:pPr lvl="1"/>
            <a:r>
              <a:rPr lang="en-US" dirty="0" err="1"/>
              <a:t>Gamedev</a:t>
            </a:r>
            <a:r>
              <a:rPr lang="en-US" dirty="0"/>
              <a:t> (Bevy, </a:t>
            </a:r>
            <a:r>
              <a:rPr lang="en-US" dirty="0" err="1"/>
              <a:t>Veloren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Databases </a:t>
            </a:r>
            <a:r>
              <a:rPr lang="ru-RU" dirty="0"/>
              <a:t>(</a:t>
            </a:r>
            <a:r>
              <a:rPr lang="en-US" dirty="0" err="1"/>
              <a:t>SpacetimeDB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Text processing </a:t>
            </a:r>
            <a:r>
              <a:rPr lang="ru-RU" dirty="0"/>
              <a:t>(</a:t>
            </a:r>
            <a:r>
              <a:rPr lang="en-US" dirty="0"/>
              <a:t>Zed, Ruff, regex)</a:t>
            </a:r>
          </a:p>
          <a:p>
            <a:pPr lvl="1"/>
            <a:r>
              <a:rPr lang="en-US" dirty="0"/>
              <a:t>Codecs </a:t>
            </a:r>
            <a:r>
              <a:rPr lang="ru-RU" dirty="0"/>
              <a:t>(</a:t>
            </a:r>
            <a:r>
              <a:rPr lang="en-US" dirty="0"/>
              <a:t>rav1e, </a:t>
            </a:r>
            <a:r>
              <a:rPr lang="en-US" dirty="0" err="1"/>
              <a:t>oxipng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Linear algebra </a:t>
            </a:r>
            <a:r>
              <a:rPr lang="ru-RU" dirty="0"/>
              <a:t>(</a:t>
            </a:r>
            <a:r>
              <a:rPr lang="en-US" dirty="0" err="1"/>
              <a:t>nalgebra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Asynchronous runtime (</a:t>
            </a:r>
            <a:r>
              <a:rPr lang="en-US" dirty="0" err="1"/>
              <a:t>tokio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Packet managers </a:t>
            </a:r>
            <a:r>
              <a:rPr lang="ru-RU" dirty="0"/>
              <a:t>(</a:t>
            </a:r>
            <a:r>
              <a:rPr lang="en-US" dirty="0" err="1"/>
              <a:t>uv</a:t>
            </a:r>
            <a:r>
              <a:rPr lang="en-US" dirty="0"/>
              <a:t>)</a:t>
            </a:r>
          </a:p>
          <a:p>
            <a:r>
              <a:rPr lang="en-US" dirty="0"/>
              <a:t>Many benchmarks have already been optimized (via unsafe, etc.)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B6D97D-68D9-4155-9ADF-837DD9990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CC2539-4128-4E11-B9CE-6467413262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501" y="1098328"/>
            <a:ext cx="1373079" cy="10557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A2689B-9D13-45FF-86A6-D9DC2CFFF3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0634" y="276942"/>
            <a:ext cx="1372332" cy="9095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6AED790-8703-4E1A-A6C7-8EAA174475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2760" y="203294"/>
            <a:ext cx="1186299" cy="10342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DE8690A-112F-400F-B410-9C2EB9219180}"/>
              </a:ext>
            </a:extLst>
          </p:cNvPr>
          <p:cNvSpPr txBox="1"/>
          <p:nvPr/>
        </p:nvSpPr>
        <p:spPr>
          <a:xfrm>
            <a:off x="358588" y="6445624"/>
            <a:ext cx="4912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Akovin</a:t>
            </a:r>
            <a:r>
              <a:rPr lang="en-US" sz="1000" dirty="0"/>
              <a:t>, </a:t>
            </a:r>
            <a:r>
              <a:rPr lang="en-US" sz="1000" dirty="0">
                <a:hlinkClick r:id="rId5"/>
              </a:rPr>
              <a:t>https://commons.wikimedia.org/wiki/File:Olympic_types_of_sport_with_icons.png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3666793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4911C-23AD-443C-B7FD-0F654BDFD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and</a:t>
            </a:r>
            <a:r>
              <a:rPr lang="ru-RU" dirty="0"/>
              <a:t> </a:t>
            </a:r>
            <a:r>
              <a:rPr lang="en-US" dirty="0"/>
              <a:t>C++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E5F66-0EBD-4E83-947D-0A757A894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Rust and</a:t>
            </a:r>
            <a:r>
              <a:rPr lang="ru-RU" dirty="0"/>
              <a:t> </a:t>
            </a:r>
            <a:r>
              <a:rPr lang="en-US" dirty="0"/>
              <a:t>C++ are similar in expressive power:</a:t>
            </a:r>
          </a:p>
          <a:p>
            <a:pPr lvl="1"/>
            <a:r>
              <a:rPr lang="en-US" dirty="0"/>
              <a:t>Support several programming paradigms (procedural</a:t>
            </a:r>
            <a:r>
              <a:rPr lang="ru-RU" dirty="0"/>
              <a:t>, </a:t>
            </a:r>
            <a:r>
              <a:rPr lang="en-US" dirty="0"/>
              <a:t>OOP, functional)</a:t>
            </a:r>
          </a:p>
          <a:p>
            <a:pPr lvl="1"/>
            <a:r>
              <a:rPr lang="en-US" dirty="0"/>
              <a:t>Different types of polymorphism</a:t>
            </a:r>
          </a:p>
          <a:p>
            <a:pPr lvl="1"/>
            <a:r>
              <a:rPr lang="en-US" dirty="0"/>
              <a:t>Etc.</a:t>
            </a:r>
          </a:p>
          <a:p>
            <a:r>
              <a:rPr lang="en-US" dirty="0"/>
              <a:t>Similar application domain (high-performance system programming)</a:t>
            </a:r>
            <a:endParaRPr lang="ru-RU" dirty="0"/>
          </a:p>
          <a:p>
            <a:pPr lvl="1"/>
            <a:r>
              <a:rPr lang="en-US" dirty="0"/>
              <a:t>Zero cost/overhead abstractions</a:t>
            </a:r>
          </a:p>
          <a:p>
            <a:pPr lvl="1"/>
            <a:r>
              <a:rPr lang="en-US" dirty="0"/>
              <a:t>Support for low-level tuning</a:t>
            </a:r>
          </a:p>
          <a:p>
            <a:r>
              <a:rPr lang="en-US" dirty="0"/>
              <a:t>Same backend optimizers (LLVM, GCC)</a:t>
            </a:r>
            <a:r>
              <a:rPr lang="ru-RU" dirty="0"/>
              <a:t> </a:t>
            </a:r>
            <a:r>
              <a:rPr lang="en-US" dirty="0"/>
              <a:t>and optimization technology (PGO, LTO, etc.)</a:t>
            </a:r>
          </a:p>
          <a:p>
            <a:r>
              <a:rPr lang="en-US" dirty="0"/>
              <a:t>“Safe” C++ dialect (Hardened C/C++) has similar runtime checks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1030" name="Picture 6" descr="The Rust Programming Language · GitHub">
            <a:extLst>
              <a:ext uri="{FF2B5EF4-FFF2-40B4-BE49-F238E27FC236}">
                <a16:creationId xmlns:a16="http://schemas.microsoft.com/office/drawing/2014/main" id="{C357BCBA-5866-464D-8B81-242F5507AE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67699" y="196944"/>
            <a:ext cx="1454524" cy="1454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SO C++ Standards Committee · GitHub">
            <a:extLst>
              <a:ext uri="{FF2B5EF4-FFF2-40B4-BE49-F238E27FC236}">
                <a16:creationId xmlns:a16="http://schemas.microsoft.com/office/drawing/2014/main" id="{50AAB90A-3D91-4D78-9E8F-C0E2C21FB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25634" y="157723"/>
            <a:ext cx="1532965" cy="1532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34D1C0-E095-441E-8355-BD7F640D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200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985E7-34C3-4636-9B5F-7F05FEB0E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 covered: Other language aspects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E4ACF-7780-433C-A2D2-95FAE3793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Ergonomics, expressiveness </a:t>
            </a:r>
            <a:r>
              <a:rPr lang="ru-RU" dirty="0"/>
              <a:t>(</a:t>
            </a:r>
            <a:r>
              <a:rPr lang="en-US" dirty="0"/>
              <a:t>e.g. self-referential data structures), safety, etc.</a:t>
            </a:r>
          </a:p>
          <a:p>
            <a:r>
              <a:rPr lang="en-US" dirty="0"/>
              <a:t>A lot of talks on these topics already!</a:t>
            </a:r>
          </a:p>
          <a:p>
            <a:pPr lvl="1"/>
            <a:r>
              <a:rPr lang="en-US" dirty="0">
                <a:hlinkClick r:id="rId2"/>
              </a:rPr>
              <a:t>Rust Features that I Want in C++</a:t>
            </a:r>
            <a:r>
              <a:rPr lang="en-US" dirty="0"/>
              <a:t> (David </a:t>
            </a:r>
            <a:r>
              <a:rPr lang="en-US" dirty="0" err="1"/>
              <a:t>Sankel</a:t>
            </a:r>
            <a:r>
              <a:rPr lang="en-US" dirty="0"/>
              <a:t>, </a:t>
            </a:r>
            <a:r>
              <a:rPr lang="en-US" dirty="0" err="1"/>
              <a:t>CppNow</a:t>
            </a:r>
            <a:r>
              <a:rPr lang="en-US" dirty="0"/>
              <a:t> 2022)</a:t>
            </a:r>
          </a:p>
          <a:p>
            <a:pPr lvl="1"/>
            <a:r>
              <a:rPr lang="en-US" dirty="0">
                <a:hlinkClick r:id="rId3"/>
              </a:rPr>
              <a:t>The existential threat against C++ and where to go from here</a:t>
            </a:r>
            <a:r>
              <a:rPr lang="en-US" dirty="0"/>
              <a:t> (Helge Penne, NDC 2024)</a:t>
            </a:r>
          </a:p>
          <a:p>
            <a:pPr lvl="1"/>
            <a:r>
              <a:rPr lang="en-US" dirty="0">
                <a:hlinkClick r:id="rId4"/>
              </a:rPr>
              <a:t>Rust vs C++ with Steve </a:t>
            </a:r>
            <a:r>
              <a:rPr lang="en-US" dirty="0" err="1">
                <a:hlinkClick r:id="rId4"/>
              </a:rPr>
              <a:t>Klabnik</a:t>
            </a:r>
            <a:r>
              <a:rPr lang="en-US" dirty="0">
                <a:hlinkClick r:id="rId4"/>
              </a:rPr>
              <a:t> and Herb Sutter</a:t>
            </a:r>
            <a:r>
              <a:rPr lang="en-US" dirty="0"/>
              <a:t> (SW Engineering Daily podcast)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BDE4E-3F66-482F-8319-FC2323B18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18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985E7-34C3-4636-9B5F-7F05FEB0E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 covered:</a:t>
            </a:r>
            <a:r>
              <a:rPr lang="ru-RU" dirty="0"/>
              <a:t> </a:t>
            </a:r>
            <a:r>
              <a:rPr lang="en-US" dirty="0"/>
              <a:t>Parallel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E4ACF-7780-433C-A2D2-95FAE3793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Easy and reliable parallel programming is considered one of the big advantages of Rust</a:t>
            </a:r>
            <a:endParaRPr lang="ru-RU" dirty="0"/>
          </a:p>
          <a:p>
            <a:pPr lvl="1"/>
            <a:r>
              <a:rPr lang="en-US" dirty="0">
                <a:hlinkClick r:id="rId2"/>
              </a:rPr>
              <a:t>Fearless Concurrency with Rust</a:t>
            </a:r>
            <a:endParaRPr lang="en-US" dirty="0"/>
          </a:p>
          <a:p>
            <a:r>
              <a:rPr lang="en-US" dirty="0"/>
              <a:t>But this requires a separate talk and deeper expertise</a:t>
            </a:r>
          </a:p>
          <a:p>
            <a:pPr lvl="1"/>
            <a:r>
              <a:rPr lang="en-US" dirty="0" err="1"/>
              <a:t>RustCon</a:t>
            </a:r>
            <a:r>
              <a:rPr lang="en-US" dirty="0"/>
              <a:t> 2027 anyone?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66743A-098C-4F11-94CF-4B18B3951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2046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985E7-34C3-4636-9B5F-7F05FEB0E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 covered: Unsafe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E4ACF-7780-433C-A2D2-95FAE3793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Rust language consists of two parts:</a:t>
            </a:r>
          </a:p>
          <a:p>
            <a:pPr lvl="1"/>
            <a:r>
              <a:rPr lang="en-US" dirty="0"/>
              <a:t>Safe code (most of Rust code</a:t>
            </a:r>
            <a:r>
              <a:rPr lang="ru-RU" dirty="0"/>
              <a:t>)</a:t>
            </a:r>
            <a:endParaRPr lang="en-US" dirty="0"/>
          </a:p>
          <a:p>
            <a:pPr lvl="1"/>
            <a:r>
              <a:rPr lang="en-US" dirty="0"/>
              <a:t>Unsafe code:</a:t>
            </a:r>
          </a:p>
          <a:p>
            <a:pPr lvl="2"/>
            <a:r>
              <a:rPr lang="en-US" dirty="0"/>
              <a:t>“Things the Rust authors will implore you not to do” (</a:t>
            </a:r>
            <a:r>
              <a:rPr lang="en-US" dirty="0" err="1">
                <a:hlinkClick r:id="rId2"/>
              </a:rPr>
              <a:t>Rustonomicon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“Aspects of the language you may not use every day and useful in very specific situations”</a:t>
            </a:r>
            <a:r>
              <a:rPr lang="ru-RU" dirty="0"/>
              <a:t> (</a:t>
            </a:r>
            <a:r>
              <a:rPr lang="en-US" dirty="0">
                <a:hlinkClick r:id="rId3"/>
              </a:rPr>
              <a:t>Rust Book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Used for hotspot optimizations</a:t>
            </a:r>
            <a:endParaRPr lang="ru-RU" dirty="0"/>
          </a:p>
          <a:p>
            <a:pPr lvl="2"/>
            <a:r>
              <a:rPr lang="en-US" dirty="0"/>
              <a:t>Used for tuning in real-world projects </a:t>
            </a:r>
            <a:r>
              <a:rPr lang="ru-RU" dirty="0"/>
              <a:t>(</a:t>
            </a:r>
            <a:r>
              <a:rPr lang="en-US" dirty="0"/>
              <a:t>including benchmarks that we consider)</a:t>
            </a:r>
            <a:endParaRPr lang="ru-RU" dirty="0"/>
          </a:p>
          <a:p>
            <a:r>
              <a:rPr lang="en-US" dirty="0"/>
              <a:t>In this talk we focus on </a:t>
            </a:r>
            <a:r>
              <a:rPr lang="en-US" i="1" dirty="0"/>
              <a:t>safe </a:t>
            </a:r>
            <a:r>
              <a:rPr lang="en-US" dirty="0"/>
              <a:t>code optimizations:</a:t>
            </a:r>
            <a:endParaRPr lang="ru-RU" dirty="0"/>
          </a:p>
          <a:p>
            <a:pPr lvl="1"/>
            <a:r>
              <a:rPr lang="en-US" dirty="0"/>
              <a:t>(Also not covering third-party libraries</a:t>
            </a:r>
            <a:r>
              <a:rPr lang="ru-RU" dirty="0"/>
              <a:t>, </a:t>
            </a:r>
            <a:r>
              <a:rPr lang="en-US" dirty="0"/>
              <a:t>SIMD and compiler </a:t>
            </a:r>
            <a:r>
              <a:rPr lang="en-US" dirty="0" err="1"/>
              <a:t>intrinsics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Unsafe constructs remove the main advantage of the language</a:t>
            </a:r>
          </a:p>
          <a:p>
            <a:pPr lvl="1"/>
            <a:r>
              <a:rPr lang="en-US" dirty="0"/>
              <a:t>Unsafe optimizations are well-known and often trivial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16FB7-552D-4B96-8474-6ED885061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13</a:t>
            </a:fld>
            <a:endParaRPr lang="en-US"/>
          </a:p>
        </p:txBody>
      </p:sp>
      <p:pic>
        <p:nvPicPr>
          <p:cNvPr id="1026" name="Picture 2" descr="UNSAFE | Luckily this didn't apply to ...">
            <a:extLst>
              <a:ext uri="{FF2B5EF4-FFF2-40B4-BE49-F238E27FC236}">
                <a16:creationId xmlns:a16="http://schemas.microsoft.com/office/drawing/2014/main" id="{5A965522-F052-4988-A3ED-ECF63B9267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24391" y="681037"/>
            <a:ext cx="2304769" cy="1533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7E4B53E-C0D2-4F5D-9055-F420B68E7B39}"/>
              </a:ext>
            </a:extLst>
          </p:cNvPr>
          <p:cNvSpPr txBox="1"/>
          <p:nvPr/>
        </p:nvSpPr>
        <p:spPr>
          <a:xfrm>
            <a:off x="116541" y="6502213"/>
            <a:ext cx="40341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Tricia J, </a:t>
            </a:r>
            <a:r>
              <a:rPr lang="en-US" sz="1000" dirty="0">
                <a:hlinkClick r:id="rId5"/>
              </a:rPr>
              <a:t>https://www.flickr.com/photos/cazatoma/8746664127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4255010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985E7-34C3-4636-9B5F-7F05FEB0E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 covered: Non-idiomatic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E4ACF-7780-433C-A2D2-95FAE3793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hlinkClick r:id="rId2"/>
              </a:rPr>
              <a:t>Nikita Popov</a:t>
            </a:r>
            <a:r>
              <a:rPr lang="en-US" dirty="0"/>
              <a:t>, LLVM lead maintainer:</a:t>
            </a:r>
          </a:p>
          <a:p>
            <a:pPr lvl="1"/>
            <a:r>
              <a:rPr lang="en-US" dirty="0"/>
              <a:t>“Languages like C, C++ and Rust are by-design on equal footing“</a:t>
            </a:r>
          </a:p>
          <a:p>
            <a:pPr lvl="1"/>
            <a:r>
              <a:rPr lang="en-US" dirty="0"/>
              <a:t>“You can only compare how easy it is to write performant code or how performant idiomatic code is”</a:t>
            </a:r>
          </a:p>
          <a:p>
            <a:r>
              <a:rPr lang="en-US" dirty="0">
                <a:hlinkClick r:id="rId3"/>
              </a:rPr>
              <a:t>Scott McMurray</a:t>
            </a:r>
            <a:r>
              <a:rPr lang="en-US" dirty="0"/>
              <a:t>, Rust compiler team:</a:t>
            </a:r>
          </a:p>
          <a:p>
            <a:pPr lvl="1"/>
            <a:r>
              <a:rPr lang="en-US" dirty="0"/>
              <a:t>“Clang and </a:t>
            </a:r>
            <a:r>
              <a:rPr lang="en-US" dirty="0" err="1"/>
              <a:t>rustc</a:t>
            </a:r>
            <a:r>
              <a:rPr lang="en-US" dirty="0"/>
              <a:t> are both producing LLVM IR and running mostly the same LLVM optimization passes”</a:t>
            </a:r>
          </a:p>
          <a:p>
            <a:pPr lvl="1"/>
            <a:r>
              <a:rPr lang="en-US" dirty="0"/>
              <a:t>“Given enough work they can always produce essentially the same thing, making the comparisons pointless”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16FB7-552D-4B96-8474-6ED885061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4372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Bounds checks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958E61-48B6-4351-B51D-7CE0FB071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182A08-3A38-4F73-B5C3-E3424FE51B7C}"/>
              </a:ext>
            </a:extLst>
          </p:cNvPr>
          <p:cNvSpPr txBox="1"/>
          <p:nvPr/>
        </p:nvSpPr>
        <p:spPr>
          <a:xfrm>
            <a:off x="180975" y="6356350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Detailed analysis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36659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53228-3760-4226-AC20-B5B4E86E2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A251B-AFAB-4D1F-860A-F2E607F34D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438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Morris Worm (1988)</a:t>
            </a:r>
          </a:p>
          <a:p>
            <a:r>
              <a:rPr lang="en-US" dirty="0"/>
              <a:t>Writing excessively large volume of data into program variable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char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local_buf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sprintf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“Message from user: %s”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received_data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Stack overflow</a:t>
            </a:r>
            <a:endParaRPr lang="ru-RU" dirty="0"/>
          </a:p>
          <a:p>
            <a:pPr lvl="1"/>
            <a:r>
              <a:rPr lang="en-US" dirty="0"/>
              <a:t>Stack Smashing, Return-to-libc, Return-Oriented Programming attacks</a:t>
            </a:r>
          </a:p>
          <a:p>
            <a:pPr lvl="1"/>
            <a:r>
              <a:rPr lang="en-US" dirty="0"/>
              <a:t>The most standardized and widely used type of attacks</a:t>
            </a:r>
          </a:p>
          <a:p>
            <a:r>
              <a:rPr lang="en-US" dirty="0"/>
              <a:t>Heap overflow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07203C-7930-4B98-B51C-7530BB7BA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344" y="1502896"/>
            <a:ext cx="2841526" cy="426229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3D0371-EB56-4B28-A2BA-F24A998EABC4}"/>
              </a:ext>
            </a:extLst>
          </p:cNvPr>
          <p:cNvSpPr txBox="1"/>
          <p:nvPr/>
        </p:nvSpPr>
        <p:spPr>
          <a:xfrm>
            <a:off x="8964705" y="5765186"/>
            <a:ext cx="27521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3"/>
              </a:rPr>
              <a:t>https://www.rawpixel.com/image/5958324/free-public-domain-cc0-photo</a:t>
            </a:r>
            <a:endParaRPr lang="en-US" sz="1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F2FB3-0ABE-4551-B64E-9996F34C7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77AC13-74B0-42BB-979A-B4FD3BCA574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5388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C58F6-C4AB-4F64-B829-BC3665620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232402" cy="1325563"/>
          </a:xfrm>
        </p:spPr>
        <p:txBody>
          <a:bodyPr/>
          <a:lstStyle/>
          <a:p>
            <a:r>
              <a:rPr lang="en-US" dirty="0"/>
              <a:t>Prevalence of buffer overflow vulnerabilities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D9631-53E8-4D6D-A000-E7F004BC01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4153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Leads ratings of the most dangerous vulnerabilities</a:t>
            </a:r>
          </a:p>
          <a:p>
            <a:pPr lvl="1"/>
            <a:r>
              <a:rPr lang="en-US" dirty="0">
                <a:hlinkClick r:id="rId2"/>
              </a:rPr>
              <a:t>Mitre CWE Top 25 2024</a:t>
            </a:r>
            <a:r>
              <a:rPr lang="en-US" dirty="0"/>
              <a:t> (</a:t>
            </a:r>
            <a:r>
              <a:rPr lang="ru-RU" dirty="0"/>
              <a:t>2, 6, 20</a:t>
            </a:r>
            <a:r>
              <a:rPr lang="en-US" dirty="0"/>
              <a:t> places)</a:t>
            </a:r>
            <a:endParaRPr lang="ru-RU" dirty="0"/>
          </a:p>
          <a:p>
            <a:r>
              <a:rPr lang="ru-RU" dirty="0"/>
              <a:t>70% </a:t>
            </a:r>
            <a:r>
              <a:rPr lang="en-US" dirty="0"/>
              <a:t>vulnerabilities in </a:t>
            </a:r>
            <a:r>
              <a:rPr lang="en-US" dirty="0">
                <a:hlinkClick r:id="rId3"/>
              </a:rPr>
              <a:t>Microsoft</a:t>
            </a:r>
            <a:r>
              <a:rPr lang="en-US" dirty="0"/>
              <a:t> products and </a:t>
            </a:r>
            <a:r>
              <a:rPr lang="en-US" dirty="0">
                <a:hlinkClick r:id="rId4"/>
              </a:rPr>
              <a:t>Chromium</a:t>
            </a:r>
            <a:r>
              <a:rPr lang="en-US" dirty="0"/>
              <a:t> caused by memory errors</a:t>
            </a:r>
          </a:p>
          <a:p>
            <a:r>
              <a:rPr lang="en-US" dirty="0"/>
              <a:t>And up to</a:t>
            </a:r>
            <a:r>
              <a:rPr lang="ru-RU" dirty="0"/>
              <a:t> 80% </a:t>
            </a:r>
            <a:r>
              <a:rPr lang="en-US" dirty="0"/>
              <a:t>memory errors are caused buffer overflow</a:t>
            </a:r>
          </a:p>
          <a:p>
            <a:pPr lvl="1"/>
            <a:r>
              <a:rPr lang="en-US" dirty="0">
                <a:hlinkClick r:id="rId5"/>
              </a:rPr>
              <a:t>CVE</a:t>
            </a:r>
            <a:r>
              <a:rPr lang="ru-RU" dirty="0"/>
              <a:t> </a:t>
            </a:r>
            <a:r>
              <a:rPr lang="en-US" dirty="0"/>
              <a:t>and</a:t>
            </a:r>
            <a:r>
              <a:rPr lang="ru-RU" dirty="0"/>
              <a:t> </a:t>
            </a:r>
            <a:r>
              <a:rPr lang="en-US" dirty="0">
                <a:hlinkClick r:id="rId6"/>
              </a:rPr>
              <a:t>KEV</a:t>
            </a:r>
            <a:r>
              <a:rPr lang="en-US" dirty="0"/>
              <a:t> statistics (2024)</a:t>
            </a:r>
          </a:p>
          <a:p>
            <a:pPr lvl="1"/>
            <a:r>
              <a:rPr lang="en-US" dirty="0">
                <a:hlinkClick r:id="rId7"/>
              </a:rPr>
              <a:t>Google Project Zero</a:t>
            </a:r>
            <a:r>
              <a:rPr lang="en-US" dirty="0"/>
              <a:t> (2024)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53CDCD-FB7A-4AC6-9448-79BD075801F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5496" y="620417"/>
            <a:ext cx="2601445" cy="75849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BD23C0-A182-4343-A2FF-947681E88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77AC13-74B0-42BB-979A-B4FD3BCA574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0366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985E7-34C3-4636-9B5F-7F05FEB0E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in</a:t>
            </a:r>
            <a:r>
              <a:rPr lang="ru-RU" dirty="0"/>
              <a:t> </a:t>
            </a:r>
            <a:r>
              <a:rPr lang="en-US" dirty="0"/>
              <a:t>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E4ACF-7780-433C-A2D2-95FAE3793C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450075" cy="4351338"/>
          </a:xfrm>
        </p:spPr>
        <p:txBody>
          <a:bodyPr>
            <a:normAutofit/>
          </a:bodyPr>
          <a:lstStyle/>
          <a:p>
            <a:r>
              <a:rPr lang="en-US" dirty="0"/>
              <a:t>Frontend generates bounds checks for standard index accesses</a:t>
            </a:r>
          </a:p>
          <a:p>
            <a:pPr lvl="1"/>
            <a:r>
              <a:rPr lang="en-US" dirty="0"/>
              <a:t>Arrays</a:t>
            </a:r>
            <a:r>
              <a:rPr lang="ru-RU" dirty="0"/>
              <a:t>, </a:t>
            </a:r>
            <a:r>
              <a:rPr lang="en-US" dirty="0"/>
              <a:t>slices, containers, etc.</a:t>
            </a:r>
          </a:p>
          <a:p>
            <a:pPr lvl="1"/>
            <a:r>
              <a:rPr lang="en-US" dirty="0"/>
              <a:t>Checks may be eliminated later if optimizer can guarantee correctness</a:t>
            </a:r>
            <a:endParaRPr lang="ru-RU" dirty="0"/>
          </a:p>
          <a:p>
            <a:r>
              <a:rPr lang="en-US" dirty="0"/>
              <a:t>Uses safer algorithms in </a:t>
            </a:r>
            <a:r>
              <a:rPr lang="en-US" dirty="0" err="1"/>
              <a:t>stdlib</a:t>
            </a:r>
            <a:endParaRPr lang="ru-RU" dirty="0"/>
          </a:p>
          <a:p>
            <a:pPr lvl="1"/>
            <a:r>
              <a:rPr lang="en-US" dirty="0"/>
              <a:t>E.g. sorting won’t crash on incorrect comparators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C21E9C-1AC0-427A-B43C-401FB1E7C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18</a:t>
            </a:fld>
            <a:endParaRPr lang="en-US"/>
          </a:p>
        </p:txBody>
      </p:sp>
      <p:pic>
        <p:nvPicPr>
          <p:cNvPr id="1026" name="Picture 2" descr="Free of Charge Creative Commons Highway ...">
            <a:extLst>
              <a:ext uri="{FF2B5EF4-FFF2-40B4-BE49-F238E27FC236}">
                <a16:creationId xmlns:a16="http://schemas.microsoft.com/office/drawing/2014/main" id="{DFF4F3E3-1531-47A6-87F0-6293E7F17D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7301" y="998537"/>
            <a:ext cx="2619375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6CF570-3E4E-4860-83A4-FC4AE3612691}"/>
              </a:ext>
            </a:extLst>
          </p:cNvPr>
          <p:cNvSpPr txBox="1"/>
          <p:nvPr/>
        </p:nvSpPr>
        <p:spPr>
          <a:xfrm>
            <a:off x="72558" y="6492875"/>
            <a:ext cx="412292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Nick </a:t>
            </a:r>
            <a:r>
              <a:rPr lang="en-US" sz="1000" dirty="0" err="1"/>
              <a:t>Youngson</a:t>
            </a:r>
            <a:r>
              <a:rPr lang="en-US" sz="1000" dirty="0"/>
              <a:t>, </a:t>
            </a:r>
            <a:r>
              <a:rPr lang="en-US" sz="1000" dirty="0">
                <a:hlinkClick r:id="rId3"/>
              </a:rPr>
              <a:t>https://www.picpedia.org/highway-signs/s/safety.html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844096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Overheads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Comparison and non-taken conditional jump </a:t>
            </a:r>
            <a:r>
              <a:rPr lang="ru-RU" dirty="0"/>
              <a:t>(</a:t>
            </a:r>
            <a:r>
              <a:rPr lang="en-US" dirty="0"/>
              <a:t>1-2 ALU slots)</a:t>
            </a:r>
          </a:p>
          <a:p>
            <a:r>
              <a:rPr lang="en-US" dirty="0"/>
              <a:t>Extra register for keeping object length for comparison</a:t>
            </a:r>
            <a:endParaRPr lang="ru-RU" dirty="0"/>
          </a:p>
          <a:p>
            <a:r>
              <a:rPr lang="en-US" dirty="0"/>
              <a:t>I$ pressure (cache misses) due to checking code and panic handlers</a:t>
            </a:r>
          </a:p>
          <a:p>
            <a:pPr lvl="1"/>
            <a:r>
              <a:rPr lang="en-US" dirty="0"/>
              <a:t>Branch predictor pressure for never-taken branches is </a:t>
            </a:r>
            <a:r>
              <a:rPr lang="en-US" dirty="0">
                <a:hlinkClick r:id="rId2"/>
              </a:rPr>
              <a:t>likely none</a:t>
            </a:r>
            <a:endParaRPr lang="en-US" dirty="0"/>
          </a:p>
          <a:p>
            <a:r>
              <a:rPr lang="en-US" dirty="0"/>
              <a:t>Disabling other optimizations</a:t>
            </a:r>
            <a:endParaRPr lang="ru-RU" dirty="0"/>
          </a:p>
          <a:p>
            <a:pPr lvl="1"/>
            <a:r>
              <a:rPr lang="en-US" dirty="0"/>
              <a:t>Mainly vectorizer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89D59-DF34-4EB4-AFE1-AD82CBDDCA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3192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985E7-34C3-4636-9B5F-7F05FEB0E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optimizations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E4ACF-7780-433C-A2D2-95FAE3793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many cases compiler can</a:t>
            </a:r>
          </a:p>
          <a:p>
            <a:pPr lvl="1"/>
            <a:r>
              <a:rPr lang="en-US" dirty="0"/>
              <a:t>Prove correctness of memory access and remove checks</a:t>
            </a:r>
          </a:p>
          <a:p>
            <a:pPr lvl="1"/>
            <a:r>
              <a:rPr lang="en-US" dirty="0"/>
              <a:t>Or extract checks from loops (O(N) -&gt; O(1))</a:t>
            </a:r>
            <a:endParaRPr lang="ru-RU" dirty="0"/>
          </a:p>
          <a:p>
            <a:r>
              <a:rPr lang="en-US" dirty="0"/>
              <a:t>Such optimizations are done in LLVM optimizer</a:t>
            </a:r>
            <a:endParaRPr lang="ru-RU" dirty="0"/>
          </a:p>
          <a:p>
            <a:pPr lvl="1"/>
            <a:r>
              <a:rPr lang="en-US" dirty="0" err="1"/>
              <a:t>InstCombine</a:t>
            </a:r>
            <a:r>
              <a:rPr lang="en-US" dirty="0"/>
              <a:t>, </a:t>
            </a:r>
            <a:r>
              <a:rPr lang="en-US" dirty="0" err="1"/>
              <a:t>SimpleLoopUnswitch</a:t>
            </a:r>
            <a:r>
              <a:rPr lang="en-US" dirty="0"/>
              <a:t>, </a:t>
            </a:r>
            <a:r>
              <a:rPr lang="en-US" dirty="0" err="1"/>
              <a:t>LoopVectorize</a:t>
            </a:r>
            <a:r>
              <a:rPr lang="en-US" dirty="0"/>
              <a:t>, etc.</a:t>
            </a:r>
            <a:endParaRPr lang="ru-RU" dirty="0"/>
          </a:p>
          <a:p>
            <a:pPr lvl="1"/>
            <a:r>
              <a:rPr lang="en-US" dirty="0"/>
              <a:t>Also help Hardened C/C++</a:t>
            </a:r>
            <a:endParaRPr lang="ru-RU" dirty="0"/>
          </a:p>
          <a:p>
            <a:r>
              <a:rPr lang="en-US" dirty="0"/>
              <a:t>Optimizer has been significantly improved and many older issues are successfully optimized in modern Rust</a:t>
            </a:r>
          </a:p>
          <a:p>
            <a:pPr lvl="1"/>
            <a:r>
              <a:rPr lang="en-US" dirty="0"/>
              <a:t>E.g. well-known </a:t>
            </a:r>
            <a:r>
              <a:rPr lang="en-US" dirty="0">
                <a:hlinkClick r:id="rId2"/>
              </a:rPr>
              <a:t>examples of Alex </a:t>
            </a:r>
            <a:r>
              <a:rPr lang="en-US" dirty="0" err="1">
                <a:hlinkClick r:id="rId2"/>
              </a:rPr>
              <a:t>Kladov</a:t>
            </a:r>
            <a:r>
              <a:rPr lang="ru-RU" dirty="0"/>
              <a:t> </a:t>
            </a:r>
            <a:r>
              <a:rPr lang="en-US" dirty="0"/>
              <a:t>(</a:t>
            </a:r>
            <a:r>
              <a:rPr lang="en-US" dirty="0" err="1"/>
              <a:t>matklad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8798F-61E8-43F0-99D0-7F2722ACE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3396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6CD4A-E75A-485D-9E8C-D61ACD014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88900"/>
            <a:ext cx="10515600" cy="1325563"/>
          </a:xfrm>
        </p:spPr>
        <p:txBody>
          <a:bodyPr/>
          <a:lstStyle/>
          <a:p>
            <a:r>
              <a:rPr lang="en-US" dirty="0"/>
              <a:t>Successful optimization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53F733-21AE-4BC9-9BE5-2B5D5B10426E}"/>
              </a:ext>
            </a:extLst>
          </p:cNvPr>
          <p:cNvSpPr txBox="1"/>
          <p:nvPr/>
        </p:nvSpPr>
        <p:spPr>
          <a:xfrm>
            <a:off x="323850" y="2552700"/>
            <a:ext cx="5372099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 *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084526-447D-45FE-A6E2-D4CCB45DB920}"/>
              </a:ext>
            </a:extLst>
          </p:cNvPr>
          <p:cNvSpPr txBox="1"/>
          <p:nvPr/>
        </p:nvSpPr>
        <p:spPr>
          <a:xfrm>
            <a:off x="5695950" y="1583204"/>
            <a:ext cx="63627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.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cfi_startproc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test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je      .LBB0_1  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// n == 0 =&gt; return </a:t>
            </a:r>
            <a:r>
              <a:rPr lang="ru-RU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lea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[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- 1]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jbe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.LBB0_6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//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b.len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() &lt; n =&gt; panic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ecx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ecx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.p2align        4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.LBB0_4: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             // Loop </a:t>
            </a:r>
            <a:r>
              <a:rPr lang="ru-RU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without checks!</a:t>
            </a:r>
            <a:r>
              <a:rPr lang="ru-RU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mov     r8d,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imul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r8d,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lea     r9, [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+ 1]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add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r8d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mov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r9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r9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.LBB0_4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...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726F8CF-1300-414A-9A5A-5FE2898FAF08}"/>
              </a:ext>
            </a:extLst>
          </p:cNvPr>
          <p:cNvCxnSpPr/>
          <p:nvPr/>
        </p:nvCxnSpPr>
        <p:spPr>
          <a:xfrm>
            <a:off x="4533900" y="3608294"/>
            <a:ext cx="1162050" cy="0"/>
          </a:xfrm>
          <a:prstGeom prst="straightConnector1">
            <a:avLst/>
          </a:prstGeom>
          <a:ln w="793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D20C494-6E9E-416A-8EBD-1A0DE0FD29F1}"/>
              </a:ext>
            </a:extLst>
          </p:cNvPr>
          <p:cNvSpPr txBox="1"/>
          <p:nvPr/>
        </p:nvSpPr>
        <p:spPr>
          <a:xfrm>
            <a:off x="6858000" y="441306"/>
            <a:ext cx="429577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All checks moved to function prologue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2898BD-7095-4992-AD77-E69F33AAC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49255B-6A1E-485E-8959-39F53293253E}"/>
              </a:ext>
            </a:extLst>
          </p:cNvPr>
          <p:cNvSpPr txBox="1"/>
          <p:nvPr/>
        </p:nvSpPr>
        <p:spPr>
          <a:xfrm>
            <a:off x="412377" y="5288340"/>
            <a:ext cx="21963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Compiled with -</a:t>
            </a:r>
            <a:r>
              <a:rPr lang="en-US" sz="1600" dirty="0" err="1"/>
              <a:t>Cno</a:t>
            </a:r>
            <a:r>
              <a:rPr lang="en-US" sz="1600" dirty="0"/>
              <a:t>-vectorize-loops</a:t>
            </a:r>
          </a:p>
          <a:p>
            <a:r>
              <a:rPr lang="en-US" sz="1600" dirty="0"/>
              <a:t>-</a:t>
            </a:r>
            <a:r>
              <a:rPr lang="en-US" sz="1600" dirty="0" err="1"/>
              <a:t>Cno</a:t>
            </a:r>
            <a:r>
              <a:rPr lang="en-US" sz="1600" dirty="0"/>
              <a:t>-vectorize-</a:t>
            </a:r>
            <a:r>
              <a:rPr lang="en-US" sz="1600" dirty="0" err="1"/>
              <a:t>slp</a:t>
            </a:r>
            <a:endParaRPr lang="en-US" sz="1600" dirty="0"/>
          </a:p>
          <a:p>
            <a:r>
              <a:rPr lang="en-US" sz="1600" dirty="0"/>
              <a:t>-</a:t>
            </a:r>
            <a:r>
              <a:rPr lang="en-US" sz="1600" dirty="0" err="1"/>
              <a:t>Cllvm-args</a:t>
            </a:r>
            <a:r>
              <a:rPr lang="en-US" sz="1600" dirty="0"/>
              <a:t>=-unroll-allow-remainder=0</a:t>
            </a:r>
          </a:p>
          <a:p>
            <a:endParaRPr 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83B8A1-3CDF-4AA1-901F-8921D089FB6E}"/>
              </a:ext>
            </a:extLst>
          </p:cNvPr>
          <p:cNvSpPr txBox="1"/>
          <p:nvPr/>
        </p:nvSpPr>
        <p:spPr>
          <a:xfrm>
            <a:off x="2277034" y="4334686"/>
            <a:ext cx="22792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https://godbolt.org/z/aY744zdfe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87987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6CD4A-E75A-485D-9E8C-D61ACD014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88900"/>
            <a:ext cx="10515600" cy="1325563"/>
          </a:xfrm>
        </p:spPr>
        <p:txBody>
          <a:bodyPr/>
          <a:lstStyle/>
          <a:p>
            <a:r>
              <a:rPr lang="en-US" dirty="0"/>
              <a:t>Unsuccessful optimization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53F733-21AE-4BC9-9BE5-2B5D5B10426E}"/>
              </a:ext>
            </a:extLst>
          </p:cNvPr>
          <p:cNvSpPr txBox="1"/>
          <p:nvPr/>
        </p:nvSpPr>
        <p:spPr>
          <a:xfrm>
            <a:off x="323850" y="2363172"/>
            <a:ext cx="6124575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mut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chunk_len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4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num_chunks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chunk_len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num_chunks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chunk_len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chunk_len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084526-447D-45FE-A6E2-D4CCB45DB920}"/>
              </a:ext>
            </a:extLst>
          </p:cNvPr>
          <p:cNvSpPr txBox="1"/>
          <p:nvPr/>
        </p:nvSpPr>
        <p:spPr>
          <a:xfrm>
            <a:off x="6372227" y="1575077"/>
            <a:ext cx="573012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bar: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...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.p2align        4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.LBB0_2:        </a:t>
            </a:r>
            <a:r>
              <a:rPr lang="en-US" sz="1400" b="1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Loop </a:t>
            </a:r>
            <a:r>
              <a:rPr lang="ru-RU" sz="1400" b="1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1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with checks!</a:t>
            </a:r>
            <a:r>
              <a:rPr lang="ru-RU" sz="1400" b="1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lea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[r8 - 3]</a:t>
            </a: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endParaRPr lang="en-US" sz="1400" dirty="0">
              <a:solidFill>
                <a:srgbClr val="FF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jae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.LBB0_7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lea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[r8 - 2]</a:t>
            </a: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endParaRPr lang="en-US" sz="1400" dirty="0">
              <a:solidFill>
                <a:srgbClr val="FF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jae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.LBB0_7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lea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[r8 - 1]</a:t>
            </a: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endParaRPr lang="en-US" sz="1400" dirty="0">
              <a:solidFill>
                <a:srgbClr val="FF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jae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.LBB0_7</a:t>
            </a: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r8,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endParaRPr lang="en-US" sz="1400" dirty="0">
              <a:solidFill>
                <a:srgbClr val="FF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jae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.LBB0_6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add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+ 4*r8 - 12]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add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+ 4*r8 - 8]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add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+ 4*r8 - 4]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add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+ 4*r8]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add     r8, 4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dec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.LBB0_2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726F8CF-1300-414A-9A5A-5FE2898FAF08}"/>
              </a:ext>
            </a:extLst>
          </p:cNvPr>
          <p:cNvCxnSpPr>
            <a:cxnSpLocks/>
          </p:cNvCxnSpPr>
          <p:nvPr/>
        </p:nvCxnSpPr>
        <p:spPr>
          <a:xfrm>
            <a:off x="4657725" y="3028950"/>
            <a:ext cx="1714502" cy="0"/>
          </a:xfrm>
          <a:prstGeom prst="straightConnector1">
            <a:avLst/>
          </a:prstGeom>
          <a:ln w="793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D20C494-6E9E-416A-8EBD-1A0DE0FD29F1}"/>
              </a:ext>
            </a:extLst>
          </p:cNvPr>
          <p:cNvSpPr txBox="1"/>
          <p:nvPr/>
        </p:nvSpPr>
        <p:spPr>
          <a:xfrm>
            <a:off x="7600950" y="450831"/>
            <a:ext cx="35433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Checks remain within the loop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902D13-9D9A-44F9-8A97-68CB22C47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22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3258B0-F19B-46FF-91E0-922932662ECC}"/>
              </a:ext>
            </a:extLst>
          </p:cNvPr>
          <p:cNvSpPr txBox="1"/>
          <p:nvPr/>
        </p:nvSpPr>
        <p:spPr>
          <a:xfrm>
            <a:off x="412377" y="5288340"/>
            <a:ext cx="21963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Compiled with -</a:t>
            </a:r>
            <a:r>
              <a:rPr lang="en-US" sz="1600" dirty="0" err="1"/>
              <a:t>Cno</a:t>
            </a:r>
            <a:r>
              <a:rPr lang="en-US" sz="1600" dirty="0"/>
              <a:t>-vectorize-loops</a:t>
            </a:r>
          </a:p>
          <a:p>
            <a:r>
              <a:rPr lang="en-US" sz="1600" dirty="0"/>
              <a:t>-</a:t>
            </a:r>
            <a:r>
              <a:rPr lang="en-US" sz="1600" dirty="0" err="1"/>
              <a:t>Cno</a:t>
            </a:r>
            <a:r>
              <a:rPr lang="en-US" sz="1600" dirty="0"/>
              <a:t>-vectorize-</a:t>
            </a:r>
            <a:r>
              <a:rPr lang="en-US" sz="1600" dirty="0" err="1"/>
              <a:t>slp</a:t>
            </a:r>
            <a:endParaRPr lang="en-US" sz="1600" dirty="0"/>
          </a:p>
          <a:p>
            <a:r>
              <a:rPr lang="en-US" sz="1600" dirty="0"/>
              <a:t>-</a:t>
            </a:r>
            <a:r>
              <a:rPr lang="en-US" sz="1600" dirty="0" err="1"/>
              <a:t>Cllvm-args</a:t>
            </a:r>
            <a:r>
              <a:rPr lang="en-US" sz="1600" dirty="0"/>
              <a:t>=-unroll-allow-remainder=0</a:t>
            </a:r>
          </a:p>
          <a:p>
            <a:endParaRPr lang="en-US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A3386A-2CE6-43CC-8A9F-114516ABAC71}"/>
              </a:ext>
            </a:extLst>
          </p:cNvPr>
          <p:cNvSpPr txBox="1"/>
          <p:nvPr/>
        </p:nvSpPr>
        <p:spPr>
          <a:xfrm>
            <a:off x="2608730" y="4633749"/>
            <a:ext cx="2285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https://godbolt.org/z/176s9nEfE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7457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F8A69-5176-40F0-9B29-D7B094A61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with optimizer: delayed panics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1BDF0-7505-4227-A913-B34846002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hlinkClick r:id="rId2"/>
              </a:rPr>
              <a:t>Rust RFC 560</a:t>
            </a:r>
            <a:r>
              <a:rPr lang="en-US" dirty="0"/>
              <a:t> suggested that compiler could combine several checks together</a:t>
            </a:r>
          </a:p>
          <a:p>
            <a:pPr lvl="1"/>
            <a:r>
              <a:rPr lang="en-US" dirty="0"/>
              <a:t>If it helps optimization</a:t>
            </a:r>
          </a:p>
          <a:p>
            <a:pPr lvl="1"/>
            <a:r>
              <a:rPr lang="en-US" dirty="0"/>
              <a:t>And observed program behavior won’t change </a:t>
            </a:r>
            <a:r>
              <a:rPr lang="ru-RU" dirty="0"/>
              <a:t>(</a:t>
            </a:r>
            <a:r>
              <a:rPr lang="en-US" dirty="0"/>
              <a:t>modulo error message</a:t>
            </a:r>
            <a:r>
              <a:rPr lang="ru-RU" dirty="0"/>
              <a:t>)</a:t>
            </a:r>
          </a:p>
          <a:p>
            <a:r>
              <a:rPr lang="en-US" dirty="0"/>
              <a:t>Similar to classical concept of </a:t>
            </a:r>
            <a:r>
              <a:rPr lang="en-US" dirty="0">
                <a:hlinkClick r:id="rId3"/>
              </a:rPr>
              <a:t>Imprecise Exceptions</a:t>
            </a:r>
            <a:endParaRPr lang="ru-RU" dirty="0"/>
          </a:p>
          <a:p>
            <a:r>
              <a:rPr lang="en-US" dirty="0"/>
              <a:t>This has not been decided and optimization currently isn’t enabled for bounds checks </a:t>
            </a:r>
            <a:r>
              <a:rPr lang="en-US" dirty="0">
                <a:sym typeface="Wingdings" panose="05000000000000000000" pitchFamily="2" charset="2"/>
              </a:rPr>
              <a:t></a:t>
            </a:r>
            <a:endParaRPr lang="en-US" dirty="0"/>
          </a:p>
          <a:p>
            <a:r>
              <a:rPr lang="en-US" dirty="0"/>
              <a:t>Example: </a:t>
            </a:r>
            <a:r>
              <a:rPr lang="en-US" dirty="0">
                <a:hlinkClick r:id="rId4"/>
              </a:rPr>
              <a:t>rust #50759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2ABA71-A5DA-45F0-91B1-A1EA5CD211F1}"/>
              </a:ext>
            </a:extLst>
          </p:cNvPr>
          <p:cNvSpPr txBox="1"/>
          <p:nvPr/>
        </p:nvSpPr>
        <p:spPr>
          <a:xfrm>
            <a:off x="6296025" y="2381250"/>
            <a:ext cx="570547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use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::{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read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write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};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main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&lt;(),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Error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read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"/</a:t>
            </a:r>
            <a:r>
              <a:rPr lang="en-US" sz="16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tmp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/test"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)?;</a:t>
            </a:r>
          </a:p>
          <a:p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// Each access checked separately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</a:t>
            </a:r>
          </a:p>
          <a:p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   // </a:t>
            </a:r>
            <a:r>
              <a:rPr lang="ru-RU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would be enough to check only</a:t>
            </a:r>
            <a:r>
              <a:rPr lang="ru-RU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h[15])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b="1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b="1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...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b="1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15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]];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write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"/</a:t>
            </a:r>
            <a:r>
              <a:rPr lang="en-US" sz="16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tmp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/test"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&amp;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)?;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Ok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(())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74CA2-53AD-47F3-AB2F-63BF5CF40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6373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Workarounds: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9725024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 slices (rather than containers like </a:t>
            </a:r>
            <a:r>
              <a:rPr lang="en-US" dirty="0" err="1"/>
              <a:t>Vec</a:t>
            </a:r>
            <a:r>
              <a:rPr lang="en-US" dirty="0"/>
              <a:t>) in loops</a:t>
            </a:r>
          </a:p>
          <a:p>
            <a:pPr lvl="1"/>
            <a:r>
              <a:rPr lang="en-US" dirty="0"/>
              <a:t>This simplifies job of alias analysis</a:t>
            </a:r>
          </a:p>
          <a:p>
            <a:pPr lvl="1"/>
            <a:r>
              <a:rPr lang="en-US" dirty="0"/>
              <a:t>Example: </a:t>
            </a:r>
            <a:r>
              <a:rPr lang="en-US" dirty="0" err="1">
                <a:hlinkClick r:id="rId2"/>
              </a:rPr>
              <a:t>fschutt</a:t>
            </a:r>
            <a:r>
              <a:rPr lang="en-US" dirty="0">
                <a:hlinkClick r:id="rId2"/>
              </a:rPr>
              <a:t>/</a:t>
            </a:r>
            <a:r>
              <a:rPr lang="en-US" dirty="0" err="1">
                <a:hlinkClick r:id="rId2"/>
              </a:rPr>
              <a:t>fastblur</a:t>
            </a:r>
            <a:r>
              <a:rPr lang="en-US" dirty="0">
                <a:hlinkClick r:id="rId2"/>
              </a:rPr>
              <a:t> #3</a:t>
            </a:r>
            <a:endParaRPr lang="ru-RU" dirty="0"/>
          </a:p>
          <a:p>
            <a:r>
              <a:rPr lang="en-US" dirty="0"/>
              <a:t>Avoid complex index computations</a:t>
            </a:r>
            <a:endParaRPr lang="ru-RU" dirty="0"/>
          </a:p>
          <a:p>
            <a:pPr lvl="1"/>
            <a:r>
              <a:rPr lang="en-US" dirty="0"/>
              <a:t>Anything more complicated than adding a constant or adding two variables</a:t>
            </a:r>
          </a:p>
          <a:p>
            <a:pPr lvl="1"/>
            <a:r>
              <a:rPr lang="en-US" dirty="0"/>
              <a:t>Even affine operations may break optimizer: </a:t>
            </a:r>
            <a:r>
              <a:rPr lang="en-US" dirty="0">
                <a:hlinkClick r:id="rId3"/>
              </a:rPr>
              <a:t>Taking Advantage of Auto-Vectorization in Rust</a:t>
            </a:r>
            <a:endParaRPr lang="en-US" dirty="0"/>
          </a:p>
          <a:p>
            <a:r>
              <a:rPr lang="en-US" dirty="0"/>
              <a:t>Do not rely on optimizer in non-trivial cases</a:t>
            </a:r>
            <a:endParaRPr lang="ru-RU" dirty="0"/>
          </a:p>
          <a:p>
            <a:pPr lvl="1"/>
            <a:r>
              <a:rPr lang="en-US" dirty="0"/>
              <a:t>Optimizations vary (non-monotonically) across compiler versions</a:t>
            </a:r>
          </a:p>
          <a:p>
            <a:pPr lvl="1"/>
            <a:r>
              <a:rPr lang="en-US" dirty="0">
                <a:hlinkClick r:id="rId4"/>
              </a:rPr>
              <a:t>“Auto-vectorization is not a programming model”</a:t>
            </a:r>
            <a:endParaRPr lang="en-US" dirty="0"/>
          </a:p>
          <a:p>
            <a:r>
              <a:rPr lang="en-US" dirty="0"/>
              <a:t>Same advices are relevant for Hardened C/C++!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580ACC-3BCF-4D43-AA7F-AC3F08998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2381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D6EA-1C59-43CC-8810-5B2834581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CFF8B-C407-4E86-96E3-82D2F2658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Checks elimination</a:t>
            </a:r>
            <a:endParaRPr lang="ru-RU" dirty="0"/>
          </a:p>
          <a:p>
            <a:r>
              <a:rPr lang="en-US" dirty="0"/>
              <a:t>Reducing number of checks</a:t>
            </a:r>
            <a:endParaRPr lang="ru-RU" dirty="0"/>
          </a:p>
          <a:p>
            <a:r>
              <a:rPr lang="en-US" dirty="0"/>
              <a:t>Reducing cost of checks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96E446-0599-48D4-9A5E-339849B15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4765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D6EA-1C59-43CC-8810-5B2834581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CFF8B-C407-4E86-96E3-82D2F2658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Checks elimination</a:t>
            </a:r>
            <a:endParaRPr lang="ru-RU" b="1" dirty="0"/>
          </a:p>
          <a:p>
            <a:r>
              <a:rPr lang="en-US" dirty="0"/>
              <a:t>Reducing number of checks</a:t>
            </a:r>
            <a:endParaRPr lang="ru-RU" dirty="0"/>
          </a:p>
          <a:p>
            <a:r>
              <a:rPr lang="en-US" dirty="0"/>
              <a:t>Reducing cost of checks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96E446-0599-48D4-9A5E-339849B15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1806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Workarounds: Unsafe-code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2578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simplest and most robust solution</a:t>
            </a:r>
          </a:p>
          <a:p>
            <a:r>
              <a:rPr lang="en-US" dirty="0"/>
              <a:t>Used in </a:t>
            </a:r>
            <a:r>
              <a:rPr lang="en-US" dirty="0" err="1"/>
              <a:t>stdlib</a:t>
            </a:r>
            <a:r>
              <a:rPr lang="en-US" dirty="0"/>
              <a:t> containers and iterators</a:t>
            </a:r>
            <a:endParaRPr lang="ru-RU" dirty="0"/>
          </a:p>
          <a:p>
            <a:r>
              <a:rPr lang="en-US" dirty="0"/>
              <a:t>Several variants:</a:t>
            </a:r>
          </a:p>
          <a:p>
            <a:pPr lvl="1"/>
            <a:r>
              <a:rPr lang="en-US" dirty="0"/>
              <a:t>Explicit pointers in unsafe blocks</a:t>
            </a:r>
          </a:p>
          <a:p>
            <a:pPr lvl="1"/>
            <a:r>
              <a:rPr lang="en-US" dirty="0"/>
              <a:t>Check-less APIs like </a:t>
            </a:r>
            <a:r>
              <a:rPr lang="en-US" dirty="0" err="1"/>
              <a:t>get_unchecked</a:t>
            </a:r>
            <a:r>
              <a:rPr lang="en-US" dirty="0"/>
              <a:t>, etc.</a:t>
            </a:r>
            <a:endParaRPr lang="ru-RU" dirty="0"/>
          </a:p>
          <a:p>
            <a:pPr lvl="1"/>
            <a:r>
              <a:rPr lang="en-US" dirty="0"/>
              <a:t>Compiler hints std::hint::</a:t>
            </a:r>
            <a:r>
              <a:rPr lang="en-US" dirty="0" err="1"/>
              <a:t>unreachable_unchecked</a:t>
            </a:r>
            <a:r>
              <a:rPr lang="en-US" dirty="0"/>
              <a:t> and std::hint::</a:t>
            </a:r>
            <a:r>
              <a:rPr lang="en-US" dirty="0" err="1"/>
              <a:t>assert_unchecked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580ACC-3BCF-4D43-AA7F-AC3F08998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27</a:t>
            </a:fld>
            <a:endParaRPr lang="en-US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3DBABD80-5A47-45CE-8D46-DD40CACDBD3C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C0160C7-74EC-4178-99AC-60BDA62A8651}" type="slidenum">
              <a:rPr lang="en-US" smtClean="0"/>
              <a:pPr/>
              <a:t>27</a:t>
            </a:fld>
            <a:endParaRPr lang="en-US"/>
          </a:p>
        </p:txBody>
      </p:sp>
      <p:pic>
        <p:nvPicPr>
          <p:cNvPr id="8" name="Picture 2" descr="Workplace Slip and Fall Injuries ...">
            <a:extLst>
              <a:ext uri="{FF2B5EF4-FFF2-40B4-BE49-F238E27FC236}">
                <a16:creationId xmlns:a16="http://schemas.microsoft.com/office/drawing/2014/main" id="{3EB27115-774A-4A5E-A5C0-CA06562A8E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0600" y="611327"/>
            <a:ext cx="2572084" cy="17116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58518CA-6176-4AFC-93DD-E3CA6E7AEC23}"/>
              </a:ext>
            </a:extLst>
          </p:cNvPr>
          <p:cNvSpPr txBox="1"/>
          <p:nvPr/>
        </p:nvSpPr>
        <p:spPr>
          <a:xfrm>
            <a:off x="143436" y="6492875"/>
            <a:ext cx="48908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3"/>
              </a:rPr>
              <a:t>https://workinjurysource.com/preventing-slip-and-fall-injuries-at-work/</a:t>
            </a:r>
            <a:endParaRPr 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317AD2-200E-4E25-BD38-9C2F41608352}"/>
              </a:ext>
            </a:extLst>
          </p:cNvPr>
          <p:cNvSpPr txBox="1"/>
          <p:nvPr/>
        </p:nvSpPr>
        <p:spPr>
          <a:xfrm>
            <a:off x="6257365" y="3103908"/>
            <a:ext cx="584498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err="1">
                <a:solidFill>
                  <a:srgbClr val="C00000"/>
                </a:solidFill>
                <a:latin typeface="Consolas" panose="020B06090202040302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drop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(&amp;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</a:rPr>
              <a:t>mut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    // fill the hole again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</a:rPr>
              <a:t>unsafe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</a:rPr>
              <a:t>let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pos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sz="18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pos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write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8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8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en-US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get_unchecked_mut</a:t>
            </a:r>
            <a:r>
              <a:rPr lang="en-US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pos</a:t>
            </a:r>
            <a:r>
              <a:rPr lang="en-US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sz="18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elt</a:t>
            </a:r>
            <a:r>
              <a:rPr lang="en-US" sz="18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take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().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unwrap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059E7D-AF85-43C2-82D3-AC8B3EDC6954}"/>
              </a:ext>
            </a:extLst>
          </p:cNvPr>
          <p:cNvSpPr txBox="1"/>
          <p:nvPr/>
        </p:nvSpPr>
        <p:spPr>
          <a:xfrm>
            <a:off x="8157882" y="5453122"/>
            <a:ext cx="15464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rust #36072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09651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39475" cy="1325563"/>
          </a:xfrm>
        </p:spPr>
        <p:txBody>
          <a:bodyPr/>
          <a:lstStyle/>
          <a:p>
            <a:r>
              <a:rPr lang="en-US" dirty="0"/>
              <a:t>Workarounds: Bounded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Index range can be expressed via type system:</a:t>
            </a:r>
          </a:p>
          <a:p>
            <a:pPr lvl="1"/>
            <a:r>
              <a:rPr lang="en-US" dirty="0"/>
              <a:t>Enums or bool</a:t>
            </a:r>
            <a:endParaRPr lang="ru-RU" dirty="0"/>
          </a:p>
          <a:p>
            <a:r>
              <a:rPr lang="en-US" dirty="0"/>
              <a:t>Example: </a:t>
            </a:r>
            <a:r>
              <a:rPr lang="en-US" dirty="0">
                <a:hlinkClick r:id="rId2"/>
              </a:rPr>
              <a:t>rust #102303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521037-A4FB-4FE5-B054-B3B80FA95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40C7A5-B707-4671-B60C-3F0EBC6D0FE5}"/>
              </a:ext>
            </a:extLst>
          </p:cNvPr>
          <p:cNvSpPr txBox="1"/>
          <p:nvPr/>
        </p:nvSpPr>
        <p:spPr>
          <a:xfrm>
            <a:off x="1515037" y="3561853"/>
            <a:ext cx="41147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array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 &amp;[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i16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3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usize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i16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array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3EA6E3-BA9C-4E18-B1E2-F510BF225B2A}"/>
              </a:ext>
            </a:extLst>
          </p:cNvPr>
          <p:cNvSpPr txBox="1"/>
          <p:nvPr/>
        </p:nvSpPr>
        <p:spPr>
          <a:xfrm>
            <a:off x="6562165" y="3007856"/>
            <a:ext cx="466164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array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i16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3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   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i16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array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as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usize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6A64B7E-6D45-44E8-BF8C-8D8D0D19D68D}"/>
              </a:ext>
            </a:extLst>
          </p:cNvPr>
          <p:cNvCxnSpPr>
            <a:cxnSpLocks/>
          </p:cNvCxnSpPr>
          <p:nvPr/>
        </p:nvCxnSpPr>
        <p:spPr>
          <a:xfrm>
            <a:off x="5504329" y="4027547"/>
            <a:ext cx="950259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6126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D6EA-1C59-43CC-8810-5B2834581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CFF8B-C407-4E86-96E3-82D2F2658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Checks elimination</a:t>
            </a:r>
            <a:endParaRPr lang="ru-RU" dirty="0"/>
          </a:p>
          <a:p>
            <a:r>
              <a:rPr lang="en-US" b="1" dirty="0"/>
              <a:t>Reducing number of checks</a:t>
            </a:r>
            <a:endParaRPr lang="ru-RU" b="1" dirty="0"/>
          </a:p>
          <a:p>
            <a:r>
              <a:rPr lang="en-US" dirty="0"/>
              <a:t>Reducing cost of checks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96E446-0599-48D4-9A5E-339849B15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9446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Workarounds: Manual asserts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257674" cy="4351338"/>
          </a:xfrm>
        </p:spPr>
        <p:txBody>
          <a:bodyPr/>
          <a:lstStyle/>
          <a:p>
            <a:r>
              <a:rPr lang="en-US" dirty="0"/>
              <a:t>Replaces many checks with one</a:t>
            </a:r>
          </a:p>
          <a:p>
            <a:r>
              <a:rPr lang="en-US" dirty="0"/>
              <a:t>Example: </a:t>
            </a:r>
            <a:r>
              <a:rPr lang="en-US" dirty="0">
                <a:hlinkClick r:id="rId2"/>
              </a:rPr>
              <a:t>jpeg-decoder #167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6D6B16-1212-4376-A65E-F12C7092C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6B9739-A4DD-45C9-8351-9E71E7887629}"/>
              </a:ext>
            </a:extLst>
          </p:cNvPr>
          <p:cNvSpPr txBox="1"/>
          <p:nvPr/>
        </p:nvSpPr>
        <p:spPr>
          <a:xfrm>
            <a:off x="5638799" y="1652648"/>
            <a:ext cx="6257365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// optimizer hint to eliminate bounds checks</a:t>
            </a:r>
          </a:p>
          <a:p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// within loops</a:t>
            </a:r>
          </a:p>
          <a:p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assert!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coefficients</a:t>
            </a:r>
            <a:r>
              <a:rPr lang="en-US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() ==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64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 mut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temp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Wrapping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64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// columns</a:t>
            </a:r>
          </a:p>
          <a:p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</a:rPr>
              <a:t>for</a:t>
            </a:r>
            <a:r>
              <a:rPr lang="nn-NO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</a:t>
            </a:r>
            <a:r>
              <a:rPr lang="nn-NO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</a:rPr>
              <a:t>in</a:t>
            </a:r>
            <a:r>
              <a:rPr lang="nn-NO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n-NO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</a:rPr>
              <a:t>..</a:t>
            </a:r>
            <a:r>
              <a:rPr lang="nn-NO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8</a:t>
            </a:r>
            <a:r>
              <a:rPr lang="nn-NO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coefficients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8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 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&amp;&amp;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coefficients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16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&amp;&amp;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coefficients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24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&amp;&amp;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coefficients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&amp;&amp;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coefficients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 +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40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&amp;&amp;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coefficients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48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&amp;&amp;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coefficients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56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latin typeface="Consolas" panose="020B0609020204030204" pitchFamily="49" charset="0"/>
              </a:rPr>
              <a:t>...</a:t>
            </a:r>
            <a:endParaRPr lang="en-US" sz="16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3473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3974"/>
            <a:ext cx="10515600" cy="1325563"/>
          </a:xfrm>
        </p:spPr>
        <p:txBody>
          <a:bodyPr/>
          <a:lstStyle/>
          <a:p>
            <a:r>
              <a:rPr lang="en-US" dirty="0"/>
              <a:t>Workarounds: </a:t>
            </a:r>
            <a:r>
              <a:rPr lang="en-US" dirty="0" err="1"/>
              <a:t>Reslicing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9248" y="1670220"/>
            <a:ext cx="10515600" cy="4351338"/>
          </a:xfrm>
        </p:spPr>
        <p:txBody>
          <a:bodyPr/>
          <a:lstStyle/>
          <a:p>
            <a:r>
              <a:rPr lang="en-US" dirty="0" err="1"/>
              <a:t>Reslicing</a:t>
            </a:r>
            <a:r>
              <a:rPr lang="en-US" dirty="0"/>
              <a:t>, </a:t>
            </a:r>
            <a:r>
              <a:rPr lang="en-US" dirty="0" err="1"/>
              <a:t>preslicing</a:t>
            </a:r>
            <a:r>
              <a:rPr lang="en-US" dirty="0"/>
              <a:t> or </a:t>
            </a:r>
            <a:r>
              <a:rPr lang="en-US" dirty="0" err="1"/>
              <a:t>subslicing</a:t>
            </a:r>
            <a:endParaRPr lang="en-US" dirty="0"/>
          </a:p>
          <a:p>
            <a:r>
              <a:rPr lang="en-US" dirty="0"/>
              <a:t>Pre-construct slices of known size</a:t>
            </a:r>
            <a:endParaRPr lang="ru-RU" dirty="0"/>
          </a:p>
          <a:p>
            <a:r>
              <a:rPr lang="en-US" dirty="0"/>
              <a:t>Forces compiler to perform </a:t>
            </a:r>
            <a:r>
              <a:rPr lang="en-US" i="1" dirty="0"/>
              <a:t>single</a:t>
            </a:r>
            <a:r>
              <a:rPr lang="ru-RU" dirty="0"/>
              <a:t> </a:t>
            </a:r>
            <a:r>
              <a:rPr lang="en-US" dirty="0"/>
              <a:t>check when creating slice</a:t>
            </a:r>
            <a:endParaRPr lang="ru-RU" dirty="0"/>
          </a:p>
          <a:p>
            <a:r>
              <a:rPr lang="en-US" dirty="0"/>
              <a:t>Example: </a:t>
            </a:r>
            <a:r>
              <a:rPr lang="en-US" dirty="0" err="1">
                <a:hlinkClick r:id="rId2"/>
              </a:rPr>
              <a:t>dropbox</a:t>
            </a:r>
            <a:r>
              <a:rPr lang="en-US" dirty="0">
                <a:hlinkClick r:id="rId2"/>
              </a:rPr>
              <a:t>/rust-</a:t>
            </a:r>
            <a:r>
              <a:rPr lang="en-US" dirty="0" err="1">
                <a:hlinkClick r:id="rId2"/>
              </a:rPr>
              <a:t>brotli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1E62B7-C8EA-441E-8F63-270268E61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A6DAD1-F248-4F20-9B4B-28B23AEB8A89}"/>
              </a:ext>
            </a:extLst>
          </p:cNvPr>
          <p:cNvSpPr txBox="1"/>
          <p:nvPr/>
        </p:nvSpPr>
        <p:spPr>
          <a:xfrm>
            <a:off x="1792941" y="4578528"/>
            <a:ext cx="34155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 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black_box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]);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681E30-2489-4165-8BC1-219E7DEF5264}"/>
              </a:ext>
            </a:extLst>
          </p:cNvPr>
          <p:cNvSpPr txBox="1"/>
          <p:nvPr/>
        </p:nvSpPr>
        <p:spPr>
          <a:xfrm>
            <a:off x="6678705" y="4440028"/>
            <a:ext cx="48140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slice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 &amp;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b="1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 </a:t>
            </a:r>
            <a:r>
              <a:rPr lang="en-US" b="1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black_box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slice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]);</a:t>
            </a:r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385ADCE-2203-4C13-ADA4-1EF86D614D3B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5208494" y="5040193"/>
            <a:ext cx="1470211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2" descr="Cutting Bread · Free Stock Photo">
            <a:extLst>
              <a:ext uri="{FF2B5EF4-FFF2-40B4-BE49-F238E27FC236}">
                <a16:creationId xmlns:a16="http://schemas.microsoft.com/office/drawing/2014/main" id="{4C7313E7-04E6-4DAC-8E76-FC6F7A203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36841" y="571500"/>
            <a:ext cx="16002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0FF9D6F-8530-4A14-BBBE-923BF58AE896}"/>
              </a:ext>
            </a:extLst>
          </p:cNvPr>
          <p:cNvSpPr txBox="1"/>
          <p:nvPr/>
        </p:nvSpPr>
        <p:spPr>
          <a:xfrm>
            <a:off x="304799" y="6437805"/>
            <a:ext cx="47692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Lalada</a:t>
            </a:r>
            <a:r>
              <a:rPr lang="en-US" sz="1000" dirty="0"/>
              <a:t>, </a:t>
            </a:r>
            <a:r>
              <a:rPr lang="en-US" sz="1000" dirty="0">
                <a:hlinkClick r:id="rId4"/>
              </a:rPr>
              <a:t>https://www.pexels.com/photo/close-up-of-a-person-cutting-bread-19359855/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802663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3974"/>
            <a:ext cx="10515600" cy="1325563"/>
          </a:xfrm>
        </p:spPr>
        <p:txBody>
          <a:bodyPr/>
          <a:lstStyle/>
          <a:p>
            <a:r>
              <a:rPr lang="en-US" dirty="0"/>
              <a:t>Workarounds: </a:t>
            </a:r>
            <a:r>
              <a:rPr lang="en-US" dirty="0" err="1"/>
              <a:t>Reslicing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9248" y="1670220"/>
            <a:ext cx="10515600" cy="4351338"/>
          </a:xfrm>
        </p:spPr>
        <p:txBody>
          <a:bodyPr/>
          <a:lstStyle/>
          <a:p>
            <a:r>
              <a:rPr lang="en-US" dirty="0" err="1"/>
              <a:t>Offsetted</a:t>
            </a:r>
            <a:r>
              <a:rPr lang="en-US" dirty="0"/>
              <a:t> slices should better be constructed in two steps to avoid potential integer overflow</a:t>
            </a:r>
          </a:p>
          <a:p>
            <a:r>
              <a:rPr lang="en-US" dirty="0"/>
              <a:t>Example: </a:t>
            </a:r>
            <a:r>
              <a:rPr lang="en-US" dirty="0">
                <a:hlinkClick r:id="rId2"/>
              </a:rPr>
              <a:t>Optimizing rav1d, an AV1 Decoder in Rust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1E62B7-C8EA-441E-8F63-270268E61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A6DAD1-F248-4F20-9B4B-28B23AEB8A89}"/>
              </a:ext>
            </a:extLst>
          </p:cNvPr>
          <p:cNvSpPr txBox="1"/>
          <p:nvPr/>
        </p:nvSpPr>
        <p:spPr>
          <a:xfrm>
            <a:off x="2214282" y="4406070"/>
            <a:ext cx="2420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..(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681E30-2489-4165-8BC1-219E7DEF5264}"/>
              </a:ext>
            </a:extLst>
          </p:cNvPr>
          <p:cNvSpPr txBox="1"/>
          <p:nvPr/>
        </p:nvSpPr>
        <p:spPr>
          <a:xfrm>
            <a:off x="6669741" y="4406070"/>
            <a:ext cx="2572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..][..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385ADCE-2203-4C13-ADA4-1EF86D614D3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4634753" y="4590736"/>
            <a:ext cx="2034988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32549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550" y="41742"/>
            <a:ext cx="10515600" cy="1325563"/>
          </a:xfrm>
        </p:spPr>
        <p:txBody>
          <a:bodyPr/>
          <a:lstStyle/>
          <a:p>
            <a:r>
              <a:rPr lang="en-US" dirty="0"/>
              <a:t>Workarounds: Limiting iteration range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321" y="1430504"/>
            <a:ext cx="10515600" cy="4351338"/>
          </a:xfrm>
        </p:spPr>
        <p:txBody>
          <a:bodyPr/>
          <a:lstStyle/>
          <a:p>
            <a:r>
              <a:rPr lang="en-US" dirty="0"/>
              <a:t>When iterating over several containers explicitly compute common safe range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056AF-01AA-4C78-AE97-90CB26958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33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CB7BFE-91DA-46BA-8B3C-34378BA5A315}"/>
              </a:ext>
            </a:extLst>
          </p:cNvPr>
          <p:cNvSpPr txBox="1"/>
          <p:nvPr/>
        </p:nvSpPr>
        <p:spPr>
          <a:xfrm>
            <a:off x="590550" y="2462412"/>
            <a:ext cx="5610225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fn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 &amp;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 &amp;[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 {</a:t>
            </a:r>
          </a:p>
          <a:p>
            <a:r>
              <a:rPr lang="nn-NO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nn-NO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nn-NO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 </a:t>
            </a:r>
            <a:r>
              <a:rPr lang="nn-NO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^=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nn-NO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.LBB1_2:</a:t>
            </a:r>
          </a:p>
          <a:p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600" dirty="0">
              <a:solidFill>
                <a:srgbClr val="FF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je  .LBB1_5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r8d,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r8d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lea r8,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+ 1]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r8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r8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.LBB1_2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8E2C2E-9B74-474D-AFB5-D5E2C7E249A7}"/>
              </a:ext>
            </a:extLst>
          </p:cNvPr>
          <p:cNvSpPr txBox="1"/>
          <p:nvPr/>
        </p:nvSpPr>
        <p:spPr>
          <a:xfrm>
            <a:off x="6438899" y="2462412"/>
            <a:ext cx="561022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fn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nn-NO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nn-NO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nn-NO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std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min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(), 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 </a:t>
            </a:r>
            <a:r>
              <a:rPr lang="nn-NO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^=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nn-NO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.LBB0_2: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ecx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ecx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lea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+ 1]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.LBB0_2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A9FCC8A-C543-48AD-A891-0C45B08E8ACE}"/>
              </a:ext>
            </a:extLst>
          </p:cNvPr>
          <p:cNvCxnSpPr/>
          <p:nvPr/>
        </p:nvCxnSpPr>
        <p:spPr>
          <a:xfrm>
            <a:off x="4544266" y="3429000"/>
            <a:ext cx="1731029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A34C00F-DD08-4F66-B9D0-1F2036F4B2B4}"/>
              </a:ext>
            </a:extLst>
          </p:cNvPr>
          <p:cNvSpPr txBox="1"/>
          <p:nvPr/>
        </p:nvSpPr>
        <p:spPr>
          <a:xfrm>
            <a:off x="3581401" y="6117395"/>
            <a:ext cx="62439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Compiled with</a:t>
            </a:r>
          </a:p>
          <a:p>
            <a:r>
              <a:rPr lang="en-US" dirty="0"/>
              <a:t>-</a:t>
            </a:r>
            <a:r>
              <a:rPr lang="en-US" dirty="0" err="1"/>
              <a:t>Cno</a:t>
            </a:r>
            <a:r>
              <a:rPr lang="en-US" dirty="0"/>
              <a:t>-vectorize-loops -</a:t>
            </a:r>
            <a:r>
              <a:rPr lang="en-US" dirty="0" err="1"/>
              <a:t>Cllvm-args</a:t>
            </a:r>
            <a:r>
              <a:rPr lang="en-US" dirty="0"/>
              <a:t>=-unroll-allow-remainder=0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CBC644-E4F4-49A5-9CD8-13D8FF07C338}"/>
              </a:ext>
            </a:extLst>
          </p:cNvPr>
          <p:cNvSpPr txBox="1"/>
          <p:nvPr/>
        </p:nvSpPr>
        <p:spPr>
          <a:xfrm>
            <a:off x="2715743" y="3818073"/>
            <a:ext cx="22837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https://godbolt.org/z/P8de874c1</a:t>
            </a:r>
            <a:r>
              <a:rPr lang="en-US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359350-C1E2-4094-83E5-ABC64473E47D}"/>
              </a:ext>
            </a:extLst>
          </p:cNvPr>
          <p:cNvSpPr txBox="1"/>
          <p:nvPr/>
        </p:nvSpPr>
        <p:spPr>
          <a:xfrm>
            <a:off x="9317691" y="3818074"/>
            <a:ext cx="228375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https://godbolt.org/z/6TzEPaaEs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04415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550" y="-149191"/>
            <a:ext cx="10515600" cy="1325563"/>
          </a:xfrm>
        </p:spPr>
        <p:txBody>
          <a:bodyPr/>
          <a:lstStyle/>
          <a:p>
            <a:r>
              <a:rPr lang="en-US" dirty="0"/>
              <a:t>Workarounds: Iterators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321" y="1253331"/>
            <a:ext cx="10515600" cy="4351338"/>
          </a:xfrm>
        </p:spPr>
        <p:txBody>
          <a:bodyPr/>
          <a:lstStyle/>
          <a:p>
            <a:r>
              <a:rPr lang="en-US" dirty="0"/>
              <a:t>Many iterators know container size and can utilize this information to remove bounds checks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056AF-01AA-4C78-AE97-90CB26958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34</a:t>
            </a:fld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A9FCC8A-C543-48AD-A891-0C45B08E8ACE}"/>
              </a:ext>
            </a:extLst>
          </p:cNvPr>
          <p:cNvCxnSpPr/>
          <p:nvPr/>
        </p:nvCxnSpPr>
        <p:spPr>
          <a:xfrm>
            <a:off x="4364971" y="3849221"/>
            <a:ext cx="1731029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9737298-C4F8-4264-BF72-642DB51459A3}"/>
              </a:ext>
            </a:extLst>
          </p:cNvPr>
          <p:cNvSpPr txBox="1"/>
          <p:nvPr/>
        </p:nvSpPr>
        <p:spPr>
          <a:xfrm>
            <a:off x="590550" y="2462412"/>
            <a:ext cx="5610225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fn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 &amp;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 &amp;[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 {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 </a:t>
            </a:r>
            <a:r>
              <a:rPr lang="nn-NO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^=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nn-NO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.LBB1_2:</a:t>
            </a:r>
          </a:p>
          <a:p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600" dirty="0">
              <a:solidFill>
                <a:srgbClr val="FF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je  .LBB1_5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r8d,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r8d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lea r8,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+ 1]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r8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r8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.LBB1_2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549DAD-A8BD-4683-BC83-08FE95136619}"/>
              </a:ext>
            </a:extLst>
          </p:cNvPr>
          <p:cNvSpPr txBox="1"/>
          <p:nvPr/>
        </p:nvSpPr>
        <p:spPr>
          <a:xfrm>
            <a:off x="6438899" y="2462412"/>
            <a:ext cx="5610225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fn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This also works:</a:t>
            </a:r>
          </a:p>
          <a:p>
            <a:r>
              <a:rPr lang="nn-NO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//   </a:t>
            </a:r>
            <a:r>
              <a:rPr lang="es-ES" sz="1600" dirty="0" err="1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s-E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(x, y) in </a:t>
            </a:r>
            <a:r>
              <a:rPr lang="es-ES" sz="1600" dirty="0" err="1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x.iter_mut</a:t>
            </a:r>
            <a:r>
              <a:rPr lang="es-E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().zip(y)</a:t>
            </a:r>
            <a:endParaRPr lang="nn-NO" sz="1600" dirty="0">
              <a:solidFill>
                <a:srgbClr val="0070C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iter_mut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zip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for_each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(|(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)|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^=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nn-NO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.LBB0_2: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ecx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ecx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lea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+ 1]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.LBB0_2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8C87FA-CF4F-4AF9-B710-888CD1432E67}"/>
              </a:ext>
            </a:extLst>
          </p:cNvPr>
          <p:cNvSpPr txBox="1"/>
          <p:nvPr/>
        </p:nvSpPr>
        <p:spPr>
          <a:xfrm>
            <a:off x="3715871" y="6142253"/>
            <a:ext cx="61273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Compiled with</a:t>
            </a:r>
          </a:p>
          <a:p>
            <a:r>
              <a:rPr lang="en-US" dirty="0"/>
              <a:t>-</a:t>
            </a:r>
            <a:r>
              <a:rPr lang="en-US" dirty="0" err="1"/>
              <a:t>Cno</a:t>
            </a:r>
            <a:r>
              <a:rPr lang="en-US" dirty="0"/>
              <a:t>-vectorize-loops -</a:t>
            </a:r>
            <a:r>
              <a:rPr lang="en-US" dirty="0" err="1"/>
              <a:t>Cllvm-args</a:t>
            </a:r>
            <a:r>
              <a:rPr lang="en-US" dirty="0"/>
              <a:t>=-unroll-allow-remainder=0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1021D5-81D9-4B54-9240-FC73AC8665AB}"/>
              </a:ext>
            </a:extLst>
          </p:cNvPr>
          <p:cNvSpPr txBox="1"/>
          <p:nvPr/>
        </p:nvSpPr>
        <p:spPr>
          <a:xfrm>
            <a:off x="2734234" y="4078714"/>
            <a:ext cx="22837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https://godbolt.org/z/P8de874c1</a:t>
            </a:r>
            <a:r>
              <a:rPr lang="en-US" dirty="0"/>
              <a:t>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A823E3-954C-4379-8211-BD740FAC72F2}"/>
              </a:ext>
            </a:extLst>
          </p:cNvPr>
          <p:cNvSpPr txBox="1"/>
          <p:nvPr/>
        </p:nvSpPr>
        <p:spPr>
          <a:xfrm>
            <a:off x="9317691" y="4032072"/>
            <a:ext cx="228375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https://godbolt.org/z/je69173xv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17779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Disadvantages of iterators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“Miracle of zero cost abstraction has a limit" (</a:t>
            </a:r>
            <a:r>
              <a:rPr lang="en-US" dirty="0" err="1">
                <a:hlinkClick r:id="rId2"/>
              </a:rPr>
              <a:t>fridsun</a:t>
            </a:r>
            <a:r>
              <a:rPr lang="en-US" dirty="0">
                <a:hlinkClick r:id="rId2"/>
              </a:rPr>
              <a:t> at Reddit</a:t>
            </a:r>
            <a:r>
              <a:rPr lang="en-US" dirty="0"/>
              <a:t>)</a:t>
            </a:r>
          </a:p>
          <a:p>
            <a:r>
              <a:rPr lang="en-US" dirty="0"/>
              <a:t>Significant slowdown and code size increase for debug builds</a:t>
            </a:r>
            <a:endParaRPr lang="ru-RU" dirty="0"/>
          </a:p>
          <a:p>
            <a:r>
              <a:rPr lang="en-US" dirty="0"/>
              <a:t>Compiler sometimes fails to inline long iterator chains</a:t>
            </a:r>
          </a:p>
          <a:p>
            <a:r>
              <a:rPr lang="en-US" dirty="0"/>
              <a:t>Iterator lambdas take references to container elements which may cause issues with alias analysis (</a:t>
            </a:r>
            <a:r>
              <a:rPr lang="en-US" dirty="0">
                <a:hlinkClick r:id="rId3"/>
              </a:rPr>
              <a:t>rust #106539</a:t>
            </a:r>
            <a:r>
              <a:rPr lang="en-US" dirty="0"/>
              <a:t>)</a:t>
            </a:r>
          </a:p>
          <a:p>
            <a:r>
              <a:rPr lang="en-US" dirty="0"/>
              <a:t>Chained iterators (chain, </a:t>
            </a:r>
            <a:r>
              <a:rPr lang="en-US" dirty="0" err="1"/>
              <a:t>flat_map</a:t>
            </a:r>
            <a:r>
              <a:rPr lang="en-US" dirty="0"/>
              <a:t>, flatten, ..=, etc.) may generate inefficient code in for-loops (“external iteration”)</a:t>
            </a:r>
          </a:p>
          <a:p>
            <a:pPr lvl="1"/>
            <a:r>
              <a:rPr lang="en-US" dirty="0"/>
              <a:t>Use only with .</a:t>
            </a:r>
            <a:r>
              <a:rPr lang="en-US" dirty="0" err="1"/>
              <a:t>for_each</a:t>
            </a:r>
            <a:r>
              <a:rPr lang="en-US" dirty="0"/>
              <a:t>, .fold, .find, etc. (“internal iteration”)</a:t>
            </a:r>
          </a:p>
          <a:p>
            <a:pPr lvl="1"/>
            <a:r>
              <a:rPr lang="en-US" dirty="0">
                <a:hlinkClick r:id="rId4"/>
              </a:rPr>
              <a:t>Are iterators even efficient?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056AF-01AA-4C78-AE97-90CB26958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DD8B69-3494-470D-94CA-D2D67B2C63A1}"/>
              </a:ext>
            </a:extLst>
          </p:cNvPr>
          <p:cNvSpPr txBox="1"/>
          <p:nvPr/>
        </p:nvSpPr>
        <p:spPr>
          <a:xfrm>
            <a:off x="89647" y="6525750"/>
            <a:ext cx="77230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Karen Arnolds,  </a:t>
            </a:r>
            <a:r>
              <a:rPr lang="en-US" sz="1050" dirty="0">
                <a:hlinkClick r:id="rId5"/>
              </a:rPr>
              <a:t>https://www.publicdomainpictures.net/en/view-image.php?image=235675&amp;picture=man-carrying-stack-of-boxes</a:t>
            </a:r>
            <a:endParaRPr lang="en-US" sz="10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2A1D424-6970-4186-9169-75A48071E7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3044" y="136524"/>
            <a:ext cx="1551077" cy="214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9743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39475" cy="1325563"/>
          </a:xfrm>
        </p:spPr>
        <p:txBody>
          <a:bodyPr/>
          <a:lstStyle/>
          <a:p>
            <a:r>
              <a:rPr lang="en-US" dirty="0"/>
              <a:t>Workarounds: Order of accesses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Prefer to access data starting with farthest element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AB8119-A71B-4196-9F69-50A30CF37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36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CF8E08-525F-48CF-B65E-5FBAA6CBCB60}"/>
              </a:ext>
            </a:extLst>
          </p:cNvPr>
          <p:cNvSpPr txBox="1"/>
          <p:nvPr/>
        </p:nvSpPr>
        <p:spPr>
          <a:xfrm>
            <a:off x="1770810" y="3847282"/>
            <a:ext cx="22226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D0EF1FE-EC44-42B2-85C3-497940F11FCB}"/>
              </a:ext>
            </a:extLst>
          </p:cNvPr>
          <p:cNvCxnSpPr>
            <a:cxnSpLocks/>
          </p:cNvCxnSpPr>
          <p:nvPr/>
        </p:nvCxnSpPr>
        <p:spPr>
          <a:xfrm>
            <a:off x="3787308" y="4308947"/>
            <a:ext cx="1808908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D5E717B-9F05-492B-AC3B-648993BC7690}"/>
              </a:ext>
            </a:extLst>
          </p:cNvPr>
          <p:cNvSpPr txBox="1"/>
          <p:nvPr/>
        </p:nvSpPr>
        <p:spPr>
          <a:xfrm>
            <a:off x="1847010" y="2473109"/>
            <a:ext cx="22226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4C7CCC-0009-474D-BD5B-D45D168C62E6}"/>
              </a:ext>
            </a:extLst>
          </p:cNvPr>
          <p:cNvSpPr txBox="1"/>
          <p:nvPr/>
        </p:nvSpPr>
        <p:spPr>
          <a:xfrm>
            <a:off x="5878604" y="2473109"/>
            <a:ext cx="48140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20EF6EC-BC05-46D4-824A-58F106C728D6}"/>
              </a:ext>
            </a:extLst>
          </p:cNvPr>
          <p:cNvCxnSpPr>
            <a:cxnSpLocks/>
          </p:cNvCxnSpPr>
          <p:nvPr/>
        </p:nvCxnSpPr>
        <p:spPr>
          <a:xfrm>
            <a:off x="3863508" y="2934774"/>
            <a:ext cx="1808908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29BE2E0-0A7D-4C84-BD9C-B8CADE211196}"/>
              </a:ext>
            </a:extLst>
          </p:cNvPr>
          <p:cNvSpPr txBox="1"/>
          <p:nvPr/>
        </p:nvSpPr>
        <p:spPr>
          <a:xfrm>
            <a:off x="4616543" y="3364195"/>
            <a:ext cx="19907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or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746E01-49E5-47FF-B9A4-14ED7D3888E2}"/>
              </a:ext>
            </a:extLst>
          </p:cNvPr>
          <p:cNvSpPr txBox="1"/>
          <p:nvPr/>
        </p:nvSpPr>
        <p:spPr>
          <a:xfrm>
            <a:off x="1770810" y="5228219"/>
            <a:ext cx="22226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AED4AC0-765D-44B9-BD3B-87E286241FDF}"/>
              </a:ext>
            </a:extLst>
          </p:cNvPr>
          <p:cNvCxnSpPr>
            <a:cxnSpLocks/>
          </p:cNvCxnSpPr>
          <p:nvPr/>
        </p:nvCxnSpPr>
        <p:spPr>
          <a:xfrm>
            <a:off x="3787308" y="5689884"/>
            <a:ext cx="1885108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CB8ADD6-0668-42F8-B754-0E46FC2A023E}"/>
              </a:ext>
            </a:extLst>
          </p:cNvPr>
          <p:cNvSpPr txBox="1"/>
          <p:nvPr/>
        </p:nvSpPr>
        <p:spPr>
          <a:xfrm>
            <a:off x="4616542" y="4711079"/>
            <a:ext cx="19907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or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5F39EA8-1FAA-4003-98C0-2AE9D6CD2B94}"/>
              </a:ext>
            </a:extLst>
          </p:cNvPr>
          <p:cNvSpPr txBox="1"/>
          <p:nvPr/>
        </p:nvSpPr>
        <p:spPr>
          <a:xfrm>
            <a:off x="5802404" y="3847282"/>
            <a:ext cx="48140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data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[..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3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else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panic!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};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D3144A-50D4-4BAD-8C99-9C0EF4235E73}"/>
              </a:ext>
            </a:extLst>
          </p:cNvPr>
          <p:cNvSpPr txBox="1"/>
          <p:nvPr/>
        </p:nvSpPr>
        <p:spPr>
          <a:xfrm>
            <a:off x="5878604" y="5366718"/>
            <a:ext cx="4583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data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[..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3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.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try_into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().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unwrap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4765472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C6EEA-6F6B-4C5F-9E7A-750C7B184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Workarounds: SIMD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035D7-C742-4A8A-9C05-63E0DDA7C9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9100"/>
            <a:ext cx="5096436" cy="4667250"/>
          </a:xfrm>
        </p:spPr>
        <p:txBody>
          <a:bodyPr>
            <a:normAutofit/>
          </a:bodyPr>
          <a:lstStyle/>
          <a:p>
            <a:r>
              <a:rPr lang="en-US" dirty="0"/>
              <a:t>Developer can manually vectorize code</a:t>
            </a:r>
            <a:endParaRPr lang="ru-RU" dirty="0"/>
          </a:p>
          <a:p>
            <a:r>
              <a:rPr lang="en-US" dirty="0" err="1"/>
              <a:t>Stdlib</a:t>
            </a:r>
            <a:r>
              <a:rPr lang="en-US" dirty="0"/>
              <a:t> provides</a:t>
            </a:r>
          </a:p>
          <a:p>
            <a:pPr lvl="1"/>
            <a:r>
              <a:rPr lang="en-US" dirty="0"/>
              <a:t>Portable std::</a:t>
            </a:r>
            <a:r>
              <a:rPr lang="en-US" dirty="0" err="1"/>
              <a:t>simd</a:t>
            </a:r>
            <a:r>
              <a:rPr lang="en-US" dirty="0"/>
              <a:t> API (nightly only)</a:t>
            </a:r>
          </a:p>
          <a:p>
            <a:pPr lvl="1"/>
            <a:r>
              <a:rPr lang="en-US" dirty="0"/>
              <a:t>Platform vector </a:t>
            </a:r>
            <a:r>
              <a:rPr lang="en-US" dirty="0" err="1"/>
              <a:t>intrinsics</a:t>
            </a:r>
            <a:r>
              <a:rPr lang="en-US" dirty="0"/>
              <a:t> std::arch (unsafe)</a:t>
            </a:r>
          </a:p>
          <a:p>
            <a:r>
              <a:rPr lang="en-US" dirty="0"/>
              <a:t>There are also many third-party libraries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9FC8E5-117D-45C1-9BD0-9A1FF1000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6D8B08-B980-40FF-8D0F-994332D1C274}"/>
              </a:ext>
            </a:extLst>
          </p:cNvPr>
          <p:cNvSpPr txBox="1"/>
          <p:nvPr/>
        </p:nvSpPr>
        <p:spPr>
          <a:xfrm>
            <a:off x="6096000" y="1689100"/>
            <a:ext cx="617668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</a:rPr>
              <a:t>pub fn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sum_simd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</a:rPr>
              <a:t>: &amp;[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</a:rPr>
              <a:t>]) -&gt;</a:t>
            </a:r>
            <a:r>
              <a:rPr lang="nn-NO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</a:rPr>
              <a:t>i32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fr-FR" sz="1600" dirty="0">
                <a:solidFill>
                  <a:srgbClr val="C00000"/>
                </a:solidFill>
                <a:latin typeface="Consolas" panose="020B0609020204030204" pitchFamily="49" charset="0"/>
              </a:rPr>
              <a:t>    </a:t>
            </a:r>
            <a:r>
              <a:rPr lang="fr-FR" sz="1600" dirty="0" err="1">
                <a:solidFill>
                  <a:srgbClr val="C00000"/>
                </a:solidFill>
                <a:latin typeface="Consolas" panose="020B0609020204030204" pitchFamily="49" charset="0"/>
              </a:rPr>
              <a:t>const</a:t>
            </a:r>
            <a:r>
              <a:rPr 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LANES</a:t>
            </a:r>
            <a:r>
              <a:rPr lang="fr-FR" sz="1600" dirty="0">
                <a:solidFill>
                  <a:srgbClr val="0070C0"/>
                </a:solidFill>
                <a:latin typeface="Consolas" panose="020B0609020204030204" pitchFamily="49" charset="0"/>
              </a:rPr>
              <a:t>:</a:t>
            </a:r>
            <a:r>
              <a:rPr 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600" dirty="0" err="1">
                <a:solidFill>
                  <a:srgbClr val="C00000"/>
                </a:solidFill>
                <a:latin typeface="Consolas" panose="020B0609020204030204" pitchFamily="49" charset="0"/>
              </a:rPr>
              <a:t>usize</a:t>
            </a:r>
            <a:r>
              <a:rPr 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8</a:t>
            </a:r>
            <a:r>
              <a:rPr lang="fr-FR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  <a:r>
              <a:rPr 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// AVX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 mut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acc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i32x8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splat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for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chunk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chunks_exact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LANES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v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i32x8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from_slice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chunk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acc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v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 mut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tail_acc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for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in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chunks_exact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LANES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remainder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tail_acc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acc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reduce_sum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tail_acc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FBB93C-0FC4-4112-8AE5-314BA0CE8D55}"/>
              </a:ext>
            </a:extLst>
          </p:cNvPr>
          <p:cNvSpPr txBox="1"/>
          <p:nvPr/>
        </p:nvSpPr>
        <p:spPr>
          <a:xfrm>
            <a:off x="7523630" y="5890249"/>
            <a:ext cx="23823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https://godbolt.org/z/G3bfGEhnG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3402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D6EA-1C59-43CC-8810-5B2834581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CFF8B-C407-4E86-96E3-82D2F2658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Checks elimination</a:t>
            </a:r>
            <a:endParaRPr lang="ru-RU" dirty="0"/>
          </a:p>
          <a:p>
            <a:r>
              <a:rPr lang="en-US" dirty="0"/>
              <a:t>Reducing number of checks</a:t>
            </a:r>
            <a:endParaRPr lang="ru-RU" dirty="0"/>
          </a:p>
          <a:p>
            <a:r>
              <a:rPr lang="en-US" b="1" dirty="0"/>
              <a:t>Reducing cost of checks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96E446-0599-48D4-9A5E-339849B15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1391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36550"/>
            <a:ext cx="11039475" cy="1325563"/>
          </a:xfrm>
        </p:spPr>
        <p:txBody>
          <a:bodyPr/>
          <a:lstStyle/>
          <a:p>
            <a:r>
              <a:rPr lang="en-US" dirty="0"/>
              <a:t>Workarounds: Arithmetic instead of checks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024" y="1825625"/>
            <a:ext cx="6167717" cy="4351338"/>
          </a:xfrm>
        </p:spPr>
        <p:txBody>
          <a:bodyPr>
            <a:normAutofit/>
          </a:bodyPr>
          <a:lstStyle/>
          <a:p>
            <a:r>
              <a:rPr lang="en-US" dirty="0"/>
              <a:t>Checks may be replaced with conditional move</a:t>
            </a: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min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sums</a:t>
            </a:r>
            <a:r>
              <a:rPr lang="en-US" sz="18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 - </a:t>
            </a:r>
            <a:r>
              <a:rPr lang="en-US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sums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...</a:t>
            </a:r>
          </a:p>
          <a:p>
            <a:r>
              <a:rPr lang="en-US" dirty="0"/>
              <a:t>CMOV may be faster or slower than branch</a:t>
            </a:r>
          </a:p>
          <a:p>
            <a:r>
              <a:rPr lang="en-US" dirty="0"/>
              <a:t>Disadvantage: bounds errors will now be ignored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29A12-EF7C-4450-AE2D-CE7ED7E0C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39</a:t>
            </a:fld>
            <a:endParaRPr lang="en-US"/>
          </a:p>
        </p:txBody>
      </p:sp>
      <p:pic>
        <p:nvPicPr>
          <p:cNvPr id="2050" name="Picture 2" descr="Results">
            <a:extLst>
              <a:ext uri="{FF2B5EF4-FFF2-40B4-BE49-F238E27FC236}">
                <a16:creationId xmlns:a16="http://schemas.microsoft.com/office/drawing/2014/main" id="{5E59DCBA-B43B-4A10-9328-351393A1BB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0195" y="1503653"/>
            <a:ext cx="5537479" cy="4172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ED8E407-712C-4D31-9C44-720F3D788CEA}"/>
              </a:ext>
            </a:extLst>
          </p:cNvPr>
          <p:cNvSpPr txBox="1"/>
          <p:nvPr/>
        </p:nvSpPr>
        <p:spPr>
          <a:xfrm>
            <a:off x="7639049" y="5618567"/>
            <a:ext cx="4238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hlinkClick r:id="rId3"/>
              </a:rPr>
              <a:t>https://github.com/marcin-osowski/cmov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788647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36550"/>
            <a:ext cx="11039475" cy="1325563"/>
          </a:xfrm>
        </p:spPr>
        <p:txBody>
          <a:bodyPr/>
          <a:lstStyle/>
          <a:p>
            <a:r>
              <a:rPr lang="en-US" dirty="0"/>
              <a:t>Workarounds: Arithmetic instead of checks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53750" cy="4351338"/>
          </a:xfrm>
        </p:spPr>
        <p:txBody>
          <a:bodyPr>
            <a:normAutofit/>
          </a:bodyPr>
          <a:lstStyle/>
          <a:p>
            <a:r>
              <a:rPr lang="en-US" dirty="0"/>
              <a:t>Bounds checks may be replaced with masking if length is 2</a:t>
            </a:r>
            <a:r>
              <a:rPr lang="en-US" baseline="30000" dirty="0"/>
              <a:t>N</a:t>
            </a:r>
            <a:r>
              <a:rPr lang="en-US" dirty="0"/>
              <a:t> (or can be padded to 2</a:t>
            </a:r>
            <a:r>
              <a:rPr lang="en-US" baseline="30000" dirty="0"/>
              <a:t>N</a:t>
            </a:r>
            <a:r>
              <a:rPr lang="en-US" dirty="0"/>
              <a:t>):</a:t>
            </a: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const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SIZE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usize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100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const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LOOKUP_TABLE_SIZE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usize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SIZE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next_power_of_two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table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u64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LOOKUP_TABLE_SIZE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...</a:t>
            </a: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	...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table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table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LOOKUP_TABLE_SIZE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)]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...</a:t>
            </a:r>
          </a:p>
          <a:p>
            <a:r>
              <a:rPr lang="en-US" dirty="0"/>
              <a:t>AND is </a:t>
            </a:r>
            <a:r>
              <a:rPr lang="en-US" i="1" dirty="0"/>
              <a:t>usually</a:t>
            </a:r>
            <a:r>
              <a:rPr lang="ru-RU" dirty="0"/>
              <a:t> </a:t>
            </a:r>
            <a:r>
              <a:rPr lang="en-US" dirty="0"/>
              <a:t>faster (e.g. can run on more ALUs in processor)</a:t>
            </a:r>
          </a:p>
          <a:p>
            <a:r>
              <a:rPr lang="en-US" dirty="0"/>
              <a:t>Unfortunately optimization (currently) applicable only to arrays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29A12-EF7C-4450-AE2D-CE7ED7E0C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9078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39CB7-FD0B-494B-882C-251D3FA63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Prevalence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957CA2-B317-41A7-AD6D-0FDE43C3BB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20</a:t>
            </a:r>
            <a:r>
              <a:rPr lang="en-US" dirty="0"/>
              <a:t>% of checks in Rust compiler are bounds checks</a:t>
            </a:r>
          </a:p>
          <a:p>
            <a:pPr lvl="1"/>
            <a:r>
              <a:rPr lang="en-US" dirty="0"/>
              <a:t>Based on</a:t>
            </a:r>
            <a:r>
              <a:rPr lang="ru-RU" dirty="0"/>
              <a:t> </a:t>
            </a:r>
            <a:r>
              <a:rPr lang="en-US" dirty="0">
                <a:hlinkClick r:id="rId2"/>
              </a:rPr>
              <a:t>analysis of binary code</a:t>
            </a:r>
            <a:endParaRPr lang="en-US" dirty="0"/>
          </a:p>
          <a:p>
            <a:r>
              <a:rPr lang="en-US" dirty="0"/>
              <a:t>In inner loops checks 80% contain only bounds checks</a:t>
            </a:r>
          </a:p>
          <a:p>
            <a:pPr lvl="1"/>
            <a:r>
              <a:rPr lang="en-US" dirty="0"/>
              <a:t>These checks prevent vectorization of surrounding loops</a:t>
            </a:r>
          </a:p>
          <a:p>
            <a:pPr lvl="1"/>
            <a:r>
              <a:rPr lang="en-US" dirty="0"/>
              <a:t>Data collected with</a:t>
            </a:r>
            <a:r>
              <a:rPr lang="ru-RU" dirty="0"/>
              <a:t> </a:t>
            </a:r>
            <a:r>
              <a:rPr lang="en-US" dirty="0">
                <a:hlinkClick r:id="rId3"/>
              </a:rPr>
              <a:t>LLVM plugin</a:t>
            </a:r>
            <a:r>
              <a:rPr lang="en-US" dirty="0"/>
              <a:t> based on </a:t>
            </a:r>
            <a:r>
              <a:rPr lang="en-US" dirty="0" err="1"/>
              <a:t>rustc</a:t>
            </a:r>
            <a:r>
              <a:rPr lang="en-US" dirty="0"/>
              <a:t> and</a:t>
            </a:r>
            <a:r>
              <a:rPr lang="ru-RU" dirty="0"/>
              <a:t> </a:t>
            </a:r>
            <a:r>
              <a:rPr lang="en-US" dirty="0" err="1"/>
              <a:t>oxipng</a:t>
            </a:r>
            <a:r>
              <a:rPr lang="en-US" dirty="0"/>
              <a:t> analysis</a:t>
            </a:r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6F2BE2-C94D-4A7D-82D4-E183CCC72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76F58C-85CE-411B-A2B5-2DD9CF595705}"/>
              </a:ext>
            </a:extLst>
          </p:cNvPr>
          <p:cNvSpPr txBox="1"/>
          <p:nvPr/>
        </p:nvSpPr>
        <p:spPr>
          <a:xfrm>
            <a:off x="322729" y="6069291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Analysis methodology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6751A1-5216-46AD-9396-C6EFECB58D83}"/>
              </a:ext>
            </a:extLst>
          </p:cNvPr>
          <p:cNvSpPr txBox="1"/>
          <p:nvPr/>
        </p:nvSpPr>
        <p:spPr>
          <a:xfrm>
            <a:off x="322728" y="6438623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5"/>
              </a:rPr>
              <a:t>Compiler branch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570405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7E9A1-A939-48FE-B1ED-39DD16F77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337" y="298767"/>
            <a:ext cx="10601325" cy="1325563"/>
          </a:xfrm>
        </p:spPr>
        <p:txBody>
          <a:bodyPr/>
          <a:lstStyle/>
          <a:p>
            <a:r>
              <a:rPr lang="en-US" dirty="0"/>
              <a:t>Performance improvement after disabling bounds checks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5D499A-96B6-4756-9CEF-600C01A0D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6F21CD-C45A-4346-AB95-864AEDA812A2}"/>
              </a:ext>
            </a:extLst>
          </p:cNvPr>
          <p:cNvSpPr txBox="1"/>
          <p:nvPr/>
        </p:nvSpPr>
        <p:spPr>
          <a:xfrm>
            <a:off x="9242612" y="1694329"/>
            <a:ext cx="253701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We disabled instrumentation in user code and checks in </a:t>
            </a:r>
            <a:r>
              <a:rPr lang="en-US" sz="2000" dirty="0" err="1"/>
              <a:t>stdlib</a:t>
            </a:r>
            <a:r>
              <a:rPr lang="en-US" sz="2000" dirty="0"/>
              <a:t> (containers</a:t>
            </a:r>
            <a:r>
              <a:rPr lang="ru-RU" sz="2000" dirty="0"/>
              <a:t>, </a:t>
            </a:r>
            <a:r>
              <a:rPr lang="en-US" sz="2000" dirty="0"/>
              <a:t>slices, strings, etc.)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8F640A-C2E6-4CE4-BB9D-944E55396BEF}"/>
              </a:ext>
            </a:extLst>
          </p:cNvPr>
          <p:cNvSpPr txBox="1"/>
          <p:nvPr/>
        </p:nvSpPr>
        <p:spPr>
          <a:xfrm>
            <a:off x="322728" y="6438623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Compiler branch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60FA9FD-B2C1-4E97-AE55-1E098C0035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2480" y="1694329"/>
            <a:ext cx="6163234" cy="4930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6986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985E7-34C3-4636-9B5F-7F05FEB0E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Hardened C/C++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E4ACF-7780-433C-A2D2-95FAE3793C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85079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C/C++</a:t>
            </a:r>
            <a:r>
              <a:rPr lang="ru-RU" dirty="0"/>
              <a:t> </a:t>
            </a:r>
            <a:r>
              <a:rPr lang="en-US" dirty="0"/>
              <a:t>provides limited support for memory safety:</a:t>
            </a:r>
          </a:p>
          <a:p>
            <a:pPr lvl="1"/>
            <a:r>
              <a:rPr lang="en-US" dirty="0" err="1"/>
              <a:t>StackProtector</a:t>
            </a:r>
            <a:endParaRPr lang="en-US" dirty="0"/>
          </a:p>
          <a:p>
            <a:pPr lvl="1"/>
            <a:r>
              <a:rPr lang="en-US" dirty="0"/>
              <a:t>_FORTIFY_SOURCE</a:t>
            </a:r>
          </a:p>
          <a:p>
            <a:pPr lvl="1"/>
            <a:r>
              <a:rPr lang="en-US" dirty="0"/>
              <a:t>Hardened STL (C++ only)</a:t>
            </a:r>
          </a:p>
          <a:p>
            <a:pPr lvl="1"/>
            <a:r>
              <a:rPr lang="en-US" dirty="0"/>
              <a:t>-</a:t>
            </a:r>
            <a:r>
              <a:rPr lang="en-US" dirty="0" err="1"/>
              <a:t>fsanitize</a:t>
            </a:r>
            <a:r>
              <a:rPr lang="en-US" dirty="0"/>
              <a:t>=bounds, -</a:t>
            </a:r>
            <a:r>
              <a:rPr lang="en-US" dirty="0" err="1"/>
              <a:t>fsanitize</a:t>
            </a:r>
            <a:r>
              <a:rPr lang="en-US" dirty="0"/>
              <a:t>=object-size</a:t>
            </a:r>
          </a:p>
          <a:p>
            <a:r>
              <a:rPr lang="en-US" dirty="0"/>
              <a:t>Complete, Rust-like correctness checks are impossible due to lack of information about lengths for raw pointers</a:t>
            </a:r>
          </a:p>
          <a:p>
            <a:pPr lvl="1"/>
            <a:r>
              <a:rPr lang="en-US" dirty="0"/>
              <a:t>E.g. only 20% of non-trivial memory accesses in Clang code </a:t>
            </a:r>
            <a:r>
              <a:rPr lang="en-US" dirty="0">
                <a:hlinkClick r:id="rId2"/>
              </a:rPr>
              <a:t>can be checked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C++ Safe Buffers</a:t>
            </a:r>
            <a:r>
              <a:rPr lang="en-US" dirty="0"/>
              <a:t> may solve this but requires non-trivial code </a:t>
            </a:r>
            <a:r>
              <a:rPr lang="en-US" dirty="0" err="1"/>
              <a:t>mofications</a:t>
            </a:r>
            <a:endParaRPr lang="en-US" dirty="0"/>
          </a:p>
          <a:p>
            <a:r>
              <a:rPr lang="en-US" dirty="0"/>
              <a:t>More information:</a:t>
            </a:r>
          </a:p>
          <a:p>
            <a:pPr lvl="1"/>
            <a:r>
              <a:rPr lang="en-US" dirty="0">
                <a:hlinkClick r:id="rId4"/>
              </a:rPr>
              <a:t>Hardening: current status and trends</a:t>
            </a:r>
            <a:r>
              <a:rPr lang="en-US" dirty="0"/>
              <a:t> (C++ Zero Cost 2026)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C21E9C-1AC0-427A-B43C-401FB1E7C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47B85E-6835-48C8-AACE-DE0DD75399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2987" y="4522342"/>
            <a:ext cx="2909706" cy="13255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28BA17D-B545-4702-BC29-CA69AE6B51EB}"/>
              </a:ext>
            </a:extLst>
          </p:cNvPr>
          <p:cNvSpPr txBox="1"/>
          <p:nvPr/>
        </p:nvSpPr>
        <p:spPr>
          <a:xfrm>
            <a:off x="8526669" y="2673525"/>
            <a:ext cx="31802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Mario </a:t>
            </a:r>
            <a:r>
              <a:rPr lang="en-US" sz="1200" dirty="0" err="1"/>
              <a:t>Simoes</a:t>
            </a:r>
            <a:r>
              <a:rPr lang="en-US" sz="1200" dirty="0"/>
              <a:t>, </a:t>
            </a:r>
            <a:r>
              <a:rPr lang="en-US" sz="1200" dirty="0">
                <a:hlinkClick r:id="rId6"/>
              </a:rPr>
              <a:t>https://snl.no/Mount_Everest</a:t>
            </a:r>
            <a:endParaRPr lang="en-US" sz="12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D996D1D-0526-4FCA-A822-1B54E240E36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3279" y="1541337"/>
            <a:ext cx="3409123" cy="1917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294FA10-C08A-4CE1-A8CC-1627ADCD3558}"/>
              </a:ext>
            </a:extLst>
          </p:cNvPr>
          <p:cNvSpPr txBox="1"/>
          <p:nvPr/>
        </p:nvSpPr>
        <p:spPr>
          <a:xfrm>
            <a:off x="126739" y="6492875"/>
            <a:ext cx="31802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Mario </a:t>
            </a:r>
            <a:r>
              <a:rPr lang="en-US" sz="1200" dirty="0" err="1"/>
              <a:t>Simoes</a:t>
            </a:r>
            <a:r>
              <a:rPr lang="en-US" sz="1200" dirty="0"/>
              <a:t>, </a:t>
            </a:r>
            <a:r>
              <a:rPr lang="en-US" sz="1200" dirty="0">
                <a:hlinkClick r:id="rId6"/>
              </a:rPr>
              <a:t>https://snl.no/Mount_Everest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12453241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>
            <a:extLst>
              <a:ext uri="{FF2B5EF4-FFF2-40B4-BE49-F238E27FC236}">
                <a16:creationId xmlns:a16="http://schemas.microsoft.com/office/drawing/2014/main" id="{E8C9A518-2F18-43CF-9834-C577EB57B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1337"/>
            <a:ext cx="10515600" cy="1325563"/>
          </a:xfrm>
        </p:spPr>
        <p:txBody>
          <a:bodyPr/>
          <a:lstStyle/>
          <a:p>
            <a:r>
              <a:rPr lang="en-US" dirty="0"/>
              <a:t>Rust vs. Hardened C++</a:t>
            </a:r>
          </a:p>
        </p:txBody>
      </p:sp>
      <p:sp>
        <p:nvSpPr>
          <p:cNvPr id="31" name="Slide Number Placeholder 3">
            <a:extLst>
              <a:ext uri="{FF2B5EF4-FFF2-40B4-BE49-F238E27FC236}">
                <a16:creationId xmlns:a16="http://schemas.microsoft.com/office/drawing/2014/main" id="{92A36EF2-7246-4B5A-B610-2CAD04622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FC0160C7-74EC-4178-99AC-60BDA62A8651}" type="slidenum">
              <a:rPr lang="en-US" smtClean="0"/>
              <a:t>44</a:t>
            </a:fld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BE1BBC3-361E-4AFC-A787-F452EE9CA219}"/>
              </a:ext>
            </a:extLst>
          </p:cNvPr>
          <p:cNvSpPr txBox="1"/>
          <p:nvPr/>
        </p:nvSpPr>
        <p:spPr>
          <a:xfrm>
            <a:off x="618564" y="1547417"/>
            <a:ext cx="54774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 &amp;[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usize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6BEDD68-5C47-4B72-928B-221D1A011A7C}"/>
              </a:ext>
            </a:extLst>
          </p:cNvPr>
          <p:cNvSpPr txBox="1"/>
          <p:nvPr/>
        </p:nvSpPr>
        <p:spPr>
          <a:xfrm>
            <a:off x="653300" y="3687474"/>
            <a:ext cx="570155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endParaRPr lang="en-US" sz="1600" b="1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jae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 .LBB0_2</a:t>
            </a: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mov   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.LBB0_2: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push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lea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[rip + .Lanon.1]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...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call    qword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[rip +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panic_bounds_check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59FC58C-C205-4CFD-AA5D-1D3BD428FD41}"/>
              </a:ext>
            </a:extLst>
          </p:cNvPr>
          <p:cNvSpPr txBox="1"/>
          <p:nvPr/>
        </p:nvSpPr>
        <p:spPr>
          <a:xfrm>
            <a:off x="7112654" y="1456606"/>
            <a:ext cx="471767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extern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“C”</a:t>
            </a: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span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size_t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return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044ACD6-D57D-4476-AE78-5CB15BB7F77E}"/>
              </a:ext>
            </a:extLst>
          </p:cNvPr>
          <p:cNvSpPr txBox="1"/>
          <p:nvPr/>
        </p:nvSpPr>
        <p:spPr>
          <a:xfrm>
            <a:off x="6869767" y="3687474"/>
            <a:ext cx="5203451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.LFB821:</a:t>
            </a: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endParaRPr lang="en-US" sz="1600" b="1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jnb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 .L3</a:t>
            </a: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mov   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, DWORD PTR [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rdi+rdx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*4]</a:t>
            </a: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foo.cold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.L3: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push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...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call    std::__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glibcxx_assert_fail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B666CF0-FEC7-4836-9210-999A42A68622}"/>
              </a:ext>
            </a:extLst>
          </p:cNvPr>
          <p:cNvCxnSpPr>
            <a:cxnSpLocks/>
            <a:stCxn id="32" idx="2"/>
          </p:cNvCxnSpPr>
          <p:nvPr/>
        </p:nvCxnSpPr>
        <p:spPr>
          <a:xfrm flipH="1">
            <a:off x="3357281" y="2378414"/>
            <a:ext cx="1" cy="130906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897EC84-9F41-4F06-8412-66544FD915A0}"/>
              </a:ext>
            </a:extLst>
          </p:cNvPr>
          <p:cNvCxnSpPr>
            <a:cxnSpLocks/>
            <a:stCxn id="34" idx="2"/>
          </p:cNvCxnSpPr>
          <p:nvPr/>
        </p:nvCxnSpPr>
        <p:spPr>
          <a:xfrm flipH="1">
            <a:off x="9471491" y="2533824"/>
            <a:ext cx="1" cy="107242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C6B7905F-5E43-490E-BD70-FA7A1071C505}"/>
              </a:ext>
            </a:extLst>
          </p:cNvPr>
          <p:cNvSpPr txBox="1"/>
          <p:nvPr/>
        </p:nvSpPr>
        <p:spPr>
          <a:xfrm>
            <a:off x="755557" y="2852101"/>
            <a:ext cx="2387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rustc</a:t>
            </a:r>
            <a:r>
              <a:rPr lang="en-US" dirty="0"/>
              <a:t> -O -</a:t>
            </a:r>
            <a:r>
              <a:rPr lang="en-US" dirty="0" err="1"/>
              <a:t>Cpanic</a:t>
            </a:r>
            <a:r>
              <a:rPr lang="en-US" dirty="0"/>
              <a:t>=abort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EE81FD0-E6C4-479F-A7F6-7C9B83D90732}"/>
              </a:ext>
            </a:extLst>
          </p:cNvPr>
          <p:cNvSpPr txBox="1"/>
          <p:nvPr/>
        </p:nvSpPr>
        <p:spPr>
          <a:xfrm>
            <a:off x="6081712" y="2882423"/>
            <a:ext cx="3406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gcc</a:t>
            </a:r>
            <a:r>
              <a:rPr lang="en-US" dirty="0"/>
              <a:t> -O2 -D_GLIBCXX_ASSERTIONS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E8B7791-BBF7-465A-BDFB-AB5996AD83B0}"/>
              </a:ext>
            </a:extLst>
          </p:cNvPr>
          <p:cNvSpPr txBox="1"/>
          <p:nvPr/>
        </p:nvSpPr>
        <p:spPr>
          <a:xfrm>
            <a:off x="3504077" y="2694583"/>
            <a:ext cx="22837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https://godbolt.org/z/jGT6adEYM</a:t>
            </a:r>
            <a:endParaRPr 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11D8851-019E-4D0F-B7CD-2A85D7C8611D}"/>
              </a:ext>
            </a:extLst>
          </p:cNvPr>
          <p:cNvSpPr txBox="1"/>
          <p:nvPr/>
        </p:nvSpPr>
        <p:spPr>
          <a:xfrm>
            <a:off x="9738180" y="2692049"/>
            <a:ext cx="22837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https://godbolt.org/z/6MG5vdefK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39078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7E9A1-A939-48FE-B1ED-39DD16F77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Overheads in Hardened C++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5D499A-96B6-4756-9CEF-600C01A0D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116D31-C090-4E25-AE04-468A4088B229}"/>
              </a:ext>
            </a:extLst>
          </p:cNvPr>
          <p:cNvSpPr txBox="1"/>
          <p:nvPr/>
        </p:nvSpPr>
        <p:spPr>
          <a:xfrm>
            <a:off x="838200" y="5338583"/>
            <a:ext cx="38951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Unexpected performance improvements due to optimizer anomalies (bad vectorization, enabled </a:t>
            </a:r>
            <a:r>
              <a:rPr lang="en-US" sz="1600" dirty="0" err="1"/>
              <a:t>inlining</a:t>
            </a:r>
            <a:r>
              <a:rPr lang="en-US" sz="1600" dirty="0"/>
              <a:t>, etc.)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4E08B15-7831-4763-A8CA-9907577CEC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637" y="1928625"/>
            <a:ext cx="11473704" cy="3059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552390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EDE64-8D87-4928-98EF-5C314A18E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D0330-319B-4265-9CB4-93175ABC45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Bounds checks in Rust are applied much more aggressively than in Hardened C/C++</a:t>
            </a:r>
          </a:p>
          <a:p>
            <a:pPr lvl="1"/>
            <a:r>
              <a:rPr lang="en-US" dirty="0"/>
              <a:t>Hardened C/C++</a:t>
            </a:r>
            <a:r>
              <a:rPr lang="ru-RU" dirty="0"/>
              <a:t> </a:t>
            </a:r>
            <a:r>
              <a:rPr lang="en-US" dirty="0"/>
              <a:t>checks </a:t>
            </a:r>
            <a:r>
              <a:rPr lang="ru-RU" dirty="0"/>
              <a:t>5</a:t>
            </a:r>
            <a:r>
              <a:rPr lang="en-US" dirty="0"/>
              <a:t>x accesses than Rust</a:t>
            </a:r>
            <a:endParaRPr lang="ru-RU" dirty="0"/>
          </a:p>
          <a:p>
            <a:r>
              <a:rPr lang="en-US" dirty="0"/>
              <a:t>Overheads may reach </a:t>
            </a:r>
            <a:r>
              <a:rPr lang="ru-RU" dirty="0"/>
              <a:t>3-4%</a:t>
            </a:r>
            <a:r>
              <a:rPr lang="en-US" dirty="0"/>
              <a:t> (and are comparable to Hardened C/C++</a:t>
            </a:r>
            <a:r>
              <a:rPr lang="ru-RU" dirty="0"/>
              <a:t>)</a:t>
            </a:r>
          </a:p>
          <a:p>
            <a:pPr lvl="1"/>
            <a:r>
              <a:rPr lang="en-US" dirty="0"/>
              <a:t>But some tests may degrade by 10% and more (same applies to Hardened C/C++)</a:t>
            </a:r>
          </a:p>
          <a:p>
            <a:r>
              <a:rPr lang="en-US" dirty="0"/>
              <a:t>There are many ways to avoid checks in hot code</a:t>
            </a:r>
          </a:p>
          <a:p>
            <a:pPr lvl="1"/>
            <a:r>
              <a:rPr lang="en-US" dirty="0"/>
              <a:t>Some of them won’t be needed if delayed panics are finally implemented (</a:t>
            </a:r>
            <a:r>
              <a:rPr lang="en-US" dirty="0">
                <a:hlinkClick r:id="rId2"/>
              </a:rPr>
              <a:t>rust #50759</a:t>
            </a:r>
            <a:r>
              <a:rPr lang="en-US" dirty="0"/>
              <a:t>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CFCD42-7D07-42C8-AE40-84900801F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6113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8B0DE-4C05-402A-8637-FC6BA69EB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Recommended readings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4DFC6-7019-40AC-8B90-DDCFB759FB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How to avoid bounds checks in Rust without unsafe</a:t>
            </a:r>
            <a:r>
              <a:rPr lang="en-US" dirty="0"/>
              <a:t> (Sergey Davidoff aka </a:t>
            </a:r>
            <a:r>
              <a:rPr lang="en-US" dirty="0" err="1"/>
              <a:t>Shnatsel</a:t>
            </a:r>
            <a:r>
              <a:rPr lang="en-US" dirty="0"/>
              <a:t>, Rust Secure WG lead)</a:t>
            </a:r>
          </a:p>
          <a:p>
            <a:pPr lvl="1"/>
            <a:r>
              <a:rPr lang="en-US" dirty="0"/>
              <a:t>“Bible” of bounds check elimination</a:t>
            </a:r>
          </a:p>
          <a:p>
            <a:r>
              <a:rPr lang="en-US" dirty="0">
                <a:hlinkClick r:id="rId3"/>
              </a:rPr>
              <a:t>Story-time: C++, bounds checking, performance, and compilers</a:t>
            </a:r>
            <a:r>
              <a:rPr lang="en-US" dirty="0"/>
              <a:t> (Chandler Carruth, SW foundations &amp; PLs technical lead, creator of Carbon language)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7441FE-F429-4B2E-9ABE-586760B0C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83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Aliasing rules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958E61-48B6-4351-B51D-7CE0FB071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18F657-411A-41C1-A3CC-2B166A303859}"/>
              </a:ext>
            </a:extLst>
          </p:cNvPr>
          <p:cNvSpPr txBox="1"/>
          <p:nvPr/>
        </p:nvSpPr>
        <p:spPr>
          <a:xfrm>
            <a:off x="180975" y="6356350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Detailed analysis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75845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F9249-37A4-4BB2-8505-8B46470D7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 aliasing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788151-D0CD-491B-946E-152120995F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Universal feature in programming languages</a:t>
            </a:r>
            <a:endParaRPr lang="ru-RU" dirty="0"/>
          </a:p>
          <a:p>
            <a:r>
              <a:rPr lang="en-US" dirty="0"/>
              <a:t>Can two different references </a:t>
            </a:r>
            <a:r>
              <a:rPr lang="ru-RU" dirty="0"/>
              <a:t>(</a:t>
            </a:r>
            <a:r>
              <a:rPr lang="en-US" dirty="0"/>
              <a:t>pointers</a:t>
            </a:r>
            <a:r>
              <a:rPr lang="ru-RU" dirty="0"/>
              <a:t>) </a:t>
            </a:r>
            <a:r>
              <a:rPr lang="en-US" dirty="0"/>
              <a:t>address same object in program?</a:t>
            </a:r>
          </a:p>
          <a:p>
            <a:r>
              <a:rPr lang="en-US" dirty="0"/>
              <a:t>Different languages make different choices:</a:t>
            </a:r>
          </a:p>
          <a:p>
            <a:pPr lvl="1"/>
            <a:r>
              <a:rPr lang="en-US" dirty="0"/>
              <a:t>No two pointers in program may refer to same data (e.g. Fortran 77)</a:t>
            </a:r>
            <a:endParaRPr lang="ru-RU" dirty="0"/>
          </a:p>
          <a:p>
            <a:pPr lvl="1"/>
            <a:r>
              <a:rPr lang="en-US" dirty="0"/>
              <a:t>Any two pointers may address same data (e.g. pre-C89)</a:t>
            </a:r>
          </a:p>
          <a:p>
            <a:pPr lvl="1"/>
            <a:r>
              <a:rPr lang="en-US" dirty="0"/>
              <a:t>Intermediate variants</a:t>
            </a:r>
          </a:p>
          <a:p>
            <a:pPr lvl="2"/>
            <a:r>
              <a:rPr lang="en-US" dirty="0"/>
              <a:t>E.g. strict (type-based) aliasing in C89 and restrict annotations in C99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33C7B-340C-4F20-A332-387A60CC4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49</a:t>
            </a:fld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718C2BD9-15F2-4A8A-9CD3-8789A73EE5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9331" y="253066"/>
            <a:ext cx="2144093" cy="20598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1C55DD-E571-4DB5-A07E-5C019A197696}"/>
              </a:ext>
            </a:extLst>
          </p:cNvPr>
          <p:cNvSpPr txBox="1"/>
          <p:nvPr/>
        </p:nvSpPr>
        <p:spPr>
          <a:xfrm>
            <a:off x="62753" y="6504641"/>
            <a:ext cx="46526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hlinkClick r:id="rId3"/>
              </a:rPr>
              <a:t>https://commons.wikimedia.org/wiki/File:Hercules_slaying_the_Hydra.gif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8163760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DC768-9F03-45EB-A999-97F2D4069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250" y="-169352"/>
            <a:ext cx="10515600" cy="1325563"/>
          </a:xfrm>
        </p:spPr>
        <p:txBody>
          <a:bodyPr/>
          <a:lstStyle/>
          <a:p>
            <a:r>
              <a:rPr lang="en-US" dirty="0"/>
              <a:t>Why aliasing is important?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C3962-3A46-46BC-8044-5E039A931A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250" y="1132234"/>
            <a:ext cx="10515600" cy="280838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Unlimited aliasing is convenient for developer but reduces optimization opportunities for compiler</a:t>
            </a:r>
            <a:endParaRPr lang="ru-RU" dirty="0"/>
          </a:p>
          <a:p>
            <a:r>
              <a:rPr lang="en-US" dirty="0"/>
              <a:t>Reduced aliasing enables many optimizations</a:t>
            </a:r>
          </a:p>
          <a:p>
            <a:pPr lvl="1"/>
            <a:r>
              <a:rPr lang="en-US" dirty="0"/>
              <a:t>E.g. vectorizers</a:t>
            </a:r>
            <a:r>
              <a:rPr lang="ru-RU" dirty="0"/>
              <a:t>,</a:t>
            </a:r>
            <a:r>
              <a:rPr lang="en-US" dirty="0"/>
              <a:t> CSE,</a:t>
            </a:r>
            <a:r>
              <a:rPr lang="ru-RU" dirty="0"/>
              <a:t> </a:t>
            </a:r>
            <a:r>
              <a:rPr lang="en-US" dirty="0"/>
              <a:t>GVN, LICM, DSE, etc.</a:t>
            </a:r>
          </a:p>
          <a:p>
            <a:pPr lvl="1"/>
            <a:r>
              <a:rPr lang="en-US" dirty="0"/>
              <a:t>Even used in CPU (for speculative execution of loads)</a:t>
            </a:r>
            <a:endParaRPr lang="ru-RU" dirty="0"/>
          </a:p>
          <a:p>
            <a:r>
              <a:rPr lang="en-US" dirty="0"/>
              <a:t>Alias Analysis is one of the main components of any mature compiler</a:t>
            </a:r>
          </a:p>
          <a:p>
            <a:pPr lvl="1"/>
            <a:r>
              <a:rPr lang="en-US" dirty="0"/>
              <a:t>Identifies pointers that</a:t>
            </a:r>
            <a:r>
              <a:rPr lang="ru-RU" dirty="0"/>
              <a:t> </a:t>
            </a:r>
            <a:r>
              <a:rPr lang="en-US" dirty="0"/>
              <a:t>may (or may not)</a:t>
            </a:r>
            <a:r>
              <a:rPr lang="ru-RU" dirty="0"/>
              <a:t> </a:t>
            </a:r>
            <a:r>
              <a:rPr lang="en-US" dirty="0"/>
              <a:t>alias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4C5358-E7B4-4749-8C2C-BDF37FD68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F5A0A7-A29E-4732-A125-E0A8EF18F69B}"/>
              </a:ext>
            </a:extLst>
          </p:cNvPr>
          <p:cNvSpPr txBox="1"/>
          <p:nvPr/>
        </p:nvSpPr>
        <p:spPr>
          <a:xfrm>
            <a:off x="932891" y="4011097"/>
            <a:ext cx="573461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alias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noalias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restrict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restrict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3F8835-4FBA-481B-A2A5-4B3C8B225FDC}"/>
              </a:ext>
            </a:extLst>
          </p:cNvPr>
          <p:cNvSpPr txBox="1"/>
          <p:nvPr/>
        </p:nvSpPr>
        <p:spPr>
          <a:xfrm>
            <a:off x="7495054" y="4011098"/>
            <a:ext cx="3858745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alias: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DWORD PTR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0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DWORD PTR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1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</a:t>
            </a:r>
            <a:r>
              <a:rPr lang="en-US" sz="1600" b="1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DWORD PTR [</a:t>
            </a:r>
            <a:r>
              <a:rPr lang="en-US" sz="1600" b="1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noalias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DWORD PTR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0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b="1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DWORD PTR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1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8460FCA-E2E6-4874-9C2C-8300E390BE9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6667501" y="5411481"/>
            <a:ext cx="827553" cy="1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2498942-3B20-4D7E-A38D-EA2C799D4DCB}"/>
              </a:ext>
            </a:extLst>
          </p:cNvPr>
          <p:cNvSpPr txBox="1"/>
          <p:nvPr/>
        </p:nvSpPr>
        <p:spPr>
          <a:xfrm>
            <a:off x="4446494" y="5826979"/>
            <a:ext cx="23308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https://godbolt.org/z/nqdax4vEP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68592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06F3F-7D8F-44CD-9745-A9F855E4A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 analysis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8D20E-A837-448A-B03C-F32932D8F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Precise </a:t>
            </a:r>
            <a:r>
              <a:rPr lang="en-US" i="1" dirty="0"/>
              <a:t>intra</a:t>
            </a:r>
            <a:r>
              <a:rPr lang="en-US" dirty="0"/>
              <a:t>procedural alias analysis is</a:t>
            </a:r>
          </a:p>
          <a:p>
            <a:pPr lvl="1"/>
            <a:r>
              <a:rPr lang="en-US" dirty="0"/>
              <a:t>NP-complete</a:t>
            </a:r>
            <a:r>
              <a:rPr lang="ru-RU" dirty="0"/>
              <a:t> </a:t>
            </a:r>
            <a:r>
              <a:rPr lang="en-US" dirty="0"/>
              <a:t>without dynamic allocations (</a:t>
            </a:r>
            <a:r>
              <a:rPr lang="en-US" dirty="0">
                <a:hlinkClick r:id="rId2"/>
              </a:rPr>
              <a:t>Pointer-induced aliasing</a:t>
            </a:r>
            <a:r>
              <a:rPr lang="en-US" dirty="0"/>
              <a:t>, 1991)</a:t>
            </a:r>
            <a:endParaRPr lang="ru-RU" dirty="0"/>
          </a:p>
          <a:p>
            <a:pPr lvl="1"/>
            <a:r>
              <a:rPr lang="en-US" dirty="0"/>
              <a:t>Undecidable otherwise (</a:t>
            </a:r>
            <a:r>
              <a:rPr lang="en-US" dirty="0">
                <a:hlinkClick r:id="rId3"/>
              </a:rPr>
              <a:t>Undecidability of static analysis</a:t>
            </a:r>
            <a:r>
              <a:rPr lang="en-US" dirty="0"/>
              <a:t>, 1992)</a:t>
            </a:r>
          </a:p>
          <a:p>
            <a:r>
              <a:rPr lang="en-US" dirty="0"/>
              <a:t>Aliasing is very rare in real programs</a:t>
            </a:r>
          </a:p>
          <a:p>
            <a:pPr lvl="1"/>
            <a:r>
              <a:rPr lang="en-US" dirty="0"/>
              <a:t>98% of pointers in SPEC benchmarks address only one object</a:t>
            </a:r>
            <a:endParaRPr lang="ru-RU" dirty="0"/>
          </a:p>
          <a:p>
            <a:pPr lvl="2"/>
            <a:r>
              <a:rPr lang="en-US" dirty="0">
                <a:hlinkClick r:id="rId4"/>
              </a:rPr>
              <a:t>Dynamic Points-To Sets</a:t>
            </a:r>
            <a:r>
              <a:rPr lang="ru-RU" dirty="0"/>
              <a:t> (</a:t>
            </a:r>
            <a:r>
              <a:rPr lang="en-US" dirty="0"/>
              <a:t>Mock et al., 2001)</a:t>
            </a:r>
            <a:endParaRPr lang="ru-RU" dirty="0"/>
          </a:p>
          <a:p>
            <a:r>
              <a:rPr lang="en-US" dirty="0"/>
              <a:t>Existing alias analyses are conservative and overestimate aliasing 1.5-20x</a:t>
            </a:r>
          </a:p>
          <a:p>
            <a:pPr lvl="1"/>
            <a:r>
              <a:rPr lang="en-US" dirty="0">
                <a:hlinkClick r:id="rId4"/>
              </a:rPr>
              <a:t>Dynamic Points-To Sets</a:t>
            </a:r>
            <a:r>
              <a:rPr lang="ru-RU" dirty="0"/>
              <a:t> (</a:t>
            </a:r>
            <a:r>
              <a:rPr lang="en-US" dirty="0"/>
              <a:t>Mock et al., 2001)</a:t>
            </a:r>
            <a:endParaRPr lang="ru-RU" dirty="0"/>
          </a:p>
          <a:p>
            <a:pPr lvl="1"/>
            <a:r>
              <a:rPr lang="en-US" dirty="0">
                <a:hlinkClick r:id="rId5"/>
              </a:rPr>
              <a:t>Speculative Alias Analysis for Executable Code</a:t>
            </a:r>
            <a:r>
              <a:rPr lang="en-US" dirty="0"/>
              <a:t> (Fernandez et al., 2002)</a:t>
            </a:r>
          </a:p>
          <a:p>
            <a:pPr lvl="1"/>
            <a:r>
              <a:rPr lang="en-US" dirty="0">
                <a:hlinkClick r:id="rId6"/>
              </a:rPr>
              <a:t>ORAQL — Optimistic Responses to Alias Queries in LLVM</a:t>
            </a:r>
            <a:r>
              <a:rPr lang="en-US" dirty="0"/>
              <a:t> (</a:t>
            </a:r>
            <a:r>
              <a:rPr lang="en-US" dirty="0" err="1"/>
              <a:t>Doerfert</a:t>
            </a:r>
            <a:r>
              <a:rPr lang="en-US" dirty="0"/>
              <a:t> et al., 2023)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FD291-5D9C-42B9-BE79-497DD737E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303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1C6CA-4CAD-4640-858E-8B9921A8D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Aliasing in 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C546FD-E26A-49FC-83BD-BEB328B1D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29450" cy="4351338"/>
          </a:xfrm>
        </p:spPr>
        <p:txBody>
          <a:bodyPr>
            <a:normAutofit/>
          </a:bodyPr>
          <a:lstStyle/>
          <a:p>
            <a:r>
              <a:rPr lang="en-US" dirty="0"/>
              <a:t>Limitations imposes by Borrow checker simplify alias analysis:</a:t>
            </a:r>
          </a:p>
          <a:p>
            <a:pPr lvl="1"/>
            <a:r>
              <a:rPr lang="en-US" dirty="0"/>
              <a:t>Mutable reference may not alias any other (mutable or shared) reference</a:t>
            </a:r>
          </a:p>
          <a:p>
            <a:pPr lvl="1"/>
            <a:r>
              <a:rPr lang="en-US" dirty="0"/>
              <a:t>While it exists, mutable reference is the only pointer to object</a:t>
            </a:r>
          </a:p>
          <a:p>
            <a:pPr lvl="1"/>
            <a:r>
              <a:rPr lang="en-US" dirty="0"/>
              <a:t>Object addressed by shared reference may not be changed while reference exists</a:t>
            </a:r>
          </a:p>
          <a:p>
            <a:r>
              <a:rPr lang="en-US" dirty="0"/>
              <a:t>In practice this achieves similar effect as restrict in C/C++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59A51-24D0-4249-B45E-3C9FD8CBA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4B1B2A-90AD-47D1-B022-CD1DC8848EE0}"/>
              </a:ext>
            </a:extLst>
          </p:cNvPr>
          <p:cNvSpPr txBox="1"/>
          <p:nvPr/>
        </p:nvSpPr>
        <p:spPr>
          <a:xfrm>
            <a:off x="8096250" y="531158"/>
            <a:ext cx="38481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87A8BE-4CF2-4035-85AD-C171F66B7089}"/>
              </a:ext>
            </a:extLst>
          </p:cNvPr>
          <p:cNvSpPr txBox="1"/>
          <p:nvPr/>
        </p:nvSpPr>
        <p:spPr>
          <a:xfrm>
            <a:off x="8143875" y="2458323"/>
            <a:ext cx="375285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define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@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noalias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...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noalias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...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store 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store 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ret 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2D2BA5-26C1-413B-A740-4FA11A811EDE}"/>
              </a:ext>
            </a:extLst>
          </p:cNvPr>
          <p:cNvSpPr txBox="1"/>
          <p:nvPr/>
        </p:nvSpPr>
        <p:spPr>
          <a:xfrm>
            <a:off x="8043862" y="4545836"/>
            <a:ext cx="39528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mov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], 0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mov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], 1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ret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EC44FEE-6129-4111-A78D-C8596E1E8FD0}"/>
              </a:ext>
            </a:extLst>
          </p:cNvPr>
          <p:cNvCxnSpPr>
            <a:cxnSpLocks/>
          </p:cNvCxnSpPr>
          <p:nvPr/>
        </p:nvCxnSpPr>
        <p:spPr>
          <a:xfrm>
            <a:off x="10020300" y="1643156"/>
            <a:ext cx="0" cy="632698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192B5B5-5B91-48C9-A745-75F3DE3C7ABA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10020300" y="4069976"/>
            <a:ext cx="0" cy="47586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F00D7F0-B213-4B29-B6F2-61E0C705A9D7}"/>
              </a:ext>
            </a:extLst>
          </p:cNvPr>
          <p:cNvSpPr txBox="1"/>
          <p:nvPr/>
        </p:nvSpPr>
        <p:spPr>
          <a:xfrm>
            <a:off x="8586227" y="6003676"/>
            <a:ext cx="23577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https://godbolt.org/z/6WoTzoo5v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0135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B3DC2-01D3-472B-9151-936A29357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40A3D-FF36-4404-AB04-9D1125AC4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229475" cy="4351338"/>
          </a:xfrm>
        </p:spPr>
        <p:txBody>
          <a:bodyPr>
            <a:normAutofit/>
          </a:bodyPr>
          <a:lstStyle/>
          <a:p>
            <a:r>
              <a:rPr lang="en-US" dirty="0"/>
              <a:t>Information about aliasing is represented via </a:t>
            </a:r>
            <a:r>
              <a:rPr lang="en-US" dirty="0" err="1"/>
              <a:t>noalias</a:t>
            </a:r>
            <a:r>
              <a:rPr lang="en-US" dirty="0"/>
              <a:t> attribute in function arguments</a:t>
            </a:r>
          </a:p>
          <a:p>
            <a:pPr lvl="1"/>
            <a:r>
              <a:rPr lang="en-US" dirty="0"/>
              <a:t>References that appear </a:t>
            </a:r>
            <a:r>
              <a:rPr lang="en-US" i="1" dirty="0"/>
              <a:t>inside </a:t>
            </a:r>
            <a:r>
              <a:rPr lang="en-US" dirty="0"/>
              <a:t>functions are not marked and can alias from LLVM standpoint</a:t>
            </a:r>
          </a:p>
          <a:p>
            <a:r>
              <a:rPr lang="en-US" dirty="0"/>
              <a:t>May be solved via </a:t>
            </a:r>
            <a:r>
              <a:rPr lang="en-US" dirty="0" err="1">
                <a:hlinkClick r:id="rId2"/>
              </a:rPr>
              <a:t>alias.scope</a:t>
            </a:r>
            <a:r>
              <a:rPr lang="en-US" dirty="0">
                <a:hlinkClick r:id="rId2"/>
              </a:rPr>
              <a:t> metadata</a:t>
            </a:r>
            <a:r>
              <a:rPr lang="en-US" dirty="0"/>
              <a:t> in future (</a:t>
            </a:r>
            <a:r>
              <a:rPr lang="en-US" dirty="0">
                <a:hlinkClick r:id="rId3"/>
              </a:rPr>
              <a:t>#16515</a:t>
            </a:r>
            <a:r>
              <a:rPr lang="en-US" dirty="0"/>
              <a:t>)</a:t>
            </a:r>
          </a:p>
          <a:p>
            <a:r>
              <a:rPr lang="en-US" dirty="0"/>
              <a:t>Workaround: create dummy</a:t>
            </a:r>
            <a:r>
              <a:rPr lang="ru-RU" dirty="0"/>
              <a:t>-</a:t>
            </a:r>
            <a:r>
              <a:rPr lang="en-US" dirty="0"/>
              <a:t>functions</a:t>
            </a:r>
            <a:r>
              <a:rPr lang="ru-RU" dirty="0"/>
              <a:t> </a:t>
            </a:r>
            <a:r>
              <a:rPr lang="en-US" dirty="0"/>
              <a:t>specifically for </a:t>
            </a:r>
            <a:r>
              <a:rPr lang="en-US" dirty="0" err="1"/>
              <a:t>noalias</a:t>
            </a:r>
            <a:r>
              <a:rPr lang="en-US" dirty="0"/>
              <a:t> annotations</a:t>
            </a:r>
          </a:p>
          <a:p>
            <a:pPr lvl="1"/>
            <a:r>
              <a:rPr lang="en-US" dirty="0"/>
              <a:t>Example:</a:t>
            </a:r>
            <a:r>
              <a:rPr lang="ru-RU" dirty="0"/>
              <a:t> </a:t>
            </a:r>
            <a:r>
              <a:rPr lang="en-US" dirty="0" err="1">
                <a:hlinkClick r:id="rId4"/>
              </a:rPr>
              <a:t>rustc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2F96B0-A3A2-4B7E-900F-9044BAC69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B6C026-28A1-4716-BF50-E1E56117FCB9}"/>
              </a:ext>
            </a:extLst>
          </p:cNvPr>
          <p:cNvSpPr txBox="1"/>
          <p:nvPr/>
        </p:nvSpPr>
        <p:spPr>
          <a:xfrm>
            <a:off x="8286751" y="1325568"/>
            <a:ext cx="371475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 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 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unsafe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unsafe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FC1C39-8C7A-4F24-8DAD-1C6E0122F876}"/>
              </a:ext>
            </a:extLst>
          </p:cNvPr>
          <p:cNvSpPr txBox="1"/>
          <p:nvPr/>
        </p:nvSpPr>
        <p:spPr>
          <a:xfrm>
            <a:off x="8259855" y="3940975"/>
            <a:ext cx="382456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mov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], 1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mov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], 2</a:t>
            </a: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mov   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ret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0DEE58-15BC-44E0-92D1-8A19F2D02A2E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10172139" y="3429000"/>
            <a:ext cx="0" cy="51197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0E9476F-F852-4135-A9C7-C4DC24436972}"/>
              </a:ext>
            </a:extLst>
          </p:cNvPr>
          <p:cNvSpPr txBox="1"/>
          <p:nvPr/>
        </p:nvSpPr>
        <p:spPr>
          <a:xfrm>
            <a:off x="8497980" y="5695638"/>
            <a:ext cx="227703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https://godbolt.org/z/WjY9rxex7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84823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DE0DFE-523B-4E6C-B58A-2D327C5FB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21C8B-47E1-4580-A0CB-850D105F26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905625" cy="4351338"/>
          </a:xfrm>
        </p:spPr>
        <p:txBody>
          <a:bodyPr/>
          <a:lstStyle/>
          <a:p>
            <a:r>
              <a:rPr lang="en-US" dirty="0"/>
              <a:t>One case of above problem is aliasing of references to structure fields</a:t>
            </a:r>
            <a:endParaRPr lang="ru-RU" dirty="0"/>
          </a:p>
          <a:p>
            <a:r>
              <a:rPr lang="en-US" dirty="0"/>
              <a:t>E.g. when passing two vectors to function compiler fails to understand that their buffers do not alias</a:t>
            </a:r>
            <a:endParaRPr lang="ru-RU" dirty="0"/>
          </a:p>
          <a:p>
            <a:r>
              <a:rPr lang="en-US" dirty="0"/>
              <a:t>Workaround: pass raw slices to functions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F84024-4D76-4236-8B68-69F588C77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34D926-8409-43D2-81FA-C4C3B3F158C7}"/>
              </a:ext>
            </a:extLst>
          </p:cNvPr>
          <p:cNvSpPr txBox="1"/>
          <p:nvPr/>
        </p:nvSpPr>
        <p:spPr>
          <a:xfrm>
            <a:off x="7829550" y="1428750"/>
            <a:ext cx="402907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 &amp;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[..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A3A6FB-3CC4-41EE-8F5D-7DB26EFAD93E}"/>
              </a:ext>
            </a:extLst>
          </p:cNvPr>
          <p:cNvSpPr txBox="1"/>
          <p:nvPr/>
        </p:nvSpPr>
        <p:spPr>
          <a:xfrm>
            <a:off x="8029574" y="3782913"/>
            <a:ext cx="362902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[..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A06FB62-C6E5-4AEF-BBA7-53DC3E244B09}"/>
              </a:ext>
            </a:extLst>
          </p:cNvPr>
          <p:cNvCxnSpPr>
            <a:cxnSpLocks/>
          </p:cNvCxnSpPr>
          <p:nvPr/>
        </p:nvCxnSpPr>
        <p:spPr>
          <a:xfrm flipH="1">
            <a:off x="9844086" y="3084612"/>
            <a:ext cx="1" cy="538281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354656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9259C-7A36-4765-BA29-59802A6C3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DADD1-7E79-46BE-8E20-8739895F5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Aliasing rules apply only to references</a:t>
            </a:r>
            <a:endParaRPr lang="ru-RU" dirty="0"/>
          </a:p>
          <a:p>
            <a:r>
              <a:rPr lang="en-US" dirty="0"/>
              <a:t>Raw pointers will still alias in Rust</a:t>
            </a:r>
            <a:endParaRPr lang="ru-RU" dirty="0"/>
          </a:p>
          <a:p>
            <a:pPr lvl="1"/>
            <a:r>
              <a:rPr lang="en-US" dirty="0"/>
              <a:t>This is worse than in C/C++ due to lack of strict aliasing rules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8C975B-B888-4AD8-89D6-1DA0B022E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19418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3CB7C-7BB2-497D-AB38-7DDF8E092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 of Rust aliasing rules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F30ADC-B477-493E-9705-8D57080CE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9AB8DB-3BE3-47E9-AAD9-0331EBFD79D5}"/>
              </a:ext>
            </a:extLst>
          </p:cNvPr>
          <p:cNvSpPr txBox="1"/>
          <p:nvPr/>
        </p:nvSpPr>
        <p:spPr>
          <a:xfrm>
            <a:off x="228039" y="6119336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Analysis methodology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5875B-D97C-4E55-905D-4FD2A00A6F20}"/>
              </a:ext>
            </a:extLst>
          </p:cNvPr>
          <p:cNvSpPr txBox="1"/>
          <p:nvPr/>
        </p:nvSpPr>
        <p:spPr>
          <a:xfrm>
            <a:off x="228039" y="6488668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Compiler branch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440907-6395-4836-80B1-734F50EA6DEA}"/>
              </a:ext>
            </a:extLst>
          </p:cNvPr>
          <p:cNvSpPr txBox="1"/>
          <p:nvPr/>
        </p:nvSpPr>
        <p:spPr>
          <a:xfrm>
            <a:off x="9820275" y="2098577"/>
            <a:ext cx="210502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 of alias analysis </a:t>
            </a:r>
            <a:r>
              <a:rPr lang="ru-RU" dirty="0"/>
              <a:t>– </a:t>
            </a:r>
            <a:r>
              <a:rPr lang="en-US" dirty="0"/>
              <a:t>number of pointer pairs for which analysis could give definite answer </a:t>
            </a:r>
            <a:r>
              <a:rPr lang="ru-RU" dirty="0"/>
              <a:t>(</a:t>
            </a:r>
            <a:r>
              <a:rPr lang="en-US" dirty="0" err="1"/>
              <a:t>MustAlias</a:t>
            </a:r>
            <a:r>
              <a:rPr lang="en-US" dirty="0"/>
              <a:t> / </a:t>
            </a:r>
            <a:r>
              <a:rPr lang="en-US" dirty="0" err="1"/>
              <a:t>NoAlias</a:t>
            </a:r>
            <a:r>
              <a:rPr lang="en-US" dirty="0"/>
              <a:t>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F1DB5B-563D-41B9-AA77-FFB932CEFCE8}"/>
              </a:ext>
            </a:extLst>
          </p:cNvPr>
          <p:cNvSpPr txBox="1"/>
          <p:nvPr/>
        </p:nvSpPr>
        <p:spPr>
          <a:xfrm>
            <a:off x="1419224" y="5604986"/>
            <a:ext cx="8029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Degradation of alias analysis precision in Rust after turning of reference rules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6E53B8-1D57-4A29-84C7-72C3022820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38" y="1690688"/>
            <a:ext cx="8915961" cy="3714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29475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38189-755D-4F0A-9D27-F53B2B445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Performance degradation after disabling aliasing rules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B39745-C71B-42E8-BD21-92D92B16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30467C-7A55-40D1-889A-8D31451703FF}"/>
              </a:ext>
            </a:extLst>
          </p:cNvPr>
          <p:cNvSpPr txBox="1"/>
          <p:nvPr/>
        </p:nvSpPr>
        <p:spPr>
          <a:xfrm>
            <a:off x="228039" y="6488668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Compiler branch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B17DCB-E4FA-481B-9DF8-360B26F6F2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8292" y="1865294"/>
            <a:ext cx="6070226" cy="4856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80354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26931-75D5-4C29-87E7-EF84BBBAC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Situation in C/C++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7E30B-CCE3-4D6A-A1D2-F576E91B79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41894" cy="4351338"/>
          </a:xfrm>
        </p:spPr>
        <p:txBody>
          <a:bodyPr>
            <a:normAutofit/>
          </a:bodyPr>
          <a:lstStyle/>
          <a:p>
            <a:r>
              <a:rPr lang="en-US" dirty="0"/>
              <a:t>C</a:t>
            </a:r>
            <a:r>
              <a:rPr lang="ru-RU" dirty="0"/>
              <a:t> </a:t>
            </a:r>
            <a:r>
              <a:rPr lang="en-US" dirty="0"/>
              <a:t>and C++ disallow aliasing of pointers to different types</a:t>
            </a:r>
            <a:endParaRPr lang="ru-RU" dirty="0"/>
          </a:p>
          <a:p>
            <a:pPr lvl="1"/>
            <a:r>
              <a:rPr lang="en-US" dirty="0"/>
              <a:t>Except char *, signed/unsigned, scalar/vector, etc.</a:t>
            </a:r>
          </a:p>
          <a:p>
            <a:r>
              <a:rPr lang="en-US" dirty="0"/>
              <a:t>But many projects ignore this rule via -</a:t>
            </a:r>
            <a:r>
              <a:rPr lang="en-US" dirty="0" err="1"/>
              <a:t>fno</a:t>
            </a:r>
            <a:r>
              <a:rPr lang="en-US" dirty="0"/>
              <a:t>-strict-aliasing flag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2B529-8127-4DB6-B0F8-4A65E7AF3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973FD0-BED0-4609-ADC1-AA5076C0C8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0094" y="1429123"/>
            <a:ext cx="4911852" cy="2737820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70A7854-3E1A-48E0-BA70-409699F4D672}"/>
              </a:ext>
            </a:extLst>
          </p:cNvPr>
          <p:cNvSpPr txBox="1">
            <a:spLocks/>
          </p:cNvSpPr>
          <p:nvPr/>
        </p:nvSpPr>
        <p:spPr>
          <a:xfrm>
            <a:off x="838200" y="4470680"/>
            <a:ext cx="10358718" cy="26472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 and</a:t>
            </a:r>
            <a:r>
              <a:rPr lang="ru-RU" dirty="0"/>
              <a:t> </a:t>
            </a:r>
            <a:r>
              <a:rPr lang="en-US" dirty="0"/>
              <a:t>C++ also allow developer to explicitly prohibit aliasing via restrict keyword</a:t>
            </a:r>
          </a:p>
          <a:p>
            <a:pPr lvl="1"/>
            <a:r>
              <a:rPr lang="en-US" dirty="0"/>
              <a:t>In practice this is seldomly used </a:t>
            </a:r>
            <a:r>
              <a:rPr lang="ru-RU" dirty="0"/>
              <a:t>(</a:t>
            </a:r>
            <a:r>
              <a:rPr lang="en-US" dirty="0"/>
              <a:t>Rust couldn’t enable its aliasing rules for long time due to lots of hidden bugs in LLVM)</a:t>
            </a:r>
          </a:p>
        </p:txBody>
      </p:sp>
    </p:spTree>
    <p:extLst>
      <p:ext uri="{BB962C8B-B14F-4D97-AF65-F5344CB8AC3E}">
        <p14:creationId xmlns:p14="http://schemas.microsoft.com/office/powerpoint/2010/main" val="327742796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8B9F6-958F-47FF-AF84-F4AD8BD26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B3F32C-778E-4F8A-8F79-DEF4E035E7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Rust aliasing rules allow to</a:t>
            </a:r>
          </a:p>
          <a:p>
            <a:pPr lvl="1"/>
            <a:r>
              <a:rPr lang="en-US" dirty="0"/>
              <a:t>Increase analysis precision by 5% on average</a:t>
            </a:r>
          </a:p>
          <a:p>
            <a:pPr lvl="1"/>
            <a:r>
              <a:rPr lang="en-US" dirty="0"/>
              <a:t>Improve performance by</a:t>
            </a:r>
            <a:r>
              <a:rPr lang="ru-RU" dirty="0"/>
              <a:t> </a:t>
            </a:r>
            <a:r>
              <a:rPr lang="en-US" dirty="0"/>
              <a:t>1-2% on average</a:t>
            </a:r>
            <a:endParaRPr lang="ru-RU" dirty="0"/>
          </a:p>
          <a:p>
            <a:r>
              <a:rPr lang="en-US" dirty="0"/>
              <a:t>Can expect performance increase after further </a:t>
            </a:r>
            <a:r>
              <a:rPr lang="en-US" dirty="0" err="1"/>
              <a:t>codegen</a:t>
            </a:r>
            <a:r>
              <a:rPr lang="en-US" dirty="0"/>
              <a:t> improvements (aliasing metadata)</a:t>
            </a:r>
            <a:endParaRPr lang="ru-RU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417EA-E855-48A0-83C2-DE3F271EE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69069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B28DC-6809-49E3-847B-63B77066B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Recommended readings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68088-729D-49BA-8ECA-814F14C48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Complexity of alias analysis:</a:t>
            </a:r>
          </a:p>
          <a:p>
            <a:pPr lvl="1"/>
            <a:r>
              <a:rPr lang="en-US" dirty="0">
                <a:hlinkClick r:id="rId2"/>
              </a:rPr>
              <a:t>Pointer-induced aliasing</a:t>
            </a:r>
            <a:r>
              <a:rPr lang="en-US" dirty="0"/>
              <a:t> (</a:t>
            </a:r>
            <a:r>
              <a:rPr lang="en-US" dirty="0" err="1"/>
              <a:t>Landi</a:t>
            </a:r>
            <a:r>
              <a:rPr lang="en-US" dirty="0"/>
              <a:t>, 1991)</a:t>
            </a:r>
            <a:endParaRPr lang="ru-RU" dirty="0"/>
          </a:p>
          <a:p>
            <a:pPr lvl="1"/>
            <a:r>
              <a:rPr lang="en-US" dirty="0">
                <a:hlinkClick r:id="rId3"/>
              </a:rPr>
              <a:t>Undecidability of static analysis</a:t>
            </a:r>
            <a:r>
              <a:rPr lang="en-US" dirty="0"/>
              <a:t> (</a:t>
            </a:r>
            <a:r>
              <a:rPr lang="en-US" dirty="0" err="1"/>
              <a:t>Landi</a:t>
            </a:r>
            <a:r>
              <a:rPr lang="en-US" dirty="0"/>
              <a:t>, 1992)</a:t>
            </a:r>
          </a:p>
          <a:p>
            <a:r>
              <a:rPr lang="en-US" dirty="0"/>
              <a:t>Aliasing in real code:</a:t>
            </a:r>
          </a:p>
          <a:p>
            <a:pPr lvl="1"/>
            <a:r>
              <a:rPr lang="en-US" dirty="0">
                <a:hlinkClick r:id="rId4"/>
              </a:rPr>
              <a:t>Dynamic Points-To Sets</a:t>
            </a:r>
            <a:r>
              <a:rPr lang="ru-RU" dirty="0"/>
              <a:t> (</a:t>
            </a:r>
            <a:r>
              <a:rPr lang="en-US" dirty="0"/>
              <a:t>Mock et al., 2001)</a:t>
            </a:r>
            <a:endParaRPr lang="ru-RU" dirty="0"/>
          </a:p>
          <a:p>
            <a:pPr lvl="1"/>
            <a:r>
              <a:rPr lang="en-US" dirty="0">
                <a:hlinkClick r:id="rId5"/>
              </a:rPr>
              <a:t>Speculative Alias Analysis for Executable Code</a:t>
            </a:r>
            <a:r>
              <a:rPr lang="en-US" dirty="0"/>
              <a:t> (Fernandez et al., 2002)</a:t>
            </a:r>
          </a:p>
          <a:p>
            <a:pPr lvl="1"/>
            <a:r>
              <a:rPr lang="en-US" dirty="0">
                <a:hlinkClick r:id="rId6"/>
              </a:rPr>
              <a:t>ORAQL — Optimistic Responses to Alias Queries in LLVM</a:t>
            </a:r>
            <a:r>
              <a:rPr lang="en-US" dirty="0"/>
              <a:t> (</a:t>
            </a:r>
            <a:r>
              <a:rPr lang="en-US" dirty="0" err="1"/>
              <a:t>Doerfert</a:t>
            </a:r>
            <a:r>
              <a:rPr lang="en-US" dirty="0"/>
              <a:t> et al., 2023)</a:t>
            </a:r>
          </a:p>
          <a:p>
            <a:r>
              <a:rPr lang="en-US" dirty="0"/>
              <a:t>De-aliasing in CPU:</a:t>
            </a:r>
          </a:p>
          <a:p>
            <a:pPr lvl="1"/>
            <a:r>
              <a:rPr lang="en-US" dirty="0">
                <a:hlinkClick r:id="rId7"/>
              </a:rPr>
              <a:t>Memory Disambiguation on Skylake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63BFE4-F481-419C-AE48-DBCD5371D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12825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Mandatory initialization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FF772-26C0-4B3E-964B-0964EB9F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D32816-2DD3-47B3-8FC4-17F6CD04BE74}"/>
              </a:ext>
            </a:extLst>
          </p:cNvPr>
          <p:cNvSpPr txBox="1"/>
          <p:nvPr/>
        </p:nvSpPr>
        <p:spPr>
          <a:xfrm>
            <a:off x="180975" y="6356350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Detailed analysis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793039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Mandatory initialization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886545" cy="4351338"/>
          </a:xfrm>
        </p:spPr>
        <p:txBody>
          <a:bodyPr>
            <a:normAutofit/>
          </a:bodyPr>
          <a:lstStyle/>
          <a:p>
            <a:r>
              <a:rPr lang="en-US" dirty="0"/>
              <a:t>Uninitialized variables may cause information leaks and other errors</a:t>
            </a:r>
            <a:endParaRPr lang="ru-RU" dirty="0"/>
          </a:p>
          <a:p>
            <a:pPr lvl="1"/>
            <a:r>
              <a:rPr lang="en-US" dirty="0"/>
              <a:t>Password or address leaks </a:t>
            </a:r>
            <a:r>
              <a:rPr lang="ru-RU" dirty="0"/>
              <a:t>(</a:t>
            </a:r>
            <a:r>
              <a:rPr lang="en-US" dirty="0"/>
              <a:t>the latter compromises ASLR)</a:t>
            </a:r>
          </a:p>
          <a:p>
            <a:r>
              <a:rPr lang="en-US" dirty="0"/>
              <a:t>Prevalence:</a:t>
            </a:r>
          </a:p>
          <a:p>
            <a:pPr lvl="1"/>
            <a:r>
              <a:rPr lang="en-US" dirty="0"/>
              <a:t>10% CVE root cause in Microsoft products in </a:t>
            </a:r>
            <a:r>
              <a:rPr lang="ru-RU" dirty="0"/>
              <a:t>2018 (</a:t>
            </a:r>
            <a:r>
              <a:rPr lang="en-US" dirty="0"/>
              <a:t>see </a:t>
            </a:r>
            <a:r>
              <a:rPr lang="en-US" dirty="0">
                <a:hlinkClick r:id="rId2"/>
              </a:rPr>
              <a:t>Killing Uninitialized Memory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12% exploitable bugs in Android (see </a:t>
            </a:r>
            <a:r>
              <a:rPr lang="en-US" dirty="0">
                <a:hlinkClick r:id="rId3"/>
              </a:rPr>
              <a:t>P2723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62</a:t>
            </a:fld>
            <a:endParaRPr lang="en-US"/>
          </a:p>
        </p:txBody>
      </p:sp>
      <p:pic>
        <p:nvPicPr>
          <p:cNvPr id="5" name="Picture 4" descr="Vintage Water Tap Dripping in Black and ...">
            <a:extLst>
              <a:ext uri="{FF2B5EF4-FFF2-40B4-BE49-F238E27FC236}">
                <a16:creationId xmlns:a16="http://schemas.microsoft.com/office/drawing/2014/main" id="{2F9EB11D-EE99-4770-818D-7B22294D2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24745" y="681037"/>
            <a:ext cx="1743075" cy="2619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5DFFD0F-64EE-484A-B75F-BA9A4F14171E}"/>
              </a:ext>
            </a:extLst>
          </p:cNvPr>
          <p:cNvSpPr txBox="1"/>
          <p:nvPr/>
        </p:nvSpPr>
        <p:spPr>
          <a:xfrm>
            <a:off x="161365" y="6512391"/>
            <a:ext cx="593463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Alex Dos Santos, </a:t>
            </a:r>
            <a:r>
              <a:rPr lang="en-US" sz="1000" dirty="0">
                <a:hlinkClick r:id="rId5"/>
              </a:rPr>
              <a:t>https://www.pexels.com/photo/vintage-water-tap-dripping-in-black-and-white-29725026/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47135763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78067-D6EA-48A6-AF9A-4CC40E75E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070" y="0"/>
            <a:ext cx="10515600" cy="1325563"/>
          </a:xfrm>
        </p:spPr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170BF-6C6B-473F-97B9-2F7573D53E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7871" y="1325563"/>
            <a:ext cx="6333564" cy="519177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void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char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password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b="1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32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...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void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bar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char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message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b="1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1024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cond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strcpy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message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“...”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Leaking password under</a:t>
            </a:r>
            <a:r>
              <a:rPr lang="ru-RU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!</a:t>
            </a:r>
            <a:r>
              <a:rPr lang="en-US" dirty="0" err="1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cond</a:t>
            </a:r>
            <a:endParaRPr lang="en-US" dirty="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printf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message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void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baz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bar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BCE03D-8CB4-456C-8E5E-3769F563C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77AC13-74B0-42BB-979A-B4FD3BCA574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63812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F0C67-37BB-4E15-B974-2DAEF33DB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161A6-7F16-4FEC-867C-D7C445DC9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>
            <a:normAutofit/>
          </a:bodyPr>
          <a:lstStyle/>
          <a:p>
            <a:r>
              <a:rPr lang="en-US" dirty="0"/>
              <a:t>Rust requires initialization of all variables</a:t>
            </a:r>
          </a:p>
          <a:p>
            <a:pPr lvl="1"/>
            <a:r>
              <a:rPr lang="en-US" dirty="0"/>
              <a:t>Local, global, heap</a:t>
            </a:r>
          </a:p>
          <a:p>
            <a:r>
              <a:rPr lang="en-US" dirty="0"/>
              <a:t>Each variable must be assigned on all paths before first use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91BD6A-1F18-4597-83A0-FC8D01B37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47E73A-9C86-4F03-9089-5A8413375336}"/>
              </a:ext>
            </a:extLst>
          </p:cNvPr>
          <p:cNvSpPr txBox="1"/>
          <p:nvPr/>
        </p:nvSpPr>
        <p:spPr>
          <a:xfrm>
            <a:off x="3128680" y="3429000"/>
            <a:ext cx="4119283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bool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 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No mut needed</a:t>
            </a:r>
            <a:endParaRPr lang="en-US" sz="1600" dirty="0">
              <a:solidFill>
                <a:srgbClr val="0070C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else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20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DCD9A7-FDBD-48B8-92CB-F7C2CCE72165}"/>
              </a:ext>
            </a:extLst>
          </p:cNvPr>
          <p:cNvSpPr txBox="1"/>
          <p:nvPr/>
        </p:nvSpPr>
        <p:spPr>
          <a:xfrm>
            <a:off x="573741" y="3429000"/>
            <a:ext cx="206188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5B7E3F-59BB-4A31-87DF-B241BDF810D1}"/>
              </a:ext>
            </a:extLst>
          </p:cNvPr>
          <p:cNvSpPr txBox="1"/>
          <p:nvPr/>
        </p:nvSpPr>
        <p:spPr>
          <a:xfrm>
            <a:off x="7673786" y="3429000"/>
            <a:ext cx="400722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 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No mut needed</a:t>
            </a:r>
            <a:endParaRPr lang="en-US" sz="1600" dirty="0">
              <a:solidFill>
                <a:srgbClr val="0070C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else if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20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BAAA3B-C18B-4850-8EC4-9310CAEA3363}"/>
              </a:ext>
            </a:extLst>
          </p:cNvPr>
          <p:cNvSpPr txBox="1"/>
          <p:nvPr/>
        </p:nvSpPr>
        <p:spPr>
          <a:xfrm>
            <a:off x="1604682" y="4612324"/>
            <a:ext cx="6902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00B050"/>
                </a:solidFill>
              </a:rPr>
              <a:t>OK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6F2693-9235-4139-959F-E0AD8C443164}"/>
              </a:ext>
            </a:extLst>
          </p:cNvPr>
          <p:cNvSpPr txBox="1"/>
          <p:nvPr/>
        </p:nvSpPr>
        <p:spPr>
          <a:xfrm>
            <a:off x="5428128" y="4612324"/>
            <a:ext cx="6902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00B050"/>
                </a:solidFill>
              </a:rPr>
              <a:t>OK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269D88-83C0-439E-8F25-A27974E8A694}"/>
              </a:ext>
            </a:extLst>
          </p:cNvPr>
          <p:cNvSpPr txBox="1"/>
          <p:nvPr/>
        </p:nvSpPr>
        <p:spPr>
          <a:xfrm>
            <a:off x="10174941" y="4644092"/>
            <a:ext cx="15060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NOT OK</a:t>
            </a:r>
          </a:p>
        </p:txBody>
      </p:sp>
    </p:spTree>
    <p:extLst>
      <p:ext uri="{BB962C8B-B14F-4D97-AF65-F5344CB8AC3E}">
        <p14:creationId xmlns:p14="http://schemas.microsoft.com/office/powerpoint/2010/main" val="381782951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2520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Many other languages also require initialization </a:t>
            </a:r>
            <a:r>
              <a:rPr lang="ru-RU" dirty="0"/>
              <a:t>(</a:t>
            </a:r>
            <a:r>
              <a:rPr lang="en-US" dirty="0"/>
              <a:t>or </a:t>
            </a:r>
            <a:r>
              <a:rPr lang="en-US" dirty="0" err="1"/>
              <a:t>autoinitialize</a:t>
            </a:r>
            <a:r>
              <a:rPr lang="en-US" dirty="0"/>
              <a:t> with zeroes</a:t>
            </a:r>
            <a:r>
              <a:rPr lang="ru-RU" dirty="0"/>
              <a:t>)</a:t>
            </a:r>
            <a:r>
              <a:rPr lang="en-US" dirty="0"/>
              <a:t>:</a:t>
            </a:r>
          </a:p>
          <a:p>
            <a:pPr lvl="1"/>
            <a:r>
              <a:rPr lang="en-US" dirty="0">
                <a:hlinkClick r:id="rId2"/>
              </a:rPr>
              <a:t>C#</a:t>
            </a:r>
            <a:r>
              <a:rPr lang="en-US" dirty="0"/>
              <a:t>, </a:t>
            </a:r>
            <a:r>
              <a:rPr lang="en-US" dirty="0">
                <a:hlinkClick r:id="rId3"/>
              </a:rPr>
              <a:t>Swift</a:t>
            </a:r>
            <a:r>
              <a:rPr lang="en-US" dirty="0"/>
              <a:t>, </a:t>
            </a:r>
            <a:r>
              <a:rPr lang="en-US" dirty="0">
                <a:hlinkClick r:id="rId4"/>
              </a:rPr>
              <a:t>Go</a:t>
            </a:r>
            <a:r>
              <a:rPr lang="en-US" dirty="0"/>
              <a:t>, </a:t>
            </a:r>
            <a:r>
              <a:rPr lang="en-US" dirty="0">
                <a:hlinkClick r:id="rId5"/>
              </a:rPr>
              <a:t>Java</a:t>
            </a:r>
            <a:endParaRPr lang="en-US" dirty="0"/>
          </a:p>
          <a:p>
            <a:pPr lvl="1"/>
            <a:r>
              <a:rPr lang="en-US" dirty="0"/>
              <a:t>Hardened C/C++ (-</a:t>
            </a:r>
            <a:r>
              <a:rPr lang="en-US" dirty="0" err="1"/>
              <a:t>ftrivial</a:t>
            </a:r>
            <a:r>
              <a:rPr lang="en-US" dirty="0"/>
              <a:t>-auto-var-</a:t>
            </a:r>
            <a:r>
              <a:rPr lang="en-US" dirty="0" err="1"/>
              <a:t>init</a:t>
            </a:r>
            <a:r>
              <a:rPr lang="en-US" dirty="0"/>
              <a:t>), C++26 (</a:t>
            </a:r>
            <a:r>
              <a:rPr lang="en-US" dirty="0">
                <a:hlinkClick r:id="rId6"/>
              </a:rPr>
              <a:t>P2795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Only local </a:t>
            </a:r>
            <a:r>
              <a:rPr lang="en-US" dirty="0" err="1"/>
              <a:t>varibles</a:t>
            </a:r>
            <a:endParaRPr lang="en-US" dirty="0"/>
          </a:p>
          <a:p>
            <a:pPr lvl="3"/>
            <a:r>
              <a:rPr lang="en-US" dirty="0"/>
              <a:t>Global variables and </a:t>
            </a:r>
            <a:r>
              <a:rPr lang="en-US" dirty="0" err="1"/>
              <a:t>sbrk</a:t>
            </a:r>
            <a:r>
              <a:rPr lang="en-US" dirty="0"/>
              <a:t>/</a:t>
            </a:r>
            <a:r>
              <a:rPr lang="en-US" dirty="0" err="1"/>
              <a:t>mmap</a:t>
            </a:r>
            <a:r>
              <a:rPr lang="en-US" dirty="0"/>
              <a:t>-buffers already zero-initialized</a:t>
            </a:r>
          </a:p>
          <a:p>
            <a:pPr lvl="3"/>
            <a:r>
              <a:rPr lang="en-US" dirty="0"/>
              <a:t>Heap can be zero-initialized via hardened allocator (e.g. </a:t>
            </a:r>
            <a:r>
              <a:rPr lang="en-US" dirty="0" err="1"/>
              <a:t>hardened_malloc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Enabled by default in Android user/kernel-space and Chrome</a:t>
            </a:r>
            <a:endParaRPr lang="ru-RU" dirty="0"/>
          </a:p>
          <a:p>
            <a:pPr lvl="2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81403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BB770-04C2-4E5C-BD09-3F7FAA929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 with mandatory initializations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5A0EE-3113-4B1F-B2B8-0907D21136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Initializations are often redundant in practice</a:t>
            </a:r>
            <a:endParaRPr lang="ru-RU" dirty="0"/>
          </a:p>
          <a:p>
            <a:pPr lvl="1"/>
            <a:r>
              <a:rPr lang="en-US" dirty="0"/>
              <a:t>Will be overwritten with other values later without being read</a:t>
            </a:r>
          </a:p>
          <a:p>
            <a:r>
              <a:rPr lang="en-US" dirty="0"/>
              <a:t>Compiler can’t always eliminate such redundant initializations</a:t>
            </a:r>
          </a:p>
          <a:p>
            <a:r>
              <a:rPr lang="en-US" dirty="0"/>
              <a:t>Example: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mut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file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File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open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</a:t>
            </a:r>
            <a:r>
              <a:rPr lang="en-US" sz="2000" dirty="0" err="1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example.bin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)?;</a:t>
            </a:r>
          </a:p>
          <a:p>
            <a:pPr marL="457200" lvl="1" indent="0">
              <a:buNone/>
            </a:pP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while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...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{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let mut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buffer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0u8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1024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</a:t>
            </a:r>
            <a:r>
              <a:rPr lang="en-US" sz="2000" dirty="0" err="1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memset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not removed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sz="2000" dirty="0">
              <a:solidFill>
                <a:srgbClr val="0070C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let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file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read_exact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(&amp;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buffer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)?;</a:t>
            </a:r>
          </a:p>
          <a:p>
            <a:pPr marL="457200" lvl="1" indent="0">
              <a:buNone/>
            </a:pP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   ...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EC0D27-26EB-4549-B45A-A7752592F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4686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76295-870C-4CE6-81EC-CC5AE57F6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Prevalence of redundant initializations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AE256-6E5F-4209-B430-8FE0A7DAF2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many initializations are redundant?</a:t>
            </a:r>
          </a:p>
          <a:p>
            <a:r>
              <a:rPr lang="en-US" dirty="0"/>
              <a:t>Static estimate (via </a:t>
            </a:r>
            <a:r>
              <a:rPr lang="en-US" dirty="0">
                <a:hlinkClick r:id="rId2"/>
              </a:rPr>
              <a:t>LLVM plugin</a:t>
            </a:r>
            <a:r>
              <a:rPr lang="en-US" dirty="0"/>
              <a:t>):</a:t>
            </a:r>
          </a:p>
          <a:p>
            <a:pPr lvl="1"/>
            <a:r>
              <a:rPr lang="en-US" dirty="0"/>
              <a:t>Hardened Clang: +4% stores in loops (Clang benchmark)</a:t>
            </a:r>
            <a:endParaRPr lang="ru-RU" dirty="0"/>
          </a:p>
          <a:p>
            <a:r>
              <a:rPr lang="en-US" dirty="0"/>
              <a:t>Dynamic estimate (via </a:t>
            </a:r>
            <a:r>
              <a:rPr lang="en-US" dirty="0" err="1">
                <a:hlinkClick r:id="rId3"/>
              </a:rPr>
              <a:t>Valgrind</a:t>
            </a:r>
            <a:r>
              <a:rPr lang="en-US" dirty="0">
                <a:hlinkClick r:id="rId3"/>
              </a:rPr>
              <a:t> plugin</a:t>
            </a:r>
            <a:r>
              <a:rPr lang="ru-RU" dirty="0"/>
              <a:t>)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Compiling large C++ source file:</a:t>
            </a:r>
          </a:p>
          <a:p>
            <a:pPr lvl="2"/>
            <a:r>
              <a:rPr lang="en-US" dirty="0"/>
              <a:t>Clang: 11%</a:t>
            </a:r>
            <a:r>
              <a:rPr lang="ru-RU" dirty="0"/>
              <a:t> </a:t>
            </a:r>
            <a:r>
              <a:rPr lang="en-US" dirty="0"/>
              <a:t>unused writes</a:t>
            </a:r>
          </a:p>
          <a:p>
            <a:pPr lvl="2"/>
            <a:r>
              <a:rPr lang="en-US" dirty="0"/>
              <a:t>Hardened Clang (-</a:t>
            </a:r>
            <a:r>
              <a:rPr lang="en-US" dirty="0" err="1"/>
              <a:t>ftrivial</a:t>
            </a:r>
            <a:r>
              <a:rPr lang="en-US" dirty="0"/>
              <a:t>-auto-var-</a:t>
            </a:r>
            <a:r>
              <a:rPr lang="en-US" dirty="0" err="1"/>
              <a:t>init</a:t>
            </a:r>
            <a:r>
              <a:rPr lang="en-US" dirty="0"/>
              <a:t>): 23%</a:t>
            </a:r>
            <a:r>
              <a:rPr lang="ru-RU" dirty="0"/>
              <a:t> </a:t>
            </a:r>
            <a:r>
              <a:rPr lang="en-US" dirty="0"/>
              <a:t>unused writes (i.e. 2x increase)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35361-2DF3-461B-BE93-32006783B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06630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76295-870C-4CE6-81EC-CC5AE57F6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Overheads in benchmarks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AE256-6E5F-4209-B430-8FE0A7DAF2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Unfortunately it’s not possible to directly measure initialization overheads in Rust benchmarks</a:t>
            </a:r>
          </a:p>
          <a:p>
            <a:pPr lvl="1"/>
            <a:r>
              <a:rPr lang="en-US" dirty="0"/>
              <a:t>That would require extensive code rewrites</a:t>
            </a:r>
          </a:p>
          <a:p>
            <a:r>
              <a:rPr lang="en-US" dirty="0"/>
              <a:t>We will illustrate overheads</a:t>
            </a:r>
          </a:p>
          <a:p>
            <a:pPr lvl="1"/>
            <a:r>
              <a:rPr lang="en-US" dirty="0"/>
              <a:t>Reported in various Rust projects</a:t>
            </a:r>
          </a:p>
          <a:p>
            <a:pPr lvl="1"/>
            <a:r>
              <a:rPr lang="en-US" dirty="0"/>
              <a:t>Measured for Hardened C/C++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35361-2DF3-461B-BE93-32006783B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01214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BA612-7704-43C7-BA23-E35EE3099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231"/>
            <a:ext cx="10515600" cy="1325563"/>
          </a:xfrm>
        </p:spPr>
        <p:txBody>
          <a:bodyPr/>
          <a:lstStyle/>
          <a:p>
            <a:r>
              <a:rPr lang="en-US" dirty="0"/>
              <a:t>Example overheads in Rust programs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F018C5-56D7-4615-891E-AB0077FFF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047" y="1660619"/>
            <a:ext cx="10152529" cy="4351338"/>
          </a:xfrm>
        </p:spPr>
        <p:txBody>
          <a:bodyPr>
            <a:normAutofit/>
          </a:bodyPr>
          <a:lstStyle/>
          <a:p>
            <a:r>
              <a:rPr lang="en-US" dirty="0"/>
              <a:t>What are the potential consequences for performance?</a:t>
            </a:r>
          </a:p>
          <a:p>
            <a:pPr lvl="1"/>
            <a:r>
              <a:rPr lang="en-US" dirty="0"/>
              <a:t>7% in</a:t>
            </a:r>
            <a:r>
              <a:rPr lang="ru-RU" dirty="0"/>
              <a:t> </a:t>
            </a:r>
            <a:r>
              <a:rPr lang="en-US" dirty="0" err="1"/>
              <a:t>stdlib</a:t>
            </a:r>
            <a:r>
              <a:rPr lang="en-US" dirty="0"/>
              <a:t> file IO (</a:t>
            </a:r>
            <a:r>
              <a:rPr lang="en-US" dirty="0">
                <a:hlinkClick r:id="rId2"/>
              </a:rPr>
              <a:t>rust #26950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20-30% in</a:t>
            </a:r>
            <a:r>
              <a:rPr lang="ru-RU" dirty="0"/>
              <a:t> </a:t>
            </a:r>
            <a:r>
              <a:rPr lang="en-US" dirty="0"/>
              <a:t>Hyper HTTP (see</a:t>
            </a:r>
            <a:r>
              <a:rPr lang="ru-RU" dirty="0"/>
              <a:t> </a:t>
            </a:r>
            <a:r>
              <a:rPr lang="en-US" dirty="0" err="1">
                <a:hlinkClick r:id="rId3"/>
              </a:rPr>
              <a:t>tokio</a:t>
            </a:r>
            <a:r>
              <a:rPr lang="en-US" dirty="0">
                <a:hlinkClick r:id="rId3"/>
              </a:rPr>
              <a:t> #1744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30% in Shadow simulator (</a:t>
            </a:r>
            <a:r>
              <a:rPr lang="en-US" dirty="0">
                <a:hlinkClick r:id="rId4"/>
              </a:rPr>
              <a:t>shadow #1643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25% in</a:t>
            </a:r>
            <a:r>
              <a:rPr lang="ru-RU" dirty="0"/>
              <a:t> </a:t>
            </a:r>
            <a:r>
              <a:rPr lang="en-US" dirty="0" err="1"/>
              <a:t>stdlib</a:t>
            </a:r>
            <a:r>
              <a:rPr lang="en-US" dirty="0"/>
              <a:t> </a:t>
            </a:r>
            <a:r>
              <a:rPr lang="en-US" dirty="0" err="1"/>
              <a:t>TcpStream</a:t>
            </a:r>
            <a:r>
              <a:rPr lang="en-US" dirty="0"/>
              <a:t> (</a:t>
            </a:r>
            <a:r>
              <a:rPr lang="en-US" dirty="0">
                <a:hlinkClick r:id="rId5"/>
              </a:rPr>
              <a:t>RFC #837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1.5% in</a:t>
            </a:r>
            <a:r>
              <a:rPr lang="ru-RU" dirty="0"/>
              <a:t> </a:t>
            </a:r>
            <a:r>
              <a:rPr lang="en-US" dirty="0"/>
              <a:t>rav1d (</a:t>
            </a:r>
            <a:r>
              <a:rPr lang="en-US" dirty="0">
                <a:hlinkClick r:id="rId6"/>
              </a:rPr>
              <a:t>Making the rav1d Video Decoder 1% Faster</a:t>
            </a:r>
            <a:r>
              <a:rPr lang="en-US" dirty="0"/>
              <a:t>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C029176-D7B2-4AA2-8787-FF2CF11BB1AA}"/>
              </a:ext>
            </a:extLst>
          </p:cNvPr>
          <p:cNvSpPr txBox="1">
            <a:spLocks/>
          </p:cNvSpPr>
          <p:nvPr/>
        </p:nvSpPr>
        <p:spPr>
          <a:xfrm>
            <a:off x="6342530" y="1762872"/>
            <a:ext cx="522194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08C19B-5574-4F99-90E9-4D37867E4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77AC13-74B0-42BB-979A-B4FD3BCA574B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833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61E34-87BA-4D2D-A7F1-ED1A3323E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Overheads with forced stack initialization for C++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90A08-F621-47A8-8D70-9BB2444FE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70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A2A5B96-865A-434A-9CFE-5F43D64178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020" y="1690688"/>
            <a:ext cx="6209181" cy="4967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72376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61E34-87BA-4D2D-A7F1-ED1A3323E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Overheads with forced </a:t>
            </a:r>
            <a:r>
              <a:rPr lang="en-US" dirty="0" err="1"/>
              <a:t>stack+heap</a:t>
            </a:r>
            <a:r>
              <a:rPr lang="en-US" dirty="0"/>
              <a:t> initialization for C++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90A08-F621-47A8-8D70-9BB2444FE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99AFF7-DE5C-4B76-9C09-C7831986189F}"/>
              </a:ext>
            </a:extLst>
          </p:cNvPr>
          <p:cNvSpPr txBox="1"/>
          <p:nvPr/>
        </p:nvSpPr>
        <p:spPr>
          <a:xfrm>
            <a:off x="9117106" y="2178424"/>
            <a:ext cx="267148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used crude approach to heap initialization (LD_PRELOAD + </a:t>
            </a:r>
            <a:r>
              <a:rPr lang="en-US" dirty="0" err="1"/>
              <a:t>memset</a:t>
            </a:r>
            <a:r>
              <a:rPr lang="en-US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More sophisticated implementation would have smaller overheads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70099B9-FFF5-4DAA-9412-F599DC332F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4219" y="1770323"/>
            <a:ext cx="6110499" cy="4888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46263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61E34-87BA-4D2D-A7F1-ED1A3323E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optimizations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AF579-61DE-49E3-AEA9-C91502A42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Redundant scalar initializations can be optimized away by many SSA passes in LLVM (and are very cheap anyway)</a:t>
            </a:r>
          </a:p>
          <a:p>
            <a:pPr lvl="1"/>
            <a:r>
              <a:rPr lang="en-US" dirty="0"/>
              <a:t>DCE, BDCE, ADCE, </a:t>
            </a:r>
            <a:r>
              <a:rPr lang="en-US" dirty="0" err="1"/>
              <a:t>InstCombine</a:t>
            </a:r>
            <a:r>
              <a:rPr lang="en-US" dirty="0"/>
              <a:t>, etc.</a:t>
            </a:r>
          </a:p>
          <a:p>
            <a:r>
              <a:rPr lang="en-US" dirty="0"/>
              <a:t>Redundant array initializations pose the main problem</a:t>
            </a:r>
          </a:p>
          <a:p>
            <a:pPr lvl="1"/>
            <a:r>
              <a:rPr lang="en-US" dirty="0" err="1"/>
              <a:t>DeadStoreElimination</a:t>
            </a:r>
            <a:r>
              <a:rPr lang="en-US" dirty="0"/>
              <a:t>, </a:t>
            </a:r>
            <a:r>
              <a:rPr lang="en-US" dirty="0" err="1"/>
              <a:t>MoveAutoInit</a:t>
            </a:r>
            <a:r>
              <a:rPr lang="en-US" dirty="0"/>
              <a:t>, </a:t>
            </a:r>
            <a:r>
              <a:rPr lang="en-US" dirty="0" err="1"/>
              <a:t>MemCpyOptimizer</a:t>
            </a:r>
            <a:endParaRPr lang="en-US" dirty="0"/>
          </a:p>
          <a:p>
            <a:pPr lvl="1"/>
            <a:r>
              <a:rPr lang="en-US" dirty="0"/>
              <a:t>To a lesser degree </a:t>
            </a:r>
            <a:r>
              <a:rPr lang="en-US" dirty="0" err="1"/>
              <a:t>InstCombine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90A08-F621-47A8-8D70-9BB2444FE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66789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76295-870C-4CE6-81EC-CC5AE57F6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AE256-6E5F-4209-B430-8FE0A7DAF2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Unfortunately APIs for uninitialized memory (</a:t>
            </a:r>
            <a:r>
              <a:rPr lang="en-US" dirty="0" err="1"/>
              <a:t>MaybeUninit</a:t>
            </a:r>
            <a:r>
              <a:rPr lang="en-US" dirty="0"/>
              <a:t>) are not very convenient</a:t>
            </a:r>
          </a:p>
          <a:p>
            <a:r>
              <a:rPr lang="en-US" dirty="0"/>
              <a:t>One does not simply create a reference to uninitialized object and fill it:</a:t>
            </a:r>
          </a:p>
          <a:p>
            <a:pPr marL="457200" lvl="1" indent="0">
              <a:buNone/>
            </a:pPr>
            <a:r>
              <a:rPr lang="en-US" dirty="0"/>
              <a:t>“Creating a reference with &amp;/&amp;mut is </a:t>
            </a:r>
            <a:r>
              <a:rPr lang="en-US" b="1" dirty="0"/>
              <a:t>only allowed if</a:t>
            </a:r>
            <a:r>
              <a:rPr lang="en-US" dirty="0"/>
              <a:t> the pointer is properly aligned and </a:t>
            </a:r>
            <a:r>
              <a:rPr lang="en-US" b="1" dirty="0"/>
              <a:t>points to initialized data</a:t>
            </a:r>
            <a:r>
              <a:rPr lang="en-US" dirty="0"/>
              <a:t>” (</a:t>
            </a:r>
            <a:r>
              <a:rPr lang="en-US" dirty="0" err="1">
                <a:hlinkClick r:id="rId2"/>
              </a:rPr>
              <a:t>addr_of_mut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35361-2DF3-461B-BE93-32006783B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85614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76295-870C-4CE6-81EC-CC5AE57F6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Workarounds: Standard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AE256-6E5F-4209-B430-8FE0A7DAF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647" y="1690688"/>
            <a:ext cx="562535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Arrays:</a:t>
            </a:r>
          </a:p>
          <a:p>
            <a:pPr marL="457200" lvl="1" indent="0">
              <a:buNone/>
            </a:pP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u8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4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unsafe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mut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MaybeUninit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::&lt;[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u8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4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]&gt;::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uninit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457200" lvl="1" indent="0"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18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as_mut_ptr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457200" lvl="1" indent="0"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...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800" dirty="0" err="1"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offset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write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...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457200" lvl="1" indent="0"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457200" lvl="1" indent="0"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18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assume_init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35361-2DF3-461B-BE93-32006783B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74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C5613B1-040D-4497-90E8-EB96F8DC7E78}"/>
              </a:ext>
            </a:extLst>
          </p:cNvPr>
          <p:cNvSpPr txBox="1">
            <a:spLocks/>
          </p:cNvSpPr>
          <p:nvPr/>
        </p:nvSpPr>
        <p:spPr>
          <a:xfrm>
            <a:off x="6096000" y="1690688"/>
            <a:ext cx="5625353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Structures: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role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Role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unsafe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uninit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MaybeUninit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::&lt;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Role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&gt;::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uninit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uninit</a:t>
            </a:r>
            <a:r>
              <a:rPr lang="en-US" sz="18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as_mut_ptr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// Need write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// (instead of explicit assign)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// to avoid dropping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// uninitialized String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addr_of_mut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!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((*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).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write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"basic"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to_string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());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(*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).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flag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(*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).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disabled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false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uninit</a:t>
            </a:r>
            <a:r>
              <a:rPr lang="en-US" sz="18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assume_init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68324196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61BD1-7FAB-4AFA-B02B-2F4DE148A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Workarounds: 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73CFF-D9B5-4C91-BB84-0CBA009A8A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mut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u8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&gt;::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old_len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buNone/>
            </a:pP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reserve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data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());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unsafe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spare_capacity_mut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...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idx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].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write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...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set_len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data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());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DE7E4-18A5-4AED-B967-889A6664F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76509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DE38D-612B-4B63-8B23-634772020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Workarounds: 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28001-ACD2-426D-AAF0-F134CDA72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mut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MaybeUninit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uninit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4096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mut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BorrowedBuf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from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(&amp;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[..]);</a:t>
            </a:r>
          </a:p>
          <a:p>
            <a:pPr marL="0" indent="0">
              <a:buNone/>
            </a:pPr>
            <a:endParaRPr lang="en-US" sz="20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read_buf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unfilled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())?;</a:t>
            </a:r>
          </a:p>
          <a:p>
            <a:pPr marL="0" indent="0">
              <a:buNone/>
            </a:pP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data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 &amp;[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u8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 =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filled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en-US" sz="2000" dirty="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Work with </a:t>
            </a:r>
            <a:r>
              <a:rPr lang="en-US" sz="2000" dirty="0" err="1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buf.filled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ACBAF0-6BC2-4B27-82A6-0DEB09029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71656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61E34-87BA-4D2D-A7F1-ED1A3323E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AF579-61DE-49E3-AEA9-C91502A42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Initialization overheads in Rust and Hardened C++ are on par</a:t>
            </a:r>
          </a:p>
          <a:p>
            <a:pPr lvl="1"/>
            <a:r>
              <a:rPr lang="en-US" dirty="0"/>
              <a:t>Higher than in C++</a:t>
            </a:r>
            <a:r>
              <a:rPr lang="ru-RU" dirty="0"/>
              <a:t>26</a:t>
            </a:r>
            <a:r>
              <a:rPr lang="en-US" dirty="0"/>
              <a:t> due to heap initializations</a:t>
            </a:r>
          </a:p>
          <a:p>
            <a:r>
              <a:rPr lang="en-US" dirty="0"/>
              <a:t>These overheads can be large in some scenarios (5-10% or more</a:t>
            </a:r>
            <a:r>
              <a:rPr lang="ru-RU" dirty="0"/>
              <a:t>) </a:t>
            </a:r>
            <a:r>
              <a:rPr lang="en-US" dirty="0"/>
              <a:t>and require manual code tuning:</a:t>
            </a:r>
          </a:p>
          <a:p>
            <a:pPr lvl="1"/>
            <a:r>
              <a:rPr lang="en-US" dirty="0"/>
              <a:t>Using dedicated APIs</a:t>
            </a:r>
            <a:r>
              <a:rPr lang="ru-RU" dirty="0"/>
              <a:t> </a:t>
            </a:r>
            <a:r>
              <a:rPr lang="en-US" dirty="0"/>
              <a:t>like </a:t>
            </a:r>
            <a:r>
              <a:rPr lang="en-US" dirty="0" err="1"/>
              <a:t>MaybeUninit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90A08-F621-47A8-8D70-9BB2444FE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24268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61E34-87BA-4D2D-A7F1-ED1A3323E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Recommended readings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AF579-61DE-49E3-AEA9-C91502A42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Killing Uninitialized Memory</a:t>
            </a:r>
            <a:r>
              <a:rPr lang="en-US" dirty="0"/>
              <a:t> (</a:t>
            </a:r>
            <a:r>
              <a:rPr lang="en-US" dirty="0">
                <a:hlinkClick r:id="rId3"/>
              </a:rPr>
              <a:t>video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Report from Microsoft about enabling similar checks in Visual Studio</a:t>
            </a:r>
          </a:p>
          <a:p>
            <a:r>
              <a:rPr lang="en-US" dirty="0">
                <a:hlinkClick r:id="rId4"/>
              </a:rPr>
              <a:t>P2795: Erroneous behavior for uninitialized reads</a:t>
            </a:r>
            <a:endParaRPr lang="en-US" dirty="0"/>
          </a:p>
          <a:p>
            <a:pPr lvl="1"/>
            <a:r>
              <a:rPr lang="en-US" dirty="0"/>
              <a:t>To be integrated to C++26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90A08-F621-47A8-8D70-9BB2444FE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05051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Symbol localization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FF772-26C0-4B3E-964B-0964EB9F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90185C-4993-41AF-B35D-98ABA6DCB189}"/>
              </a:ext>
            </a:extLst>
          </p:cNvPr>
          <p:cNvSpPr txBox="1"/>
          <p:nvPr/>
        </p:nvSpPr>
        <p:spPr>
          <a:xfrm>
            <a:off x="180975" y="6356350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Detailed analysis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20816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Symbol localization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Functions in translation unit (crate in Rust, </a:t>
            </a:r>
            <a:r>
              <a:rPr lang="en-US" dirty="0" err="1"/>
              <a:t>cpp</a:t>
            </a:r>
            <a:r>
              <a:rPr lang="en-US" dirty="0"/>
              <a:t> file in C++</a:t>
            </a:r>
            <a:r>
              <a:rPr lang="ru-RU" dirty="0"/>
              <a:t>)</a:t>
            </a:r>
            <a:r>
              <a:rPr lang="en-US" dirty="0"/>
              <a:t> can be used locally or globally (in other translation units)</a:t>
            </a:r>
          </a:p>
          <a:p>
            <a:pPr lvl="1"/>
            <a:r>
              <a:rPr lang="en-US" dirty="0"/>
              <a:t>Controlled with </a:t>
            </a:r>
            <a:r>
              <a:rPr lang="en-US" dirty="0">
                <a:solidFill>
                  <a:srgbClr val="C00000"/>
                </a:solidFill>
              </a:rPr>
              <a:t>static</a:t>
            </a:r>
            <a:r>
              <a:rPr lang="en-US" dirty="0"/>
              <a:t> keyword and anonymous namespaces in C++</a:t>
            </a:r>
          </a:p>
          <a:p>
            <a:pPr lvl="1"/>
            <a:r>
              <a:rPr lang="en-US" dirty="0"/>
              <a:t>Or with </a:t>
            </a:r>
            <a:r>
              <a:rPr lang="en-US" dirty="0">
                <a:solidFill>
                  <a:srgbClr val="C00000"/>
                </a:solidFill>
              </a:rPr>
              <a:t>pub</a:t>
            </a:r>
            <a:r>
              <a:rPr lang="en-US" dirty="0"/>
              <a:t>,</a:t>
            </a:r>
            <a:r>
              <a:rPr lang="ru-RU" dirty="0"/>
              <a:t> </a:t>
            </a:r>
            <a:r>
              <a:rPr lang="en-US" dirty="0">
                <a:solidFill>
                  <a:srgbClr val="C00000"/>
                </a:solidFill>
              </a:rPr>
              <a:t>pub</a:t>
            </a:r>
            <a:r>
              <a:rPr lang="en-US" dirty="0">
                <a:solidFill>
                  <a:srgbClr val="0070C0"/>
                </a:solidFill>
              </a:rPr>
              <a:t>(</a:t>
            </a:r>
            <a:r>
              <a:rPr lang="en-US" dirty="0">
                <a:solidFill>
                  <a:srgbClr val="C00000"/>
                </a:solidFill>
              </a:rPr>
              <a:t>crate</a:t>
            </a:r>
            <a:r>
              <a:rPr lang="en-US" dirty="0">
                <a:solidFill>
                  <a:srgbClr val="0070C0"/>
                </a:solidFill>
              </a:rPr>
              <a:t>)</a:t>
            </a:r>
            <a:r>
              <a:rPr lang="en-US" dirty="0"/>
              <a:t>, etc. in Rust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Rust and C++ make opposing default choice:</a:t>
            </a:r>
          </a:p>
          <a:p>
            <a:pPr lvl="1"/>
            <a:r>
              <a:rPr lang="en-US" dirty="0"/>
              <a:t>In Rust functions are local for their module by default (top-level functions are local to their crate</a:t>
            </a:r>
            <a:r>
              <a:rPr lang="ru-RU" dirty="0"/>
              <a:t>)</a:t>
            </a:r>
            <a:endParaRPr lang="en-US" dirty="0"/>
          </a:p>
          <a:p>
            <a:pPr lvl="1"/>
            <a:r>
              <a:rPr lang="en-US" dirty="0">
                <a:solidFill>
                  <a:srgbClr val="C00000"/>
                </a:solidFill>
              </a:rPr>
              <a:t>pub</a:t>
            </a:r>
            <a:r>
              <a:rPr lang="en-US" dirty="0">
                <a:solidFill>
                  <a:srgbClr val="0070C0"/>
                </a:solidFill>
              </a:rPr>
              <a:t>(</a:t>
            </a:r>
            <a:r>
              <a:rPr lang="en-US" dirty="0">
                <a:solidFill>
                  <a:srgbClr val="C00000"/>
                </a:solidFill>
              </a:rPr>
              <a:t>crate</a:t>
            </a:r>
            <a:r>
              <a:rPr lang="en-US" dirty="0">
                <a:solidFill>
                  <a:srgbClr val="0070C0"/>
                </a:solidFill>
              </a:rPr>
              <a:t>)</a:t>
            </a:r>
            <a:r>
              <a:rPr lang="ru-RU" dirty="0"/>
              <a:t>-</a:t>
            </a:r>
            <a:r>
              <a:rPr lang="en-US" dirty="0"/>
              <a:t>functions</a:t>
            </a:r>
            <a:r>
              <a:rPr lang="ru-RU" dirty="0"/>
              <a:t> </a:t>
            </a:r>
            <a:r>
              <a:rPr lang="en-US" dirty="0"/>
              <a:t>are local to crate</a:t>
            </a:r>
          </a:p>
          <a:p>
            <a:pPr lvl="1"/>
            <a:r>
              <a:rPr lang="en-US" dirty="0"/>
              <a:t>Only</a:t>
            </a:r>
            <a:r>
              <a:rPr lang="ru-RU" dirty="0"/>
              <a:t> </a:t>
            </a:r>
            <a:r>
              <a:rPr lang="en-US" dirty="0">
                <a:solidFill>
                  <a:srgbClr val="C00000"/>
                </a:solidFill>
              </a:rPr>
              <a:t>pub</a:t>
            </a:r>
            <a:r>
              <a:rPr lang="en-US" dirty="0"/>
              <a:t>-functions are visible across whole program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53647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835" y="0"/>
            <a:ext cx="10515600" cy="1325563"/>
          </a:xfrm>
        </p:spPr>
        <p:txBody>
          <a:bodyPr/>
          <a:lstStyle/>
          <a:p>
            <a:r>
              <a:rPr lang="en-US" dirty="0"/>
              <a:t>Localization in Rust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2FACE2-45C0-46D6-BD11-C8A4D234A4F4}"/>
              </a:ext>
            </a:extLst>
          </p:cNvPr>
          <p:cNvSpPr txBox="1"/>
          <p:nvPr/>
        </p:nvSpPr>
        <p:spPr>
          <a:xfrm>
            <a:off x="999565" y="1143960"/>
            <a:ext cx="479163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crate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println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!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"Hello world {}"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mod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mymod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pub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super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println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!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"Goodbye world {}"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pub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foo3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println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!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"Nice world {}"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use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mymod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foo3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600" b="1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bar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mymod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mymod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foo3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3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1C898B-2C0E-49D7-B6F6-72DC51DEF160}"/>
              </a:ext>
            </a:extLst>
          </p:cNvPr>
          <p:cNvSpPr txBox="1"/>
          <p:nvPr/>
        </p:nvSpPr>
        <p:spPr>
          <a:xfrm>
            <a:off x="6113929" y="2551837"/>
            <a:ext cx="556708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$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rustc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+baseline test.rs -O --emit=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asm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--crate-type=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rlib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-o- \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|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rustfilt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| grep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globl</a:t>
            </a:r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.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globl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test::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mymod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::foo3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.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globl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test::bar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C03A27-96E2-4AB2-A0D5-85FCB59AC363}"/>
              </a:ext>
            </a:extLst>
          </p:cNvPr>
          <p:cNvSpPr txBox="1"/>
          <p:nvPr/>
        </p:nvSpPr>
        <p:spPr>
          <a:xfrm>
            <a:off x="7324165" y="5011270"/>
            <a:ext cx="25728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Only foo3 and</a:t>
            </a:r>
            <a:r>
              <a:rPr lang="ru-RU" sz="2400" dirty="0"/>
              <a:t> </a:t>
            </a:r>
            <a:r>
              <a:rPr lang="en-US" sz="2400" dirty="0"/>
              <a:t>bar are exported!</a:t>
            </a:r>
          </a:p>
        </p:txBody>
      </p:sp>
    </p:spTree>
    <p:extLst>
      <p:ext uri="{BB962C8B-B14F-4D97-AF65-F5344CB8AC3E}">
        <p14:creationId xmlns:p14="http://schemas.microsoft.com/office/powerpoint/2010/main" val="180038716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optimizations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Local functions are much better optimized by compiler</a:t>
            </a:r>
            <a:endParaRPr lang="ru-RU" dirty="0"/>
          </a:p>
          <a:p>
            <a:r>
              <a:rPr lang="en-US" dirty="0"/>
              <a:t>Usually such optimizations are related to API or ABI changes:</a:t>
            </a:r>
          </a:p>
          <a:p>
            <a:pPr lvl="1"/>
            <a:r>
              <a:rPr lang="en-US" dirty="0" err="1"/>
              <a:t>Interprocedural</a:t>
            </a:r>
            <a:r>
              <a:rPr lang="en-US" dirty="0"/>
              <a:t> constant propagation (IPSCCP)</a:t>
            </a:r>
          </a:p>
          <a:p>
            <a:pPr lvl="1"/>
            <a:r>
              <a:rPr lang="en-US" dirty="0"/>
              <a:t>Replacing pass-by-reference with pass-by-value (</a:t>
            </a:r>
            <a:r>
              <a:rPr lang="en-US" dirty="0" err="1"/>
              <a:t>ArgumentPromotion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Removing dead arguments or return values</a:t>
            </a:r>
            <a:r>
              <a:rPr lang="ru-RU" dirty="0"/>
              <a:t> </a:t>
            </a:r>
            <a:r>
              <a:rPr lang="en-US" dirty="0"/>
              <a:t>(</a:t>
            </a:r>
            <a:r>
              <a:rPr lang="en-US" dirty="0" err="1"/>
              <a:t>DeadArgumentElimination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Relaxed calling convention (using </a:t>
            </a:r>
            <a:r>
              <a:rPr lang="en-US" dirty="0" err="1"/>
              <a:t>coldcc</a:t>
            </a:r>
            <a:r>
              <a:rPr lang="ru-RU" dirty="0"/>
              <a:t> </a:t>
            </a:r>
            <a:r>
              <a:rPr lang="en-US" dirty="0"/>
              <a:t>in Transforms/IPO/GlobalOpt.cpp)</a:t>
            </a:r>
          </a:p>
          <a:p>
            <a:pPr lvl="1"/>
            <a:r>
              <a:rPr lang="en-US" dirty="0" err="1"/>
              <a:t>Interprocedural</a:t>
            </a:r>
            <a:r>
              <a:rPr lang="en-US" dirty="0"/>
              <a:t> register allocation (</a:t>
            </a:r>
            <a:r>
              <a:rPr lang="en-US" dirty="0">
                <a:hlinkClick r:id="rId2"/>
              </a:rPr>
              <a:t>IPRA</a:t>
            </a:r>
            <a:r>
              <a:rPr lang="en-US" dirty="0"/>
              <a:t>)</a:t>
            </a:r>
          </a:p>
          <a:p>
            <a:r>
              <a:rPr lang="en-US" dirty="0"/>
              <a:t>And also</a:t>
            </a:r>
          </a:p>
          <a:p>
            <a:pPr lvl="1"/>
            <a:r>
              <a:rPr lang="en-US" dirty="0"/>
              <a:t>More aggressive </a:t>
            </a:r>
            <a:r>
              <a:rPr lang="en-US" dirty="0" err="1"/>
              <a:t>inlining</a:t>
            </a:r>
            <a:r>
              <a:rPr lang="en-US" dirty="0"/>
              <a:t> (e.g. local functions which are only called once are always </a:t>
            </a:r>
            <a:r>
              <a:rPr lang="en-US" dirty="0" err="1"/>
              <a:t>inlined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Better dead code elimination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30589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Linker optimizations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For shared libraries (DLLs) local functions</a:t>
            </a:r>
          </a:p>
          <a:p>
            <a:pPr lvl="1"/>
            <a:r>
              <a:rPr lang="en-US" dirty="0"/>
              <a:t>May be called directly </a:t>
            </a:r>
            <a:r>
              <a:rPr lang="ru-RU" dirty="0"/>
              <a:t>(</a:t>
            </a:r>
            <a:r>
              <a:rPr lang="en-US" dirty="0"/>
              <a:t>bypassing PLT/GOT)</a:t>
            </a:r>
            <a:r>
              <a:rPr lang="ru-RU" dirty="0"/>
              <a:t> </a:t>
            </a:r>
            <a:endParaRPr lang="en-US" dirty="0"/>
          </a:p>
          <a:p>
            <a:pPr lvl="1"/>
            <a:r>
              <a:rPr lang="en-US" dirty="0"/>
              <a:t>Do not need to be resolved by loader at startup</a:t>
            </a:r>
          </a:p>
          <a:p>
            <a:r>
              <a:rPr lang="en-US" dirty="0"/>
              <a:t>See more details in</a:t>
            </a:r>
            <a:r>
              <a:rPr lang="ru-RU" dirty="0"/>
              <a:t> </a:t>
            </a:r>
            <a:r>
              <a:rPr lang="en-US" dirty="0">
                <a:hlinkClick r:id="rId2"/>
              </a:rPr>
              <a:t>Dynamic libraries and how to optimize them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86653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498188-CC2B-4A07-A091-648F940167BB}"/>
              </a:ext>
            </a:extLst>
          </p:cNvPr>
          <p:cNvSpPr txBox="1"/>
          <p:nvPr/>
        </p:nvSpPr>
        <p:spPr>
          <a:xfrm>
            <a:off x="376517" y="1737598"/>
            <a:ext cx="687593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#[inline(never)]  // Simulate </a:t>
            </a:r>
            <a:r>
              <a:rPr lang="en-US" dirty="0" err="1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inliner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fail</a:t>
            </a:r>
          </a:p>
          <a:p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bool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seed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mut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seed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else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^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bar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mut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true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9C3CDA-6CBB-4932-9207-C0D70939F56C}"/>
              </a:ext>
            </a:extLst>
          </p:cNvPr>
          <p:cNvSpPr txBox="1"/>
          <p:nvPr/>
        </p:nvSpPr>
        <p:spPr>
          <a:xfrm>
            <a:off x="6947648" y="3066854"/>
            <a:ext cx="50112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lea    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, [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+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ret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27A8BB4-B397-4188-B34A-A2233ED323EE}"/>
              </a:ext>
            </a:extLst>
          </p:cNvPr>
          <p:cNvCxnSpPr/>
          <p:nvPr/>
        </p:nvCxnSpPr>
        <p:spPr>
          <a:xfrm>
            <a:off x="5531224" y="3774141"/>
            <a:ext cx="986117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1A7C1FA-2524-422C-B83B-C2876D280E86}"/>
              </a:ext>
            </a:extLst>
          </p:cNvPr>
          <p:cNvSpPr txBox="1"/>
          <p:nvPr/>
        </p:nvSpPr>
        <p:spPr>
          <a:xfrm>
            <a:off x="7252447" y="4543425"/>
            <a:ext cx="315837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Loop in foo was optimized out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7CF970-816F-4F70-9D39-66A2C6783DBD}"/>
              </a:ext>
            </a:extLst>
          </p:cNvPr>
          <p:cNvSpPr txBox="1"/>
          <p:nvPr/>
        </p:nvSpPr>
        <p:spPr>
          <a:xfrm>
            <a:off x="8677835" y="2243929"/>
            <a:ext cx="23308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https://godbolt.org/z/MM7Tchx49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046523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037B0-B911-4403-B700-3797F770E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to C/C++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014B8-8AF4-4AD9-BE96-D8C521972A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Many authoritative coding guidelines suggest to localize functions:</a:t>
            </a:r>
          </a:p>
          <a:p>
            <a:pPr lvl="1"/>
            <a:r>
              <a:rPr lang="en-US" dirty="0">
                <a:hlinkClick r:id="rId2"/>
              </a:rPr>
              <a:t>Google C++ Style Guide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LLVM Coding Standard</a:t>
            </a:r>
            <a:r>
              <a:rPr lang="en-US" dirty="0"/>
              <a:t> (Restrict Visibility)</a:t>
            </a:r>
          </a:p>
          <a:p>
            <a:pPr lvl="1"/>
            <a:r>
              <a:rPr lang="en-US" dirty="0">
                <a:hlinkClick r:id="rId4"/>
              </a:rPr>
              <a:t>C++ Core Guidelines</a:t>
            </a:r>
            <a:endParaRPr lang="en-US" dirty="0"/>
          </a:p>
          <a:p>
            <a:pPr lvl="1"/>
            <a:r>
              <a:rPr lang="en-US" dirty="0">
                <a:hlinkClick r:id="rId5"/>
              </a:rPr>
              <a:t>Chromium C++ Style Guide</a:t>
            </a:r>
            <a:endParaRPr lang="en-US" dirty="0"/>
          </a:p>
          <a:p>
            <a:r>
              <a:rPr lang="en-US" dirty="0"/>
              <a:t>No way to localize private class methods in C++</a:t>
            </a:r>
          </a:p>
          <a:p>
            <a:pPr lvl="1"/>
            <a:r>
              <a:rPr lang="en-US" dirty="0">
                <a:hlinkClick r:id="rId6"/>
              </a:rPr>
              <a:t>Prototype optimization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A66D27-2321-4B0F-A031-DEA90CB48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92047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Prevalence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80-90% of functions in Rust programs are local</a:t>
            </a:r>
          </a:p>
          <a:p>
            <a:pPr lvl="1"/>
            <a:r>
              <a:rPr lang="en-US" dirty="0"/>
              <a:t>Statistics collected via </a:t>
            </a:r>
            <a:r>
              <a:rPr lang="en-US" dirty="0">
                <a:hlinkClick r:id="rId2"/>
              </a:rPr>
              <a:t>this patch</a:t>
            </a:r>
            <a:endParaRPr lang="en-US" dirty="0"/>
          </a:p>
          <a:p>
            <a:r>
              <a:rPr lang="en-US" dirty="0"/>
              <a:t>In C/C++ results depend on the project:</a:t>
            </a:r>
          </a:p>
          <a:p>
            <a:pPr lvl="1"/>
            <a:r>
              <a:rPr lang="en-US" dirty="0"/>
              <a:t>80-90% (clang, </a:t>
            </a:r>
            <a:r>
              <a:rPr lang="en-US" dirty="0" err="1"/>
              <a:t>ffmpeg</a:t>
            </a:r>
            <a:r>
              <a:rPr lang="en-US" dirty="0"/>
              <a:t>, git, </a:t>
            </a:r>
            <a:r>
              <a:rPr lang="en-US" dirty="0" err="1"/>
              <a:t>opencv</a:t>
            </a:r>
            <a:r>
              <a:rPr lang="en-US" dirty="0"/>
              <a:t>, bitcoin)</a:t>
            </a:r>
          </a:p>
          <a:p>
            <a:pPr lvl="1"/>
            <a:r>
              <a:rPr lang="en-US" dirty="0"/>
              <a:t>40-50% (</a:t>
            </a:r>
            <a:r>
              <a:rPr lang="en-US" dirty="0" err="1"/>
              <a:t>openssl</a:t>
            </a:r>
            <a:r>
              <a:rPr lang="en-US" dirty="0"/>
              <a:t>, </a:t>
            </a:r>
            <a:r>
              <a:rPr lang="en-US" dirty="0" err="1"/>
              <a:t>tmux</a:t>
            </a:r>
            <a:r>
              <a:rPr lang="en-US" dirty="0"/>
              <a:t>, </a:t>
            </a:r>
            <a:r>
              <a:rPr lang="en-US" dirty="0" err="1"/>
              <a:t>gcc</a:t>
            </a:r>
            <a:r>
              <a:rPr lang="en-US" dirty="0"/>
              <a:t>, </a:t>
            </a:r>
            <a:r>
              <a:rPr lang="en-US" dirty="0" err="1"/>
              <a:t>libuv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(Statistics collected with </a:t>
            </a:r>
            <a:r>
              <a:rPr lang="en-US" dirty="0">
                <a:hlinkClick r:id="rId3"/>
              </a:rPr>
              <a:t>Localizer</a:t>
            </a:r>
            <a:r>
              <a:rPr lang="en-US" dirty="0"/>
              <a:t> tool)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17571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Slowdown with disabled localization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911507-4C9E-4E12-9FA3-5A7C6F5D4C70}"/>
              </a:ext>
            </a:extLst>
          </p:cNvPr>
          <p:cNvSpPr txBox="1"/>
          <p:nvPr/>
        </p:nvSpPr>
        <p:spPr>
          <a:xfrm>
            <a:off x="228039" y="6488668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Compiler patch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0D29A0A-1715-4F90-976F-4F97481F04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6757" y="1666545"/>
            <a:ext cx="6258485" cy="500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29817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localization allows compiler to generate much more performant code (over 5%)</a:t>
            </a:r>
          </a:p>
          <a:p>
            <a:r>
              <a:rPr lang="en-US" dirty="0"/>
              <a:t>Rust</a:t>
            </a:r>
            <a:r>
              <a:rPr lang="ru-RU" dirty="0"/>
              <a:t> </a:t>
            </a:r>
            <a:r>
              <a:rPr lang="en-US" dirty="0"/>
              <a:t>has more optimal performance-wise defaults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13643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Recommended readings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Efficient C Tips #5 – Make ‘local’ functions ‘static’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56713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 </a:t>
            </a:r>
            <a:r>
              <a:rPr lang="en-US" dirty="0" err="1"/>
              <a:t>inplace</a:t>
            </a:r>
            <a:r>
              <a:rPr lang="en-US" dirty="0"/>
              <a:t>-initialization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FF772-26C0-4B3E-964B-0964EB9F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F0D7BC-3079-43E1-9B1E-FF3C0415090F}"/>
              </a:ext>
            </a:extLst>
          </p:cNvPr>
          <p:cNvSpPr txBox="1"/>
          <p:nvPr/>
        </p:nvSpPr>
        <p:spPr>
          <a:xfrm>
            <a:off x="180975" y="6356350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Detailed</a:t>
            </a:r>
            <a:r>
              <a:rPr lang="ru-RU" dirty="0"/>
              <a:t> </a:t>
            </a:r>
            <a:r>
              <a:rPr lang="en-US" dirty="0">
                <a:hlinkClick r:id="rId3"/>
              </a:rPr>
              <a:t>analysis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170897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C++ has placement-new</a:t>
            </a:r>
            <a:r>
              <a:rPr lang="ru-RU" dirty="0"/>
              <a:t> </a:t>
            </a:r>
            <a:r>
              <a:rPr lang="en-US" dirty="0"/>
              <a:t>mechanism for constructing objects in arbitrary memory buffer: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void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addr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some_alloc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sizeof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));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addr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...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Or std::</a:t>
            </a:r>
            <a:r>
              <a:rPr lang="en-US" sz="2000" dirty="0" err="1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construct_at</a:t>
            </a:r>
            <a:endParaRPr lang="en-US" dirty="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Complemented by perfect forwarding: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std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vector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LargeStruct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emplace_back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large_struct_initializer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/>
              <a:t>Rust</a:t>
            </a:r>
            <a:r>
              <a:rPr lang="ru-RU" dirty="0"/>
              <a:t> </a:t>
            </a:r>
            <a:r>
              <a:rPr lang="en-US" dirty="0"/>
              <a:t>lacks similar mechanism</a:t>
            </a:r>
          </a:p>
          <a:p>
            <a:pPr lvl="1"/>
            <a:r>
              <a:rPr lang="en-US" dirty="0"/>
              <a:t>Caused by mandatory object initialization</a:t>
            </a:r>
            <a:endParaRPr lang="ru-RU" dirty="0"/>
          </a:p>
          <a:p>
            <a:r>
              <a:rPr lang="en-US" dirty="0"/>
              <a:t>Problem: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Can compiler eliminate copy (from stack to heap)?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Box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LargeStruct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...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});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80556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89912-E47F-465D-B5E9-9DA23CC8F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Why placement new is needed?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3AE5A7-E870-4CAE-9836-F16430C46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92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CF0AB8-FDCA-4A97-847D-92708C058B90}"/>
              </a:ext>
            </a:extLst>
          </p:cNvPr>
          <p:cNvSpPr txBox="1"/>
          <p:nvPr/>
        </p:nvSpPr>
        <p:spPr>
          <a:xfrm>
            <a:off x="591670" y="2151727"/>
            <a:ext cx="5836023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const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SIZE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usize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1024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1024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1024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main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Box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&lt;[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usize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cfg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!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fast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!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15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SIZE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into_boxed_slice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else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Problematic copy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Box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new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([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15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SIZE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black_box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(&amp;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71B96D-216D-4F8C-B91E-D15574AC0421}"/>
              </a:ext>
            </a:extLst>
          </p:cNvPr>
          <p:cNvSpPr txBox="1"/>
          <p:nvPr/>
        </p:nvSpPr>
        <p:spPr>
          <a:xfrm>
            <a:off x="6669741" y="2151727"/>
            <a:ext cx="5065059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# Can compiler eliminate copy?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$ LIMIT=$((8 * 1024))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$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rustc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+baseline -O test.rs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$ (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ulimit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-s $ LIMIT; ./test)</a:t>
            </a:r>
          </a:p>
          <a:p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thread 'main' has overflowed its stack</a:t>
            </a:r>
          </a:p>
          <a:p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fatal runtime error: stack overflow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# Works with dedicated non-copying API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$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rustc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+baseline --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cfg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fast -O test.rs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$ (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ulimit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-s $ LIMIT; ./test)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580825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89912-E47F-465D-B5E9-9DA23CC8F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Why placement new is needed?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3AE5A7-E870-4CAE-9836-F16430C46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655D0E-2790-4C42-875A-1A07A0FEC217}"/>
              </a:ext>
            </a:extLst>
          </p:cNvPr>
          <p:cNvSpPr txBox="1"/>
          <p:nvPr/>
        </p:nvSpPr>
        <p:spPr>
          <a:xfrm>
            <a:off x="838200" y="994024"/>
            <a:ext cx="5257800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struct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ru-RU" sz="13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std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array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1024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vals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{};</a:t>
            </a:r>
          </a:p>
          <a:p>
            <a:endParaRPr lang="en-US" sz="13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default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const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&amp;)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default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endParaRPr lang="en-US" sz="13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std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fill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vals</a:t>
            </a:r>
            <a:r>
              <a:rPr lang="en-US" sz="13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begin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(),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vals</a:t>
            </a:r>
            <a:r>
              <a:rPr lang="en-US" sz="13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end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(),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};</a:t>
            </a:r>
          </a:p>
          <a:p>
            <a:endParaRPr lang="en-US" sz="13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main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std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vector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aa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aa</a:t>
            </a:r>
            <a:r>
              <a:rPr lang="en-US" sz="13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reserve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NITER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endParaRPr lang="en-US" sz="13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size_t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NITER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++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#ifdef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USE_PLACEMENT_NEW</a:t>
            </a: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aa</a:t>
            </a:r>
            <a:r>
              <a:rPr lang="en-US" sz="13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emplace_back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#else</a:t>
            </a: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aa</a:t>
            </a:r>
            <a:r>
              <a:rPr lang="en-US" sz="13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push_back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#endif</a:t>
            </a:r>
          </a:p>
          <a:p>
            <a:endParaRPr lang="en-US" sz="13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asm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""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"r"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(&amp;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aa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"memory"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3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7979A6-9396-4718-88E1-2B061C27ABBD}"/>
              </a:ext>
            </a:extLst>
          </p:cNvPr>
          <p:cNvSpPr txBox="1"/>
          <p:nvPr/>
        </p:nvSpPr>
        <p:spPr>
          <a:xfrm>
            <a:off x="5100917" y="4347881"/>
            <a:ext cx="35948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USE_PLACEMENT_NEW ~</a:t>
            </a:r>
            <a:r>
              <a:rPr lang="ru-RU" sz="2400" dirty="0">
                <a:solidFill>
                  <a:srgbClr val="FF0000"/>
                </a:solidFill>
              </a:rPr>
              <a:t>10%</a:t>
            </a:r>
            <a:r>
              <a:rPr lang="en-US" sz="2400" dirty="0">
                <a:solidFill>
                  <a:srgbClr val="FF0000"/>
                </a:solidFill>
              </a:rPr>
              <a:t> faster</a:t>
            </a:r>
            <a:r>
              <a:rPr lang="ru-RU" sz="2400" dirty="0">
                <a:solidFill>
                  <a:srgbClr val="FF0000"/>
                </a:solidFill>
              </a:rPr>
              <a:t>!</a:t>
            </a:r>
            <a:endParaRPr 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891102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optimizations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Move/copy elision</a:t>
            </a:r>
          </a:p>
          <a:p>
            <a:pPr lvl="1"/>
            <a:r>
              <a:rPr lang="en-US" dirty="0"/>
              <a:t>Detects and removes redundant moves and copies</a:t>
            </a:r>
          </a:p>
          <a:p>
            <a:r>
              <a:rPr lang="en-US" dirty="0"/>
              <a:t>Can work more aggressively (compared to C++)</a:t>
            </a:r>
          </a:p>
          <a:p>
            <a:pPr lvl="1"/>
            <a:r>
              <a:rPr lang="en-US" dirty="0"/>
              <a:t>High-level IR (MIR)</a:t>
            </a:r>
          </a:p>
          <a:p>
            <a:pPr lvl="1"/>
            <a:r>
              <a:rPr lang="en-US" dirty="0"/>
              <a:t>Shallow move/copy (essentially move/copy in Rust is just a </a:t>
            </a:r>
            <a:r>
              <a:rPr lang="en-US" dirty="0" err="1"/>
              <a:t>memcpy</a:t>
            </a:r>
            <a:r>
              <a:rPr lang="en-US" dirty="0"/>
              <a:t>)</a:t>
            </a:r>
          </a:p>
          <a:p>
            <a:r>
              <a:rPr lang="en-US" dirty="0"/>
              <a:t>Modern C++</a:t>
            </a:r>
            <a:r>
              <a:rPr lang="ru-RU" dirty="0"/>
              <a:t> </a:t>
            </a:r>
            <a:r>
              <a:rPr lang="en-US" dirty="0"/>
              <a:t>compilers do not support complete copy elision optimization</a:t>
            </a:r>
            <a:endParaRPr lang="ru-RU" dirty="0"/>
          </a:p>
          <a:p>
            <a:pPr lvl="1"/>
            <a:r>
              <a:rPr lang="en-US" dirty="0"/>
              <a:t>Only limited optimizations like RVO, NRVO, etc.</a:t>
            </a:r>
          </a:p>
          <a:p>
            <a:pPr lvl="1"/>
            <a:r>
              <a:rPr lang="en-US" dirty="0"/>
              <a:t>Mainly due to lack of high-level IR (</a:t>
            </a:r>
            <a:r>
              <a:rPr lang="en-US" dirty="0" err="1"/>
              <a:t>ClangIR</a:t>
            </a:r>
            <a:r>
              <a:rPr lang="en-US" dirty="0"/>
              <a:t> to the rescue?)</a:t>
            </a:r>
          </a:p>
          <a:p>
            <a:pPr lvl="1"/>
            <a:r>
              <a:rPr lang="en-US" dirty="0"/>
              <a:t>See </a:t>
            </a:r>
            <a:r>
              <a:rPr lang="en-US" dirty="0">
                <a:hlinkClick r:id="rId2"/>
              </a:rPr>
              <a:t>Ultimate Copy Elision</a:t>
            </a:r>
            <a:r>
              <a:rPr lang="en-US" dirty="0"/>
              <a:t> work by Roman </a:t>
            </a:r>
            <a:r>
              <a:rPr lang="en-US" dirty="0" err="1"/>
              <a:t>Rusyaev</a:t>
            </a:r>
            <a:r>
              <a:rPr lang="en-US" dirty="0"/>
              <a:t> (</a:t>
            </a:r>
            <a:r>
              <a:rPr lang="en-US" dirty="0">
                <a:hlinkClick r:id="rId3"/>
              </a:rPr>
              <a:t>GitHub</a:t>
            </a:r>
            <a:r>
              <a:rPr lang="en-US" dirty="0"/>
              <a:t>)</a:t>
            </a:r>
          </a:p>
          <a:p>
            <a:r>
              <a:rPr lang="en-US" dirty="0"/>
              <a:t>Implementation in compiler:</a:t>
            </a:r>
          </a:p>
          <a:p>
            <a:pPr lvl="1"/>
            <a:r>
              <a:rPr lang="en-US" dirty="0"/>
              <a:t>MIR (high-level IR): </a:t>
            </a:r>
            <a:r>
              <a:rPr lang="en-US" dirty="0" err="1"/>
              <a:t>CopyProp</a:t>
            </a:r>
            <a:r>
              <a:rPr lang="en-US" dirty="0"/>
              <a:t>, </a:t>
            </a:r>
            <a:r>
              <a:rPr lang="en-US" dirty="0" err="1"/>
              <a:t>DeadStoreElimination</a:t>
            </a:r>
            <a:r>
              <a:rPr lang="en-US" dirty="0"/>
              <a:t>, </a:t>
            </a:r>
            <a:r>
              <a:rPr lang="en-US" dirty="0" err="1"/>
              <a:t>DestinationPropagation</a:t>
            </a:r>
            <a:r>
              <a:rPr lang="en-US" dirty="0"/>
              <a:t>, </a:t>
            </a:r>
            <a:r>
              <a:rPr lang="en-US" dirty="0" err="1"/>
              <a:t>RenameReturnPlace</a:t>
            </a:r>
            <a:endParaRPr lang="en-US" dirty="0"/>
          </a:p>
          <a:p>
            <a:pPr lvl="1"/>
            <a:r>
              <a:rPr lang="en-US" dirty="0"/>
              <a:t>LLVM: </a:t>
            </a:r>
            <a:r>
              <a:rPr lang="en-US" dirty="0" err="1"/>
              <a:t>MemCpyOptPass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E3C1F6-C5DD-4614-B2F1-6ECD74190FB0}"/>
              </a:ext>
            </a:extLst>
          </p:cNvPr>
          <p:cNvSpPr txBox="1"/>
          <p:nvPr/>
        </p:nvSpPr>
        <p:spPr>
          <a:xfrm>
            <a:off x="180975" y="6356350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Detailed analysis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0357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move/copy elision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Depends on compiler version</a:t>
            </a:r>
          </a:p>
          <a:p>
            <a:pPr lvl="1"/>
            <a:r>
              <a:rPr lang="en-US" dirty="0"/>
              <a:t>Not always monotonically</a:t>
            </a:r>
          </a:p>
          <a:p>
            <a:r>
              <a:rPr lang="en-US" dirty="0"/>
              <a:t>Works only for release builds</a:t>
            </a:r>
            <a:endParaRPr lang="ru-RU" dirty="0"/>
          </a:p>
          <a:p>
            <a:pPr lvl="1"/>
            <a:r>
              <a:rPr lang="en-US" dirty="0"/>
              <a:t>Copies in debug builds are not optimized and may cause stack overflow or significant slowdown</a:t>
            </a:r>
          </a:p>
          <a:p>
            <a:r>
              <a:rPr lang="en-US" dirty="0"/>
              <a:t>Language support for </a:t>
            </a:r>
            <a:r>
              <a:rPr lang="en-US" dirty="0" err="1"/>
              <a:t>inplace</a:t>
            </a:r>
            <a:r>
              <a:rPr lang="en-US" dirty="0"/>
              <a:t>-initialization is one of </a:t>
            </a:r>
            <a:r>
              <a:rPr lang="ru-RU" dirty="0"/>
              <a:t> </a:t>
            </a:r>
            <a:r>
              <a:rPr lang="en-US" dirty="0"/>
              <a:t>project goals in </a:t>
            </a:r>
            <a:r>
              <a:rPr lang="ru-RU" dirty="0"/>
              <a:t>2026</a:t>
            </a:r>
            <a:r>
              <a:rPr lang="en-US" dirty="0"/>
              <a:t>:</a:t>
            </a:r>
          </a:p>
          <a:p>
            <a:pPr lvl="1"/>
            <a:r>
              <a:rPr lang="en-US" dirty="0">
                <a:hlinkClick r:id="rId2"/>
              </a:rPr>
              <a:t>In-place initialization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86367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Same as for mandatory initialization:</a:t>
            </a:r>
          </a:p>
          <a:p>
            <a:pPr lvl="1"/>
            <a:r>
              <a:rPr lang="en-US" dirty="0"/>
              <a:t>Use dedicated APIs to create uninitialized buffers and then initialize them:</a:t>
            </a:r>
          </a:p>
          <a:p>
            <a:pPr lvl="1"/>
            <a:r>
              <a:rPr lang="en-US" dirty="0"/>
              <a:t>E.g.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Box</a:t>
            </a:r>
            <a:r>
              <a:rPr lang="en-US" dirty="0"/>
              <a:t>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Rc</a:t>
            </a:r>
            <a:r>
              <a:rPr lang="en-US" dirty="0">
                <a:solidFill>
                  <a:srgbClr val="0070C0"/>
                </a:solidFill>
              </a:rPr>
              <a:t>::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new_uninit</a:t>
            </a:r>
            <a:r>
              <a:rPr lang="en-US" dirty="0"/>
              <a:t>,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Vec</a:t>
            </a:r>
            <a:r>
              <a:rPr lang="en-US" dirty="0">
                <a:solidFill>
                  <a:srgbClr val="0070C0"/>
                </a:solidFill>
              </a:rPr>
              <a:t>::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with_capacity</a:t>
            </a:r>
            <a:r>
              <a:rPr lang="en-US" dirty="0"/>
              <a:t>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set_len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dirty="0"/>
              <a:t>Also other APIs e.g.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Vec</a:t>
            </a:r>
            <a:r>
              <a:rPr lang="en-US" dirty="0">
                <a:solidFill>
                  <a:srgbClr val="0070C0"/>
                </a:solidFill>
              </a:rPr>
              <a:t>::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into_boxed_slice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93257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Copy elision has more opportunities in Rust than in C++</a:t>
            </a:r>
          </a:p>
          <a:p>
            <a:r>
              <a:rPr lang="en-US" dirty="0"/>
              <a:t>But can’t fully compensate for lack of language support for </a:t>
            </a:r>
            <a:r>
              <a:rPr lang="en-US" dirty="0" err="1"/>
              <a:t>inplace</a:t>
            </a:r>
            <a:r>
              <a:rPr lang="en-US" dirty="0"/>
              <a:t> initialization</a:t>
            </a:r>
          </a:p>
          <a:p>
            <a:pPr lvl="1"/>
            <a:r>
              <a:rPr lang="en-US" dirty="0"/>
              <a:t>Like placement new and</a:t>
            </a:r>
            <a:r>
              <a:rPr lang="ru-RU" dirty="0"/>
              <a:t> </a:t>
            </a:r>
            <a:r>
              <a:rPr lang="en-US" dirty="0"/>
              <a:t>perfect forwarding</a:t>
            </a:r>
            <a:endParaRPr lang="ru-RU" dirty="0"/>
          </a:p>
          <a:p>
            <a:r>
              <a:rPr lang="en-US" dirty="0"/>
              <a:t>Language developers are aware of this problem and try to solve it:</a:t>
            </a:r>
            <a:endParaRPr lang="ru-RU" dirty="0"/>
          </a:p>
          <a:p>
            <a:pPr lvl="1"/>
            <a:r>
              <a:rPr lang="en-US" dirty="0">
                <a:hlinkClick r:id="rId2"/>
              </a:rPr>
              <a:t>Rust Project Goals 2026: In-place initialization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Rust Project Goals 2026: MIR move elimination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70320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Recommended readings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Ultimate Copy Elision</a:t>
            </a:r>
            <a:endParaRPr lang="en-US" dirty="0"/>
          </a:p>
          <a:p>
            <a:pPr lvl="1"/>
            <a:r>
              <a:rPr lang="en-US" dirty="0"/>
              <a:t>Comprehensive overview of C++ copy elision by Roman </a:t>
            </a:r>
            <a:r>
              <a:rPr lang="en-US" dirty="0" err="1"/>
              <a:t>Rusyaev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89806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 optimizations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FF772-26C0-4B3E-964B-0964EB9F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BB10AC-2DD3-4AB7-B7B0-997763F0771F}"/>
              </a:ext>
            </a:extLst>
          </p:cNvPr>
          <p:cNvSpPr txBox="1"/>
          <p:nvPr/>
        </p:nvSpPr>
        <p:spPr>
          <a:xfrm>
            <a:off x="180975" y="6211669"/>
            <a:ext cx="17554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Detailed analysis</a:t>
            </a:r>
            <a:r>
              <a:rPr lang="en-US" dirty="0"/>
              <a:t> (not filled yet)</a:t>
            </a:r>
          </a:p>
        </p:txBody>
      </p:sp>
    </p:spTree>
    <p:extLst>
      <p:ext uri="{BB962C8B-B14F-4D97-AF65-F5344CB8AC3E}">
        <p14:creationId xmlns:p14="http://schemas.microsoft.com/office/powerpoint/2010/main" val="208863081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E048EE-7229-4F4F-80AB-E74BF13BC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Alignment of structure fields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93C473F-79B1-47BE-8F8D-89A447B7E7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47664" cy="2897377"/>
          </a:xfrm>
        </p:spPr>
        <p:txBody>
          <a:bodyPr>
            <a:normAutofit/>
          </a:bodyPr>
          <a:lstStyle/>
          <a:p>
            <a:r>
              <a:rPr lang="en-US" dirty="0"/>
              <a:t>Many languages (C, C++, C#, Swift) preserve order of fields in structures according to source code</a:t>
            </a:r>
            <a:endParaRPr lang="ru-RU" dirty="0"/>
          </a:p>
          <a:p>
            <a:r>
              <a:rPr lang="en-US" dirty="0"/>
              <a:t>Fields need to be properly aligned by adding padding bytes in between</a:t>
            </a:r>
            <a:endParaRPr lang="ru-RU" dirty="0"/>
          </a:p>
          <a:p>
            <a:pPr lvl="1"/>
            <a:r>
              <a:rPr lang="en-US" dirty="0"/>
              <a:t>Alignment is necessary due to HW constraints</a:t>
            </a:r>
          </a:p>
          <a:p>
            <a:pPr lvl="1"/>
            <a:r>
              <a:rPr lang="en-US" dirty="0"/>
              <a:t>Unaligned memory access may cause exception or slowdown</a:t>
            </a:r>
          </a:p>
          <a:p>
            <a:r>
              <a:rPr lang="en-US" dirty="0"/>
              <a:t>Alignment speeds up access to fields but reduces D$ locality</a:t>
            </a:r>
            <a:endParaRPr lang="ru-RU" dirty="0"/>
          </a:p>
        </p:txBody>
      </p:sp>
      <p:sp>
        <p:nvSpPr>
          <p:cNvPr id="4" name="AutoShape 2" descr="Structure with ineffective member placement">
            <a:extLst>
              <a:ext uri="{FF2B5EF4-FFF2-40B4-BE49-F238E27FC236}">
                <a16:creationId xmlns:a16="http://schemas.microsoft.com/office/drawing/2014/main" id="{3610C219-D068-4ABA-A7AE-DA35D11510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4" descr="Structure with ineffective member placement">
            <a:extLst>
              <a:ext uri="{FF2B5EF4-FFF2-40B4-BE49-F238E27FC236}">
                <a16:creationId xmlns:a16="http://schemas.microsoft.com/office/drawing/2014/main" id="{DD15E656-A954-41EC-BE78-8F7ED23463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B455557-A721-4000-A21D-12CE9093F0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7465" y="5280345"/>
            <a:ext cx="6124575" cy="342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63CB2D5-39BD-4A9B-882B-994A50565F4E}"/>
              </a:ext>
            </a:extLst>
          </p:cNvPr>
          <p:cNvSpPr txBox="1"/>
          <p:nvPr/>
        </p:nvSpPr>
        <p:spPr>
          <a:xfrm>
            <a:off x="1603673" y="4786221"/>
            <a:ext cx="2774659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RandomOrder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6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uint8_t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</a:t>
            </a:r>
            <a:r>
              <a:rPr lang="en-US" sz="16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m_byte1</a:t>
            </a:r>
            <a:r>
              <a:rPr lang="en-US" sz="16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</a:t>
            </a:r>
            <a:r>
              <a:rPr lang="en-US" sz="16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uint64_t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m_long</a:t>
            </a:r>
            <a:r>
              <a:rPr lang="en-US" sz="16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6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uint8_t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</a:t>
            </a:r>
            <a:r>
              <a:rPr lang="en-US" sz="16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m_byte2</a:t>
            </a:r>
            <a:r>
              <a:rPr lang="en-US" sz="16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6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uint32_t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m_int</a:t>
            </a:r>
            <a:r>
              <a:rPr lang="en-US" sz="16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6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uint8_t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</a:t>
            </a:r>
            <a:r>
              <a:rPr lang="en-US" sz="16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m_byte3</a:t>
            </a:r>
            <a:r>
              <a:rPr lang="en-US" sz="16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FCC3C9-398B-4DF5-A6AF-56ACCD1B5A26}"/>
              </a:ext>
            </a:extLst>
          </p:cNvPr>
          <p:cNvSpPr txBox="1"/>
          <p:nvPr/>
        </p:nvSpPr>
        <p:spPr>
          <a:xfrm>
            <a:off x="10942040" y="6523489"/>
            <a:ext cx="1249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hlinkClick r:id="rId3"/>
              </a:rPr>
              <a:t>Image source</a:t>
            </a:r>
            <a:endParaRPr lang="ru-RU" sz="14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127CF4-5E0A-4B1E-80DC-87441B17E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48909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351610-B8D9-422F-A976-3068047D2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 in Rust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FD4A3CA-E3AC-4BCC-98A4-A1B15B380C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Rust ABI </a:t>
            </a:r>
            <a:r>
              <a:rPr lang="en-US" dirty="0"/>
              <a:t>does not guarantee order of fields in structs</a:t>
            </a:r>
          </a:p>
          <a:p>
            <a:r>
              <a:rPr lang="en-US" dirty="0"/>
              <a:t>This allows compiler to freely modify it</a:t>
            </a:r>
            <a:endParaRPr lang="ru-RU" dirty="0"/>
          </a:p>
          <a:p>
            <a:r>
              <a:rPr lang="en-US" dirty="0"/>
              <a:t>Fields can be reordered to</a:t>
            </a:r>
            <a:endParaRPr lang="ru-RU" dirty="0"/>
          </a:p>
          <a:p>
            <a:pPr lvl="1"/>
            <a:r>
              <a:rPr lang="en-US" dirty="0"/>
              <a:t>Reduce D$ pressure </a:t>
            </a:r>
            <a:r>
              <a:rPr lang="ru-RU" dirty="0"/>
              <a:t>(</a:t>
            </a:r>
            <a:r>
              <a:rPr lang="en-US" dirty="0"/>
              <a:t>by reducing amount of padding)</a:t>
            </a:r>
            <a:endParaRPr lang="ru-RU" dirty="0"/>
          </a:p>
          <a:p>
            <a:pPr lvl="1"/>
            <a:r>
              <a:rPr lang="en-US" dirty="0"/>
              <a:t>Optimize placement of niches </a:t>
            </a:r>
            <a:r>
              <a:rPr lang="ru-RU" dirty="0"/>
              <a:t>(</a:t>
            </a:r>
            <a:r>
              <a:rPr lang="en-US" dirty="0"/>
              <a:t>see below</a:t>
            </a:r>
            <a:r>
              <a:rPr lang="ru-RU" dirty="0"/>
              <a:t>)</a:t>
            </a:r>
            <a:endParaRPr lang="en-US" dirty="0"/>
          </a:p>
          <a:p>
            <a:r>
              <a:rPr lang="en-US" dirty="0"/>
              <a:t>In theory compiler could also co-allocate fields that are frequently used together</a:t>
            </a:r>
            <a:endParaRPr lang="ru-RU" dirty="0"/>
          </a:p>
          <a:p>
            <a:pPr lvl="1"/>
            <a:r>
              <a:rPr lang="en-US" dirty="0"/>
              <a:t>Could be enabled via PGO or static analysis (like -</a:t>
            </a:r>
            <a:r>
              <a:rPr lang="en-US" dirty="0" err="1"/>
              <a:t>fipa</a:t>
            </a:r>
            <a:r>
              <a:rPr lang="en-US" dirty="0"/>
              <a:t>-struct-reorg in GCC)</a:t>
            </a:r>
          </a:p>
          <a:p>
            <a:r>
              <a:rPr lang="en-US" dirty="0"/>
              <a:t>And extract rarely used fields (structure peeling)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CB5C86-873D-4A3E-A0A1-7478DC57C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33000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DC335C-1706-4E27-BC4E-3DEF1CFFF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Layout optimizations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22A78B-FACD-4265-BA5E-6E703B4208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865660" cy="4351338"/>
          </a:xfrm>
        </p:spPr>
        <p:txBody>
          <a:bodyPr/>
          <a:lstStyle/>
          <a:p>
            <a:r>
              <a:rPr lang="en-US" dirty="0"/>
              <a:t>Struct fields are sorted according to decreasing alignment to reduce struct size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EC523C-30BB-41C2-8A3B-61158656C906}"/>
              </a:ext>
            </a:extLst>
          </p:cNvPr>
          <p:cNvSpPr txBox="1"/>
          <p:nvPr/>
        </p:nvSpPr>
        <p:spPr>
          <a:xfrm>
            <a:off x="476118" y="4181857"/>
            <a:ext cx="298438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400" b="0" dirty="0" err="1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fun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i64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 err="1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endParaRPr lang="en-US" sz="1400" b="0" dirty="0">
              <a:solidFill>
                <a:schemeClr val="accent6">
                  <a:lumMod val="75000"/>
                </a:schemeClr>
              </a:solidFill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 (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 err="1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as i64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 (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 err="1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as i64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131E04-8235-48E3-9BA6-7C9FBBD66539}"/>
              </a:ext>
            </a:extLst>
          </p:cNvPr>
          <p:cNvSpPr txBox="1"/>
          <p:nvPr/>
        </p:nvSpPr>
        <p:spPr>
          <a:xfrm>
            <a:off x="4411583" y="2903954"/>
            <a:ext cx="2594211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pub 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pub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bool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pub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i64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pub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i16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// 16 bytes total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AA28FD-A5B0-4274-A4AF-F4FEF13A3598}"/>
              </a:ext>
            </a:extLst>
          </p:cNvPr>
          <p:cNvSpPr txBox="1"/>
          <p:nvPr/>
        </p:nvSpPr>
        <p:spPr>
          <a:xfrm>
            <a:off x="8358519" y="2719288"/>
            <a:ext cx="223776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#[repr(C)]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pub 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pub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bool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pub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i64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pub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i16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// 24 bytes total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78F710E-19F3-4BF0-AC03-8EE50F058B77}"/>
              </a:ext>
            </a:extLst>
          </p:cNvPr>
          <p:cNvSpPr txBox="1"/>
          <p:nvPr/>
        </p:nvSpPr>
        <p:spPr>
          <a:xfrm>
            <a:off x="3993377" y="4196646"/>
            <a:ext cx="3692902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fun: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movzx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ecx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byte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+ 10]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add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qword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movsx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+ 8]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add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endParaRPr lang="en-US" sz="14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ret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AB74B58-BB2B-4F14-89AD-0B335141A7E8}"/>
              </a:ext>
            </a:extLst>
          </p:cNvPr>
          <p:cNvSpPr txBox="1"/>
          <p:nvPr/>
        </p:nvSpPr>
        <p:spPr>
          <a:xfrm>
            <a:off x="7945902" y="4196646"/>
            <a:ext cx="400784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fun: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movzx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ecx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byte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add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qword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+ 8]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movsx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+ 16]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add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endParaRPr lang="en-US" sz="14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ret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667809-EB9C-4EAF-AEF0-967C81DE2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B7FD14-83DF-4042-B41E-DAF7CBAD5A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0967" y="241985"/>
            <a:ext cx="1609950" cy="157184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A5B2FDF-7C61-4C6A-9F8B-221720421503}"/>
              </a:ext>
            </a:extLst>
          </p:cNvPr>
          <p:cNvSpPr txBox="1"/>
          <p:nvPr/>
        </p:nvSpPr>
        <p:spPr>
          <a:xfrm>
            <a:off x="187962" y="6492875"/>
            <a:ext cx="44109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Jeffrey </a:t>
            </a:r>
            <a:r>
              <a:rPr lang="en-US" sz="1000" dirty="0" err="1"/>
              <a:t>Bary</a:t>
            </a:r>
            <a:r>
              <a:rPr lang="en-US" sz="1000" dirty="0"/>
              <a:t>, </a:t>
            </a:r>
            <a:r>
              <a:rPr lang="en-US" sz="1000" dirty="0">
                <a:hlinkClick r:id="rId3"/>
              </a:rPr>
              <a:t>https://www.flickr.com/photos/70118259@N00/3173642531</a:t>
            </a:r>
            <a:endParaRPr lang="en-US" sz="1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A2D69B-DC09-40CC-A195-1CCE43202DB1}"/>
              </a:ext>
            </a:extLst>
          </p:cNvPr>
          <p:cNvSpPr txBox="1"/>
          <p:nvPr/>
        </p:nvSpPr>
        <p:spPr>
          <a:xfrm>
            <a:off x="4674416" y="5552857"/>
            <a:ext cx="23308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https://godbolt.org/z/MxYh7bv34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4E9DAF-194A-495D-891A-2789496E3047}"/>
              </a:ext>
            </a:extLst>
          </p:cNvPr>
          <p:cNvSpPr txBox="1"/>
          <p:nvPr/>
        </p:nvSpPr>
        <p:spPr>
          <a:xfrm>
            <a:off x="8274424" y="5552217"/>
            <a:ext cx="232185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https://godbolt.org/z/GMoejn7rd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50209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825E86-AAF1-4EAF-A00D-9623D134F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status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FC64C00-1F57-488C-B3C1-7CB36AA69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static analyzers detect suboptimal field order:</a:t>
            </a:r>
            <a:endParaRPr lang="ru-RU" dirty="0"/>
          </a:p>
          <a:p>
            <a:pPr lvl="1"/>
            <a:r>
              <a:rPr lang="en-US" dirty="0"/>
              <a:t>Clang-tidy</a:t>
            </a:r>
            <a:r>
              <a:rPr lang="ru-RU" dirty="0"/>
              <a:t>, </a:t>
            </a:r>
            <a:r>
              <a:rPr lang="en-US" dirty="0"/>
              <a:t>PVS-studio, etc.</a:t>
            </a:r>
          </a:p>
          <a:p>
            <a:pPr lvl="1"/>
            <a:r>
              <a:rPr lang="en-US" dirty="0" err="1"/>
              <a:t>Pahole</a:t>
            </a:r>
            <a:r>
              <a:rPr lang="en-US" dirty="0"/>
              <a:t> (uses </a:t>
            </a:r>
            <a:r>
              <a:rPr lang="en-US" dirty="0" err="1"/>
              <a:t>debuginfo</a:t>
            </a:r>
            <a:r>
              <a:rPr lang="en-US" dirty="0"/>
              <a:t>)</a:t>
            </a:r>
          </a:p>
          <a:p>
            <a:r>
              <a:rPr lang="en-US" dirty="0"/>
              <a:t>clang-reorder-fields – LLVM-based tool for reordering fields to minimize padding</a:t>
            </a:r>
          </a:p>
          <a:p>
            <a:r>
              <a:rPr lang="en-US" dirty="0"/>
              <a:t>In theory with Fat LTO compiler could reorder fields automatically</a:t>
            </a:r>
            <a:endParaRPr lang="ru-RU" dirty="0"/>
          </a:p>
          <a:p>
            <a:pPr lvl="1"/>
            <a:r>
              <a:rPr lang="en-US" dirty="0"/>
              <a:t>Already done in LCC compiler for Elbrus</a:t>
            </a:r>
            <a:endParaRPr lang="ru-RU" dirty="0"/>
          </a:p>
          <a:p>
            <a:pPr lvl="1"/>
            <a:endParaRPr lang="ru-RU" dirty="0"/>
          </a:p>
          <a:p>
            <a:endParaRPr lang="ru-RU" dirty="0"/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73A522-AC3C-44F1-8E3E-8364EF00E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1624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286CB3-CA98-4D5C-9B68-DF83F5F62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517"/>
            <a:ext cx="10515600" cy="1325563"/>
          </a:xfrm>
        </p:spPr>
        <p:txBody>
          <a:bodyPr/>
          <a:lstStyle/>
          <a:p>
            <a:r>
              <a:rPr lang="en-US" dirty="0"/>
              <a:t>Internals of Rust </a:t>
            </a:r>
            <a:r>
              <a:rPr lang="en-US" dirty="0" err="1"/>
              <a:t>enums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FC07E6B-7EC2-45BD-B980-C5C37E471C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1080"/>
            <a:ext cx="11049000" cy="4351338"/>
          </a:xfrm>
        </p:spPr>
        <p:txBody>
          <a:bodyPr/>
          <a:lstStyle/>
          <a:p>
            <a:r>
              <a:rPr lang="en-US" dirty="0"/>
              <a:t>Rust </a:t>
            </a:r>
            <a:r>
              <a:rPr lang="en-US" dirty="0" err="1"/>
              <a:t>enums</a:t>
            </a:r>
            <a:r>
              <a:rPr lang="en-US" dirty="0"/>
              <a:t> are analogous to std::variant in C++</a:t>
            </a:r>
          </a:p>
          <a:p>
            <a:r>
              <a:rPr lang="en-US" dirty="0"/>
              <a:t>The may contain different types, identified by hidden tag field</a:t>
            </a:r>
            <a:endParaRPr lang="ru-RU" dirty="0"/>
          </a:p>
          <a:p>
            <a:r>
              <a:rPr lang="en-US" dirty="0"/>
              <a:t>Enum object consists of</a:t>
            </a:r>
            <a:endParaRPr lang="ru-RU" dirty="0"/>
          </a:p>
          <a:p>
            <a:pPr lvl="1"/>
            <a:r>
              <a:rPr lang="en-US" dirty="0"/>
              <a:t>Tag (or discriminant) – index of actual type</a:t>
            </a:r>
            <a:endParaRPr lang="ru-RU" dirty="0"/>
          </a:p>
          <a:p>
            <a:pPr lvl="1"/>
            <a:r>
              <a:rPr lang="en-US" dirty="0"/>
              <a:t>This type’s data</a:t>
            </a:r>
          </a:p>
          <a:p>
            <a:endParaRPr lang="en-US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083A7C-41A1-4006-BC2B-7DE3ACD76820}"/>
              </a:ext>
            </a:extLst>
          </p:cNvPr>
          <p:cNvSpPr txBox="1"/>
          <p:nvPr/>
        </p:nvSpPr>
        <p:spPr>
          <a:xfrm>
            <a:off x="5815668" y="4077260"/>
            <a:ext cx="464540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fun:</a:t>
            </a:r>
          </a:p>
          <a:p>
            <a:r>
              <a:rPr lang="en-US" sz="15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mov     </a:t>
            </a:r>
            <a:r>
              <a:rPr lang="en-US" sz="15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5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5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5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5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5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5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5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mov     </a:t>
            </a:r>
            <a:r>
              <a:rPr lang="en-US" sz="15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5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5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5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5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5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5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5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5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+ 4]</a:t>
            </a:r>
          </a:p>
          <a:p>
            <a:r>
              <a:rPr lang="en-US" sz="15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ret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053054-EF4D-495B-ADD6-1ECD0C6E207B}"/>
              </a:ext>
            </a:extLst>
          </p:cNvPr>
          <p:cNvSpPr txBox="1"/>
          <p:nvPr/>
        </p:nvSpPr>
        <p:spPr>
          <a:xfrm>
            <a:off x="784963" y="3781425"/>
            <a:ext cx="3272406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500" b="0" dirty="0" err="1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enum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5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sz="15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},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5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sz="15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},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15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500" b="0" dirty="0" err="1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fun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5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5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match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5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5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sz="15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..}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=&gt;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5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5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sz="15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..}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=&gt;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5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5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5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  <a:endParaRPr lang="en-US" sz="1500" b="0" dirty="0">
              <a:solidFill>
                <a:srgbClr val="0070C0"/>
              </a:solidFill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0FD7ED05-5C62-423B-ADB7-4BE3CBF50F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22515" y="5458652"/>
            <a:ext cx="6231709" cy="80908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0BFF70-C917-4AE8-88F0-D0A4481E2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104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47DDAA-7BDC-48E5-BE78-367B805A8794}"/>
              </a:ext>
            </a:extLst>
          </p:cNvPr>
          <p:cNvSpPr txBox="1"/>
          <p:nvPr/>
        </p:nvSpPr>
        <p:spPr>
          <a:xfrm>
            <a:off x="6990886" y="3526865"/>
            <a:ext cx="22949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https://godbolt.org/z/n8a1x9nWr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806459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2E987B-1D83-44ED-96AA-CD1B807AA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Niches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21B1B54-A130-4A7D-A393-F42531964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5012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Some bit combinations may not correspond to any valid value of encoded type</a:t>
            </a:r>
            <a:endParaRPr lang="ru-RU" dirty="0"/>
          </a:p>
          <a:p>
            <a:r>
              <a:rPr lang="en-US" dirty="0"/>
              <a:t>For example</a:t>
            </a:r>
            <a:endParaRPr lang="ru-RU" dirty="0"/>
          </a:p>
          <a:p>
            <a:pPr lvl="1"/>
            <a:r>
              <a:rPr lang="en-US" dirty="0">
                <a:solidFill>
                  <a:srgbClr val="0070C0"/>
                </a:solidFill>
              </a:rPr>
              <a:t>&amp;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x</a:t>
            </a:r>
            <a:r>
              <a:rPr lang="en-US" dirty="0"/>
              <a:t> or</a:t>
            </a:r>
            <a:r>
              <a:rPr lang="ru-RU" dirty="0"/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NonZero</a:t>
            </a:r>
            <a:r>
              <a:rPr lang="en-US" dirty="0">
                <a:solidFill>
                  <a:srgbClr val="0070C0"/>
                </a:solidFill>
              </a:rPr>
              <a:t>&lt;</a:t>
            </a:r>
            <a:r>
              <a:rPr lang="en-US" dirty="0">
                <a:solidFill>
                  <a:srgbClr val="C00000"/>
                </a:solidFill>
              </a:rPr>
              <a:t>i32</a:t>
            </a:r>
            <a:r>
              <a:rPr lang="en-US" dirty="0">
                <a:solidFill>
                  <a:srgbClr val="0070C0"/>
                </a:solidFill>
              </a:rPr>
              <a:t>&gt;</a:t>
            </a:r>
            <a:r>
              <a:rPr lang="ru-RU" dirty="0"/>
              <a:t> </a:t>
            </a:r>
            <a:r>
              <a:rPr lang="en-US" dirty="0"/>
              <a:t>may not be zero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bool</a:t>
            </a:r>
            <a:r>
              <a:rPr lang="en-US" dirty="0"/>
              <a:t> (8</a:t>
            </a:r>
            <a:r>
              <a:rPr lang="ru-RU" dirty="0"/>
              <a:t> </a:t>
            </a:r>
            <a:r>
              <a:rPr lang="en-US" dirty="0"/>
              <a:t>bits</a:t>
            </a:r>
            <a:r>
              <a:rPr lang="ru-RU" dirty="0"/>
              <a:t>) </a:t>
            </a:r>
            <a:r>
              <a:rPr lang="en-US" dirty="0"/>
              <a:t>can only be 0b0 or 0b1</a:t>
            </a:r>
            <a:endParaRPr lang="ru-RU" dirty="0"/>
          </a:p>
          <a:p>
            <a:pPr lvl="2"/>
            <a:r>
              <a:rPr lang="en-US" dirty="0"/>
              <a:t>Remaining </a:t>
            </a:r>
            <a:r>
              <a:rPr lang="ru-RU" dirty="0"/>
              <a:t>254 </a:t>
            </a:r>
            <a:r>
              <a:rPr lang="en-US" dirty="0"/>
              <a:t>values are invalid</a:t>
            </a:r>
            <a:endParaRPr lang="ru-RU" dirty="0"/>
          </a:p>
          <a:p>
            <a:pPr lvl="1"/>
            <a:r>
              <a:rPr lang="en-US" dirty="0">
                <a:solidFill>
                  <a:srgbClr val="C00000"/>
                </a:solidFill>
              </a:rPr>
              <a:t>char</a:t>
            </a:r>
            <a:r>
              <a:rPr lang="en-US" dirty="0"/>
              <a:t> (32 bits</a:t>
            </a:r>
            <a:r>
              <a:rPr lang="ru-RU" dirty="0"/>
              <a:t>) </a:t>
            </a:r>
            <a:r>
              <a:rPr lang="en-US" dirty="0"/>
              <a:t>may only contain values in [0x0, 0xD7FF] and [0xE000, 0x10FFFF] ranges</a:t>
            </a:r>
            <a:endParaRPr lang="ru-RU" dirty="0"/>
          </a:p>
          <a:p>
            <a:r>
              <a:rPr lang="en-US" dirty="0"/>
              <a:t>Such invalid value ranges (not bits!) are called niches</a:t>
            </a:r>
          </a:p>
          <a:p>
            <a:r>
              <a:rPr lang="en-US" dirty="0"/>
              <a:t>They may be used to keep tag of </a:t>
            </a:r>
            <a:r>
              <a:rPr lang="en-US" dirty="0" err="1"/>
              <a:t>enum</a:t>
            </a:r>
            <a:r>
              <a:rPr lang="en-US" dirty="0"/>
              <a:t> types</a:t>
            </a:r>
            <a:r>
              <a:rPr lang="ru-RU" dirty="0"/>
              <a:t> (</a:t>
            </a:r>
            <a:r>
              <a:rPr lang="en-US" dirty="0"/>
              <a:t>instead of using separate field</a:t>
            </a:r>
            <a:r>
              <a:rPr lang="ru-RU" dirty="0"/>
              <a:t>)</a:t>
            </a:r>
            <a:endParaRPr lang="en-US" dirty="0"/>
          </a:p>
          <a:p>
            <a:pPr lvl="1"/>
            <a:r>
              <a:rPr lang="en-US" dirty="0"/>
              <a:t>So called Discriminant Elision</a:t>
            </a:r>
            <a:endParaRPr lang="ru-RU" dirty="0"/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1AFC72-2547-49DB-9CA3-BCF1A1DEC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105</a:t>
            </a:fld>
            <a:endParaRPr lang="en-US"/>
          </a:p>
        </p:txBody>
      </p:sp>
      <p:pic>
        <p:nvPicPr>
          <p:cNvPr id="5" name="Picture 2" descr="Books &amp; Why Multidisciplinary Reading ...">
            <a:extLst>
              <a:ext uri="{FF2B5EF4-FFF2-40B4-BE49-F238E27FC236}">
                <a16:creationId xmlns:a16="http://schemas.microsoft.com/office/drawing/2014/main" id="{03DA1343-2E9C-4CA1-8F24-E8C0538951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7935" y="158049"/>
            <a:ext cx="2714625" cy="1685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2A64A7A-C650-48BB-86E4-4A9ADE811C51}"/>
              </a:ext>
            </a:extLst>
          </p:cNvPr>
          <p:cNvCxnSpPr>
            <a:cxnSpLocks/>
          </p:cNvCxnSpPr>
          <p:nvPr/>
        </p:nvCxnSpPr>
        <p:spPr>
          <a:xfrm>
            <a:off x="9467850" y="1566022"/>
            <a:ext cx="339538" cy="0"/>
          </a:xfrm>
          <a:prstGeom prst="straightConnector1">
            <a:avLst/>
          </a:prstGeom>
          <a:ln w="34925"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77011FD-5E92-48E5-A6E8-7D25E3579BEE}"/>
              </a:ext>
            </a:extLst>
          </p:cNvPr>
          <p:cNvCxnSpPr>
            <a:cxnSpLocks/>
          </p:cNvCxnSpPr>
          <p:nvPr/>
        </p:nvCxnSpPr>
        <p:spPr>
          <a:xfrm>
            <a:off x="10934700" y="1566022"/>
            <a:ext cx="339538" cy="0"/>
          </a:xfrm>
          <a:prstGeom prst="straightConnector1">
            <a:avLst/>
          </a:prstGeom>
          <a:ln w="34925"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C9C4D94-906A-4DA3-B88C-34F46A32B9F4}"/>
              </a:ext>
            </a:extLst>
          </p:cNvPr>
          <p:cNvSpPr txBox="1"/>
          <p:nvPr/>
        </p:nvSpPr>
        <p:spPr>
          <a:xfrm>
            <a:off x="134469" y="6492875"/>
            <a:ext cx="560294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hlinkClick r:id="rId3"/>
              </a:rPr>
              <a:t>https://nowmediagroup.tv/blog/10-must-read-books-why-multidisciplinary-reading-is-a-must/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4566637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0DA925-EDAD-4F77-AF8B-F41C8DE87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of niches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CD87086-7075-4262-8981-88D1AA1F3B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r>
              <a:rPr lang="en-US" dirty="0"/>
              <a:t>The most common (and guaranteed by the language) example: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Option</a:t>
            </a:r>
            <a:r>
              <a:rPr lang="en-US" dirty="0">
                <a:solidFill>
                  <a:srgbClr val="0070C0"/>
                </a:solidFill>
              </a:rPr>
              <a:t>&lt;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T</a:t>
            </a:r>
            <a:r>
              <a:rPr lang="en-US" dirty="0">
                <a:solidFill>
                  <a:srgbClr val="0070C0"/>
                </a:solidFill>
              </a:rPr>
              <a:t>&gt;</a:t>
            </a:r>
            <a:r>
              <a:rPr lang="en-US" dirty="0"/>
              <a:t> with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T</a:t>
            </a:r>
            <a:r>
              <a:rPr lang="en-US" dirty="0"/>
              <a:t> being a </a:t>
            </a:r>
            <a:r>
              <a:rPr lang="en-US" dirty="0" err="1"/>
              <a:t>NonNull</a:t>
            </a:r>
            <a:r>
              <a:rPr lang="ru-RU" dirty="0"/>
              <a:t> </a:t>
            </a:r>
            <a:r>
              <a:rPr lang="en-US" dirty="0"/>
              <a:t>type (e.g. </a:t>
            </a:r>
            <a:r>
              <a:rPr lang="en-US" dirty="0">
                <a:solidFill>
                  <a:srgbClr val="0070C0"/>
                </a:solidFill>
              </a:rPr>
              <a:t>&amp;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U</a:t>
            </a:r>
            <a:r>
              <a:rPr lang="en-US" dirty="0"/>
              <a:t>)</a:t>
            </a:r>
          </a:p>
          <a:p>
            <a:pPr marL="457200" lvl="1" indent="0">
              <a:buNone/>
            </a:pPr>
            <a:endParaRPr lang="en-US" dirty="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ru-RU" dirty="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Same niche may be used for multiple tags:</a:t>
            </a:r>
            <a:endParaRPr lang="ru-RU" dirty="0">
              <a:cs typeface="Courier New" panose="02070309020205020404" pitchFamily="49" charset="0"/>
            </a:endParaRPr>
          </a:p>
          <a:p>
            <a:pPr lvl="1"/>
            <a:r>
              <a:rPr lang="en-US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size_of</a:t>
            </a:r>
            <a:r>
              <a:rPr lang="en-US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::&lt;</a:t>
            </a:r>
            <a:r>
              <a:rPr lang="en-US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Option</a:t>
            </a:r>
            <a:r>
              <a:rPr lang="en-US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Option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Option</a:t>
            </a:r>
            <a:r>
              <a:rPr lang="en-US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bool</a:t>
            </a:r>
            <a:r>
              <a:rPr lang="en-US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&gt;&gt;&gt;&gt;()</a:t>
            </a:r>
            <a:r>
              <a:rPr lang="ru-RU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endParaRPr lang="ru-RU" dirty="0"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</a:rPr>
              <a:t>Similar optimization possible to lower bits of reference</a:t>
            </a:r>
            <a:r>
              <a:rPr lang="ru-RU" b="0" dirty="0">
                <a:solidFill>
                  <a:srgbClr val="000000"/>
                </a:solidFill>
                <a:effectLst/>
              </a:rPr>
              <a:t> (</a:t>
            </a:r>
            <a:r>
              <a:rPr lang="en-US" b="0" dirty="0">
                <a:solidFill>
                  <a:srgbClr val="000000"/>
                </a:solidFill>
                <a:effectLst/>
              </a:rPr>
              <a:t>or pointer)</a:t>
            </a:r>
            <a:endParaRPr lang="ru-RU" dirty="0">
              <a:solidFill>
                <a:srgbClr val="000000"/>
              </a:solidFill>
            </a:endParaRPr>
          </a:p>
          <a:p>
            <a:pPr lvl="1"/>
            <a:r>
              <a:rPr lang="en-US" b="0" dirty="0">
                <a:solidFill>
                  <a:srgbClr val="000000"/>
                </a:solidFill>
                <a:effectLst/>
              </a:rPr>
              <a:t>Lower bits of aligned pointers are always 0</a:t>
            </a:r>
            <a:endParaRPr lang="ru-RU" dirty="0">
              <a:solidFill>
                <a:srgbClr val="000000"/>
              </a:solidFill>
            </a:endParaRPr>
          </a:p>
          <a:p>
            <a:pPr lvl="1"/>
            <a:r>
              <a:rPr lang="en-US" b="0" dirty="0">
                <a:solidFill>
                  <a:srgbClr val="000000"/>
                </a:solidFill>
                <a:effectLst/>
              </a:rPr>
              <a:t>Can be used as niche</a:t>
            </a:r>
            <a:endParaRPr lang="ru-RU" b="0" dirty="0">
              <a:solidFill>
                <a:srgbClr val="000000"/>
              </a:solidFill>
              <a:effectLst/>
            </a:endParaRPr>
          </a:p>
          <a:p>
            <a:pPr lvl="1"/>
            <a:r>
              <a:rPr lang="en-US" dirty="0">
                <a:solidFill>
                  <a:srgbClr val="000000"/>
                </a:solidFill>
              </a:rPr>
              <a:t>Currently only supported in nightly (-</a:t>
            </a:r>
            <a:r>
              <a:rPr lang="en-US" dirty="0" err="1">
                <a:solidFill>
                  <a:srgbClr val="000000"/>
                </a:solidFill>
              </a:rPr>
              <a:t>Zreference</a:t>
            </a:r>
            <a:r>
              <a:rPr lang="en-US" dirty="0">
                <a:solidFill>
                  <a:srgbClr val="000000"/>
                </a:solidFill>
              </a:rPr>
              <a:t>-niches, </a:t>
            </a:r>
            <a:r>
              <a:rPr lang="en-US" dirty="0">
                <a:solidFill>
                  <a:srgbClr val="000000"/>
                </a:solidFill>
                <a:hlinkClick r:id="rId2"/>
              </a:rPr>
              <a:t>rust #3204</a:t>
            </a:r>
            <a:r>
              <a:rPr lang="en-US" dirty="0">
                <a:solidFill>
                  <a:srgbClr val="000000"/>
                </a:solidFill>
              </a:rPr>
              <a:t>)</a:t>
            </a:r>
            <a:endParaRPr lang="ru-RU" b="0" dirty="0">
              <a:solidFill>
                <a:srgbClr val="000000"/>
              </a:solidFill>
              <a:effectLst/>
            </a:endParaRPr>
          </a:p>
          <a:p>
            <a:pPr lvl="1"/>
            <a:endParaRPr lang="en-US" b="0" dirty="0">
              <a:solidFill>
                <a:srgbClr val="000000"/>
              </a:solidFill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03912B-AE0E-4DB0-8A4A-824986F43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230FDB-E287-4D68-B15A-A89B8DCCCB74}"/>
              </a:ext>
            </a:extLst>
          </p:cNvPr>
          <p:cNvSpPr txBox="1"/>
          <p:nvPr/>
        </p:nvSpPr>
        <p:spPr>
          <a:xfrm>
            <a:off x="2434560" y="3060013"/>
            <a:ext cx="26138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1" indent="0"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Option</a:t>
            </a:r>
            <a:r>
              <a:rPr lang="en-US" sz="2000" dirty="0">
                <a:solidFill>
                  <a:schemeClr val="accent1"/>
                </a:solidFill>
                <a:latin typeface="Consolas" panose="020B0609020204030204" pitchFamily="49" charset="0"/>
              </a:rPr>
              <a:t>&lt;&amp;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</a:t>
            </a:r>
            <a:r>
              <a:rPr lang="en-US" sz="2000" dirty="0">
                <a:solidFill>
                  <a:schemeClr val="accent1"/>
                </a:solidFill>
                <a:latin typeface="Consolas" panose="020B0609020204030204" pitchFamily="49" charset="0"/>
              </a:rPr>
              <a:t>&gt;</a:t>
            </a:r>
            <a:r>
              <a:rPr lang="en-US" sz="2000" dirty="0">
                <a:latin typeface="Consolas" panose="020B0609020204030204" pitchFamily="49" charset="0"/>
              </a:rPr>
              <a:t> =  </a:t>
            </a:r>
          </a:p>
        </p:txBody>
      </p:sp>
      <p:sp>
        <p:nvSpPr>
          <p:cNvPr id="6" name="Левая фигурная скобка 6">
            <a:extLst>
              <a:ext uri="{FF2B5EF4-FFF2-40B4-BE49-F238E27FC236}">
                <a16:creationId xmlns:a16="http://schemas.microsoft.com/office/drawing/2014/main" id="{70697599-41EC-4C1E-8740-332DB0A2A00E}"/>
              </a:ext>
            </a:extLst>
          </p:cNvPr>
          <p:cNvSpPr/>
          <p:nvPr/>
        </p:nvSpPr>
        <p:spPr>
          <a:xfrm>
            <a:off x="4869043" y="2843028"/>
            <a:ext cx="144143" cy="884415"/>
          </a:xfrm>
          <a:prstGeom prst="leftBrace">
            <a:avLst>
              <a:gd name="adj1" fmla="val 69287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209828-AB7F-4638-8583-EE1DDB88EC9B}"/>
              </a:ext>
            </a:extLst>
          </p:cNvPr>
          <p:cNvSpPr txBox="1"/>
          <p:nvPr/>
        </p:nvSpPr>
        <p:spPr>
          <a:xfrm>
            <a:off x="4708322" y="2843028"/>
            <a:ext cx="35800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1" indent="0"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</a:rPr>
              <a:t>None</a:t>
            </a:r>
            <a:r>
              <a:rPr lang="en-US" sz="2000" dirty="0"/>
              <a:t> 	</a:t>
            </a:r>
            <a:r>
              <a:rPr lang="en-US" sz="2000" dirty="0">
                <a:solidFill>
                  <a:schemeClr val="accent1"/>
                </a:solidFill>
              </a:rPr>
              <a:t>=</a:t>
            </a:r>
            <a:r>
              <a:rPr lang="en-US" sz="2000" dirty="0"/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</a:rPr>
              <a:t>0x0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627D30-0ACD-4174-A3BF-55C235C050A0}"/>
              </a:ext>
            </a:extLst>
          </p:cNvPr>
          <p:cNvSpPr txBox="1"/>
          <p:nvPr/>
        </p:nvSpPr>
        <p:spPr>
          <a:xfrm>
            <a:off x="4708322" y="3363364"/>
            <a:ext cx="59708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1" indent="0"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</a:rPr>
              <a:t>Some</a:t>
            </a:r>
            <a:r>
              <a:rPr lang="en-US" sz="2000" dirty="0">
                <a:solidFill>
                  <a:schemeClr val="accent1"/>
                </a:solidFill>
              </a:rPr>
              <a:t>(&amp;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</a:rPr>
              <a:t>u</a:t>
            </a:r>
            <a:r>
              <a:rPr lang="en-US" sz="2000" dirty="0">
                <a:solidFill>
                  <a:schemeClr val="accent1"/>
                </a:solidFill>
              </a:rPr>
              <a:t>)</a:t>
            </a:r>
            <a:r>
              <a:rPr lang="en-US" sz="2000" dirty="0"/>
              <a:t> 	</a:t>
            </a:r>
            <a:r>
              <a:rPr lang="en-US" sz="2000" dirty="0">
                <a:solidFill>
                  <a:schemeClr val="accent1"/>
                </a:solidFill>
              </a:rPr>
              <a:t>=</a:t>
            </a:r>
            <a:r>
              <a:rPr lang="en-US" sz="2000" dirty="0"/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</a:rPr>
              <a:t>addr_of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</a:rPr>
              <a:t>!</a:t>
            </a:r>
            <a:r>
              <a:rPr lang="en-US" sz="2000" dirty="0">
                <a:solidFill>
                  <a:schemeClr val="accent1"/>
                </a:solidFill>
              </a:rPr>
              <a:t>(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</a:rPr>
              <a:t>u</a:t>
            </a:r>
            <a:r>
              <a:rPr lang="en-US" sz="2000" dirty="0">
                <a:solidFill>
                  <a:schemeClr val="accent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7254514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80BD59-BDCB-4ADD-B6F9-E4B55BC23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774"/>
            <a:ext cx="10515600" cy="1325563"/>
          </a:xfrm>
        </p:spPr>
        <p:txBody>
          <a:bodyPr/>
          <a:lstStyle/>
          <a:p>
            <a:r>
              <a:rPr lang="en-US" dirty="0"/>
              <a:t>C++ status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240A02-F401-47FA-8E3F-B4C7655FD9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7213"/>
            <a:ext cx="10515600" cy="4415021"/>
          </a:xfrm>
        </p:spPr>
        <p:txBody>
          <a:bodyPr>
            <a:normAutofit/>
          </a:bodyPr>
          <a:lstStyle/>
          <a:p>
            <a:r>
              <a:rPr lang="en-US" dirty="0"/>
              <a:t>std::optional and std::variant do not optimize for niches</a:t>
            </a:r>
          </a:p>
          <a:p>
            <a:pPr lvl="1"/>
            <a:r>
              <a:rPr lang="en-US" dirty="0"/>
              <a:t>Analog of std::optional with niched tags </a:t>
            </a:r>
            <a:r>
              <a:rPr lang="en-US" dirty="0">
                <a:hlinkClick r:id="rId2"/>
              </a:rPr>
              <a:t>can be implemented</a:t>
            </a:r>
            <a:endParaRPr lang="ru-RU" dirty="0"/>
          </a:p>
          <a:p>
            <a:r>
              <a:rPr lang="en-US" dirty="0" err="1"/>
              <a:t>llvm</a:t>
            </a:r>
            <a:r>
              <a:rPr lang="en-US" dirty="0"/>
              <a:t>::</a:t>
            </a:r>
            <a:r>
              <a:rPr lang="en-US" dirty="0" err="1"/>
              <a:t>PointerIntPair</a:t>
            </a:r>
            <a:endParaRPr lang="ru-RU" dirty="0"/>
          </a:p>
          <a:p>
            <a:pPr lvl="1"/>
            <a:r>
              <a:rPr lang="en-US" dirty="0"/>
              <a:t>Uses lower pointer bits to store int value</a:t>
            </a:r>
          </a:p>
          <a:p>
            <a:pPr lvl="1"/>
            <a:r>
              <a:rPr lang="en-US" dirty="0"/>
              <a:t>Similar to -</a:t>
            </a:r>
            <a:r>
              <a:rPr lang="en-US" dirty="0" err="1"/>
              <a:t>Zreference</a:t>
            </a:r>
            <a:r>
              <a:rPr lang="en-US" dirty="0"/>
              <a:t>-niches in Rust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Lock-free</a:t>
            </a:r>
            <a:r>
              <a:rPr lang="ru-RU" dirty="0"/>
              <a:t> </a:t>
            </a:r>
            <a:r>
              <a:rPr lang="en-US" dirty="0"/>
              <a:t>implementations of atomic </a:t>
            </a:r>
            <a:r>
              <a:rPr lang="en-US" dirty="0" err="1"/>
              <a:t>shared_ptr</a:t>
            </a:r>
            <a:r>
              <a:rPr lang="en-US" dirty="0"/>
              <a:t> </a:t>
            </a:r>
            <a:r>
              <a:rPr lang="ru-RU" dirty="0"/>
              <a:t>(</a:t>
            </a:r>
            <a:r>
              <a:rPr lang="en-US" dirty="0"/>
              <a:t>e.g.</a:t>
            </a:r>
            <a:r>
              <a:rPr lang="ru-RU" dirty="0"/>
              <a:t> </a:t>
            </a:r>
            <a:r>
              <a:rPr lang="en-US" dirty="0"/>
              <a:t>in</a:t>
            </a:r>
            <a:r>
              <a:rPr lang="ru-RU" dirty="0"/>
              <a:t> </a:t>
            </a:r>
            <a:r>
              <a:rPr lang="en-US" dirty="0"/>
              <a:t>Folly) use free address bits for reference count</a:t>
            </a:r>
          </a:p>
          <a:p>
            <a:pPr lvl="1"/>
            <a:r>
              <a:rPr lang="en-US" dirty="0"/>
              <a:t>Allows for shorter and faster atomic operations</a:t>
            </a:r>
          </a:p>
          <a:p>
            <a:pPr lvl="1"/>
            <a:endParaRPr lang="en-US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E47E153-81AE-4945-B7B3-6765524904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272" y="5340959"/>
            <a:ext cx="4285387" cy="1311201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D2E0179-1F89-4986-AC5E-3EBC461197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2509" y="3574723"/>
            <a:ext cx="3616754" cy="51926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A7A437-7968-4A3E-8F87-6B7C0E5A5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79789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447" y="239412"/>
            <a:ext cx="10515600" cy="1325563"/>
          </a:xfrm>
        </p:spPr>
        <p:txBody>
          <a:bodyPr/>
          <a:lstStyle/>
          <a:p>
            <a:r>
              <a:rPr lang="en-US" dirty="0"/>
              <a:t>Overheads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108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D2DAB8-B45F-42E5-9817-D0D5DFE9D6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1751" y="1428450"/>
            <a:ext cx="6159874" cy="49279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410FCF7-07AB-497A-8D33-1BB235BAF11F}"/>
              </a:ext>
            </a:extLst>
          </p:cNvPr>
          <p:cNvSpPr txBox="1"/>
          <p:nvPr/>
        </p:nvSpPr>
        <p:spPr>
          <a:xfrm>
            <a:off x="8964705" y="1676401"/>
            <a:ext cx="313764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Disabled </a:t>
            </a:r>
            <a:r>
              <a:rPr lang="en-US" sz="2400" dirty="0" err="1"/>
              <a:t>shouldMergeGEPs</a:t>
            </a:r>
            <a:r>
              <a:rPr lang="en-US" sz="2400" dirty="0"/>
              <a:t> and store merging as they were too sensitive to field order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5BF463-7907-4C1D-A88C-2FDDDA07000D}"/>
              </a:ext>
            </a:extLst>
          </p:cNvPr>
          <p:cNvSpPr txBox="1"/>
          <p:nvPr/>
        </p:nvSpPr>
        <p:spPr>
          <a:xfrm>
            <a:off x="71717" y="6488668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Compiler patch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073935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867C6B-B24F-4F5B-BC3D-DA6106020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AC8C062-874D-41F1-88BA-84445EF488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Rust does not guarantee order of fields in structs</a:t>
            </a:r>
            <a:endParaRPr lang="ru-RU" dirty="0"/>
          </a:p>
          <a:p>
            <a:pPr lvl="1"/>
            <a:r>
              <a:rPr lang="en-US" dirty="0"/>
              <a:t>Allows more aggressive optimizations</a:t>
            </a:r>
            <a:endParaRPr lang="ru-RU" dirty="0"/>
          </a:p>
          <a:p>
            <a:pPr lvl="1"/>
            <a:r>
              <a:rPr lang="en-US" dirty="0"/>
              <a:t>And care in unsafe code</a:t>
            </a:r>
            <a:endParaRPr lang="ru-RU" dirty="0"/>
          </a:p>
          <a:p>
            <a:r>
              <a:rPr lang="en-US" dirty="0"/>
              <a:t>Compiler may aggressively reorder fields and use them for tags</a:t>
            </a:r>
          </a:p>
          <a:p>
            <a:pPr lvl="1"/>
            <a:r>
              <a:rPr lang="en-US" dirty="0"/>
              <a:t>Analogous optimizations can be done manually in C++</a:t>
            </a:r>
          </a:p>
          <a:p>
            <a:r>
              <a:rPr lang="en-US" dirty="0"/>
              <a:t>Field reordering in itself does not significantly affect performance but can enable or disable other important optimizations</a:t>
            </a:r>
          </a:p>
          <a:p>
            <a:pPr lvl="1"/>
            <a:r>
              <a:rPr lang="en-US" dirty="0"/>
              <a:t>Both in compiler and in processor</a:t>
            </a:r>
            <a:endParaRPr lang="ru-RU" dirty="0"/>
          </a:p>
          <a:p>
            <a:pPr lvl="1"/>
            <a:r>
              <a:rPr lang="en-US" dirty="0"/>
              <a:t>With both positive and negative performance effects</a:t>
            </a:r>
            <a:endParaRPr lang="ru-RU" dirty="0"/>
          </a:p>
          <a:p>
            <a:pPr lvl="1"/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CDD16-83C7-4AA3-97CB-945285847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98726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Recommended readings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The Lost Art of Structure Packing</a:t>
            </a:r>
            <a:r>
              <a:rPr lang="en-US" dirty="0"/>
              <a:t> (by ESR)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921647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 checks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FF772-26C0-4B3E-964B-0964EB9F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AF227E-BB3F-417F-927F-816FDDD63561}"/>
              </a:ext>
            </a:extLst>
          </p:cNvPr>
          <p:cNvSpPr txBox="1"/>
          <p:nvPr/>
        </p:nvSpPr>
        <p:spPr>
          <a:xfrm>
            <a:off x="180975" y="6356350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Detailed analysis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161589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679968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Arithmetic overflows may cause serious system crashes</a:t>
            </a:r>
          </a:p>
          <a:p>
            <a:pPr lvl="1"/>
            <a:r>
              <a:rPr lang="en-US" dirty="0"/>
              <a:t>~1% CVE and</a:t>
            </a:r>
            <a:r>
              <a:rPr lang="ru-RU" dirty="0"/>
              <a:t> 1.5% </a:t>
            </a:r>
            <a:r>
              <a:rPr lang="en-US" dirty="0"/>
              <a:t>KEV in</a:t>
            </a:r>
            <a:r>
              <a:rPr lang="ru-RU" dirty="0"/>
              <a:t> 2024</a:t>
            </a:r>
          </a:p>
          <a:p>
            <a:pPr lvl="1"/>
            <a:r>
              <a:rPr lang="en-US" dirty="0"/>
              <a:t>23 place in </a:t>
            </a:r>
            <a:r>
              <a:rPr lang="en-US" dirty="0" err="1">
                <a:hlinkClick r:id="rId2"/>
              </a:rPr>
              <a:t>Mitre</a:t>
            </a:r>
            <a:r>
              <a:rPr lang="en-US" dirty="0">
                <a:hlinkClick r:id="rId2"/>
              </a:rPr>
              <a:t> CWE Top 25 2024</a:t>
            </a:r>
            <a:r>
              <a:rPr lang="en-US" dirty="0"/>
              <a:t> (8 in</a:t>
            </a:r>
            <a:r>
              <a:rPr lang="ru-RU" dirty="0"/>
              <a:t> </a:t>
            </a:r>
            <a:r>
              <a:rPr lang="en-US" dirty="0">
                <a:hlinkClick r:id="rId3"/>
              </a:rPr>
              <a:t>2019 rating</a:t>
            </a:r>
            <a:r>
              <a:rPr lang="en-US" dirty="0"/>
              <a:t>)</a:t>
            </a:r>
          </a:p>
          <a:p>
            <a:r>
              <a:rPr lang="en-US" dirty="0"/>
              <a:t>Well-known incidents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Therac-25 </a:t>
            </a:r>
            <a:r>
              <a:rPr lang="en-US" dirty="0"/>
              <a:t>radiation therapy machine (1985)</a:t>
            </a:r>
            <a:endParaRPr lang="ru-RU" dirty="0"/>
          </a:p>
          <a:p>
            <a:pPr lvl="1"/>
            <a:r>
              <a:rPr lang="ru-RU" dirty="0"/>
              <a:t>Ariane 5 </a:t>
            </a:r>
            <a:r>
              <a:rPr lang="en-US" dirty="0"/>
              <a:t>catastrophe (1996)</a:t>
            </a:r>
          </a:p>
          <a:p>
            <a:r>
              <a:rPr lang="en-US" dirty="0"/>
              <a:t>History (pre-Rust):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ftrapv</a:t>
            </a:r>
            <a:r>
              <a:rPr lang="ru-RU" dirty="0"/>
              <a:t> </a:t>
            </a:r>
            <a:r>
              <a:rPr lang="en-US" dirty="0"/>
              <a:t>added in 2000 in GCC </a:t>
            </a:r>
            <a:r>
              <a:rPr lang="ru-RU" dirty="0"/>
              <a:t>(</a:t>
            </a:r>
            <a:r>
              <a:rPr lang="en-US" dirty="0">
                <a:hlinkClick r:id="rId4"/>
              </a:rPr>
              <a:t>patch for -</a:t>
            </a:r>
            <a:r>
              <a:rPr lang="en-US" dirty="0" err="1">
                <a:hlinkClick r:id="rId4"/>
              </a:rPr>
              <a:t>ftrapv</a:t>
            </a:r>
            <a:r>
              <a:rPr lang="en-US" dirty="0">
                <a:hlinkClick r:id="rId4"/>
              </a:rPr>
              <a:t> option</a:t>
            </a:r>
            <a:r>
              <a:rPr lang="ru-RU" dirty="0"/>
              <a:t>)</a:t>
            </a:r>
          </a:p>
          <a:p>
            <a:pPr lvl="2"/>
            <a:r>
              <a:rPr lang="en-US" dirty="0"/>
              <a:t>Wasn’t well maintained and rotted quickly </a:t>
            </a:r>
            <a:r>
              <a:rPr lang="ru-RU" dirty="0"/>
              <a:t>(</a:t>
            </a:r>
            <a:r>
              <a:rPr lang="en-US" dirty="0"/>
              <a:t>e.g. </a:t>
            </a:r>
            <a:r>
              <a:rPr lang="en-US" dirty="0">
                <a:hlinkClick r:id="rId5"/>
              </a:rPr>
              <a:t>BZ #35412</a:t>
            </a:r>
            <a:r>
              <a:rPr lang="en-US" dirty="0"/>
              <a:t> opened </a:t>
            </a:r>
            <a:r>
              <a:rPr lang="ru-RU" dirty="0"/>
              <a:t>2008</a:t>
            </a:r>
            <a:r>
              <a:rPr lang="en-US" dirty="0"/>
              <a:t> and still not fixed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John Regehr</a:t>
            </a:r>
            <a:r>
              <a:rPr lang="en-US" dirty="0"/>
              <a:t>’s works on IOC checker</a:t>
            </a:r>
            <a:r>
              <a:rPr lang="ru-RU" dirty="0"/>
              <a:t> </a:t>
            </a:r>
            <a:r>
              <a:rPr lang="en-US" dirty="0"/>
              <a:t>in</a:t>
            </a:r>
            <a:r>
              <a:rPr lang="ru-RU" dirty="0"/>
              <a:t> </a:t>
            </a:r>
            <a:r>
              <a:rPr lang="ru-RU" dirty="0">
                <a:hlinkClick r:id="rId6"/>
              </a:rPr>
              <a:t>2010</a:t>
            </a:r>
            <a:endParaRPr lang="ru-RU" dirty="0"/>
          </a:p>
          <a:p>
            <a:pPr lvl="1"/>
            <a:r>
              <a:rPr lang="ru-RU" dirty="0"/>
              <a:t>UBsan </a:t>
            </a:r>
            <a:r>
              <a:rPr lang="en-US" dirty="0"/>
              <a:t>created in </a:t>
            </a:r>
            <a:r>
              <a:rPr lang="ru-RU" dirty="0"/>
              <a:t>2014</a:t>
            </a:r>
          </a:p>
          <a:p>
            <a:pPr lvl="2"/>
            <a:r>
              <a:rPr lang="en-US" dirty="0"/>
              <a:t>S</a:t>
            </a:r>
            <a:r>
              <a:rPr lang="ru-RU" dirty="0"/>
              <a:t>tate-of-the-art</a:t>
            </a:r>
            <a:r>
              <a:rPr lang="en-US" dirty="0"/>
              <a:t> solution</a:t>
            </a:r>
          </a:p>
          <a:p>
            <a:r>
              <a:rPr lang="en-US" dirty="0"/>
              <a:t>Additional info:</a:t>
            </a:r>
          </a:p>
          <a:p>
            <a:pPr lvl="1"/>
            <a:r>
              <a:rPr lang="en-US" dirty="0">
                <a:hlinkClick r:id="rId7"/>
              </a:rPr>
              <a:t>Hardening: current status and trends</a:t>
            </a:r>
            <a:r>
              <a:rPr lang="en-US" dirty="0"/>
              <a:t> (C++ Zero Cost 2026)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CA8122-6D8A-4DA6-8226-D3412DBE54D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4094" y="4891274"/>
            <a:ext cx="2909706" cy="13255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5D96766-630C-4DEC-BE4E-73C894214D8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8780" y="1189982"/>
            <a:ext cx="2205020" cy="223901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0B82B62-37D7-4560-9439-FCF4D8945A73}"/>
              </a:ext>
            </a:extLst>
          </p:cNvPr>
          <p:cNvSpPr txBox="1"/>
          <p:nvPr/>
        </p:nvSpPr>
        <p:spPr>
          <a:xfrm>
            <a:off x="85535" y="6492875"/>
            <a:ext cx="2777185" cy="27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J.R. Armstrong, </a:t>
            </a:r>
            <a:r>
              <a:rPr lang="en-US" sz="1200" dirty="0">
                <a:hlinkClick r:id="rId10"/>
              </a:rPr>
              <a:t>Famous Failures Revisited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3578281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F8B44-9846-43A7-A173-784CB989F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error </a:t>
            </a:r>
            <a:r>
              <a:rPr lang="ru-RU" dirty="0"/>
              <a:t>(</a:t>
            </a:r>
            <a:r>
              <a:rPr lang="en-US" dirty="0"/>
              <a:t>OpenSSH 3.3)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750C9-4C10-4C05-A6C0-DE2E817A30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nresp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packet_get_int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nresp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// Overflow to zero </a:t>
            </a:r>
            <a:r>
              <a:rPr lang="ru-RU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...</a:t>
            </a:r>
          </a:p>
          <a:p>
            <a:pPr marL="0" indent="0">
              <a:buNone/>
            </a:pPr>
            <a:r>
              <a:rPr lang="ru-RU" sz="20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response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xmalloc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nresp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sizeof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char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*)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// ... and cause heap buffer overflow here</a:t>
            </a:r>
            <a:endParaRPr lang="ru-RU" sz="2000" dirty="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ru-RU" sz="20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nresp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++)</a:t>
            </a: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response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packet_get_string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NULL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40DB8-9481-45E9-893B-0D224EDAB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77AC13-74B0-42BB-979A-B4FD3BCA574B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65713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33C9C-A714-4725-8C8D-B0EA781B4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Default arithmetic checks in 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8C00C1-408C-4B5B-992B-D5E9B1760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Some (not very important</a:t>
            </a:r>
            <a:r>
              <a:rPr lang="ru-RU" dirty="0"/>
              <a:t>...) </a:t>
            </a:r>
            <a:r>
              <a:rPr lang="en-US" dirty="0"/>
              <a:t>arithmetic checks enabled by default</a:t>
            </a:r>
          </a:p>
          <a:p>
            <a:pPr lvl="1"/>
            <a:r>
              <a:rPr lang="en-US" dirty="0"/>
              <a:t>Division by zero</a:t>
            </a:r>
            <a:endParaRPr lang="ru-RU" dirty="0"/>
          </a:p>
          <a:p>
            <a:pPr lvl="1"/>
            <a:r>
              <a:rPr lang="en-US" dirty="0"/>
              <a:t>Signed overflow on division 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INT_MIN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/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-1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Float-to-integer saturation</a:t>
            </a:r>
            <a:endParaRPr lang="ru-RU" dirty="0"/>
          </a:p>
          <a:p>
            <a:pPr lvl="2"/>
            <a:r>
              <a:rPr lang="en-US" dirty="0"/>
              <a:t>Can be disabled via -</a:t>
            </a:r>
            <a:r>
              <a:rPr lang="en-US" dirty="0" err="1"/>
              <a:t>Zsaturating</a:t>
            </a:r>
            <a:r>
              <a:rPr lang="en-US" dirty="0"/>
              <a:t>-float-casts=off</a:t>
            </a:r>
          </a:p>
          <a:p>
            <a:r>
              <a:rPr lang="en-US" dirty="0"/>
              <a:t>Integer overflows in </a:t>
            </a:r>
            <a:r>
              <a:rPr lang="en-US" dirty="0" err="1"/>
              <a:t>stdlib</a:t>
            </a:r>
            <a:r>
              <a:rPr lang="en-US" dirty="0"/>
              <a:t> containers</a:t>
            </a:r>
          </a:p>
          <a:p>
            <a:pPr lvl="1"/>
            <a:r>
              <a:rPr lang="en-US" dirty="0"/>
              <a:t>Via assert!, </a:t>
            </a:r>
            <a:r>
              <a:rPr lang="en-US" dirty="0" err="1"/>
              <a:t>checked_add</a:t>
            </a:r>
            <a:r>
              <a:rPr lang="en-US" dirty="0"/>
              <a:t>, etc.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4152E-ABFD-484B-8B62-D7E0E23D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7793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33C9C-A714-4725-8C8D-B0EA781B4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missing checks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8C00C1-408C-4B5B-992B-D5E9B1760A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9000"/>
            <a:ext cx="10515600" cy="2199528"/>
          </a:xfrm>
        </p:spPr>
        <p:txBody>
          <a:bodyPr>
            <a:normAutofit/>
          </a:bodyPr>
          <a:lstStyle/>
          <a:p>
            <a:r>
              <a:rPr lang="en-US" dirty="0"/>
              <a:t>For historical reasons some important checks are missing</a:t>
            </a:r>
          </a:p>
          <a:p>
            <a:pPr lvl="1"/>
            <a:r>
              <a:rPr lang="en-US" dirty="0"/>
              <a:t>And can’t even be enabled via flag</a:t>
            </a:r>
          </a:p>
          <a:p>
            <a:r>
              <a:rPr lang="en-US" dirty="0"/>
              <a:t>E.g. overflow check on casing types via </a:t>
            </a:r>
            <a:r>
              <a:rPr lang="en-US" dirty="0">
                <a:solidFill>
                  <a:srgbClr val="C00000"/>
                </a:solidFill>
              </a:rPr>
              <a:t>as</a:t>
            </a:r>
          </a:p>
          <a:p>
            <a:pPr lvl="1"/>
            <a:r>
              <a:rPr lang="en-US" dirty="0"/>
              <a:t>Need to use other APIs like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try_into</a:t>
            </a:r>
            <a:r>
              <a:rPr lang="en-US" dirty="0"/>
              <a:t>/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try_from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4152E-ABFD-484B-8B62-D7E0E23D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115</a:t>
            </a:fld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8E90D6-CAEB-4AC3-A2B3-B268B59886E9}"/>
              </a:ext>
            </a:extLst>
          </p:cNvPr>
          <p:cNvSpPr txBox="1"/>
          <p:nvPr/>
        </p:nvSpPr>
        <p:spPr>
          <a:xfrm>
            <a:off x="1186190" y="3638663"/>
            <a:ext cx="247392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main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ru-RU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0x100i32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as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i8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193891-4A98-401A-B939-7BA8B6FF42DC}"/>
              </a:ext>
            </a:extLst>
          </p:cNvPr>
          <p:cNvSpPr txBox="1"/>
          <p:nvPr/>
        </p:nvSpPr>
        <p:spPr>
          <a:xfrm>
            <a:off x="5774605" y="5032911"/>
            <a:ext cx="522123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$ ./test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thread 'main' panicked at tmp57.rs:5:32: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called `Result::unwrap()` on an `Err` value: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TryFromIntError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(())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9825B1-5372-461C-8DD8-D5E01A8524C3}"/>
              </a:ext>
            </a:extLst>
          </p:cNvPr>
          <p:cNvSpPr txBox="1"/>
          <p:nvPr/>
        </p:nvSpPr>
        <p:spPr>
          <a:xfrm>
            <a:off x="5763298" y="3638663"/>
            <a:ext cx="422137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use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convert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TryFrom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sz="1600" dirty="0">
              <a:solidFill>
                <a:srgbClr val="C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main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ru-RU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i8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try_from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0x100i32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unwrap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13D70A-BE70-48C0-A7B0-8AE3EAE23DC2}"/>
              </a:ext>
            </a:extLst>
          </p:cNvPr>
          <p:cNvSpPr txBox="1"/>
          <p:nvPr/>
        </p:nvSpPr>
        <p:spPr>
          <a:xfrm>
            <a:off x="1186190" y="5032911"/>
            <a:ext cx="19414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$ ./test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389021574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33C9C-A714-4725-8C8D-B0EA781B4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Integer overflow checks in 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8C00C1-408C-4B5B-992B-D5E9B1760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By default integer overflows in user code are checked only in debug builds</a:t>
            </a:r>
            <a:endParaRPr lang="ru-RU" dirty="0"/>
          </a:p>
          <a:p>
            <a:r>
              <a:rPr lang="en-US" dirty="0"/>
              <a:t>Two’s complement semantics in</a:t>
            </a:r>
            <a:r>
              <a:rPr lang="ru-RU" dirty="0"/>
              <a:t> </a:t>
            </a:r>
            <a:r>
              <a:rPr lang="en-US" dirty="0"/>
              <a:t>release</a:t>
            </a:r>
            <a:endParaRPr lang="ru-RU" dirty="0"/>
          </a:p>
          <a:p>
            <a:r>
              <a:rPr lang="en-US" dirty="0"/>
              <a:t>Can be enabled in release via -C overflow-checks=on</a:t>
            </a:r>
          </a:p>
          <a:p>
            <a:r>
              <a:rPr lang="en-US" dirty="0"/>
              <a:t>Reason: too large overheads</a:t>
            </a:r>
          </a:p>
          <a:p>
            <a:pPr lvl="1"/>
            <a:r>
              <a:rPr lang="en-US" dirty="0"/>
              <a:t>“Plan is to turn on checking by default </a:t>
            </a:r>
            <a:r>
              <a:rPr lang="en-US" i="1" dirty="0"/>
              <a:t>if</a:t>
            </a:r>
            <a:r>
              <a:rPr lang="en-US" dirty="0"/>
              <a:t> we can get the performance hit low enough and also that it should leave room in the future to move towards universal overflow checking if it becomes feasible” (</a:t>
            </a:r>
            <a:r>
              <a:rPr lang="en-US" dirty="0">
                <a:hlinkClick r:id="rId2"/>
              </a:rPr>
              <a:t>Niko </a:t>
            </a:r>
            <a:r>
              <a:rPr lang="en-US" dirty="0" err="1">
                <a:hlinkClick r:id="rId2"/>
              </a:rPr>
              <a:t>Matsakis</a:t>
            </a:r>
            <a:r>
              <a:rPr lang="en-US" dirty="0"/>
              <a:t>, co-lead of Rust language design team)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4152E-ABFD-484B-8B62-D7E0E23D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88921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33004"/>
            <a:ext cx="5939118" cy="1325563"/>
          </a:xfrm>
        </p:spPr>
        <p:txBody>
          <a:bodyPr/>
          <a:lstStyle/>
          <a:p>
            <a:r>
              <a:rPr lang="en-US" dirty="0"/>
              <a:t>Other overheads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549588" cy="4602069"/>
          </a:xfrm>
        </p:spPr>
        <p:txBody>
          <a:bodyPr>
            <a:normAutofit/>
          </a:bodyPr>
          <a:lstStyle/>
          <a:p>
            <a:r>
              <a:rPr lang="en-US" dirty="0"/>
              <a:t>Overheads for overflow checks:</a:t>
            </a:r>
          </a:p>
          <a:p>
            <a:pPr lvl="1"/>
            <a:r>
              <a:rPr lang="en-US" dirty="0"/>
              <a:t>Compare </a:t>
            </a:r>
            <a:r>
              <a:rPr lang="ru-RU" dirty="0"/>
              <a:t>+ </a:t>
            </a:r>
            <a:r>
              <a:rPr lang="en-US" dirty="0"/>
              <a:t>predictable conditional branch (1-</a:t>
            </a:r>
            <a:r>
              <a:rPr lang="ru-RU" dirty="0"/>
              <a:t>2 </a:t>
            </a:r>
            <a:r>
              <a:rPr lang="en-US" dirty="0"/>
              <a:t>ALU slots </a:t>
            </a:r>
            <a:r>
              <a:rPr lang="ru-RU" dirty="0"/>
              <a:t>+ </a:t>
            </a:r>
            <a:r>
              <a:rPr lang="en-US" dirty="0"/>
              <a:t>I$ pressure)</a:t>
            </a:r>
          </a:p>
          <a:p>
            <a:pPr lvl="1"/>
            <a:r>
              <a:rPr lang="en-US" dirty="0"/>
              <a:t>Hurt other optimizations (vectorizer, etc.)</a:t>
            </a:r>
          </a:p>
          <a:p>
            <a:r>
              <a:rPr lang="en-US" dirty="0"/>
              <a:t>The first (less important) issue could </a:t>
            </a:r>
            <a:r>
              <a:rPr lang="en-US" i="1" dirty="0">
                <a:hlinkClick r:id="rId2"/>
              </a:rPr>
              <a:t>potentially</a:t>
            </a:r>
            <a:r>
              <a:rPr lang="ru-RU" dirty="0"/>
              <a:t> </a:t>
            </a:r>
            <a:r>
              <a:rPr lang="en-US" dirty="0"/>
              <a:t>be fixed with </a:t>
            </a:r>
            <a:r>
              <a:rPr lang="en-US" dirty="0">
                <a:hlinkClick r:id="rId3"/>
              </a:rPr>
              <a:t>hardware support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02B543-B015-49AD-8000-A8D0A41AB3D0}"/>
              </a:ext>
            </a:extLst>
          </p:cNvPr>
          <p:cNvSpPr txBox="1"/>
          <p:nvPr/>
        </p:nvSpPr>
        <p:spPr>
          <a:xfrm>
            <a:off x="6485964" y="603995"/>
            <a:ext cx="486783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mut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AA9619-AF4F-4F0A-924D-408AAFCF88E2}"/>
              </a:ext>
            </a:extLst>
          </p:cNvPr>
          <p:cNvSpPr txBox="1"/>
          <p:nvPr/>
        </p:nvSpPr>
        <p:spPr>
          <a:xfrm>
            <a:off x="6338047" y="3079377"/>
            <a:ext cx="536089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$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rustc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... test.rs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...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.LBB0_5:</a:t>
            </a:r>
          </a:p>
          <a:p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// Loop successfully vectorized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movdqu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xmm2,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xmmword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paddd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xmm0, xmm2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   ...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$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rustc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... 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Coverflow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-checks=on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test.rs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...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.LBB0_3:</a:t>
            </a: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// Loop not vectorized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   add    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+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   jo      .LBB0_6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   add    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, 4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endParaRPr lang="en-US" sz="14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.LBB0_3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   ...</a:t>
            </a:r>
          </a:p>
          <a:p>
            <a:endParaRPr lang="en-US" sz="14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E131B7-299B-4B95-96D9-595E70699F2C}"/>
              </a:ext>
            </a:extLst>
          </p:cNvPr>
          <p:cNvSpPr txBox="1"/>
          <p:nvPr/>
        </p:nvSpPr>
        <p:spPr>
          <a:xfrm>
            <a:off x="8919881" y="3001966"/>
            <a:ext cx="23397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https://godbolt.org/z/1x49jffv3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62FA5D-FA1E-4D4D-8A67-59F03D663F6B}"/>
              </a:ext>
            </a:extLst>
          </p:cNvPr>
          <p:cNvSpPr txBox="1"/>
          <p:nvPr/>
        </p:nvSpPr>
        <p:spPr>
          <a:xfrm>
            <a:off x="9421906" y="5781363"/>
            <a:ext cx="23397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https://godbolt.org/z/43h1c87M5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357381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5586D-148C-4EA3-B4CF-8FC1CB809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Defined overflow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C6D7FC-BFD0-42F8-BB1D-6DC003D3B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627659" cy="4351338"/>
          </a:xfrm>
        </p:spPr>
        <p:txBody>
          <a:bodyPr>
            <a:normAutofit/>
          </a:bodyPr>
          <a:lstStyle/>
          <a:p>
            <a:r>
              <a:rPr lang="en-US" dirty="0"/>
              <a:t>Unlike C/C++ integer overflows are not Undefined Behavior</a:t>
            </a:r>
          </a:p>
          <a:p>
            <a:pPr lvl="1"/>
            <a:r>
              <a:rPr lang="en-US" dirty="0"/>
              <a:t>Panic or Two’s complement</a:t>
            </a:r>
          </a:p>
          <a:p>
            <a:r>
              <a:rPr lang="en-US" dirty="0"/>
              <a:t>This deprives optimizer of some important information</a:t>
            </a:r>
            <a:endParaRPr lang="ru-RU" dirty="0"/>
          </a:p>
          <a:p>
            <a:r>
              <a:rPr lang="en-US" dirty="0"/>
              <a:t>Can reduce precision of some analyses </a:t>
            </a:r>
            <a:r>
              <a:rPr lang="ru-RU" dirty="0"/>
              <a:t>(</a:t>
            </a:r>
            <a:r>
              <a:rPr lang="en-US" dirty="0"/>
              <a:t>especially </a:t>
            </a:r>
            <a:r>
              <a:rPr lang="en-US" dirty="0" err="1"/>
              <a:t>ScalarEvolution</a:t>
            </a:r>
            <a:r>
              <a:rPr lang="en-US" dirty="0"/>
              <a:t>)</a:t>
            </a:r>
            <a:r>
              <a:rPr lang="ru-RU" dirty="0"/>
              <a:t> </a:t>
            </a:r>
            <a:r>
              <a:rPr lang="en-US" dirty="0"/>
              <a:t>and disable some optimizations in LLVM</a:t>
            </a:r>
          </a:p>
          <a:p>
            <a:pPr lvl="1"/>
            <a:r>
              <a:rPr lang="en-US" dirty="0"/>
              <a:t>See</a:t>
            </a:r>
            <a:r>
              <a:rPr lang="ru-RU" dirty="0"/>
              <a:t> </a:t>
            </a:r>
            <a:r>
              <a:rPr lang="en-US" dirty="0">
                <a:hlinkClick r:id="rId2"/>
              </a:rPr>
              <a:t>How undefined signed overflow enables optimizations in GCC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15EE7C-4206-4423-BB92-4F37A5CB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48922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5586D-148C-4EA3-B4CF-8FC1CB809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261" y="-25117"/>
            <a:ext cx="10515600" cy="1325563"/>
          </a:xfrm>
        </p:spPr>
        <p:txBody>
          <a:bodyPr/>
          <a:lstStyle/>
          <a:p>
            <a:r>
              <a:rPr lang="en-US" dirty="0"/>
              <a:t>Defined overflow: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15EE7C-4206-4423-BB92-4F37A5CB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B17318-6482-4635-B866-055763A9C04D}"/>
              </a:ext>
            </a:extLst>
          </p:cNvPr>
          <p:cNvSpPr txBox="1"/>
          <p:nvPr/>
        </p:nvSpPr>
        <p:spPr>
          <a:xfrm>
            <a:off x="1151965" y="1173897"/>
            <a:ext cx="318023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(;;)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c1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c1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!=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c1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++;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++;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DE34ED-2437-4E03-8E59-C8A47EE38109}"/>
              </a:ext>
            </a:extLst>
          </p:cNvPr>
          <p:cNvSpPr txBox="1"/>
          <p:nvPr/>
        </p:nvSpPr>
        <p:spPr>
          <a:xfrm>
            <a:off x="962587" y="3443764"/>
            <a:ext cx="4416238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loop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c1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unsafe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*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buf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get_unchecked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as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</a:rPr>
              <a:t>usize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as 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unsafe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*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buf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get_unchecked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as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</a:rPr>
              <a:t>usize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as 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!=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-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+=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+=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4BD1FB-0101-4DE0-AAFD-CC2338E1D882}"/>
              </a:ext>
            </a:extLst>
          </p:cNvPr>
          <p:cNvSpPr txBox="1"/>
          <p:nvPr/>
        </p:nvSpPr>
        <p:spPr>
          <a:xfrm>
            <a:off x="5969372" y="1420118"/>
            <a:ext cx="47087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.LBB0_1: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</a:t>
            </a:r>
            <a:r>
              <a:rPr lang="en-US" sz="1600" dirty="0" err="1">
                <a:latin typeface="Consolas" panose="020B0609020204030204" pitchFamily="49" charset="0"/>
              </a:rPr>
              <a:t>movzx</a:t>
            </a:r>
            <a:r>
              <a:rPr lang="en-US" sz="1600" dirty="0">
                <a:latin typeface="Consolas" panose="020B0609020204030204" pitchFamily="49" charset="0"/>
              </a:rPr>
              <a:t>   </a:t>
            </a:r>
            <a:r>
              <a:rPr lang="en-US" sz="1600" dirty="0" err="1">
                <a:latin typeface="Consolas" panose="020B0609020204030204" pitchFamily="49" charset="0"/>
              </a:rPr>
              <a:t>eax</a:t>
            </a:r>
            <a:r>
              <a:rPr lang="en-US" sz="1600" dirty="0">
                <a:latin typeface="Consolas" panose="020B0609020204030204" pitchFamily="49" charset="0"/>
              </a:rPr>
              <a:t>, byte </a:t>
            </a:r>
            <a:r>
              <a:rPr lang="en-US" sz="1600" dirty="0" err="1">
                <a:latin typeface="Consolas" panose="020B06090202040302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</a:rPr>
              <a:t> [</a:t>
            </a:r>
            <a:r>
              <a:rPr lang="en-US" sz="1600" dirty="0" err="1">
                <a:latin typeface="Consolas" panose="020B0609020204030204" pitchFamily="49" charset="0"/>
              </a:rPr>
              <a:t>rdx</a:t>
            </a:r>
            <a:r>
              <a:rPr lang="en-US" sz="1600" dirty="0">
                <a:latin typeface="Consolas" panose="020B0609020204030204" pitchFamily="49" charset="0"/>
              </a:rPr>
              <a:t> + </a:t>
            </a:r>
            <a:r>
              <a:rPr lang="en-US" sz="1600" dirty="0" err="1">
                <a:latin typeface="Consolas" panose="020B0609020204030204" pitchFamily="49" charset="0"/>
              </a:rPr>
              <a:t>rsi</a:t>
            </a:r>
            <a:r>
              <a:rPr lang="en-US" sz="1600" dirty="0">
                <a:latin typeface="Consolas" panose="020B0609020204030204" pitchFamily="49" charset="0"/>
              </a:rPr>
              <a:t>]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</a:t>
            </a:r>
            <a:r>
              <a:rPr lang="en-US" sz="1600" dirty="0" err="1">
                <a:latin typeface="Consolas" panose="020B0609020204030204" pitchFamily="49" charset="0"/>
              </a:rPr>
              <a:t>movzx</a:t>
            </a:r>
            <a:r>
              <a:rPr lang="en-US" sz="1600" dirty="0">
                <a:latin typeface="Consolas" panose="020B0609020204030204" pitchFamily="49" charset="0"/>
              </a:rPr>
              <a:t>   </a:t>
            </a:r>
            <a:r>
              <a:rPr lang="en-US" sz="1600" dirty="0" err="1">
                <a:latin typeface="Consolas" panose="020B0609020204030204" pitchFamily="49" charset="0"/>
              </a:rPr>
              <a:t>edi</a:t>
            </a:r>
            <a:r>
              <a:rPr lang="en-US" sz="1600" dirty="0">
                <a:latin typeface="Consolas" panose="020B0609020204030204" pitchFamily="49" charset="0"/>
              </a:rPr>
              <a:t>, byte </a:t>
            </a:r>
            <a:r>
              <a:rPr lang="en-US" sz="1600" dirty="0" err="1">
                <a:latin typeface="Consolas" panose="020B06090202040302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</a:rPr>
              <a:t> [</a:t>
            </a:r>
            <a:r>
              <a:rPr lang="en-US" sz="1600" dirty="0" err="1">
                <a:latin typeface="Consolas" panose="020B0609020204030204" pitchFamily="49" charset="0"/>
              </a:rPr>
              <a:t>rdx</a:t>
            </a:r>
            <a:r>
              <a:rPr lang="en-US" sz="1600" dirty="0">
                <a:latin typeface="Consolas" panose="020B0609020204030204" pitchFamily="49" charset="0"/>
              </a:rPr>
              <a:t> + </a:t>
            </a:r>
            <a:r>
              <a:rPr lang="en-US" sz="1600" dirty="0" err="1">
                <a:latin typeface="Consolas" panose="020B0609020204030204" pitchFamily="49" charset="0"/>
              </a:rPr>
              <a:t>rcx</a:t>
            </a:r>
            <a:r>
              <a:rPr lang="en-US" sz="1600" dirty="0">
                <a:latin typeface="Consolas" panose="020B0609020204030204" pitchFamily="49" charset="0"/>
              </a:rPr>
              <a:t>]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</a:t>
            </a:r>
            <a:r>
              <a:rPr lang="en-US" sz="1600" dirty="0" err="1">
                <a:latin typeface="Consolas" panose="020B0609020204030204" pitchFamily="49" charset="0"/>
              </a:rPr>
              <a:t>inc</a:t>
            </a:r>
            <a:r>
              <a:rPr lang="en-US" sz="1600" dirty="0">
                <a:latin typeface="Consolas" panose="020B0609020204030204" pitchFamily="49" charset="0"/>
              </a:rPr>
              <a:t>     </a:t>
            </a:r>
            <a:r>
              <a:rPr lang="en-US" sz="1600" dirty="0" err="1">
                <a:latin typeface="Consolas" panose="020B0609020204030204" pitchFamily="49" charset="0"/>
              </a:rPr>
              <a:t>rdx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</a:t>
            </a:r>
            <a:r>
              <a:rPr lang="en-US" sz="1600" dirty="0" err="1">
                <a:latin typeface="Consolas" panose="020B0609020204030204" pitchFamily="49" charset="0"/>
              </a:rPr>
              <a:t>cmp</a:t>
            </a:r>
            <a:r>
              <a:rPr lang="en-US" sz="1600" dirty="0">
                <a:latin typeface="Consolas" panose="020B0609020204030204" pitchFamily="49" charset="0"/>
              </a:rPr>
              <a:t>     al, </a:t>
            </a:r>
            <a:r>
              <a:rPr lang="en-US" sz="1600" dirty="0" err="1">
                <a:latin typeface="Consolas" panose="020B0609020204030204" pitchFamily="49" charset="0"/>
              </a:rPr>
              <a:t>dil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je      .LBB0_1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1C22D4-0F77-4838-AF60-3869970B01CA}"/>
              </a:ext>
            </a:extLst>
          </p:cNvPr>
          <p:cNvSpPr txBox="1"/>
          <p:nvPr/>
        </p:nvSpPr>
        <p:spPr>
          <a:xfrm>
            <a:off x="8414497" y="2474180"/>
            <a:ext cx="23039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https://godbolt.org/z/Yssq68Gja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517F46-6C5E-4A1B-9A25-A7C7E88C1990}"/>
              </a:ext>
            </a:extLst>
          </p:cNvPr>
          <p:cNvSpPr txBox="1"/>
          <p:nvPr/>
        </p:nvSpPr>
        <p:spPr>
          <a:xfrm>
            <a:off x="8441391" y="5382416"/>
            <a:ext cx="227703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https://godbolt.org/z/c1sMcxfsP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237E4A-D3D9-4F60-959C-823A6F55A3A6}"/>
              </a:ext>
            </a:extLst>
          </p:cNvPr>
          <p:cNvSpPr txBox="1"/>
          <p:nvPr/>
        </p:nvSpPr>
        <p:spPr>
          <a:xfrm>
            <a:off x="5969372" y="3763373"/>
            <a:ext cx="409799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.LBB0_2:</a:t>
            </a:r>
          </a:p>
          <a:p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</a:rPr>
              <a:t>movsxd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</a:rPr>
              <a:t>rdi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</a:rPr>
              <a:t>edi</a:t>
            </a:r>
            <a:endParaRPr lang="en-US" sz="16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movzx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eax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byte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rdx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rdi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</a:rPr>
              <a:t>movsxd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</a:rPr>
              <a:t>rsi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</a:rPr>
              <a:t>esi</a:t>
            </a:r>
            <a:endParaRPr lang="en-US" sz="16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movzx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ecx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byte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rdx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rsi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inc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edi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inc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esi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cmp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al, cl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je      .LBB0_2</a:t>
            </a:r>
          </a:p>
          <a:p>
            <a:endParaRPr lang="en-US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6215F8-CEE1-42A3-9D44-214A290EF6A6}"/>
              </a:ext>
            </a:extLst>
          </p:cNvPr>
          <p:cNvSpPr txBox="1"/>
          <p:nvPr/>
        </p:nvSpPr>
        <p:spPr>
          <a:xfrm>
            <a:off x="9168370" y="269424"/>
            <a:ext cx="301942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From </a:t>
            </a:r>
            <a:r>
              <a:rPr lang="en-US" sz="2000" dirty="0">
                <a:hlinkClick r:id="rId4"/>
              </a:rPr>
              <a:t>Garbage In, Garbage Out</a:t>
            </a:r>
            <a:r>
              <a:rPr lang="ru-RU" sz="2000" dirty="0"/>
              <a:t> (</a:t>
            </a:r>
            <a:r>
              <a:rPr lang="en-US" sz="2000" dirty="0"/>
              <a:t>Chandler Carruth)</a:t>
            </a:r>
            <a:endParaRPr lang="ru-RU" sz="20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2440FDD-5969-4346-B91E-7AC26A3A1A36}"/>
              </a:ext>
            </a:extLst>
          </p:cNvPr>
          <p:cNvCxnSpPr>
            <a:stCxn id="5" idx="3"/>
            <a:endCxn id="8" idx="1"/>
          </p:cNvCxnSpPr>
          <p:nvPr/>
        </p:nvCxnSpPr>
        <p:spPr>
          <a:xfrm flipV="1">
            <a:off x="4332195" y="2204948"/>
            <a:ext cx="1637177" cy="1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D1A5B0A-5A15-4ED8-BC20-AAB813A6EAFB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4332195" y="5040645"/>
            <a:ext cx="1637177" cy="1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81F1894-3B99-4D18-9086-A70125A58A88}"/>
              </a:ext>
            </a:extLst>
          </p:cNvPr>
          <p:cNvSpPr txBox="1"/>
          <p:nvPr/>
        </p:nvSpPr>
        <p:spPr>
          <a:xfrm>
            <a:off x="4439629" y="5298003"/>
            <a:ext cx="165637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Compiler has to assume potential overflow</a:t>
            </a:r>
          </a:p>
        </p:txBody>
      </p:sp>
    </p:spTree>
    <p:extLst>
      <p:ext uri="{BB962C8B-B14F-4D97-AF65-F5344CB8AC3E}">
        <p14:creationId xmlns:p14="http://schemas.microsoft.com/office/powerpoint/2010/main" val="139305334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89C9C-C94F-4497-86B3-1EA3F3AD4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with inclusive ranges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51B03-0ACF-41A7-B1BC-3F4C6F9750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Loops with included upper bound are less optimized by compiler:</a:t>
            </a:r>
          </a:p>
          <a:p>
            <a:pPr marL="457200" lvl="1" indent="0">
              <a:buNone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..=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total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dirty="0"/>
              <a:t>Due to potential overflow (when</a:t>
            </a:r>
            <a:r>
              <a:rPr lang="ru-RU" dirty="0"/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dirty="0"/>
              <a:t>) compiler has to perform additional check:</a:t>
            </a:r>
          </a:p>
          <a:p>
            <a:pPr marL="457200" lvl="1" indent="0">
              <a:buNone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while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total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&gt;=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break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457200" lvl="1" indent="0"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dirty="0"/>
              <a:t>Developers can help compiler by converting to exclusive loop:</a:t>
            </a:r>
          </a:p>
          <a:p>
            <a:pPr marL="457200" lvl="1" indent="0">
              <a:buNone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..(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b="1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endParaRPr lang="ru-RU" b="1" dirty="0">
              <a:solidFill>
                <a:srgbClr val="0070C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Or using </a:t>
            </a:r>
            <a:r>
              <a:rPr lang="en-US" dirty="0">
                <a:hlinkClick r:id="rId2"/>
              </a:rPr>
              <a:t>internal iteration</a:t>
            </a:r>
            <a:r>
              <a:rPr lang="en-US" dirty="0"/>
              <a:t> (.</a:t>
            </a:r>
            <a:r>
              <a:rPr lang="en-US" dirty="0" err="1"/>
              <a:t>for_each</a:t>
            </a:r>
            <a:r>
              <a:rPr lang="en-US" dirty="0"/>
              <a:t>, .fold, etc.)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70E41C-F331-4CEA-9719-81BDEB99D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76538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optimizations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Integer overflows are not well optimized by compiler</a:t>
            </a:r>
            <a:endParaRPr lang="ru-RU" dirty="0"/>
          </a:p>
          <a:p>
            <a:pPr lvl="1"/>
            <a:r>
              <a:rPr lang="en-US" dirty="0"/>
              <a:t>E.g. </a:t>
            </a:r>
            <a:r>
              <a:rPr lang="en-US" dirty="0" err="1"/>
              <a:t>Pr</a:t>
            </a:r>
            <a:r>
              <a:rPr lang="en-US" i="1" dirty="0" err="1"/>
              <a:t>e</a:t>
            </a:r>
            <a:r>
              <a:rPr lang="en-US" dirty="0" err="1"/>
              <a:t>sburger</a:t>
            </a:r>
            <a:r>
              <a:rPr lang="en-US" dirty="0"/>
              <a:t> arithmetic is decidable but its complexity is O(2^2^N)</a:t>
            </a:r>
          </a:p>
          <a:p>
            <a:r>
              <a:rPr lang="en-US" dirty="0"/>
              <a:t>Only ~30% of arithmetic checks are eliminated when building Rust compiler</a:t>
            </a:r>
          </a:p>
          <a:p>
            <a:pPr lvl="1"/>
            <a:r>
              <a:rPr lang="en-US" dirty="0"/>
              <a:t>Based on </a:t>
            </a:r>
            <a:r>
              <a:rPr lang="en-US" dirty="0">
                <a:hlinkClick r:id="rId2"/>
              </a:rPr>
              <a:t>analysis of binary code</a:t>
            </a:r>
            <a:endParaRPr lang="en-US" dirty="0"/>
          </a:p>
          <a:p>
            <a:r>
              <a:rPr lang="en-US" dirty="0"/>
              <a:t>This is the main reason for lack of arithmetic checks in release builds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41358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Unsafe APIs:</a:t>
            </a:r>
          </a:p>
          <a:p>
            <a:pPr lvl="1"/>
            <a:r>
              <a:rPr lang="en-US" dirty="0" err="1"/>
              <a:t>unchecked_add</a:t>
            </a:r>
            <a:r>
              <a:rPr lang="en-US" dirty="0"/>
              <a:t>, </a:t>
            </a:r>
            <a:r>
              <a:rPr lang="en-US" dirty="0" err="1"/>
              <a:t>wrapping_add</a:t>
            </a:r>
            <a:r>
              <a:rPr lang="en-US" dirty="0"/>
              <a:t>, </a:t>
            </a:r>
            <a:r>
              <a:rPr lang="en-US" dirty="0" err="1"/>
              <a:t>checked_add</a:t>
            </a:r>
            <a:r>
              <a:rPr lang="en-US" dirty="0"/>
              <a:t>, etc.</a:t>
            </a:r>
          </a:p>
          <a:p>
            <a:pPr lvl="1"/>
            <a:r>
              <a:rPr lang="en-US" dirty="0" err="1"/>
              <a:t>to_int_unchecked</a:t>
            </a:r>
            <a:endParaRPr lang="en-US" dirty="0"/>
          </a:p>
          <a:p>
            <a:pPr lvl="1"/>
            <a:r>
              <a:rPr lang="en-US" dirty="0"/>
              <a:t>std::hint::</a:t>
            </a:r>
            <a:r>
              <a:rPr lang="en-US" dirty="0" err="1"/>
              <a:t>unreachable_unchecked</a:t>
            </a:r>
            <a:endParaRPr lang="en-US" dirty="0"/>
          </a:p>
          <a:p>
            <a:pPr marL="914400" lvl="2" indent="0">
              <a:buNone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MIN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&gt;&gt;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||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MAX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&gt;&gt;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914400" lvl="2" indent="0"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unsafe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hint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unreachable_unchecked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914400" lvl="2" indent="0">
              <a:buNone/>
            </a:pP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914400" lvl="2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2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2</a:t>
            </a:r>
          </a:p>
          <a:p>
            <a:pPr lvl="1"/>
            <a:r>
              <a:rPr lang="ru-RU" dirty="0"/>
              <a:t>(</a:t>
            </a:r>
            <a:r>
              <a:rPr lang="en-US" dirty="0"/>
              <a:t>checks in </a:t>
            </a:r>
            <a:r>
              <a:rPr lang="en-US" dirty="0" err="1"/>
              <a:t>stdlib</a:t>
            </a:r>
            <a:r>
              <a:rPr lang="en-US" dirty="0"/>
              <a:t> </a:t>
            </a:r>
            <a:r>
              <a:rPr lang="en-US" i="1" dirty="0"/>
              <a:t>can not be disabled</a:t>
            </a:r>
            <a:r>
              <a:rPr lang="ru-RU" dirty="0"/>
              <a:t>)</a:t>
            </a:r>
            <a:endParaRPr lang="en-US" dirty="0"/>
          </a:p>
          <a:p>
            <a:r>
              <a:rPr lang="en-US" dirty="0"/>
              <a:t>Special </a:t>
            </a:r>
            <a:r>
              <a:rPr lang="en-US" dirty="0" err="1"/>
              <a:t>stdlib</a:t>
            </a:r>
            <a:r>
              <a:rPr lang="en-US" dirty="0"/>
              <a:t> types: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NonZeroU32</a:t>
            </a:r>
            <a:r>
              <a:rPr lang="ru-RU" dirty="0"/>
              <a:t> </a:t>
            </a:r>
            <a:r>
              <a:rPr lang="en-US" dirty="0"/>
              <a:t>to disable divide-by-zero checks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Wrapping</a:t>
            </a:r>
            <a:r>
              <a:rPr lang="en-US" dirty="0">
                <a:solidFill>
                  <a:srgbClr val="0070C0"/>
                </a:solidFill>
              </a:rPr>
              <a:t>&lt;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T</a:t>
            </a:r>
            <a:r>
              <a:rPr lang="en-US" dirty="0">
                <a:solidFill>
                  <a:srgbClr val="0070C0"/>
                </a:solidFill>
              </a:rPr>
              <a:t>&gt;</a:t>
            </a:r>
            <a:r>
              <a:rPr lang="en-US" dirty="0"/>
              <a:t> for overflows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7677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dirty="0"/>
              <a:t>Improvements without default checks (division by zero, etc.)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A9E1B1-A469-40CD-B0CA-F5BE68BBDE90}"/>
              </a:ext>
            </a:extLst>
          </p:cNvPr>
          <p:cNvSpPr txBox="1"/>
          <p:nvPr/>
        </p:nvSpPr>
        <p:spPr>
          <a:xfrm>
            <a:off x="228039" y="6488668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Compiler branch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82B8A1-B38E-4D05-AC59-253B751E31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2433" y="1502802"/>
            <a:ext cx="6295137" cy="503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701301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dirty="0"/>
              <a:t>Slowdown with integer overflow checks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B19A4-484A-4EEE-B3FC-AF51CAE2E3DE}"/>
              </a:ext>
            </a:extLst>
          </p:cNvPr>
          <p:cNvSpPr txBox="1"/>
          <p:nvPr/>
        </p:nvSpPr>
        <p:spPr>
          <a:xfrm>
            <a:off x="9346827" y="1810871"/>
            <a:ext cx="263898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Some tests missing due to crashes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+30% checks in </a:t>
            </a:r>
            <a:r>
              <a:rPr lang="en-US" sz="2400" dirty="0" err="1"/>
              <a:t>rustc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B348B3-A19C-4254-92EF-16F11829AFA4}"/>
              </a:ext>
            </a:extLst>
          </p:cNvPr>
          <p:cNvSpPr txBox="1"/>
          <p:nvPr/>
        </p:nvSpPr>
        <p:spPr>
          <a:xfrm>
            <a:off x="228039" y="6488668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Compiler branch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8004BA-61B5-4004-88C6-D0FCFD919E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1286" y="1408301"/>
            <a:ext cx="6252296" cy="500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0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7A2C3-CA4C-498D-BB42-CB2FDC362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18969"/>
            <a:ext cx="10515600" cy="1325563"/>
          </a:xfrm>
        </p:spPr>
        <p:txBody>
          <a:bodyPr/>
          <a:lstStyle/>
          <a:p>
            <a:r>
              <a:rPr lang="en-US" dirty="0"/>
              <a:t>Slowdown in C++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03D0B0-04C6-4EA0-8A1D-D0F5D6BD3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0A509F-DA50-46A0-858B-5BF264BE3DC7}"/>
              </a:ext>
            </a:extLst>
          </p:cNvPr>
          <p:cNvSpPr txBox="1"/>
          <p:nvPr/>
        </p:nvSpPr>
        <p:spPr>
          <a:xfrm>
            <a:off x="9346827" y="1810871"/>
            <a:ext cx="263898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Some tests missing due to crashes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Even larger overheads in C/C++ with </a:t>
            </a:r>
            <a:r>
              <a:rPr lang="en-US" sz="2400" dirty="0" err="1"/>
              <a:t>UBsan</a:t>
            </a:r>
            <a:endParaRPr lang="en-US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C47AD98-B189-46D1-8871-7BD1D9419A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1774" y="1081088"/>
            <a:ext cx="6886013" cy="5508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695598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Integer overflow is not UB in Rust</a:t>
            </a:r>
          </a:p>
          <a:p>
            <a:pPr lvl="1"/>
            <a:r>
              <a:rPr lang="en-US" dirty="0"/>
              <a:t>Prevents compiler from performing some aggressive optimizations</a:t>
            </a:r>
            <a:endParaRPr lang="ru-RU" dirty="0"/>
          </a:p>
          <a:p>
            <a:r>
              <a:rPr lang="en-US" dirty="0"/>
              <a:t>Rust makes non-obvious choice about default arithmetic checks</a:t>
            </a:r>
          </a:p>
          <a:p>
            <a:pPr lvl="1"/>
            <a:r>
              <a:rPr lang="en-US" dirty="0"/>
              <a:t>Some really important errors like lossy casts are not checked but zero divisions are</a:t>
            </a:r>
          </a:p>
          <a:p>
            <a:pPr lvl="1"/>
            <a:r>
              <a:rPr lang="en-US" dirty="0"/>
              <a:t>Rare but may cause slowdown of ~</a:t>
            </a:r>
            <a:r>
              <a:rPr lang="ru-RU" dirty="0"/>
              <a:t>1%</a:t>
            </a:r>
            <a:endParaRPr lang="en-US" dirty="0"/>
          </a:p>
          <a:p>
            <a:r>
              <a:rPr lang="en-US" dirty="0"/>
              <a:t>Integer overflow checks have very large overhead (up to </a:t>
            </a:r>
            <a:r>
              <a:rPr lang="ru-RU" dirty="0"/>
              <a:t>10%)</a:t>
            </a:r>
            <a:endParaRPr lang="en-US" dirty="0"/>
          </a:p>
          <a:p>
            <a:pPr lvl="1"/>
            <a:r>
              <a:rPr lang="en-US" dirty="0"/>
              <a:t>Same as </a:t>
            </a:r>
            <a:r>
              <a:rPr lang="en-US" dirty="0" err="1"/>
              <a:t>UBsan</a:t>
            </a:r>
            <a:endParaRPr lang="ru-RU" dirty="0"/>
          </a:p>
          <a:p>
            <a:pPr lvl="1"/>
            <a:r>
              <a:rPr lang="en-US" dirty="0"/>
              <a:t>Unlikely to be enabled by default in future</a:t>
            </a:r>
            <a:endParaRPr lang="ru-RU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399826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Recommended readings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hlinkClick r:id="rId2"/>
              </a:rPr>
              <a:t>RFC 560: Integer Overflow</a:t>
            </a:r>
            <a:r>
              <a:rPr lang="en-US" dirty="0"/>
              <a:t> (also </a:t>
            </a:r>
            <a:r>
              <a:rPr lang="en-US" dirty="0">
                <a:hlinkClick r:id="rId3"/>
              </a:rPr>
              <a:t>discussion</a:t>
            </a:r>
            <a:r>
              <a:rPr lang="ru-RU" dirty="0"/>
              <a:t> </a:t>
            </a:r>
            <a:r>
              <a:rPr lang="en-US" dirty="0"/>
              <a:t>and</a:t>
            </a:r>
            <a:r>
              <a:rPr lang="ru-RU" dirty="0"/>
              <a:t> </a:t>
            </a:r>
            <a:r>
              <a:rPr lang="en-US" dirty="0">
                <a:hlinkClick r:id="rId4"/>
              </a:rPr>
              <a:t>overview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Attempt to enable integer overflow checks in release</a:t>
            </a:r>
          </a:p>
          <a:p>
            <a:r>
              <a:rPr lang="en-US" dirty="0">
                <a:hlinkClick r:id="rId5"/>
              </a:rPr>
              <a:t>Understanding Integer Overflow in C/C++</a:t>
            </a:r>
            <a:endParaRPr lang="en-US" dirty="0"/>
          </a:p>
          <a:p>
            <a:pPr lvl="1"/>
            <a:r>
              <a:rPr lang="en-US" dirty="0"/>
              <a:t>Paper by John </a:t>
            </a:r>
            <a:r>
              <a:rPr lang="en-US" dirty="0" err="1"/>
              <a:t>Regehr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hlinkClick r:id="rId6"/>
              </a:rPr>
              <a:t>How undefined signed overflow enables optimizations in GCC</a:t>
            </a:r>
            <a:endParaRPr lang="ru-RU" dirty="0"/>
          </a:p>
          <a:p>
            <a:pPr lvl="1"/>
            <a:r>
              <a:rPr lang="en-US" dirty="0"/>
              <a:t>Paper about performance benefits of Integer Overflow UB in C/C++</a:t>
            </a:r>
          </a:p>
          <a:p>
            <a:r>
              <a:rPr lang="en-US" dirty="0">
                <a:hlinkClick r:id="rId7"/>
              </a:rPr>
              <a:t>Exploiting Undefined Behavior in C/C++ Programs for Optimization: A Study on the Performance Impact</a:t>
            </a:r>
            <a:endParaRPr lang="en-US" dirty="0"/>
          </a:p>
          <a:p>
            <a:pPr lvl="1"/>
            <a:r>
              <a:rPr lang="en-US" dirty="0"/>
              <a:t>Paper about benefits of UB, including signed overflow, with benchmarks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60265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library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FF772-26C0-4B3E-964B-0964EB9F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1D8F21-4A4B-4A71-855A-2996E48DF35B}"/>
              </a:ext>
            </a:extLst>
          </p:cNvPr>
          <p:cNvSpPr txBox="1"/>
          <p:nvPr/>
        </p:nvSpPr>
        <p:spPr>
          <a:xfrm>
            <a:off x="180975" y="6356350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Detailed</a:t>
            </a:r>
            <a:r>
              <a:rPr lang="en-US" dirty="0"/>
              <a:t> </a:t>
            </a:r>
            <a:r>
              <a:rPr lang="en-US" dirty="0">
                <a:hlinkClick r:id="rId3"/>
              </a:rPr>
              <a:t>analysis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721704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Rust </a:t>
            </a:r>
            <a:r>
              <a:rPr lang="en-US" dirty="0" err="1"/>
              <a:t>stdlib</a:t>
            </a:r>
            <a:r>
              <a:rPr lang="en-US" dirty="0"/>
              <a:t> has more mandatory checks and in some cases uses more robust (and slow) algorithms compared to STL</a:t>
            </a:r>
          </a:p>
          <a:p>
            <a:pPr lvl="1"/>
            <a:r>
              <a:rPr lang="en-US" dirty="0"/>
              <a:t>Cargo build system greatly simplifies experiments with alternate implementations though</a:t>
            </a:r>
          </a:p>
          <a:p>
            <a:r>
              <a:rPr lang="en-US" dirty="0"/>
              <a:t>On the other hand in other cases it can use faster container and algorithm implementations (compared to STL)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819245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3B03F-023F-4D05-BEE5-4DB92B543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library checks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6F917-3403-4C76-8B8D-AF0E3F336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Stdlib</a:t>
            </a:r>
            <a:r>
              <a:rPr lang="en-US" dirty="0"/>
              <a:t> contains a lot of mandatory checks (assert!, </a:t>
            </a:r>
            <a:r>
              <a:rPr lang="en-US" dirty="0" err="1"/>
              <a:t>checked_add</a:t>
            </a:r>
            <a:r>
              <a:rPr lang="en-US" dirty="0"/>
              <a:t>, etc.)</a:t>
            </a:r>
          </a:p>
          <a:p>
            <a:r>
              <a:rPr lang="en-US" dirty="0"/>
              <a:t>Main types of checks:</a:t>
            </a:r>
          </a:p>
          <a:p>
            <a:pPr lvl="1"/>
            <a:r>
              <a:rPr lang="en-US" dirty="0"/>
              <a:t>Correctness of indices in containers (bounds checks, already considered above)</a:t>
            </a:r>
          </a:p>
          <a:p>
            <a:pPr lvl="1"/>
            <a:r>
              <a:rPr lang="en-US" dirty="0"/>
              <a:t>Size overflow checks in containers (capacity overflow)</a:t>
            </a:r>
          </a:p>
          <a:p>
            <a:pPr lvl="1"/>
            <a:r>
              <a:rPr lang="en-US" dirty="0"/>
              <a:t>Successful allocations in containers</a:t>
            </a:r>
            <a:endParaRPr lang="ru-RU" dirty="0"/>
          </a:p>
          <a:p>
            <a:pPr lvl="1"/>
            <a:r>
              <a:rPr lang="en-US" dirty="0"/>
              <a:t>Correctness of indices in UTF-8 container accesses (&amp;str and</a:t>
            </a:r>
            <a:r>
              <a:rPr lang="ru-RU" dirty="0"/>
              <a:t> </a:t>
            </a:r>
            <a:r>
              <a:rPr lang="en-US" dirty="0"/>
              <a:t>String)</a:t>
            </a:r>
          </a:p>
          <a:p>
            <a:pPr lvl="1"/>
            <a:r>
              <a:rPr lang="en-US" dirty="0"/>
              <a:t>API-specific checks </a:t>
            </a:r>
            <a:r>
              <a:rPr lang="ru-RU" dirty="0"/>
              <a:t>(</a:t>
            </a:r>
            <a:r>
              <a:rPr lang="en-US" dirty="0"/>
              <a:t>comparator axioms</a:t>
            </a:r>
            <a:r>
              <a:rPr lang="ru-RU" dirty="0"/>
              <a:t>, </a:t>
            </a:r>
            <a:r>
              <a:rPr lang="en-US" dirty="0"/>
              <a:t>etc.)</a:t>
            </a:r>
          </a:p>
          <a:p>
            <a:r>
              <a:rPr lang="en-US" dirty="0"/>
              <a:t>Similar checks are available in STL</a:t>
            </a:r>
          </a:p>
          <a:p>
            <a:pPr lvl="1"/>
            <a:r>
              <a:rPr lang="en-US" dirty="0"/>
              <a:t>Under _GLIBCXX_ASSERTIONS and</a:t>
            </a:r>
            <a:r>
              <a:rPr lang="ru-RU" dirty="0"/>
              <a:t> </a:t>
            </a:r>
            <a:r>
              <a:rPr lang="en-US" dirty="0"/>
              <a:t>_LIBCPP_HARDENING_MODE (Hardened STL)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9B679C-D316-424C-BCCE-3EF334606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26706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4696"/>
            <a:ext cx="10515600" cy="1325563"/>
          </a:xfrm>
        </p:spPr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131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F1E6A0-B228-4A06-B70D-E0C74F4243FF}"/>
              </a:ext>
            </a:extLst>
          </p:cNvPr>
          <p:cNvSpPr txBox="1"/>
          <p:nvPr/>
        </p:nvSpPr>
        <p:spPr>
          <a:xfrm>
            <a:off x="352425" y="2836525"/>
            <a:ext cx="57435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length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usize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!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-1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length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77CB709-CA80-49F9-98B8-8C3E8C5AAA19}"/>
              </a:ext>
            </a:extLst>
          </p:cNvPr>
          <p:cNvCxnSpPr/>
          <p:nvPr/>
        </p:nvCxnSpPr>
        <p:spPr>
          <a:xfrm>
            <a:off x="4848225" y="3571875"/>
            <a:ext cx="104775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77C6EDA-B768-4804-90A8-8792F862459E}"/>
              </a:ext>
            </a:extLst>
          </p:cNvPr>
          <p:cNvSpPr txBox="1"/>
          <p:nvPr/>
        </p:nvSpPr>
        <p:spPr>
          <a:xfrm>
            <a:off x="7627284" y="5558095"/>
            <a:ext cx="23173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https://godbolt.org/z/oa67f1j5z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7AABEF-6EAA-4917-BE00-34ACF3AD2608}"/>
              </a:ext>
            </a:extLst>
          </p:cNvPr>
          <p:cNvSpPr txBox="1"/>
          <p:nvPr/>
        </p:nvSpPr>
        <p:spPr>
          <a:xfrm>
            <a:off x="5752259" y="1536174"/>
            <a:ext cx="6067425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lea     r15, [4*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r13d, r13d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mov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    // Check that </a:t>
            </a:r>
            <a:r>
              <a:rPr lang="ru-RU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4*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length does not overflow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shr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62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.LBB0_11</a:t>
            </a: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    // Check that 4*length &lt;=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isize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::max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movabs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9223372036854775804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r15,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ja      .LBB0_11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...</a:t>
            </a: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    // Check that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alloc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is successful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call    qword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[rip +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rustc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rust_alloc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test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je      .LBB0_11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...</a:t>
            </a:r>
          </a:p>
        </p:txBody>
      </p:sp>
    </p:spTree>
    <p:extLst>
      <p:ext uri="{BB962C8B-B14F-4D97-AF65-F5344CB8AC3E}">
        <p14:creationId xmlns:p14="http://schemas.microsoft.com/office/powerpoint/2010/main" val="241677684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9629"/>
            <a:ext cx="10515600" cy="1325563"/>
          </a:xfrm>
        </p:spPr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132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F1E6A0-B228-4A06-B70D-E0C74F4243FF}"/>
              </a:ext>
            </a:extLst>
          </p:cNvPr>
          <p:cNvSpPr txBox="1"/>
          <p:nvPr/>
        </p:nvSpPr>
        <p:spPr>
          <a:xfrm>
            <a:off x="914400" y="1433075"/>
            <a:ext cx="76962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use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main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input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String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new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stdin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read_line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(&amp;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input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unwrap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println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!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"{}"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input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A9232A-C82D-4319-B6B4-0BE2A038BD07}"/>
              </a:ext>
            </a:extLst>
          </p:cNvPr>
          <p:cNvSpPr txBox="1"/>
          <p:nvPr/>
        </p:nvSpPr>
        <p:spPr>
          <a:xfrm>
            <a:off x="923925" y="4132263"/>
            <a:ext cx="1075372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$ echo </a:t>
            </a:r>
            <a:r>
              <a:rPr lang="ru-RU" dirty="0">
                <a:latin typeface="Consolas" panose="020B0609020204030204" pitchFamily="49" charset="0"/>
                <a:cs typeface="Courier New" panose="02070309020205020404" pitchFamily="49" charset="0"/>
              </a:rPr>
              <a:t>Привет | ./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test</a:t>
            </a:r>
          </a:p>
          <a:p>
            <a:r>
              <a:rPr lang="ru-RU" dirty="0">
                <a:latin typeface="Consolas" panose="020B0609020204030204" pitchFamily="49" charset="0"/>
                <a:cs typeface="Courier New" panose="02070309020205020404" pitchFamily="49" charset="0"/>
              </a:rPr>
              <a:t>Привет</a:t>
            </a:r>
          </a:p>
          <a:p>
            <a:endParaRPr lang="ru-RU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ru-RU" dirty="0">
                <a:latin typeface="Consolas" panose="020B0609020204030204" pitchFamily="49" charset="0"/>
                <a:cs typeface="Courier New" panose="02070309020205020404" pitchFamily="49" charset="0"/>
              </a:rPr>
              <a:t>$ 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echo </a:t>
            </a:r>
            <a:r>
              <a:rPr lang="ru-RU" dirty="0">
                <a:latin typeface="Consolas" panose="020B0609020204030204" pitchFamily="49" charset="0"/>
                <a:cs typeface="Courier New" panose="02070309020205020404" pitchFamily="49" charset="0"/>
              </a:rPr>
              <a:t>Привет |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iconv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-f UTF-8 -t KOI8-RU | ./test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thread 'main' panicked at test.rs:5:39: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called `Result::unwrap()` on an `Err` value: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Error { kind: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InvalidData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, message: "stream did not contain valid UTF-8" }</a:t>
            </a:r>
          </a:p>
        </p:txBody>
      </p:sp>
    </p:spTree>
    <p:extLst>
      <p:ext uri="{BB962C8B-B14F-4D97-AF65-F5344CB8AC3E}">
        <p14:creationId xmlns:p14="http://schemas.microsoft.com/office/powerpoint/2010/main" val="2599717519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3B03F-023F-4D05-BEE5-4DB92B543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overheads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6F917-3403-4C76-8B8D-AF0E3F336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Default hashing algorithm in </a:t>
            </a:r>
            <a:r>
              <a:rPr lang="en-US" dirty="0" err="1"/>
              <a:t>hashtables</a:t>
            </a:r>
            <a:r>
              <a:rPr lang="en-US" dirty="0"/>
              <a:t> (</a:t>
            </a:r>
            <a:r>
              <a:rPr lang="en-US" dirty="0" err="1"/>
              <a:t>SipHash</a:t>
            </a:r>
            <a:r>
              <a:rPr lang="en-US" dirty="0"/>
              <a:t>) is resilient against DoS attacks bit is slower than analogs in STL</a:t>
            </a:r>
          </a:p>
          <a:p>
            <a:pPr lvl="1"/>
            <a:r>
              <a:rPr lang="en-US" dirty="0"/>
              <a:t>2x slowdown against </a:t>
            </a:r>
            <a:r>
              <a:rPr lang="en-US" dirty="0" err="1"/>
              <a:t>fxhash</a:t>
            </a:r>
            <a:r>
              <a:rPr lang="en-US" dirty="0"/>
              <a:t> in </a:t>
            </a:r>
            <a:r>
              <a:rPr lang="en-US" dirty="0">
                <a:hlinkClick r:id="rId2"/>
              </a:rPr>
              <a:t>simple microbenchmark</a:t>
            </a:r>
            <a:endParaRPr lang="ru-RU" dirty="0"/>
          </a:p>
          <a:p>
            <a:r>
              <a:rPr lang="en-US" dirty="0"/>
              <a:t>Rust IO is unbuffered by default</a:t>
            </a:r>
          </a:p>
          <a:p>
            <a:pPr lvl="1"/>
            <a:r>
              <a:rPr lang="en-US" dirty="0"/>
              <a:t>Without </a:t>
            </a:r>
            <a:r>
              <a:rPr lang="en-US" dirty="0" err="1"/>
              <a:t>BufReader</a:t>
            </a:r>
            <a:r>
              <a:rPr lang="en-US" dirty="0"/>
              <a:t> programs may be 10x slower</a:t>
            </a:r>
          </a:p>
          <a:p>
            <a:r>
              <a:rPr lang="en-US" dirty="0"/>
              <a:t>io::</a:t>
            </a:r>
            <a:r>
              <a:rPr lang="en-US" dirty="0" err="1"/>
              <a:t>stdout</a:t>
            </a:r>
            <a:r>
              <a:rPr lang="en-US" dirty="0"/>
              <a:t>() is line-buffered for non-TTY output (</a:t>
            </a:r>
            <a:r>
              <a:rPr lang="en-US" dirty="0">
                <a:hlinkClick r:id="rId3"/>
              </a:rPr>
              <a:t>rust #60673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This may significantly slow down command-line tools (for cases like “./prog &gt; file”)</a:t>
            </a:r>
          </a:p>
          <a:p>
            <a:r>
              <a:rPr lang="en-US" dirty="0"/>
              <a:t>print!/</a:t>
            </a:r>
            <a:r>
              <a:rPr lang="en-US" dirty="0" err="1"/>
              <a:t>println</a:t>
            </a:r>
            <a:r>
              <a:rPr lang="en-US" dirty="0"/>
              <a:t>! macros use locked access to </a:t>
            </a:r>
            <a:r>
              <a:rPr lang="en-US" dirty="0" err="1"/>
              <a:t>stdout</a:t>
            </a:r>
            <a:r>
              <a:rPr lang="en-US" dirty="0"/>
              <a:t> for stable output from parallel threads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9B679C-D316-424C-BCCE-3EF334606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36321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80262"/>
            <a:ext cx="10833847" cy="1325563"/>
          </a:xfrm>
        </p:spPr>
        <p:txBody>
          <a:bodyPr/>
          <a:lstStyle/>
          <a:p>
            <a:r>
              <a:rPr lang="en-US" dirty="0"/>
              <a:t>Improvements with disabled UTF-8 checks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134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2E8F6E-0C71-40CC-A60A-49BAE47149BA}"/>
              </a:ext>
            </a:extLst>
          </p:cNvPr>
          <p:cNvSpPr txBox="1"/>
          <p:nvPr/>
        </p:nvSpPr>
        <p:spPr>
          <a:xfrm>
            <a:off x="228039" y="6488668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Compiler branch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AC4C6A-BB65-409D-98E0-88592D14D7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501" y="1410203"/>
            <a:ext cx="6410885" cy="512870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04CA93-6659-4A89-9FB5-29E44D9CC9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334" y="1221159"/>
            <a:ext cx="6815218" cy="545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325824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80262"/>
            <a:ext cx="10833847" cy="1325563"/>
          </a:xfrm>
        </p:spPr>
        <p:txBody>
          <a:bodyPr/>
          <a:lstStyle/>
          <a:p>
            <a:r>
              <a:rPr lang="en-US" dirty="0"/>
              <a:t>Improvements with disabled container overflow checks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135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1566DE-82E8-48F7-BF31-6946B1A462CE}"/>
              </a:ext>
            </a:extLst>
          </p:cNvPr>
          <p:cNvSpPr txBox="1"/>
          <p:nvPr/>
        </p:nvSpPr>
        <p:spPr>
          <a:xfrm>
            <a:off x="228039" y="6488668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Compiler branch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137653-B766-4317-A850-9C317DE10B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9022" y="1673710"/>
            <a:ext cx="6222626" cy="4978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615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3B03F-023F-4D05-BEE5-4DB92B543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Optimizations in standard library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6F917-3403-4C76-8B8D-AF0E3F336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/>
              <a:t>Hashtables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No requirement for element reference validity after modification </a:t>
            </a:r>
            <a:r>
              <a:rPr lang="ru-RU" dirty="0"/>
              <a:t>(</a:t>
            </a:r>
            <a:r>
              <a:rPr lang="en-US" dirty="0"/>
              <a:t>as in std::</a:t>
            </a:r>
            <a:r>
              <a:rPr lang="en-US" dirty="0" err="1"/>
              <a:t>unordered_map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Allows to use open-addressing instead of chaining (fewer allocations</a:t>
            </a:r>
            <a:r>
              <a:rPr lang="ru-RU" dirty="0"/>
              <a:t>, </a:t>
            </a:r>
            <a:r>
              <a:rPr lang="en-US" dirty="0"/>
              <a:t>cache-friendly)</a:t>
            </a:r>
          </a:p>
          <a:p>
            <a:r>
              <a:rPr lang="en-US" dirty="0"/>
              <a:t>Search trees use B-tree</a:t>
            </a:r>
            <a:r>
              <a:rPr lang="ru-RU" dirty="0"/>
              <a:t> </a:t>
            </a:r>
            <a:r>
              <a:rPr lang="en-US" dirty="0"/>
              <a:t>(instead of RB-tree as std::map)</a:t>
            </a:r>
          </a:p>
          <a:p>
            <a:pPr lvl="1"/>
            <a:r>
              <a:rPr lang="en-US" dirty="0"/>
              <a:t>Fewer allocations</a:t>
            </a:r>
            <a:r>
              <a:rPr lang="ru-RU" dirty="0"/>
              <a:t>, </a:t>
            </a:r>
            <a:r>
              <a:rPr lang="en-US" dirty="0"/>
              <a:t>cache-friendly</a:t>
            </a:r>
          </a:p>
          <a:p>
            <a:pPr lvl="1"/>
            <a:r>
              <a:rPr lang="en-US" dirty="0"/>
              <a:t>4x speedup on </a:t>
            </a:r>
            <a:r>
              <a:rPr lang="en-US" dirty="0">
                <a:hlinkClick r:id="rId2"/>
              </a:rPr>
              <a:t>simple microbenchmark</a:t>
            </a:r>
            <a:endParaRPr lang="en-US" dirty="0"/>
          </a:p>
          <a:p>
            <a:r>
              <a:rPr lang="en-US" dirty="0"/>
              <a:t>Modern ILP-friendly sorting algorithms (</a:t>
            </a:r>
            <a:r>
              <a:rPr lang="en-US" dirty="0" err="1"/>
              <a:t>ipnsort</a:t>
            </a:r>
            <a:r>
              <a:rPr lang="en-US" dirty="0"/>
              <a:t>, </a:t>
            </a:r>
            <a:r>
              <a:rPr lang="en-US" dirty="0" err="1"/>
              <a:t>driftsort</a:t>
            </a:r>
            <a:r>
              <a:rPr lang="en-US" dirty="0"/>
              <a:t>)</a:t>
            </a:r>
            <a:endParaRPr lang="ru-RU" dirty="0"/>
          </a:p>
          <a:p>
            <a:pPr lvl="1"/>
            <a:r>
              <a:rPr lang="en-US" dirty="0"/>
              <a:t>Modern STLs are implemented to</a:t>
            </a:r>
            <a:r>
              <a:rPr lang="ru-RU" dirty="0"/>
              <a:t> </a:t>
            </a:r>
            <a:r>
              <a:rPr lang="en-US" dirty="0">
                <a:hlinkClick r:id="rId3"/>
              </a:rPr>
              <a:t>simplify vectorization</a:t>
            </a:r>
            <a:r>
              <a:rPr lang="en-US" dirty="0"/>
              <a:t> when sorting primitive types</a:t>
            </a:r>
          </a:p>
          <a:p>
            <a:pPr lvl="1"/>
            <a:r>
              <a:rPr lang="en-US" dirty="0"/>
              <a:t>65% speedup on </a:t>
            </a:r>
            <a:r>
              <a:rPr lang="en-US" dirty="0">
                <a:hlinkClick r:id="rId4"/>
              </a:rPr>
              <a:t>simple microbenchmark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9B679C-D316-424C-BCCE-3EF334606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91975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Rust </a:t>
            </a:r>
            <a:r>
              <a:rPr lang="en-US" dirty="0" err="1"/>
              <a:t>stdlib</a:t>
            </a:r>
            <a:r>
              <a:rPr lang="en-US" dirty="0"/>
              <a:t> includes both factors which negatively affect performance and more efficient (over STL) algorithms and containers</a:t>
            </a:r>
          </a:p>
          <a:p>
            <a:r>
              <a:rPr lang="en-US" dirty="0" err="1"/>
              <a:t>Stdlib</a:t>
            </a:r>
            <a:r>
              <a:rPr lang="en-US" dirty="0"/>
              <a:t> issues are not critical due to</a:t>
            </a:r>
            <a:endParaRPr lang="ru-RU" dirty="0"/>
          </a:p>
          <a:p>
            <a:pPr lvl="1"/>
            <a:r>
              <a:rPr lang="en-US" dirty="0"/>
              <a:t>Availability of many alternative implementations</a:t>
            </a:r>
            <a:endParaRPr lang="ru-RU" dirty="0"/>
          </a:p>
          <a:p>
            <a:pPr lvl="1"/>
            <a:r>
              <a:rPr lang="en-US" dirty="0"/>
              <a:t>Ease of integration of external libraries in Cargo ecosystem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835198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Recommended readings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Safety vs Performance. A case study of C, C++ and Rust sort implementations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379683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Lack of fast-math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FF772-26C0-4B3E-964B-0964EB9F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139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3A69B3-22A0-43DE-BB2B-83D0563E6D72}"/>
              </a:ext>
            </a:extLst>
          </p:cNvPr>
          <p:cNvSpPr txBox="1"/>
          <p:nvPr/>
        </p:nvSpPr>
        <p:spPr>
          <a:xfrm>
            <a:off x="180975" y="6356350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Detailed analysis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6636112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7ACA69-D0A3-4E3C-8669-E408153C2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computations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AF77BD6-3BB8-4921-9B01-3030E44BB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7212106" cy="4810067"/>
          </a:xfrm>
        </p:spPr>
        <p:txBody>
          <a:bodyPr>
            <a:normAutofit/>
          </a:bodyPr>
          <a:lstStyle/>
          <a:p>
            <a:r>
              <a:rPr lang="ru-RU" dirty="0"/>
              <a:t>IEEE 754</a:t>
            </a:r>
            <a:r>
              <a:rPr lang="en-US" dirty="0"/>
              <a:t> standard</a:t>
            </a:r>
            <a:endParaRPr lang="ru-RU" dirty="0"/>
          </a:p>
          <a:p>
            <a:pPr lvl="1"/>
            <a:r>
              <a:rPr lang="en-US" dirty="0"/>
              <a:t>Types and their binary representation</a:t>
            </a:r>
            <a:endParaRPr lang="ru-RU" dirty="0"/>
          </a:p>
          <a:p>
            <a:pPr lvl="1"/>
            <a:r>
              <a:rPr lang="en-US" dirty="0"/>
              <a:t>Operations on types</a:t>
            </a:r>
            <a:endParaRPr lang="ru-RU" dirty="0"/>
          </a:p>
          <a:p>
            <a:pPr lvl="1"/>
            <a:r>
              <a:rPr lang="en-US" dirty="0"/>
              <a:t>Rounding</a:t>
            </a:r>
            <a:endParaRPr lang="ru-RU" dirty="0"/>
          </a:p>
          <a:p>
            <a:r>
              <a:rPr lang="en-US" dirty="0"/>
              <a:t>Most architectures and languages follow the standard </a:t>
            </a:r>
            <a:r>
              <a:rPr lang="ru-RU" dirty="0"/>
              <a:t>(</a:t>
            </a:r>
            <a:r>
              <a:rPr lang="en-US" dirty="0"/>
              <a:t>mostly</a:t>
            </a:r>
            <a:r>
              <a:rPr lang="ru-RU" dirty="0"/>
              <a:t>)</a:t>
            </a:r>
          </a:p>
          <a:p>
            <a:r>
              <a:rPr lang="en-US" dirty="0"/>
              <a:t>Reasons for discrepancies:</a:t>
            </a:r>
            <a:endParaRPr lang="ru-RU" dirty="0"/>
          </a:p>
          <a:p>
            <a:pPr lvl="1"/>
            <a:r>
              <a:rPr lang="en-US" dirty="0"/>
              <a:t>Architecture specifics</a:t>
            </a:r>
            <a:endParaRPr lang="ru-RU" dirty="0"/>
          </a:p>
          <a:p>
            <a:pPr lvl="1"/>
            <a:r>
              <a:rPr lang="en-US" dirty="0"/>
              <a:t>More opportunities for optimizations</a:t>
            </a:r>
            <a:endParaRPr lang="ru-RU" dirty="0"/>
          </a:p>
          <a:p>
            <a:r>
              <a:rPr lang="en-US" dirty="0"/>
              <a:t>F</a:t>
            </a:r>
            <a:r>
              <a:rPr lang="ru-RU" dirty="0"/>
              <a:t>ast</a:t>
            </a:r>
            <a:r>
              <a:rPr lang="en-US" dirty="0"/>
              <a:t> </a:t>
            </a:r>
            <a:r>
              <a:rPr lang="ru-RU" dirty="0"/>
              <a:t>math – </a:t>
            </a:r>
            <a:r>
              <a:rPr lang="en-US" dirty="0"/>
              <a:t>umbrella term for optimizations that are enabled under relaxed IEEE 754 rules</a:t>
            </a:r>
            <a:endParaRPr lang="ru-RU" dirty="0"/>
          </a:p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7D72FEE-60CC-4F48-B04B-60F1587788D1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566870" y="2481530"/>
            <a:ext cx="4283207" cy="2937289"/>
          </a:xfrm>
          <a:prstGeom prst="rect">
            <a:avLst/>
          </a:prstGeom>
          <a:ln w="0">
            <a:noFill/>
          </a:ln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DDFD15-2A4D-43CF-B823-8661DCC8D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203469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9F7A0F-557C-4F7A-8993-8C5788C9D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fast-math flags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F56D31D-3650-4920-BB4C-E2AAEBDE06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12560" cy="4351338"/>
          </a:xfrm>
        </p:spPr>
        <p:txBody>
          <a:bodyPr>
            <a:normAutofit/>
          </a:bodyPr>
          <a:lstStyle/>
          <a:p>
            <a:r>
              <a:rPr lang="en-US" dirty="0"/>
              <a:t>Algebraic:</a:t>
            </a:r>
            <a:endParaRPr lang="ru-RU" dirty="0"/>
          </a:p>
          <a:p>
            <a:pPr lvl="1"/>
            <a:r>
              <a:rPr lang="en-US" dirty="0"/>
              <a:t>Associativity</a:t>
            </a:r>
            <a:endParaRPr lang="ru-RU" dirty="0"/>
          </a:p>
          <a:p>
            <a:pPr lvl="1"/>
            <a:r>
              <a:rPr lang="en-US" dirty="0" err="1"/>
              <a:t>Unsignedness</a:t>
            </a:r>
            <a:r>
              <a:rPr lang="en-US" dirty="0"/>
              <a:t> of zero</a:t>
            </a:r>
            <a:endParaRPr lang="ru-RU" dirty="0"/>
          </a:p>
          <a:p>
            <a:pPr lvl="1"/>
            <a:r>
              <a:rPr lang="en-US" dirty="0"/>
              <a:t>Replacing division with multiplication</a:t>
            </a:r>
            <a:endParaRPr lang="ru-RU" dirty="0"/>
          </a:p>
          <a:p>
            <a:pPr lvl="1"/>
            <a:r>
              <a:rPr lang="en-US" dirty="0"/>
              <a:t>Fusion of operations </a:t>
            </a:r>
            <a:r>
              <a:rPr lang="ru-RU" dirty="0"/>
              <a:t>(</a:t>
            </a:r>
            <a:r>
              <a:rPr lang="en-US" dirty="0"/>
              <a:t>e.g. FMA</a:t>
            </a:r>
            <a:r>
              <a:rPr lang="ru-RU" dirty="0"/>
              <a:t>)</a:t>
            </a:r>
          </a:p>
          <a:p>
            <a:r>
              <a:rPr lang="en-US" dirty="0"/>
              <a:t>Disallowing non-standard values: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NaN</a:t>
            </a:r>
            <a:r>
              <a:rPr lang="en-US" dirty="0"/>
              <a:t>, Infinity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81D26B-0850-40B9-A53A-DA75385FA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141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9682EA-029B-42F0-B931-AEFEF8BA3FE5}"/>
              </a:ext>
            </a:extLst>
          </p:cNvPr>
          <p:cNvSpPr txBox="1"/>
          <p:nvPr/>
        </p:nvSpPr>
        <p:spPr>
          <a:xfrm>
            <a:off x="7617723" y="892805"/>
            <a:ext cx="287550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3.0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/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3.0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931DCF-32B9-4C85-AC52-7F16C77E8290}"/>
              </a:ext>
            </a:extLst>
          </p:cNvPr>
          <p:cNvSpPr txBox="1"/>
          <p:nvPr/>
        </p:nvSpPr>
        <p:spPr>
          <a:xfrm>
            <a:off x="7617723" y="1838675"/>
            <a:ext cx="4232306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.LCPI0_0: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.quad   0x4008000000000000 # 3.0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movsd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xmm1, qword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[rip + .LCPI0_0]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addsd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xmm1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divsd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xmm1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ret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AA5558-4864-4967-95AD-4AD2102865F5}"/>
              </a:ext>
            </a:extLst>
          </p:cNvPr>
          <p:cNvSpPr txBox="1"/>
          <p:nvPr/>
        </p:nvSpPr>
        <p:spPr>
          <a:xfrm>
            <a:off x="7617721" y="4008781"/>
            <a:ext cx="451939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.LCPI0_0: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.quad   0x4008000000000000 # 3.0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.LCPI0_1: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.quad   0x3fd5555555555555 # 1/3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addsd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qword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[rip + .LCPI0_0]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mulsd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qword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[rip + .LCPI0_1]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ret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3BB64B-5999-4A83-A17F-121BAF873744}"/>
              </a:ext>
            </a:extLst>
          </p:cNvPr>
          <p:cNvSpPr txBox="1"/>
          <p:nvPr/>
        </p:nvSpPr>
        <p:spPr>
          <a:xfrm>
            <a:off x="8751254" y="3446317"/>
            <a:ext cx="22523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</a:t>
            </a:r>
          </a:p>
          <a:p>
            <a:pPr algn="ctr"/>
            <a:r>
              <a:rPr lang="en-US" sz="1200" dirty="0">
                <a:hlinkClick r:id="rId2"/>
              </a:rPr>
              <a:t>https://godbolt.org/z/Tqvsv4Tqs</a:t>
            </a:r>
            <a:endParaRPr lang="ru-RU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136323-3072-4E3C-8B8A-FFE6335B63C6}"/>
              </a:ext>
            </a:extLst>
          </p:cNvPr>
          <p:cNvSpPr txBox="1"/>
          <p:nvPr/>
        </p:nvSpPr>
        <p:spPr>
          <a:xfrm>
            <a:off x="8536276" y="6065654"/>
            <a:ext cx="23951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clang-21 -O2 -</a:t>
            </a:r>
            <a:r>
              <a:rPr lang="en-US" sz="1200" dirty="0" err="1"/>
              <a:t>freciprocal</a:t>
            </a:r>
            <a:r>
              <a:rPr lang="en-US" sz="1200" dirty="0"/>
              <a:t>-math</a:t>
            </a:r>
          </a:p>
          <a:p>
            <a:pPr algn="ctr"/>
            <a:r>
              <a:rPr lang="en-US" sz="1200" dirty="0">
                <a:hlinkClick r:id="rId3"/>
              </a:rPr>
              <a:t>https://godbolt.org/z/6sn7G4r4P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618974140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C43F28-ED6B-4157-B006-E640A4B39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Fast math in other languages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7201371-9E42-47E5-A037-9C393952F3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Different languages have different approach towards </a:t>
            </a:r>
            <a:r>
              <a:rPr lang="ru-RU" dirty="0"/>
              <a:t>IEEE 754</a:t>
            </a:r>
          </a:p>
          <a:p>
            <a:r>
              <a:rPr lang="ru-RU" dirty="0"/>
              <a:t>C </a:t>
            </a:r>
            <a:r>
              <a:rPr lang="en-US" dirty="0"/>
              <a:t>Standard disallows </a:t>
            </a:r>
            <a:r>
              <a:rPr lang="ru-RU" dirty="0"/>
              <a:t>fast-math </a:t>
            </a:r>
            <a:r>
              <a:rPr lang="en-US" dirty="0"/>
              <a:t>optimizations (in Annex F)</a:t>
            </a:r>
            <a:endParaRPr lang="ru-RU" dirty="0"/>
          </a:p>
          <a:p>
            <a:pPr lvl="1"/>
            <a:r>
              <a:rPr lang="en-US" dirty="0"/>
              <a:t>Usually can be enabled with flags </a:t>
            </a:r>
            <a:r>
              <a:rPr lang="ru-RU" dirty="0"/>
              <a:t>(</a:t>
            </a:r>
            <a:r>
              <a:rPr lang="en-US" dirty="0"/>
              <a:t>e.g. -</a:t>
            </a:r>
            <a:r>
              <a:rPr lang="en-US" dirty="0" err="1"/>
              <a:t>ffast</a:t>
            </a:r>
            <a:r>
              <a:rPr lang="en-US" dirty="0"/>
              <a:t>-math)</a:t>
            </a:r>
          </a:p>
          <a:p>
            <a:pPr lvl="1"/>
            <a:r>
              <a:rPr lang="en-US" dirty="0"/>
              <a:t>Used e.g. in game engines</a:t>
            </a:r>
            <a:endParaRPr lang="ru-RU" dirty="0"/>
          </a:p>
          <a:p>
            <a:r>
              <a:rPr lang="en-US" dirty="0"/>
              <a:t>Same applies for Swift language</a:t>
            </a:r>
          </a:p>
          <a:p>
            <a:r>
              <a:rPr lang="ru-RU" dirty="0"/>
              <a:t>Java </a:t>
            </a:r>
            <a:r>
              <a:rPr lang="en-US" dirty="0"/>
              <a:t>and </a:t>
            </a:r>
            <a:r>
              <a:rPr lang="ru-RU" dirty="0"/>
              <a:t>C# </a:t>
            </a:r>
            <a:r>
              <a:rPr lang="en-US" dirty="0"/>
              <a:t>allow to perform computations with higher precision than resulting type</a:t>
            </a:r>
            <a:endParaRPr lang="ru-RU" dirty="0"/>
          </a:p>
          <a:p>
            <a:r>
              <a:rPr lang="ru-RU" dirty="0"/>
              <a:t>Go </a:t>
            </a:r>
            <a:r>
              <a:rPr lang="en-US" dirty="0"/>
              <a:t>allows fusion of operations</a:t>
            </a:r>
            <a:endParaRPr lang="ru-RU" dirty="0"/>
          </a:p>
          <a:p>
            <a:pPr lvl="1"/>
            <a:r>
              <a:rPr lang="en-US" dirty="0"/>
              <a:t>Only if there are no explicit casts</a:t>
            </a:r>
            <a:endParaRPr lang="ru-RU" dirty="0"/>
          </a:p>
          <a:p>
            <a:r>
              <a:rPr lang="ru-RU" dirty="0"/>
              <a:t>Fortran </a:t>
            </a:r>
            <a:r>
              <a:rPr lang="en-US" dirty="0"/>
              <a:t>allows </a:t>
            </a:r>
            <a:r>
              <a:rPr lang="ru-RU" dirty="0"/>
              <a:t>IEEE 754 </a:t>
            </a:r>
            <a:r>
              <a:rPr lang="en-US" dirty="0"/>
              <a:t>violations to improve performance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0D3AD9-BA81-47F5-9675-328022089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42764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399977-D071-4915-9CF3-AD6E90E96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Optimizations:</a:t>
            </a:r>
            <a:r>
              <a:rPr lang="ru-RU" dirty="0"/>
              <a:t> </a:t>
            </a:r>
            <a:r>
              <a:rPr lang="en-US" dirty="0"/>
              <a:t>Vectorization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5E61A02-0C79-47F4-9757-4FDEF5361E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475290" cy="1387358"/>
          </a:xfrm>
        </p:spPr>
        <p:txBody>
          <a:bodyPr>
            <a:normAutofit/>
          </a:bodyPr>
          <a:lstStyle/>
          <a:p>
            <a:r>
              <a:rPr lang="ru-RU" dirty="0"/>
              <a:t>-fassociative-math </a:t>
            </a:r>
            <a:r>
              <a:rPr lang="en-US" dirty="0"/>
              <a:t>and</a:t>
            </a:r>
            <a:r>
              <a:rPr lang="ru-RU" dirty="0"/>
              <a:t> -fno-signed-zeros </a:t>
            </a:r>
            <a:r>
              <a:rPr lang="en-US" dirty="0"/>
              <a:t>allow compiler to reorder loop iterations and vectorize loop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E6F5AF-7397-4A72-A8C2-822B85560E6A}"/>
              </a:ext>
            </a:extLst>
          </p:cNvPr>
          <p:cNvSpPr txBox="1"/>
          <p:nvPr/>
        </p:nvSpPr>
        <p:spPr>
          <a:xfrm>
            <a:off x="8313490" y="657189"/>
            <a:ext cx="387851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#include &lt;</a:t>
            </a:r>
            <a:r>
              <a:rPr lang="en-US" sz="1400" b="0" dirty="0" err="1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math.h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</a:p>
          <a:p>
            <a:b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float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sum256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float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arr1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    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float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arr2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float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0.0f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256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++)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+=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arr1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arr2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  <a:endParaRPr lang="en-US" sz="14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C9810B-99BD-4581-87EB-F53F228F6164}"/>
              </a:ext>
            </a:extLst>
          </p:cNvPr>
          <p:cNvSpPr txBox="1"/>
          <p:nvPr/>
        </p:nvSpPr>
        <p:spPr>
          <a:xfrm>
            <a:off x="1038837" y="3676300"/>
            <a:ext cx="480829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.LBB0_1: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movss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xmm1,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mulss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xmm1,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addss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xmm1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# Loop NOT vectorized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inc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6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256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.LBB0_1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714C1F-0B50-4DC5-8E7A-E62473D408AA}"/>
              </a:ext>
            </a:extLst>
          </p:cNvPr>
          <p:cNvSpPr txBox="1"/>
          <p:nvPr/>
        </p:nvSpPr>
        <p:spPr>
          <a:xfrm>
            <a:off x="6920916" y="3456707"/>
            <a:ext cx="494950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.LBB0_1: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movups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xmm1,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xmmword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movups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xmm2,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xmmword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mulps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xmm2, xmm1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addps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xmm2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# Loop vectorized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add    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4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256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.LBB0_1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C1AE06-1EC2-4740-A681-788C3D46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143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C487D9-6E91-4663-A7AF-394E4724BE18}"/>
              </a:ext>
            </a:extLst>
          </p:cNvPr>
          <p:cNvSpPr txBox="1"/>
          <p:nvPr/>
        </p:nvSpPr>
        <p:spPr>
          <a:xfrm>
            <a:off x="1687416" y="5829858"/>
            <a:ext cx="26050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clang-21 -O2 -</a:t>
            </a:r>
            <a:r>
              <a:rPr lang="en-US" sz="1200" dirty="0" err="1"/>
              <a:t>fno</a:t>
            </a:r>
            <a:r>
              <a:rPr lang="en-US" sz="1200" dirty="0"/>
              <a:t>-unroll-loops</a:t>
            </a:r>
          </a:p>
          <a:p>
            <a:pPr algn="ctr"/>
            <a:r>
              <a:rPr lang="en-US" sz="1200" dirty="0">
                <a:hlinkClick r:id="rId2"/>
              </a:rPr>
              <a:t>https://godbolt.org/z/v5vvEb1Th</a:t>
            </a:r>
            <a:endParaRPr lang="ru-RU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DD6282-B11F-4272-84A8-D1466460FE88}"/>
              </a:ext>
            </a:extLst>
          </p:cNvPr>
          <p:cNvSpPr txBox="1"/>
          <p:nvPr/>
        </p:nvSpPr>
        <p:spPr>
          <a:xfrm>
            <a:off x="6542721" y="5829858"/>
            <a:ext cx="5327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clang-21 -O2 -</a:t>
            </a:r>
            <a:r>
              <a:rPr lang="en-US" sz="1200" dirty="0" err="1"/>
              <a:t>fno</a:t>
            </a:r>
            <a:r>
              <a:rPr lang="en-US" sz="1200" dirty="0"/>
              <a:t>-unroll-loops -</a:t>
            </a:r>
            <a:r>
              <a:rPr lang="en-US" sz="1200" dirty="0" err="1"/>
              <a:t>fassociative</a:t>
            </a:r>
            <a:r>
              <a:rPr lang="en-US" sz="1200" dirty="0"/>
              <a:t>-math -</a:t>
            </a:r>
            <a:r>
              <a:rPr lang="en-US" sz="1200" dirty="0" err="1"/>
              <a:t>fno</a:t>
            </a:r>
            <a:r>
              <a:rPr lang="en-US" sz="1200" dirty="0"/>
              <a:t>-signed-zeros</a:t>
            </a:r>
          </a:p>
          <a:p>
            <a:pPr algn="ctr"/>
            <a:r>
              <a:rPr lang="en-US" sz="1200" dirty="0">
                <a:hlinkClick r:id="rId3"/>
              </a:rPr>
              <a:t>https://godbolt.org/z/j6P1ohcTr</a:t>
            </a:r>
            <a:r>
              <a:rPr lang="en-US" sz="1200" dirty="0"/>
              <a:t> 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3993770626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BD9834-62FB-472C-AFFD-03D26EDF6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Optimizations:</a:t>
            </a:r>
            <a:r>
              <a:rPr lang="ru-RU" dirty="0"/>
              <a:t> </a:t>
            </a:r>
            <a:r>
              <a:rPr lang="en-US" dirty="0"/>
              <a:t>Algebraic simplifications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88FB168-9DE9-4371-BBC6-BD627EDCA2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Fast-math </a:t>
            </a:r>
            <a:r>
              <a:rPr lang="en-US" dirty="0"/>
              <a:t>may allow more simplifications or compile-time evaluation</a:t>
            </a:r>
            <a:endParaRPr lang="ru-RU" dirty="0"/>
          </a:p>
          <a:p>
            <a:r>
              <a:rPr lang="ru-RU" dirty="0"/>
              <a:t>-</a:t>
            </a:r>
            <a:r>
              <a:rPr lang="ru-RU" dirty="0" err="1"/>
              <a:t>fassociative-math</a:t>
            </a:r>
            <a:r>
              <a:rPr lang="ru-RU" dirty="0"/>
              <a:t> + -</a:t>
            </a:r>
            <a:r>
              <a:rPr lang="ru-RU" dirty="0" err="1"/>
              <a:t>fno-signed-zeros</a:t>
            </a:r>
            <a:endParaRPr lang="ru-RU" dirty="0"/>
          </a:p>
          <a:p>
            <a:endParaRPr lang="ru-RU" dirty="0"/>
          </a:p>
          <a:p>
            <a:pPr lvl="1"/>
            <a:endParaRPr lang="ru-RU" dirty="0"/>
          </a:p>
          <a:p>
            <a:pPr lvl="1"/>
            <a:endParaRPr lang="ru-RU" dirty="0"/>
          </a:p>
          <a:p>
            <a:r>
              <a:rPr lang="ru-RU" dirty="0"/>
              <a:t>-</a:t>
            </a:r>
            <a:r>
              <a:rPr lang="ru-RU" dirty="0" err="1"/>
              <a:t>fassociative-math</a:t>
            </a:r>
            <a:r>
              <a:rPr lang="ru-RU" dirty="0"/>
              <a:t> + -</a:t>
            </a:r>
            <a:r>
              <a:rPr lang="ru-RU" dirty="0" err="1"/>
              <a:t>fno-signed-zeros</a:t>
            </a:r>
            <a:r>
              <a:rPr lang="ru-RU" dirty="0"/>
              <a:t> + -</a:t>
            </a:r>
            <a:r>
              <a:rPr lang="ru-RU" dirty="0" err="1"/>
              <a:t>freciprocal-math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7CE718-61E5-4419-A704-96DA5378C411}"/>
              </a:ext>
            </a:extLst>
          </p:cNvPr>
          <p:cNvSpPr txBox="1"/>
          <p:nvPr/>
        </p:nvSpPr>
        <p:spPr>
          <a:xfrm>
            <a:off x="779739" y="3103061"/>
            <a:ext cx="264882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3.0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-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3.0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2FB350-F4B5-408A-A0E7-E3BDFFDEA0EA}"/>
              </a:ext>
            </a:extLst>
          </p:cNvPr>
          <p:cNvSpPr txBox="1"/>
          <p:nvPr/>
        </p:nvSpPr>
        <p:spPr>
          <a:xfrm>
            <a:off x="3746208" y="3010727"/>
            <a:ext cx="515574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addsd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qword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[rip + .LCPI0_0] # +3.0 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addsd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qword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[rip + .LCPI0_1] # -3.0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ret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3368B0-B182-42EA-9B1D-E1F3EA0432DD}"/>
              </a:ext>
            </a:extLst>
          </p:cNvPr>
          <p:cNvSpPr txBox="1"/>
          <p:nvPr/>
        </p:nvSpPr>
        <p:spPr>
          <a:xfrm>
            <a:off x="9178472" y="3010727"/>
            <a:ext cx="126900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044B5F-F146-4AED-B5F2-54F90C078C4C}"/>
              </a:ext>
            </a:extLst>
          </p:cNvPr>
          <p:cNvSpPr txBox="1"/>
          <p:nvPr/>
        </p:nvSpPr>
        <p:spPr>
          <a:xfrm>
            <a:off x="779739" y="4945996"/>
            <a:ext cx="264882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3.0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/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3.0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CB00F6-8F31-4E39-918D-61DB5474BC70}"/>
              </a:ext>
            </a:extLst>
          </p:cNvPr>
          <p:cNvSpPr txBox="1"/>
          <p:nvPr/>
        </p:nvSpPr>
        <p:spPr>
          <a:xfrm>
            <a:off x="3746208" y="4776422"/>
            <a:ext cx="4351789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movsd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xmm1, qword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[rip + .LCPI0_0]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mulsd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xmm1 # * 3.0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divsd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xmm1 # / 3.0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ret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2EC2A2-EEAF-483E-8755-5EEC21311B64}"/>
              </a:ext>
            </a:extLst>
          </p:cNvPr>
          <p:cNvSpPr txBox="1"/>
          <p:nvPr/>
        </p:nvSpPr>
        <p:spPr>
          <a:xfrm>
            <a:off x="9178472" y="4914921"/>
            <a:ext cx="13465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ret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6DB4AC-DC8C-4A4B-B2DE-2DC235254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144</a:t>
            </a:fld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514DFE-0C4B-49B5-B1D6-D650641F23FB}"/>
              </a:ext>
            </a:extLst>
          </p:cNvPr>
          <p:cNvSpPr txBox="1"/>
          <p:nvPr/>
        </p:nvSpPr>
        <p:spPr>
          <a:xfrm>
            <a:off x="4635879" y="3800462"/>
            <a:ext cx="24193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</a:t>
            </a:r>
          </a:p>
          <a:p>
            <a:pPr algn="ctr"/>
            <a:r>
              <a:rPr lang="en-US" sz="1200" dirty="0">
                <a:hlinkClick r:id="rId2"/>
              </a:rPr>
              <a:t>https://godbolt.org/z/hjzWejv38</a:t>
            </a:r>
            <a:r>
              <a:rPr lang="en-US" sz="1200" dirty="0"/>
              <a:t> </a:t>
            </a:r>
            <a:endParaRPr lang="ru-RU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3345CD-15FE-47A5-A342-6F2E1A90C644}"/>
              </a:ext>
            </a:extLst>
          </p:cNvPr>
          <p:cNvSpPr txBox="1"/>
          <p:nvPr/>
        </p:nvSpPr>
        <p:spPr>
          <a:xfrm>
            <a:off x="7613475" y="3721545"/>
            <a:ext cx="41661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clang-21 -O2 -</a:t>
            </a:r>
            <a:r>
              <a:rPr lang="en-US" sz="1200" dirty="0" err="1"/>
              <a:t>fassociative</a:t>
            </a:r>
            <a:r>
              <a:rPr lang="en-US" sz="1200" dirty="0"/>
              <a:t>-math -</a:t>
            </a:r>
            <a:r>
              <a:rPr lang="en-US" sz="1200" dirty="0" err="1"/>
              <a:t>fno</a:t>
            </a:r>
            <a:r>
              <a:rPr lang="en-US" sz="1200" dirty="0"/>
              <a:t>-signed-zeros </a:t>
            </a:r>
          </a:p>
          <a:p>
            <a:pPr algn="ctr"/>
            <a:r>
              <a:rPr lang="en-US" sz="1200" dirty="0">
                <a:hlinkClick r:id="rId3"/>
              </a:rPr>
              <a:t>https://godbolt.org/z/a5GME55MM</a:t>
            </a:r>
            <a:r>
              <a:rPr lang="en-US" sz="1200" dirty="0"/>
              <a:t> </a:t>
            </a:r>
            <a:endParaRPr lang="ru-RU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534752-A6EA-4166-8873-FF7375BCD8E0}"/>
              </a:ext>
            </a:extLst>
          </p:cNvPr>
          <p:cNvSpPr txBox="1"/>
          <p:nvPr/>
        </p:nvSpPr>
        <p:spPr>
          <a:xfrm>
            <a:off x="4295571" y="5814955"/>
            <a:ext cx="24283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</a:t>
            </a:r>
          </a:p>
          <a:p>
            <a:pPr algn="ctr"/>
            <a:r>
              <a:rPr lang="en-US" sz="1200" dirty="0">
                <a:hlinkClick r:id="rId4"/>
              </a:rPr>
              <a:t>https://godbolt.org/z/nancn6j8x</a:t>
            </a:r>
            <a:r>
              <a:rPr lang="en-US" sz="1200" dirty="0"/>
              <a:t> </a:t>
            </a:r>
            <a:endParaRPr lang="ru-RU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F91A32-2FAD-4A3B-AA10-88D93EADE8C0}"/>
              </a:ext>
            </a:extLst>
          </p:cNvPr>
          <p:cNvSpPr txBox="1"/>
          <p:nvPr/>
        </p:nvSpPr>
        <p:spPr>
          <a:xfrm>
            <a:off x="7427835" y="5767376"/>
            <a:ext cx="43517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clang-21 -O2 -</a:t>
            </a:r>
            <a:r>
              <a:rPr lang="en-US" sz="1200" dirty="0" err="1"/>
              <a:t>fassociative</a:t>
            </a:r>
            <a:r>
              <a:rPr lang="en-US" sz="1200" dirty="0"/>
              <a:t>-math -</a:t>
            </a:r>
            <a:r>
              <a:rPr lang="en-US" sz="1200" dirty="0" err="1"/>
              <a:t>fno</a:t>
            </a:r>
            <a:r>
              <a:rPr lang="en-US" sz="1200" dirty="0"/>
              <a:t>-signed-zeros -</a:t>
            </a:r>
            <a:r>
              <a:rPr lang="en-US" sz="1200" dirty="0" err="1"/>
              <a:t>freciprocal</a:t>
            </a:r>
            <a:r>
              <a:rPr lang="en-US" sz="1200" dirty="0"/>
              <a:t>-math </a:t>
            </a:r>
          </a:p>
          <a:p>
            <a:pPr algn="ctr"/>
            <a:r>
              <a:rPr lang="en-US" sz="1200" dirty="0">
                <a:hlinkClick r:id="rId5"/>
              </a:rPr>
              <a:t>https://godbolt.org/z/dMeKc8PW9</a:t>
            </a:r>
            <a:r>
              <a:rPr lang="en-US" sz="1200" dirty="0"/>
              <a:t> 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4052005630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990146-9A01-4468-9334-F10CD1678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Optimizations:</a:t>
            </a:r>
            <a:r>
              <a:rPr lang="ru-RU" dirty="0"/>
              <a:t> </a:t>
            </a:r>
            <a:r>
              <a:rPr lang="en-US" dirty="0"/>
              <a:t>Fused instructions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BC74AAC-9B29-4EF6-B0DB-AE0A86A37A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6"/>
            <a:ext cx="10805719" cy="184036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Some architectures support fusion of floating point instructions</a:t>
            </a:r>
            <a:endParaRPr lang="ru-RU" dirty="0"/>
          </a:p>
          <a:p>
            <a:pPr lvl="1"/>
            <a:r>
              <a:rPr lang="en-US" dirty="0"/>
              <a:t>E.g.</a:t>
            </a:r>
            <a:r>
              <a:rPr lang="ru-RU" dirty="0"/>
              <a:t> Fused Multiply Add </a:t>
            </a:r>
            <a:r>
              <a:rPr lang="en-US" dirty="0"/>
              <a:t>in </a:t>
            </a:r>
            <a:r>
              <a:rPr lang="ru-RU" dirty="0"/>
              <a:t>x86-64</a:t>
            </a:r>
          </a:p>
          <a:p>
            <a:r>
              <a:rPr lang="en-US" dirty="0"/>
              <a:t>Rounding of these instructions may be different from sequence of </a:t>
            </a:r>
            <a:r>
              <a:rPr lang="en-US" dirty="0" err="1"/>
              <a:t>roundings</a:t>
            </a:r>
            <a:r>
              <a:rPr lang="en-US" dirty="0"/>
              <a:t> of their primitive operations</a:t>
            </a:r>
            <a:endParaRPr lang="ru-RU" dirty="0"/>
          </a:p>
          <a:p>
            <a:r>
              <a:rPr lang="en-US" dirty="0"/>
              <a:t>Enabled via </a:t>
            </a:r>
            <a:r>
              <a:rPr lang="ru-RU" dirty="0"/>
              <a:t>-ffpcontract=on </a:t>
            </a:r>
            <a:r>
              <a:rPr lang="en-US" dirty="0"/>
              <a:t>flag</a:t>
            </a:r>
            <a:endParaRPr lang="ru-RU" dirty="0"/>
          </a:p>
          <a:p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0F9249-1E2E-4B96-AEB6-17C8288EAD8F}"/>
              </a:ext>
            </a:extLst>
          </p:cNvPr>
          <p:cNvSpPr txBox="1"/>
          <p:nvPr/>
        </p:nvSpPr>
        <p:spPr>
          <a:xfrm>
            <a:off x="4234692" y="3651241"/>
            <a:ext cx="4514861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acc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for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100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++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acc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acc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return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acc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ACE476-CFB8-4342-906B-20BF14BCA69B}"/>
              </a:ext>
            </a:extLst>
          </p:cNvPr>
          <p:cNvSpPr txBox="1"/>
          <p:nvPr/>
        </p:nvSpPr>
        <p:spPr>
          <a:xfrm>
            <a:off x="916498" y="4865115"/>
            <a:ext cx="4650584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.LBB0_1:</a:t>
            </a:r>
          </a:p>
          <a:p>
            <a:r>
              <a:rPr lang="en-US" sz="1300" b="1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300" b="1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mulsd</a:t>
            </a:r>
            <a:r>
              <a:rPr lang="en-US" sz="1300" b="1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xmm1 # multiply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movsd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xmm1, qword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+ 8*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300" b="1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300" b="1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addsd</a:t>
            </a:r>
            <a:r>
              <a:rPr lang="en-US" sz="1300" b="1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xmm1 # add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inc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3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101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.LBB0_1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ret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6A0B84-A047-4AE5-92BF-8F75DD54E0ED}"/>
              </a:ext>
            </a:extLst>
          </p:cNvPr>
          <p:cNvSpPr txBox="1"/>
          <p:nvPr/>
        </p:nvSpPr>
        <p:spPr>
          <a:xfrm>
            <a:off x="5644719" y="4862395"/>
            <a:ext cx="6209668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.LBB0_1: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vmovsd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xmm2, qword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+ 8*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300" b="1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vfmadd213sd     xmm0, xmm1, xmm2 # fused multiply-add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inc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3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vmovapd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xmm1, xmm2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101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.LBB0_1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ret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67DA6F-DD14-4F44-8C8B-66F3020AC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145</a:t>
            </a:fld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EEEE66-5E07-4347-BB91-BD704EA6E1F4}"/>
              </a:ext>
            </a:extLst>
          </p:cNvPr>
          <p:cNvSpPr txBox="1"/>
          <p:nvPr/>
        </p:nvSpPr>
        <p:spPr>
          <a:xfrm>
            <a:off x="1836145" y="6410814"/>
            <a:ext cx="26541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clang-21 -O2 -</a:t>
            </a:r>
            <a:r>
              <a:rPr lang="en-US" sz="1200" dirty="0" err="1"/>
              <a:t>fno</a:t>
            </a:r>
            <a:r>
              <a:rPr lang="en-US" sz="1200" dirty="0"/>
              <a:t>-unroll-loops</a:t>
            </a:r>
          </a:p>
          <a:p>
            <a:pPr algn="ctr"/>
            <a:r>
              <a:rPr lang="en-US" sz="1200" dirty="0">
                <a:hlinkClick r:id="rId2"/>
              </a:rPr>
              <a:t>https://godbolt.org/z/qTTY4r7Yx</a:t>
            </a:r>
            <a:r>
              <a:rPr lang="en-US" sz="1200" dirty="0"/>
              <a:t> </a:t>
            </a:r>
            <a:endParaRPr lang="ru-RU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125A26-7131-44C3-BECD-0D34AEA553D7}"/>
              </a:ext>
            </a:extLst>
          </p:cNvPr>
          <p:cNvSpPr txBox="1"/>
          <p:nvPr/>
        </p:nvSpPr>
        <p:spPr>
          <a:xfrm>
            <a:off x="6744026" y="6410814"/>
            <a:ext cx="42567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clang-21 -O2 -</a:t>
            </a:r>
            <a:r>
              <a:rPr lang="en-US" sz="1200" dirty="0" err="1"/>
              <a:t>fno</a:t>
            </a:r>
            <a:r>
              <a:rPr lang="en-US" sz="1200" dirty="0"/>
              <a:t>-unroll-loops -</a:t>
            </a:r>
            <a:r>
              <a:rPr lang="en-US" sz="1200" dirty="0" err="1"/>
              <a:t>ffp</a:t>
            </a:r>
            <a:r>
              <a:rPr lang="en-US" sz="1200" dirty="0"/>
              <a:t>-contract=on -march=</a:t>
            </a:r>
            <a:r>
              <a:rPr lang="en-US" sz="1200" dirty="0" err="1"/>
              <a:t>haswell</a:t>
            </a:r>
            <a:r>
              <a:rPr lang="en-US" sz="1200" dirty="0"/>
              <a:t> </a:t>
            </a:r>
          </a:p>
          <a:p>
            <a:pPr algn="ctr"/>
            <a:r>
              <a:rPr lang="en-US" sz="1200" dirty="0">
                <a:hlinkClick r:id="rId3"/>
              </a:rPr>
              <a:t>https://godbolt.org/z/zvPTo9fz4</a:t>
            </a:r>
            <a:r>
              <a:rPr lang="en-US" sz="1200" dirty="0"/>
              <a:t> 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383466735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DE3706-717C-4841-B412-04992EDB7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Optimizations:</a:t>
            </a:r>
            <a:r>
              <a:rPr lang="ru-RU" dirty="0"/>
              <a:t> </a:t>
            </a:r>
            <a:r>
              <a:rPr lang="en-US" dirty="0"/>
              <a:t>Finite only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CD7BED-F943-4234-9B1D-87D63C8271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-ffinite-math-only </a:t>
            </a:r>
            <a:r>
              <a:rPr lang="en-US" dirty="0"/>
              <a:t>enables optimizations that rely on lack of </a:t>
            </a:r>
            <a:r>
              <a:rPr lang="ru-RU" dirty="0"/>
              <a:t>NaN </a:t>
            </a:r>
            <a:r>
              <a:rPr lang="en-US" dirty="0"/>
              <a:t>or </a:t>
            </a:r>
            <a:r>
              <a:rPr lang="ru-RU" dirty="0"/>
              <a:t>Inf </a:t>
            </a:r>
            <a:r>
              <a:rPr lang="en-US" dirty="0"/>
              <a:t>values (and corresponding runtime exceptions)</a:t>
            </a:r>
            <a:endParaRPr lang="ru-RU" dirty="0"/>
          </a:p>
          <a:p>
            <a:r>
              <a:rPr lang="en-US" dirty="0"/>
              <a:t>This allows to</a:t>
            </a:r>
            <a:endParaRPr lang="ru-RU" dirty="0"/>
          </a:p>
          <a:p>
            <a:pPr lvl="1"/>
            <a:r>
              <a:rPr lang="en-US" dirty="0"/>
              <a:t>Remove </a:t>
            </a:r>
            <a:r>
              <a:rPr lang="ru-RU" dirty="0"/>
              <a:t>NaN </a:t>
            </a:r>
            <a:r>
              <a:rPr lang="en-US" dirty="0"/>
              <a:t>and </a:t>
            </a:r>
            <a:r>
              <a:rPr lang="ru-RU" dirty="0"/>
              <a:t>Inf</a:t>
            </a:r>
            <a:r>
              <a:rPr lang="en-US" dirty="0"/>
              <a:t> checks</a:t>
            </a:r>
            <a:endParaRPr lang="ru-RU" dirty="0"/>
          </a:p>
          <a:p>
            <a:pPr lvl="1"/>
            <a:r>
              <a:rPr lang="ru-RU" dirty="0"/>
              <a:t>x == x =&gt; </a:t>
            </a:r>
            <a:r>
              <a:rPr lang="ru-RU" dirty="0" err="1"/>
              <a:t>tru</a:t>
            </a:r>
            <a:r>
              <a:rPr lang="en-US" dirty="0"/>
              <a:t>e</a:t>
            </a:r>
            <a:endParaRPr lang="ru-RU" dirty="0"/>
          </a:p>
          <a:p>
            <a:pPr lvl="1"/>
            <a:r>
              <a:rPr lang="ru-RU" dirty="0"/>
              <a:t>x / x =&gt; 1</a:t>
            </a:r>
            <a:endParaRPr lang="en-US" dirty="0"/>
          </a:p>
          <a:p>
            <a:r>
              <a:rPr lang="en-US" dirty="0"/>
              <a:t>With </a:t>
            </a:r>
            <a:r>
              <a:rPr lang="ru-RU" dirty="0"/>
              <a:t>-fno-signed-zeros:</a:t>
            </a:r>
          </a:p>
          <a:p>
            <a:pPr lvl="1"/>
            <a:r>
              <a:rPr lang="en-US" dirty="0"/>
              <a:t>x</a:t>
            </a:r>
            <a:r>
              <a:rPr lang="ru-RU" dirty="0"/>
              <a:t> – x =&gt; 0</a:t>
            </a:r>
          </a:p>
          <a:p>
            <a:pPr lvl="1"/>
            <a:r>
              <a:rPr lang="ru-RU" dirty="0"/>
              <a:t>0 / x =&gt; 0</a:t>
            </a:r>
          </a:p>
          <a:p>
            <a:pPr lvl="1"/>
            <a:r>
              <a:rPr lang="en-US" dirty="0"/>
              <a:t>x</a:t>
            </a:r>
            <a:r>
              <a:rPr lang="ru-RU" dirty="0"/>
              <a:t> * 0 =&gt; 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47CB7-1D3C-40B5-A630-4EF483E48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146</a:t>
            </a:fld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04EE17E-6208-4925-91E2-657258B5CD8E}"/>
              </a:ext>
            </a:extLst>
          </p:cNvPr>
          <p:cNvSpPr txBox="1"/>
          <p:nvPr/>
        </p:nvSpPr>
        <p:spPr>
          <a:xfrm>
            <a:off x="5898774" y="3075794"/>
            <a:ext cx="2212596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n-NO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nn-NO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nn-NO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nn-NO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</a:t>
            </a:r>
            <a:r>
              <a:rPr lang="nn-NO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nn-NO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nn-NO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nn-NO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nn-NO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nn-NO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nn-NO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==</a:t>
            </a:r>
            <a:r>
              <a:rPr lang="nn-NO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nn-NO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nn-NO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0BB48B-A69E-4F8E-B8D2-44C9B28C16C0}"/>
              </a:ext>
            </a:extLst>
          </p:cNvPr>
          <p:cNvSpPr txBox="1"/>
          <p:nvPr/>
        </p:nvSpPr>
        <p:spPr>
          <a:xfrm>
            <a:off x="5898774" y="3959864"/>
            <a:ext cx="2447488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ucomisd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xmm0, xmm0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setnp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al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75C56A-529A-4BD2-8D40-B4A673AA04C7}"/>
              </a:ext>
            </a:extLst>
          </p:cNvPr>
          <p:cNvSpPr txBox="1"/>
          <p:nvPr/>
        </p:nvSpPr>
        <p:spPr>
          <a:xfrm>
            <a:off x="5898774" y="5279617"/>
            <a:ext cx="2078372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mov     al, 1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CFDFF57-87F9-4D97-A0DA-02F2B45F89FB}"/>
              </a:ext>
            </a:extLst>
          </p:cNvPr>
          <p:cNvSpPr txBox="1"/>
          <p:nvPr/>
        </p:nvSpPr>
        <p:spPr>
          <a:xfrm>
            <a:off x="9234447" y="3075793"/>
            <a:ext cx="259849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49DF1C-F45F-4468-8D4D-648CD62BB323}"/>
              </a:ext>
            </a:extLst>
          </p:cNvPr>
          <p:cNvSpPr txBox="1"/>
          <p:nvPr/>
        </p:nvSpPr>
        <p:spPr>
          <a:xfrm>
            <a:off x="9234447" y="3959865"/>
            <a:ext cx="259849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xorpd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xmm1, xmm1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mulsd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xmm1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DAA3AE7-6C19-45DA-8123-51E8798AC11A}"/>
              </a:ext>
            </a:extLst>
          </p:cNvPr>
          <p:cNvSpPr txBox="1"/>
          <p:nvPr/>
        </p:nvSpPr>
        <p:spPr>
          <a:xfrm>
            <a:off x="9234447" y="5279618"/>
            <a:ext cx="2506211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xorps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xmm0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0824CD-234C-4C00-A3C1-46B9D78A2F4D}"/>
              </a:ext>
            </a:extLst>
          </p:cNvPr>
          <p:cNvSpPr txBox="1"/>
          <p:nvPr/>
        </p:nvSpPr>
        <p:spPr>
          <a:xfrm>
            <a:off x="5869412" y="4744334"/>
            <a:ext cx="25062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</a:t>
            </a:r>
          </a:p>
          <a:p>
            <a:pPr algn="ctr"/>
            <a:r>
              <a:rPr lang="en-US" sz="1200" dirty="0">
                <a:hlinkClick r:id="rId2"/>
              </a:rPr>
              <a:t>https://godbolt.org/z/v5YEq7hbY</a:t>
            </a:r>
            <a:r>
              <a:rPr lang="en-US" sz="1200" dirty="0"/>
              <a:t> </a:t>
            </a:r>
            <a:endParaRPr lang="ru-RU" sz="12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AC95D91-B828-4F1B-92F6-A670ED9CA421}"/>
              </a:ext>
            </a:extLst>
          </p:cNvPr>
          <p:cNvSpPr txBox="1"/>
          <p:nvPr/>
        </p:nvSpPr>
        <p:spPr>
          <a:xfrm>
            <a:off x="9325981" y="4744334"/>
            <a:ext cx="25062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</a:t>
            </a:r>
          </a:p>
          <a:p>
            <a:pPr algn="ctr"/>
            <a:r>
              <a:rPr lang="en-US" sz="1200" dirty="0">
                <a:hlinkClick r:id="rId3"/>
              </a:rPr>
              <a:t>https://godbolt.org/z/3e8sM1dh9</a:t>
            </a:r>
            <a:r>
              <a:rPr lang="en-US" sz="1200" dirty="0"/>
              <a:t> </a:t>
            </a:r>
            <a:endParaRPr lang="ru-RU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592067-D70D-4C72-9E1B-E838B225BD39}"/>
              </a:ext>
            </a:extLst>
          </p:cNvPr>
          <p:cNvSpPr txBox="1"/>
          <p:nvPr/>
        </p:nvSpPr>
        <p:spPr>
          <a:xfrm>
            <a:off x="5319188" y="5856364"/>
            <a:ext cx="33717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clang-21 -O2 -</a:t>
            </a:r>
            <a:r>
              <a:rPr lang="en-US" sz="1200" dirty="0" err="1"/>
              <a:t>ffinite</a:t>
            </a:r>
            <a:r>
              <a:rPr lang="en-US" sz="1200" dirty="0"/>
              <a:t>-math-only</a:t>
            </a:r>
          </a:p>
          <a:p>
            <a:pPr algn="ctr"/>
            <a:r>
              <a:rPr lang="en-US" sz="1200" dirty="0">
                <a:hlinkClick r:id="rId4"/>
              </a:rPr>
              <a:t>https://godbolt.org/z/TYab9sndr</a:t>
            </a:r>
            <a:r>
              <a:rPr lang="en-US" sz="1200" dirty="0"/>
              <a:t> </a:t>
            </a:r>
            <a:endParaRPr lang="ru-RU" sz="12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C5C102-9748-4EFE-B65F-80739ABB6D52}"/>
              </a:ext>
            </a:extLst>
          </p:cNvPr>
          <p:cNvSpPr txBox="1"/>
          <p:nvPr/>
        </p:nvSpPr>
        <p:spPr>
          <a:xfrm>
            <a:off x="8801669" y="5877143"/>
            <a:ext cx="33717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clang-21 -O2 -</a:t>
            </a:r>
            <a:r>
              <a:rPr lang="en-US" sz="1200" dirty="0" err="1"/>
              <a:t>ffinite</a:t>
            </a:r>
            <a:r>
              <a:rPr lang="en-US" sz="1200" dirty="0"/>
              <a:t>-math-only -</a:t>
            </a:r>
            <a:r>
              <a:rPr lang="en-US" sz="1200" dirty="0" err="1"/>
              <a:t>fno</a:t>
            </a:r>
            <a:r>
              <a:rPr lang="en-US" sz="1200" dirty="0"/>
              <a:t>-signed-zeros</a:t>
            </a:r>
          </a:p>
          <a:p>
            <a:pPr algn="ctr"/>
            <a:r>
              <a:rPr lang="en-US" sz="1200" dirty="0">
                <a:hlinkClick r:id="rId5"/>
              </a:rPr>
              <a:t>https://godbolt.org/z/zoWrsfr1h</a:t>
            </a:r>
            <a:r>
              <a:rPr lang="en-US" sz="1200" dirty="0"/>
              <a:t> 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2095086443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D6B8C9-D050-44D1-B40D-72137B0D6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6" y="-32203"/>
            <a:ext cx="10515600" cy="1325563"/>
          </a:xfrm>
        </p:spPr>
        <p:txBody>
          <a:bodyPr/>
          <a:lstStyle/>
          <a:p>
            <a:r>
              <a:rPr lang="en-US" dirty="0"/>
              <a:t>Optimizations: </a:t>
            </a:r>
            <a:r>
              <a:rPr lang="en-US" dirty="0" err="1"/>
              <a:t>Errno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82FF212-302F-46CF-954B-BDB1EC4996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6" y="1188326"/>
            <a:ext cx="10515600" cy="2352091"/>
          </a:xfrm>
        </p:spPr>
        <p:txBody>
          <a:bodyPr>
            <a:normAutofit/>
          </a:bodyPr>
          <a:lstStyle/>
          <a:p>
            <a:r>
              <a:rPr lang="en-US" sz="2400" dirty="0"/>
              <a:t>-</a:t>
            </a:r>
            <a:r>
              <a:rPr lang="en-US" sz="2400" dirty="0" err="1"/>
              <a:t>fno</a:t>
            </a:r>
            <a:r>
              <a:rPr lang="en-US" sz="2400" dirty="0"/>
              <a:t>-math-</a:t>
            </a:r>
            <a:r>
              <a:rPr lang="en-US" sz="2400" dirty="0" err="1"/>
              <a:t>errno</a:t>
            </a:r>
            <a:r>
              <a:rPr lang="en-US" sz="2400" dirty="0"/>
              <a:t> flag allows compiler to ignore </a:t>
            </a:r>
            <a:r>
              <a:rPr lang="en-US" sz="2400" dirty="0" err="1"/>
              <a:t>errno</a:t>
            </a:r>
            <a:r>
              <a:rPr lang="en-US" sz="2400" dirty="0"/>
              <a:t> global variable effects in math functions</a:t>
            </a:r>
          </a:p>
          <a:p>
            <a:r>
              <a:rPr lang="en-US" sz="2400" dirty="0"/>
              <a:t>In particular this enables better </a:t>
            </a:r>
            <a:r>
              <a:rPr lang="en-US" sz="2400" dirty="0" err="1"/>
              <a:t>inlining</a:t>
            </a:r>
            <a:r>
              <a:rPr lang="en-US" sz="2400" dirty="0"/>
              <a:t> and simplification of library functions</a:t>
            </a:r>
            <a:endParaRPr lang="ru-RU" sz="2400" dirty="0"/>
          </a:p>
          <a:p>
            <a:r>
              <a:rPr lang="en-US" sz="2400" dirty="0"/>
              <a:t>In Rust standard math operations are compiled to LLVM </a:t>
            </a:r>
            <a:r>
              <a:rPr lang="en-US" sz="2400" dirty="0" err="1"/>
              <a:t>intrinsics</a:t>
            </a:r>
            <a:r>
              <a:rPr lang="en-US" sz="2400" dirty="0"/>
              <a:t> which do not set </a:t>
            </a:r>
            <a:r>
              <a:rPr lang="en-US" sz="2400" dirty="0" err="1"/>
              <a:t>errno</a:t>
            </a:r>
            <a:endParaRPr lang="ru-RU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EF1921-C5E1-4368-8B93-3007242A574E}"/>
              </a:ext>
            </a:extLst>
          </p:cNvPr>
          <p:cNvSpPr txBox="1"/>
          <p:nvPr/>
        </p:nvSpPr>
        <p:spPr>
          <a:xfrm>
            <a:off x="4429122" y="3489112"/>
            <a:ext cx="333375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</a:rPr>
              <a:t>xorpd</a:t>
            </a:r>
            <a:r>
              <a:rPr lang="en-US" sz="1400" b="0" dirty="0">
                <a:effectLst/>
                <a:latin typeface="Consolas" panose="020B0609020204030204" pitchFamily="49" charset="0"/>
              </a:rPr>
              <a:t>   xmm1, xmm1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</a:rPr>
              <a:t>ucomisd</a:t>
            </a:r>
            <a:r>
              <a:rPr lang="en-US" sz="1400" b="0" dirty="0">
                <a:effectLst/>
                <a:latin typeface="Consolas" panose="020B0609020204030204" pitchFamily="49" charset="0"/>
              </a:rPr>
              <a:t> xmm0, xmm1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</a:rPr>
              <a:t>jb</a:t>
            </a:r>
            <a:r>
              <a:rPr lang="en-US" sz="1400" b="0" dirty="0">
                <a:effectLst/>
                <a:latin typeface="Consolas" panose="020B0609020204030204" pitchFamily="49" charset="0"/>
              </a:rPr>
              <a:t>      </a:t>
            </a:r>
            <a:r>
              <a:rPr lang="en-US" sz="1400" b="0" dirty="0" err="1">
                <a:effectLst/>
                <a:latin typeface="Consolas" panose="020B0609020204030204" pitchFamily="49" charset="0"/>
              </a:rPr>
              <a:t>sqrt@PLT</a:t>
            </a:r>
            <a:endParaRPr lang="en-US" sz="1400" b="0" dirty="0"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</a:rPr>
              <a:t>sqrtsd</a:t>
            </a:r>
            <a:r>
              <a:rPr lang="en-US" sz="1400" b="0" dirty="0">
                <a:effectLst/>
                <a:latin typeface="Consolas" panose="020B0609020204030204" pitchFamily="49" charset="0"/>
              </a:rPr>
              <a:t>  xmm0, xmm0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        ret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5D6AF7-7BE5-4569-9697-CEB59D778584}"/>
              </a:ext>
            </a:extLst>
          </p:cNvPr>
          <p:cNvSpPr txBox="1"/>
          <p:nvPr/>
        </p:nvSpPr>
        <p:spPr>
          <a:xfrm>
            <a:off x="8170882" y="3489112"/>
            <a:ext cx="36755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</a:rPr>
              <a:t>sqrtsd</a:t>
            </a:r>
            <a:r>
              <a:rPr lang="en-US" sz="1400" b="0" dirty="0">
                <a:effectLst/>
                <a:latin typeface="Consolas" panose="020B0609020204030204" pitchFamily="49" charset="0"/>
              </a:rPr>
              <a:t>  xmm0, xmm0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        ret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760C2C-DCF2-4072-AE07-ED402A48E2B2}"/>
              </a:ext>
            </a:extLst>
          </p:cNvPr>
          <p:cNvSpPr txBox="1"/>
          <p:nvPr/>
        </p:nvSpPr>
        <p:spPr>
          <a:xfrm>
            <a:off x="5554207" y="4824213"/>
            <a:ext cx="10835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</a:t>
            </a:r>
            <a:endParaRPr lang="ru-RU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DC2D30-8677-4DA0-AA44-E7F49F824A53}"/>
              </a:ext>
            </a:extLst>
          </p:cNvPr>
          <p:cNvSpPr txBox="1"/>
          <p:nvPr/>
        </p:nvSpPr>
        <p:spPr>
          <a:xfrm>
            <a:off x="8791661" y="4825360"/>
            <a:ext cx="21979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clang-21 -O2 -</a:t>
            </a:r>
            <a:r>
              <a:rPr lang="en-US" sz="1200" dirty="0" err="1"/>
              <a:t>fno</a:t>
            </a:r>
            <a:r>
              <a:rPr lang="en-US" sz="1200" dirty="0"/>
              <a:t>-math-</a:t>
            </a:r>
            <a:r>
              <a:rPr lang="en-US" sz="1200" dirty="0" err="1"/>
              <a:t>errno</a:t>
            </a:r>
            <a:endParaRPr lang="ru-RU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8D7BA7-BBBE-472C-A9DA-0216DBB92A93}"/>
              </a:ext>
            </a:extLst>
          </p:cNvPr>
          <p:cNvSpPr txBox="1"/>
          <p:nvPr/>
        </p:nvSpPr>
        <p:spPr>
          <a:xfrm>
            <a:off x="838200" y="5344129"/>
            <a:ext cx="36755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pub </a:t>
            </a:r>
            <a:r>
              <a:rPr lang="en-US" sz="1400" b="0" dirty="0" err="1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f64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f64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sqrt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2F08A6-71E4-4144-B17E-9CFA8EED3615}"/>
              </a:ext>
            </a:extLst>
          </p:cNvPr>
          <p:cNvSpPr txBox="1"/>
          <p:nvPr/>
        </p:nvSpPr>
        <p:spPr>
          <a:xfrm>
            <a:off x="4429124" y="5344129"/>
            <a:ext cx="383167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</a:rPr>
              <a:t>sqrtsd</a:t>
            </a:r>
            <a:r>
              <a:rPr lang="en-US" sz="1400" b="0" dirty="0">
                <a:effectLst/>
                <a:latin typeface="Consolas" panose="020B0609020204030204" pitchFamily="49" charset="0"/>
              </a:rPr>
              <a:t>  xmm0, xmm0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        ret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381C4F-6C5C-49AF-992D-B06DB6EA55C7}"/>
              </a:ext>
            </a:extLst>
          </p:cNvPr>
          <p:cNvSpPr txBox="1"/>
          <p:nvPr/>
        </p:nvSpPr>
        <p:spPr>
          <a:xfrm>
            <a:off x="838196" y="3489112"/>
            <a:ext cx="333375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#include &lt;</a:t>
            </a:r>
            <a:r>
              <a:rPr lang="en-US" sz="1400" b="0" dirty="0" err="1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math.h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sqrt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95067104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1E3270-ABF2-44E4-8E10-A82FDCFD3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fast-math:</a:t>
            </a:r>
            <a:r>
              <a:rPr lang="ru-RU" dirty="0"/>
              <a:t> </a:t>
            </a:r>
            <a:r>
              <a:rPr lang="en-US" dirty="0"/>
              <a:t>Checks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D80A5FB-358D-4DC4-BD27-36F77C5C0E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Usage of </a:t>
            </a:r>
            <a:r>
              <a:rPr lang="ru-RU" dirty="0"/>
              <a:t>Inf </a:t>
            </a:r>
            <a:r>
              <a:rPr lang="en-US" dirty="0"/>
              <a:t>or </a:t>
            </a:r>
            <a:r>
              <a:rPr lang="ru-RU" dirty="0"/>
              <a:t>NaN </a:t>
            </a:r>
            <a:r>
              <a:rPr lang="en-US" dirty="0"/>
              <a:t>with </a:t>
            </a:r>
            <a:r>
              <a:rPr lang="ru-RU" dirty="0"/>
              <a:t>-ffinite-math-only </a:t>
            </a:r>
            <a:r>
              <a:rPr lang="en-US" dirty="0"/>
              <a:t>is </a:t>
            </a:r>
            <a:r>
              <a:rPr lang="ru-RU" dirty="0"/>
              <a:t>UB</a:t>
            </a:r>
          </a:p>
          <a:p>
            <a:r>
              <a:rPr lang="en-US" dirty="0"/>
              <a:t>Explicit checks for such values will be removed by compiler</a:t>
            </a:r>
            <a:endParaRPr lang="ru-RU" dirty="0"/>
          </a:p>
          <a:p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6D071A-B244-42A7-AB61-B467229CF366}"/>
              </a:ext>
            </a:extLst>
          </p:cNvPr>
          <p:cNvSpPr txBox="1"/>
          <p:nvPr/>
        </p:nvSpPr>
        <p:spPr>
          <a:xfrm>
            <a:off x="4652394" y="3932881"/>
            <a:ext cx="241393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endParaRPr lang="en-US" sz="14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ucomiss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xmm0, xmm0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setp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al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119348-F5D5-4A35-886F-EF58F443C517}"/>
              </a:ext>
            </a:extLst>
          </p:cNvPr>
          <p:cNvSpPr txBox="1"/>
          <p:nvPr/>
        </p:nvSpPr>
        <p:spPr>
          <a:xfrm>
            <a:off x="8738532" y="3932881"/>
            <a:ext cx="241393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endParaRPr lang="en-US" sz="14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52568A-F30B-4B4E-9874-2510A3E2F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148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3EB3BD-5F1B-45C4-8BF0-7EC9697A41CE}"/>
              </a:ext>
            </a:extLst>
          </p:cNvPr>
          <p:cNvSpPr txBox="1"/>
          <p:nvPr/>
        </p:nvSpPr>
        <p:spPr>
          <a:xfrm>
            <a:off x="1050539" y="4001294"/>
            <a:ext cx="241393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#include &lt;</a:t>
            </a:r>
            <a:r>
              <a:rPr lang="en-US" sz="1400" b="0" dirty="0" err="1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math.h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endParaRPr lang="en-US" sz="1400" b="0" dirty="0">
              <a:solidFill>
                <a:srgbClr val="0000FF"/>
              </a:solidFill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float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isnan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D0B82D-F98E-4F1D-8579-AB53A9C82E70}"/>
              </a:ext>
            </a:extLst>
          </p:cNvPr>
          <p:cNvSpPr txBox="1"/>
          <p:nvPr/>
        </p:nvSpPr>
        <p:spPr>
          <a:xfrm>
            <a:off x="4399239" y="5127931"/>
            <a:ext cx="25215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</a:t>
            </a:r>
          </a:p>
          <a:p>
            <a:pPr algn="ctr"/>
            <a:r>
              <a:rPr lang="en-US" sz="1200" dirty="0">
                <a:hlinkClick r:id="rId2"/>
              </a:rPr>
              <a:t>https://godbolt.org/z/MPPoc5oea</a:t>
            </a:r>
            <a:r>
              <a:rPr lang="en-US" sz="1200" dirty="0"/>
              <a:t> </a:t>
            </a:r>
            <a:endParaRPr lang="ru-RU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D324E8-C8F7-4DEF-903D-34C79F347DE7}"/>
              </a:ext>
            </a:extLst>
          </p:cNvPr>
          <p:cNvSpPr txBox="1"/>
          <p:nvPr/>
        </p:nvSpPr>
        <p:spPr>
          <a:xfrm>
            <a:off x="7856203" y="5127930"/>
            <a:ext cx="33717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clang-21 -O2 -</a:t>
            </a:r>
            <a:r>
              <a:rPr lang="en-US" sz="1200" dirty="0" err="1"/>
              <a:t>ffinite</a:t>
            </a:r>
            <a:r>
              <a:rPr lang="en-US" sz="1200" dirty="0"/>
              <a:t>-math-only</a:t>
            </a:r>
          </a:p>
          <a:p>
            <a:pPr algn="ctr"/>
            <a:r>
              <a:rPr lang="en-US" sz="1200" dirty="0">
                <a:hlinkClick r:id="rId3"/>
              </a:rPr>
              <a:t>https://godbolt.org/z/nv33ffaqx</a:t>
            </a:r>
            <a:r>
              <a:rPr lang="en-US" sz="1200" dirty="0"/>
              <a:t> 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3673293446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49D767-F1F1-444D-BE14-F9361F9D8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fast-math:</a:t>
            </a:r>
            <a:r>
              <a:rPr lang="ru-RU" dirty="0"/>
              <a:t> </a:t>
            </a:r>
            <a:r>
              <a:rPr lang="en-US" dirty="0"/>
              <a:t>Rounding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F0D89A5-AB52-4606-AA47-FC70E5569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 algorithms use special order of computations to reduce rounding error</a:t>
            </a:r>
            <a:endParaRPr lang="ru-RU" dirty="0"/>
          </a:p>
          <a:p>
            <a:r>
              <a:rPr lang="en-US" dirty="0"/>
              <a:t>With </a:t>
            </a:r>
            <a:r>
              <a:rPr lang="ru-RU" dirty="0"/>
              <a:t>-fassociative-math</a:t>
            </a:r>
            <a:r>
              <a:rPr lang="en-US" dirty="0"/>
              <a:t> compiler may ignore this order and </a:t>
            </a:r>
            <a:r>
              <a:rPr lang="ru-RU" dirty="0"/>
              <a:t>“</a:t>
            </a:r>
            <a:r>
              <a:rPr lang="en-US" dirty="0"/>
              <a:t>optimize</a:t>
            </a:r>
            <a:r>
              <a:rPr lang="ru-RU" dirty="0"/>
              <a:t>” </a:t>
            </a:r>
            <a:r>
              <a:rPr lang="en-US" dirty="0"/>
              <a:t>these algorithms as if there is no rounding</a:t>
            </a:r>
            <a:endParaRPr lang="ru-RU" dirty="0"/>
          </a:p>
          <a:p>
            <a:r>
              <a:rPr lang="en-US" dirty="0"/>
              <a:t>E.g. Kahan algorithm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308C45-F611-4BC0-8933-C86598D3607C}"/>
              </a:ext>
            </a:extLst>
          </p:cNvPr>
          <p:cNvSpPr txBox="1"/>
          <p:nvPr/>
        </p:nvSpPr>
        <p:spPr>
          <a:xfrm>
            <a:off x="859173" y="4338546"/>
            <a:ext cx="3160552" cy="189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float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sum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float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arr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float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0.0f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for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256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++)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arr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return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87C7A0-97E4-449E-9C5D-17FB32756990}"/>
              </a:ext>
            </a:extLst>
          </p:cNvPr>
          <p:cNvSpPr txBox="1"/>
          <p:nvPr/>
        </p:nvSpPr>
        <p:spPr>
          <a:xfrm>
            <a:off x="8896566" y="4122963"/>
            <a:ext cx="2959216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float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sum_kahan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float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arr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float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t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0.0f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256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++)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arr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-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-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-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t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0C19F9-03D7-4954-A7F3-4491F2C5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149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1F8ACF-7BA0-40A6-A848-BFDD1AAA96C3}"/>
              </a:ext>
            </a:extLst>
          </p:cNvPr>
          <p:cNvSpPr txBox="1"/>
          <p:nvPr/>
        </p:nvSpPr>
        <p:spPr>
          <a:xfrm>
            <a:off x="4793611" y="4122963"/>
            <a:ext cx="3378666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sum_kahan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xorps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xmm0, xmm0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endParaRPr lang="en-US" sz="13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.LBB0_1: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addss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xmm0,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inc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3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256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 .LBB0_1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D8F462-D699-41AF-871A-8A6A386834DF}"/>
              </a:ext>
            </a:extLst>
          </p:cNvPr>
          <p:cNvSpPr txBox="1"/>
          <p:nvPr/>
        </p:nvSpPr>
        <p:spPr>
          <a:xfrm>
            <a:off x="4183658" y="6214359"/>
            <a:ext cx="4350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</a:t>
            </a:r>
            <a:r>
              <a:rPr lang="ru-RU" sz="1200" dirty="0"/>
              <a:t> </a:t>
            </a:r>
            <a:r>
              <a:rPr lang="en-US" sz="1200" dirty="0"/>
              <a:t>-</a:t>
            </a:r>
            <a:r>
              <a:rPr lang="en-US" sz="1200" dirty="0" err="1"/>
              <a:t>ffast</a:t>
            </a:r>
            <a:r>
              <a:rPr lang="en-US" sz="1200" dirty="0"/>
              <a:t>-math -</a:t>
            </a:r>
            <a:r>
              <a:rPr lang="en-US" sz="1200" dirty="0" err="1"/>
              <a:t>fno</a:t>
            </a:r>
            <a:r>
              <a:rPr lang="en-US" sz="1200" dirty="0"/>
              <a:t>-unroll-loops -</a:t>
            </a:r>
            <a:r>
              <a:rPr lang="en-US" sz="1200" dirty="0" err="1"/>
              <a:t>fno</a:t>
            </a:r>
            <a:r>
              <a:rPr lang="en-US" sz="1200" dirty="0"/>
              <a:t>-vectorize</a:t>
            </a:r>
          </a:p>
          <a:p>
            <a:pPr algn="ctr"/>
            <a:r>
              <a:rPr lang="en-US" sz="1200" dirty="0">
                <a:hlinkClick r:id="rId2"/>
              </a:rPr>
              <a:t>https://godbolt.org/z/rYebWsfco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3352173829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6B7337-8609-465A-BEB9-ABD904AD2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approach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F31CD8-B1E0-4D6C-80F8-763B791F8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 dirty="0">
                <a:solidFill>
                  <a:srgbClr val="000000"/>
                </a:solidFill>
                <a:latin typeface="Calibri (Body)"/>
              </a:rPr>
              <a:t>Developers of Rust rejected to enable opportunities for global fast-math optimizations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 dirty="0">
                <a:solidFill>
                  <a:srgbClr val="000000"/>
                </a:solidFill>
                <a:latin typeface="Calibri (Body)"/>
              </a:rPr>
              <a:t>Due to potentially unsafe usage of these optimizations by users (especially in project dependencies)</a:t>
            </a:r>
          </a:p>
          <a:p>
            <a:endParaRPr lang="ru-RU" dirty="0">
              <a:latin typeface="Calibri (Body)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00C81D-7AEE-4A4B-BC75-A60742093FB1}"/>
              </a:ext>
            </a:extLst>
          </p:cNvPr>
          <p:cNvSpPr txBox="1"/>
          <p:nvPr/>
        </p:nvSpPr>
        <p:spPr>
          <a:xfrm>
            <a:off x="1784860" y="4160846"/>
            <a:ext cx="835333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“Everything about this flag fundamentally clashes with the idea of robust, compositional system design. It was a terrible mistake to ever add it to C compilers, and Rust should not repeat that mistake. Rust should instead explore alternative, less fragile ways of exposing those semantics.” (Ralf Jung, </a:t>
            </a:r>
            <a:r>
              <a:rPr lang="en-US" dirty="0">
                <a:hlinkClick r:id="rId2"/>
              </a:rPr>
              <a:t>rust #21690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D418B9-E011-4ACB-926D-71D6681AC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583487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39D9B6-C96B-4D7F-8B0B-6DAF21DD4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Workarounds: </a:t>
            </a:r>
            <a:r>
              <a:rPr lang="en-US" dirty="0" err="1"/>
              <a:t>Intrinsics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6B6F7E1-D109-4CAD-BA2F-3A2E49CD6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2422"/>
          </a:xfrm>
        </p:spPr>
        <p:txBody>
          <a:bodyPr>
            <a:normAutofit/>
          </a:bodyPr>
          <a:lstStyle/>
          <a:p>
            <a:r>
              <a:rPr lang="en-US" dirty="0"/>
              <a:t>Rust provides dedicated </a:t>
            </a:r>
            <a:r>
              <a:rPr lang="en-US" dirty="0" err="1"/>
              <a:t>intrinsics</a:t>
            </a:r>
            <a:r>
              <a:rPr lang="en-US" dirty="0"/>
              <a:t> for enabling fast-math optimizations locally</a:t>
            </a:r>
            <a:endParaRPr lang="ru-RU" dirty="0"/>
          </a:p>
          <a:p>
            <a:pPr lvl="1"/>
            <a:r>
              <a:rPr lang="en-US" dirty="0"/>
              <a:t>std::</a:t>
            </a:r>
            <a:r>
              <a:rPr lang="en-US" dirty="0" err="1"/>
              <a:t>intrinsics</a:t>
            </a:r>
            <a:r>
              <a:rPr lang="en-US" dirty="0"/>
              <a:t>::f{op}_fast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intrinsics</a:t>
            </a:r>
            <a:r>
              <a:rPr lang="en-US" dirty="0"/>
              <a:t>::f{op}_algebraic</a:t>
            </a:r>
          </a:p>
          <a:p>
            <a:pPr lvl="1"/>
            <a:r>
              <a:rPr lang="en-US" dirty="0"/>
              <a:t>f(16/32/64)::algebraic_{op}</a:t>
            </a:r>
          </a:p>
          <a:p>
            <a:r>
              <a:rPr lang="en-US" dirty="0"/>
              <a:t>Disadvantages:</a:t>
            </a:r>
          </a:p>
          <a:p>
            <a:pPr lvl="1"/>
            <a:r>
              <a:rPr lang="en-US" dirty="0"/>
              <a:t>Currently require nightly (unstable) compiler build</a:t>
            </a:r>
            <a:endParaRPr lang="ru-RU" dirty="0"/>
          </a:p>
          <a:p>
            <a:pPr lvl="1"/>
            <a:r>
              <a:rPr lang="en-US" dirty="0"/>
              <a:t>Currently there are </a:t>
            </a:r>
            <a:r>
              <a:rPr lang="en-US" dirty="0">
                <a:hlinkClick r:id="rId2"/>
              </a:rPr>
              <a:t>no wrapper types</a:t>
            </a:r>
            <a:r>
              <a:rPr lang="ru-RU" dirty="0"/>
              <a:t> </a:t>
            </a:r>
            <a:r>
              <a:rPr lang="en-US" dirty="0"/>
              <a:t>which hide usage of </a:t>
            </a:r>
            <a:r>
              <a:rPr lang="en-US" dirty="0" err="1"/>
              <a:t>intrinsics</a:t>
            </a:r>
            <a:endParaRPr lang="ru-RU" dirty="0"/>
          </a:p>
          <a:p>
            <a:pPr lvl="2"/>
            <a:r>
              <a:rPr lang="en-US" dirty="0"/>
              <a:t>Authors of math libraries have to implement two versions of code</a:t>
            </a:r>
            <a:r>
              <a:rPr lang="ru-RU" dirty="0"/>
              <a:t> </a:t>
            </a:r>
            <a:r>
              <a:rPr lang="en-US" dirty="0"/>
              <a:t>(fast-math and normal</a:t>
            </a:r>
            <a:r>
              <a:rPr lang="ru-RU" dirty="0"/>
              <a:t>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4DBE34-2E5E-4605-8148-D9EE32EE1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665599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060AD777-E85A-4318-A630-B28BFE8865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070" y="921608"/>
            <a:ext cx="10452847" cy="5574853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BAAFFB-63EE-4302-A3DE-8AE9ACC4E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353" y="-127934"/>
            <a:ext cx="10515600" cy="1325563"/>
          </a:xfrm>
        </p:spPr>
        <p:txBody>
          <a:bodyPr/>
          <a:lstStyle/>
          <a:p>
            <a:r>
              <a:rPr lang="en-US" dirty="0"/>
              <a:t>Performance with</a:t>
            </a:r>
            <a:r>
              <a:rPr lang="ru-RU" dirty="0"/>
              <a:t> </a:t>
            </a:r>
            <a:r>
              <a:rPr lang="en-US" dirty="0"/>
              <a:t>fast-math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5D02E0-272E-44F8-93EE-C57180504248}"/>
              </a:ext>
            </a:extLst>
          </p:cNvPr>
          <p:cNvSpPr txBox="1"/>
          <p:nvPr/>
        </p:nvSpPr>
        <p:spPr>
          <a:xfrm>
            <a:off x="228039" y="6488668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Compiler branch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E33E2C-B8F3-48A6-8F02-A47D0AA28ED2}"/>
              </a:ext>
            </a:extLst>
          </p:cNvPr>
          <p:cNvSpPr txBox="1"/>
          <p:nvPr/>
        </p:nvSpPr>
        <p:spPr>
          <a:xfrm>
            <a:off x="2451286" y="6492261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Compiler branch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883CBC-4EEA-4DC8-ADE5-EE92BC220BAA}"/>
              </a:ext>
            </a:extLst>
          </p:cNvPr>
          <p:cNvSpPr txBox="1"/>
          <p:nvPr/>
        </p:nvSpPr>
        <p:spPr>
          <a:xfrm>
            <a:off x="3856166" y="4559790"/>
            <a:ext cx="2193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Issues in </a:t>
            </a:r>
            <a:r>
              <a:rPr lang="en-US" dirty="0" err="1"/>
              <a:t>autovectorizer</a:t>
            </a:r>
            <a:endParaRPr lang="ru-RU" dirty="0"/>
          </a:p>
        </p:txBody>
      </p:sp>
      <p:cxnSp>
        <p:nvCxnSpPr>
          <p:cNvPr id="9" name="Прямая со стрелкой 5">
            <a:extLst>
              <a:ext uri="{FF2B5EF4-FFF2-40B4-BE49-F238E27FC236}">
                <a16:creationId xmlns:a16="http://schemas.microsoft.com/office/drawing/2014/main" id="{C0846188-649E-4FEA-95E0-4CE30859AD3F}"/>
              </a:ext>
            </a:extLst>
          </p:cNvPr>
          <p:cNvCxnSpPr>
            <a:cxnSpLocks/>
          </p:cNvCxnSpPr>
          <p:nvPr/>
        </p:nvCxnSpPr>
        <p:spPr>
          <a:xfrm flipH="1">
            <a:off x="2891790" y="4882955"/>
            <a:ext cx="1160257" cy="4026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6">
            <a:extLst>
              <a:ext uri="{FF2B5EF4-FFF2-40B4-BE49-F238E27FC236}">
                <a16:creationId xmlns:a16="http://schemas.microsoft.com/office/drawing/2014/main" id="{0304FF6F-07FD-4111-9A25-21D60217C443}"/>
              </a:ext>
            </a:extLst>
          </p:cNvPr>
          <p:cNvCxnSpPr>
            <a:cxnSpLocks/>
          </p:cNvCxnSpPr>
          <p:nvPr/>
        </p:nvCxnSpPr>
        <p:spPr>
          <a:xfrm>
            <a:off x="5755341" y="4882955"/>
            <a:ext cx="1246094" cy="4026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D7DD61-30FD-4C6A-99BE-0779B8D36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422543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Rust</a:t>
            </a:r>
            <a:r>
              <a:rPr lang="ru-RU" dirty="0"/>
              <a:t> </a:t>
            </a:r>
            <a:r>
              <a:rPr lang="en-US" dirty="0"/>
              <a:t>does not provide a way to enable fast-math optimizations globally</a:t>
            </a:r>
            <a:endParaRPr lang="ru-RU" dirty="0"/>
          </a:p>
          <a:p>
            <a:r>
              <a:rPr lang="en-US" dirty="0"/>
              <a:t>Can be enabled for particular operations via </a:t>
            </a:r>
            <a:r>
              <a:rPr lang="en-US" dirty="0" err="1"/>
              <a:t>intrinsics</a:t>
            </a:r>
            <a:endParaRPr lang="ru-RU" dirty="0"/>
          </a:p>
          <a:p>
            <a:pPr lvl="1"/>
            <a:r>
              <a:rPr lang="en-US" dirty="0"/>
              <a:t>Currently only in nightly toolchain</a:t>
            </a:r>
            <a:endParaRPr lang="ru-RU" dirty="0"/>
          </a:p>
          <a:p>
            <a:r>
              <a:rPr lang="en-US" dirty="0"/>
              <a:t>Fast-math may both improve and degrade performance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388399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Recommended readings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Optimizations enabled by -</a:t>
            </a:r>
            <a:r>
              <a:rPr lang="en-US" dirty="0" err="1">
                <a:hlinkClick r:id="rId2"/>
              </a:rPr>
              <a:t>ffast</a:t>
            </a:r>
            <a:r>
              <a:rPr lang="en-US" dirty="0">
                <a:hlinkClick r:id="rId2"/>
              </a:rPr>
              <a:t>-math</a:t>
            </a:r>
            <a:r>
              <a:rPr lang="en-US" dirty="0"/>
              <a:t> (</a:t>
            </a:r>
            <a:r>
              <a:rPr lang="en-US" dirty="0" err="1"/>
              <a:t>Krister</a:t>
            </a:r>
            <a:r>
              <a:rPr lang="en-US" dirty="0"/>
              <a:t> </a:t>
            </a:r>
            <a:r>
              <a:rPr lang="en-US" dirty="0" err="1"/>
              <a:t>Walfridsson</a:t>
            </a:r>
            <a:r>
              <a:rPr lang="en-US" dirty="0"/>
              <a:t>, GCC)</a:t>
            </a:r>
            <a:endParaRPr lang="en-US" dirty="0">
              <a:hlinkClick r:id="rId3"/>
            </a:endParaRPr>
          </a:p>
          <a:p>
            <a:r>
              <a:rPr lang="en-US" dirty="0">
                <a:hlinkClick r:id="rId3"/>
              </a:rPr>
              <a:t>Towards Useful Fast-Math</a:t>
            </a:r>
            <a:r>
              <a:rPr lang="en-US" dirty="0"/>
              <a:t> (LLVM Dev Meeting 2024)</a:t>
            </a:r>
            <a:endParaRPr lang="en-US" dirty="0">
              <a:hlinkClick r:id="rId4"/>
            </a:endParaRPr>
          </a:p>
          <a:p>
            <a:r>
              <a:rPr lang="en-US" dirty="0">
                <a:hlinkClick r:id="rId4"/>
              </a:rPr>
              <a:t>Beware of fast-math</a:t>
            </a:r>
            <a:endParaRPr lang="en-US" dirty="0"/>
          </a:p>
          <a:p>
            <a:r>
              <a:rPr lang="en-US" dirty="0">
                <a:hlinkClick r:id="rId5"/>
              </a:rPr>
              <a:t>P3715R0: Tightening floating-point semantics for C++</a:t>
            </a:r>
            <a:endParaRPr lang="en-US" dirty="0"/>
          </a:p>
          <a:p>
            <a:r>
              <a:rPr lang="en-US" dirty="0">
                <a:hlinkClick r:id="rId6"/>
              </a:rPr>
              <a:t>Taming Floating-Point Sums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33408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FF772-26C0-4B3E-964B-0964EB9F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65113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170DB-3C9A-48F2-8509-324EDEBEF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30" y="0"/>
            <a:ext cx="10515600" cy="1325563"/>
          </a:xfrm>
        </p:spPr>
        <p:txBody>
          <a:bodyPr/>
          <a:lstStyle/>
          <a:p>
            <a:r>
              <a:rPr lang="en-US" dirty="0"/>
              <a:t>Speedup with disabling (most) Rust checks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BD4754-DAF3-4E9D-9901-0D8F2F73F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156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3DD279-E2DF-496F-B6DF-186FC9B6574D}"/>
              </a:ext>
            </a:extLst>
          </p:cNvPr>
          <p:cNvSpPr txBox="1"/>
          <p:nvPr/>
        </p:nvSpPr>
        <p:spPr>
          <a:xfrm>
            <a:off x="9108141" y="1204885"/>
            <a:ext cx="253252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Disabled bounds and arithmetic checks</a:t>
            </a:r>
            <a:r>
              <a:rPr lang="ru-RU" dirty="0"/>
              <a:t>, </a:t>
            </a:r>
            <a:r>
              <a:rPr lang="en-US" dirty="0"/>
              <a:t>overflow checks in </a:t>
            </a:r>
            <a:r>
              <a:rPr lang="en-US" dirty="0" err="1"/>
              <a:t>stdlib</a:t>
            </a:r>
            <a:r>
              <a:rPr lang="en-US" dirty="0"/>
              <a:t> containers, UTF-8 string checks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 counting overheads for redundant initializations (expecting &gt;= 1%)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D8AB6A-C8AB-46FD-AE36-196F57572CB1}"/>
              </a:ext>
            </a:extLst>
          </p:cNvPr>
          <p:cNvSpPr txBox="1"/>
          <p:nvPr/>
        </p:nvSpPr>
        <p:spPr>
          <a:xfrm>
            <a:off x="228039" y="6488668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Compiler branch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F1B6B4-48A6-4E20-9ABE-93BC6F2335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5279" y="1178018"/>
            <a:ext cx="6701117" cy="536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637946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170DB-3C9A-48F2-8509-324EDEBEF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30" y="0"/>
            <a:ext cx="10515600" cy="1325563"/>
          </a:xfrm>
        </p:spPr>
        <p:txBody>
          <a:bodyPr/>
          <a:lstStyle/>
          <a:p>
            <a:r>
              <a:rPr lang="en-US" dirty="0"/>
              <a:t>Slowdown in Hardened C++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BD4754-DAF3-4E9D-9901-0D8F2F73F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157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3DD279-E2DF-496F-B6DF-186FC9B6574D}"/>
              </a:ext>
            </a:extLst>
          </p:cNvPr>
          <p:cNvSpPr txBox="1"/>
          <p:nvPr/>
        </p:nvSpPr>
        <p:spPr>
          <a:xfrm>
            <a:off x="7978588" y="1223838"/>
            <a:ext cx="398537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Enabled hardening: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-D_FORTIFY_SOURCE=3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-</a:t>
            </a:r>
            <a:r>
              <a:rPr lang="en-US" dirty="0" err="1"/>
              <a:t>fsanitize</a:t>
            </a:r>
            <a:r>
              <a:rPr lang="en-US" dirty="0"/>
              <a:t>=</a:t>
            </a:r>
            <a:r>
              <a:rPr lang="en-US" dirty="0" err="1"/>
              <a:t>bounds,object</a:t>
            </a:r>
            <a:r>
              <a:rPr lang="en-US" dirty="0"/>
              <a:t>-size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Hardened STL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(initialization not enabled to match Rust)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Unlike Rust majority of benchmarks </a:t>
            </a:r>
            <a:r>
              <a:rPr lang="en-US" b="1" dirty="0"/>
              <a:t>have not been tuned </a:t>
            </a:r>
            <a:r>
              <a:rPr lang="en-US" dirty="0"/>
              <a:t>for Hardened C++ case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D8AB6A-C8AB-46FD-AE36-196F57572CB1}"/>
              </a:ext>
            </a:extLst>
          </p:cNvPr>
          <p:cNvSpPr txBox="1"/>
          <p:nvPr/>
        </p:nvSpPr>
        <p:spPr>
          <a:xfrm>
            <a:off x="228039" y="6488668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Compiler branch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BEBBCC8-8384-45B1-A2DF-3443804363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762" y="1223838"/>
            <a:ext cx="6509497" cy="5207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909026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FAA3E-F2DB-44FA-A971-57C185B79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231"/>
            <a:ext cx="10515600" cy="1325563"/>
          </a:xfrm>
        </p:spPr>
        <p:txBody>
          <a:bodyPr/>
          <a:lstStyle/>
          <a:p>
            <a:r>
              <a:rPr lang="en-US" dirty="0"/>
              <a:t>Distribution of overheads in benchmarks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639E90-A0BD-4666-95A4-BA9E07412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158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5C796F-08A4-403B-9E12-8EE1E7303288}"/>
              </a:ext>
            </a:extLst>
          </p:cNvPr>
          <p:cNvSpPr txBox="1"/>
          <p:nvPr/>
        </p:nvSpPr>
        <p:spPr>
          <a:xfrm>
            <a:off x="233081" y="6191981"/>
            <a:ext cx="28507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Plotting script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4BEB78-6E1E-450C-A65F-DC336C02FEF0}"/>
              </a:ext>
            </a:extLst>
          </p:cNvPr>
          <p:cNvSpPr txBox="1"/>
          <p:nvPr/>
        </p:nvSpPr>
        <p:spPr>
          <a:xfrm>
            <a:off x="7620000" y="1838670"/>
            <a:ext cx="364863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Distribution of all benches in each project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Similar tests with different parameters were averaged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is </a:t>
            </a:r>
            <a:r>
              <a:rPr lang="en-US" b="1" dirty="0"/>
              <a:t>biased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Scenarios which are covered by many benches dominate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Expecting at least +1% mean due to forced initialization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7F02226-4560-4CE0-9568-4FEC8BED2A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996" y="1490766"/>
            <a:ext cx="5852172" cy="4389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889985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FAA3E-F2DB-44FA-A971-57C185B79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231"/>
            <a:ext cx="10515600" cy="1325563"/>
          </a:xfrm>
        </p:spPr>
        <p:txBody>
          <a:bodyPr/>
          <a:lstStyle/>
          <a:p>
            <a:r>
              <a:rPr lang="en-US" dirty="0"/>
              <a:t>Distribution of overheads in benchmarks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639E90-A0BD-4666-95A4-BA9E07412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159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7A2BE0-209A-4034-8A73-0174BD764AD6}"/>
              </a:ext>
            </a:extLst>
          </p:cNvPr>
          <p:cNvSpPr txBox="1"/>
          <p:nvPr/>
        </p:nvSpPr>
        <p:spPr>
          <a:xfrm>
            <a:off x="7593106" y="2115671"/>
            <a:ext cx="364863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graph is a pure illustration and does not prove anything!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Distribution of all benches in all projects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Similar tests with different parameters were averaged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is </a:t>
            </a:r>
            <a:r>
              <a:rPr lang="en-US" b="1" dirty="0"/>
              <a:t>biased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Projects with larger numbers of benches dominate</a:t>
            </a:r>
            <a:endParaRPr lang="ru-RU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Scenarios which are covered by many benches dominate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Expecting at least +1% mean due to forced initialization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F4F78E-8190-4AD5-9720-6DCFC8E56EBE}"/>
              </a:ext>
            </a:extLst>
          </p:cNvPr>
          <p:cNvSpPr txBox="1"/>
          <p:nvPr/>
        </p:nvSpPr>
        <p:spPr>
          <a:xfrm>
            <a:off x="233081" y="6191981"/>
            <a:ext cx="28507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Plotting script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53F5EF5-82D2-4576-AD50-4D3339F547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2989" y="1234435"/>
            <a:ext cx="6203576" cy="4652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335373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696195-B1AD-49B5-B50A-58D0245219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071" y="1241689"/>
            <a:ext cx="6217023" cy="46627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6CDE44-F350-483E-8164-C901DC080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29" y="206068"/>
            <a:ext cx="10515600" cy="1325563"/>
          </a:xfrm>
        </p:spPr>
        <p:txBody>
          <a:bodyPr/>
          <a:lstStyle/>
          <a:p>
            <a:r>
              <a:rPr lang="en-US" dirty="0"/>
              <a:t>Distribution of overheads in Hardened C++ benchmarks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581C1D-D665-481B-82E8-04F48100F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160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3F0A19-A089-4119-89C3-78EA5E50992F}"/>
              </a:ext>
            </a:extLst>
          </p:cNvPr>
          <p:cNvSpPr txBox="1"/>
          <p:nvPr/>
        </p:nvSpPr>
        <p:spPr>
          <a:xfrm>
            <a:off x="7915836" y="1726413"/>
            <a:ext cx="364863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graph is a pure illustration and does not prove anything!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Much fewer benchmarks than for Rust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Unlike Rust majority of benchmarks </a:t>
            </a:r>
            <a:r>
              <a:rPr lang="en-US" b="1" dirty="0"/>
              <a:t>have not been tuned </a:t>
            </a:r>
            <a:r>
              <a:rPr lang="en-US" dirty="0"/>
              <a:t>for Hardened C++ case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DED8B5-106E-4B36-A58C-38D624265C63}"/>
              </a:ext>
            </a:extLst>
          </p:cNvPr>
          <p:cNvSpPr txBox="1"/>
          <p:nvPr/>
        </p:nvSpPr>
        <p:spPr>
          <a:xfrm>
            <a:off x="286870" y="6169580"/>
            <a:ext cx="28507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Plotting script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408866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B1833-38B4-4063-9B93-C4DE4D1C7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6B03CD-37F1-47EE-8BB4-41E78788B4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Rust community keeps balance between safety and performance:</a:t>
            </a:r>
            <a:endParaRPr lang="ru-RU" dirty="0"/>
          </a:p>
          <a:p>
            <a:pPr lvl="1"/>
            <a:r>
              <a:rPr lang="en-US" dirty="0"/>
              <a:t>Main focus is on memory safety guarantees</a:t>
            </a:r>
          </a:p>
          <a:p>
            <a:pPr lvl="1"/>
            <a:r>
              <a:rPr lang="en-US" dirty="0"/>
              <a:t>Other checks are enabled if they do not hurt performance</a:t>
            </a:r>
            <a:endParaRPr lang="ru-RU" dirty="0"/>
          </a:p>
          <a:p>
            <a:pPr lvl="1"/>
            <a:r>
              <a:rPr lang="en-US" dirty="0"/>
              <a:t>For example integer overflow errors are disabled by default</a:t>
            </a:r>
            <a:endParaRPr lang="ru-RU" dirty="0"/>
          </a:p>
          <a:p>
            <a:r>
              <a:rPr lang="en-US" dirty="0"/>
              <a:t>Overhead of runtimes checks depends on the project</a:t>
            </a:r>
          </a:p>
          <a:p>
            <a:pPr lvl="1"/>
            <a:r>
              <a:rPr lang="en-US" dirty="0"/>
              <a:t>Usually under 5% on average (P95 11%) and comparable to Hardened C++</a:t>
            </a:r>
          </a:p>
          <a:p>
            <a:r>
              <a:rPr lang="en-US" dirty="0"/>
              <a:t>Language features which affect performance the most:</a:t>
            </a:r>
          </a:p>
          <a:p>
            <a:pPr lvl="1"/>
            <a:r>
              <a:rPr lang="en-US" dirty="0"/>
              <a:t>Bounds checks</a:t>
            </a:r>
            <a:r>
              <a:rPr lang="ru-RU" dirty="0"/>
              <a:t>, </a:t>
            </a:r>
            <a:r>
              <a:rPr lang="en-US" dirty="0"/>
              <a:t>mandatory initialization, lack of </a:t>
            </a:r>
            <a:r>
              <a:rPr lang="en-US" dirty="0" err="1"/>
              <a:t>inplace</a:t>
            </a:r>
            <a:r>
              <a:rPr lang="en-US" dirty="0"/>
              <a:t> initialization</a:t>
            </a:r>
          </a:p>
          <a:p>
            <a:r>
              <a:rPr lang="en-US" dirty="0"/>
              <a:t>These checks will most likely be further optimized in future versions of Rust and</a:t>
            </a:r>
            <a:r>
              <a:rPr lang="ru-RU" dirty="0"/>
              <a:t> </a:t>
            </a:r>
            <a:r>
              <a:rPr lang="en-US" dirty="0"/>
              <a:t>LLVM</a:t>
            </a:r>
          </a:p>
          <a:p>
            <a:r>
              <a:rPr lang="en-US" dirty="0"/>
              <a:t>But their negative effects will never be completely avoided (at least in current language version</a:t>
            </a:r>
            <a:r>
              <a:rPr lang="ru-RU" dirty="0"/>
              <a:t>)</a:t>
            </a:r>
            <a:endParaRPr lang="en-US" dirty="0"/>
          </a:p>
          <a:p>
            <a:r>
              <a:rPr lang="en-US" dirty="0"/>
              <a:t>So they will always require workarounds (e.g. unsafe code) to reach optimal performance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46ACA-D854-4F0B-A214-36D1A17F8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161</a:t>
            </a:fld>
            <a:endParaRPr lang="en-US"/>
          </a:p>
        </p:txBody>
      </p:sp>
      <p:pic>
        <p:nvPicPr>
          <p:cNvPr id="5" name="Picture 2" descr="Weigh,plus,minus,horizontal,plus minus - free image from needpix.com">
            <a:extLst>
              <a:ext uri="{FF2B5EF4-FFF2-40B4-BE49-F238E27FC236}">
                <a16:creationId xmlns:a16="http://schemas.microsoft.com/office/drawing/2014/main" id="{C4B2448B-74D2-4264-9164-539013A586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0858" y="693784"/>
            <a:ext cx="1631857" cy="1631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1DA7BCA-A186-499C-AA6B-6060F19679C4}"/>
              </a:ext>
            </a:extLst>
          </p:cNvPr>
          <p:cNvSpPr txBox="1"/>
          <p:nvPr/>
        </p:nvSpPr>
        <p:spPr>
          <a:xfrm>
            <a:off x="125507" y="6492875"/>
            <a:ext cx="7467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3dman_eu, </a:t>
            </a:r>
            <a:r>
              <a:rPr lang="en-US" sz="1000" dirty="0">
                <a:hlinkClick r:id="rId3"/>
              </a:rPr>
              <a:t>https://www.needpix.com/photo/1171460/weigh-plus-minus-horizontal-plus-minus-balance-sheet-cost-calculation-course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42715075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C71F1-62A6-4ACF-B7FD-0872B6C31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didn’t talk about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/>
              <a:t>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CCD66-23D4-45F1-8540-9C549942DB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hlinkClick r:id="rId2"/>
              </a:rPr>
              <a:t>Codegen</a:t>
            </a:r>
            <a:r>
              <a:rPr lang="en-US" dirty="0">
                <a:hlinkClick r:id="rId2"/>
              </a:rPr>
              <a:t> units</a:t>
            </a:r>
            <a:endParaRPr lang="en-US" dirty="0"/>
          </a:p>
          <a:p>
            <a:pPr lvl="1"/>
            <a:r>
              <a:rPr lang="en-US" dirty="0"/>
              <a:t>Similar to unity builds in C/C++</a:t>
            </a:r>
          </a:p>
          <a:p>
            <a:r>
              <a:rPr lang="en-US" dirty="0">
                <a:hlinkClick r:id="rId3"/>
              </a:rPr>
              <a:t>Implementation of panics (exceptions)</a:t>
            </a:r>
            <a:endParaRPr lang="en-US" dirty="0"/>
          </a:p>
          <a:p>
            <a:pPr lvl="1"/>
            <a:r>
              <a:rPr lang="en-US" dirty="0"/>
              <a:t>Similar to C++ exceptions</a:t>
            </a:r>
          </a:p>
          <a:p>
            <a:r>
              <a:rPr lang="en-US" dirty="0">
                <a:hlinkClick r:id="rId4"/>
              </a:rPr>
              <a:t>GC-sections by default</a:t>
            </a:r>
            <a:endParaRPr lang="en-US" dirty="0"/>
          </a:p>
          <a:p>
            <a:r>
              <a:rPr lang="en-US" dirty="0">
                <a:hlinkClick r:id="rId5"/>
              </a:rPr>
              <a:t>ABI features</a:t>
            </a:r>
            <a:endParaRPr lang="en-US" dirty="0"/>
          </a:p>
          <a:p>
            <a:r>
              <a:rPr lang="en-US" dirty="0">
                <a:hlinkClick r:id="rId6"/>
              </a:rPr>
              <a:t>Disabled PLT</a:t>
            </a:r>
            <a:endParaRPr lang="en-US" dirty="0"/>
          </a:p>
          <a:p>
            <a:r>
              <a:rPr lang="en-US" dirty="0">
                <a:hlinkClick r:id="rId7"/>
              </a:rPr>
              <a:t>Implementation of virtual methods</a:t>
            </a:r>
            <a:endParaRPr lang="en-US" dirty="0"/>
          </a:p>
          <a:p>
            <a:r>
              <a:rPr lang="en-US" dirty="0">
                <a:hlinkClick r:id="rId8"/>
              </a:rPr>
              <a:t>Stack Clashing checks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7B5CF-53DC-4874-8867-5767E738A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162</a:t>
            </a:fld>
            <a:endParaRPr lang="en-US"/>
          </a:p>
        </p:txBody>
      </p:sp>
      <p:pic>
        <p:nvPicPr>
          <p:cNvPr id="6" name="Picture 2" descr="Timeglass - Free Vector Download | VectorPortal">
            <a:extLst>
              <a:ext uri="{FF2B5EF4-FFF2-40B4-BE49-F238E27FC236}">
                <a16:creationId xmlns:a16="http://schemas.microsoft.com/office/drawing/2014/main" id="{EA8C541E-3ADE-4440-83FE-38C38F298D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8776" y="136525"/>
            <a:ext cx="2133600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7F94E2B-AA9C-4927-8EEC-0580373B0D02}"/>
              </a:ext>
            </a:extLst>
          </p:cNvPr>
          <p:cNvSpPr txBox="1"/>
          <p:nvPr/>
        </p:nvSpPr>
        <p:spPr>
          <a:xfrm>
            <a:off x="116541" y="6475254"/>
            <a:ext cx="57732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hlinkClick r:id="rId10"/>
              </a:rPr>
              <a:t>https://vectorportal.com/vector/timeglass/34811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648330741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4AAD5-05CA-4363-BFB9-CB5D39DAE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7214B99-B012-4B2B-B47E-E2ADAA7A3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163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7E3F34F-1B24-4516-8F24-1FA6E78CAF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6665" y="1218566"/>
            <a:ext cx="3424088" cy="343357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2B5DB87-52D1-4501-A1E1-B395BC2105A5}"/>
              </a:ext>
            </a:extLst>
          </p:cNvPr>
          <p:cNvSpPr txBox="1"/>
          <p:nvPr/>
        </p:nvSpPr>
        <p:spPr>
          <a:xfrm>
            <a:off x="7306665" y="4652139"/>
            <a:ext cx="32452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Latest version of this presentation: </a:t>
            </a:r>
            <a:r>
              <a:rPr lang="en-US" dirty="0">
                <a:hlinkClick r:id="rId3"/>
              </a:rPr>
              <a:t>https://github.com/yugr/rust-slides/blob/main/EN.pdf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3D2361-C921-4AED-B25A-6EBAFEF1260B}"/>
              </a:ext>
            </a:extLst>
          </p:cNvPr>
          <p:cNvSpPr txBox="1"/>
          <p:nvPr/>
        </p:nvSpPr>
        <p:spPr>
          <a:xfrm>
            <a:off x="995081" y="1576696"/>
            <a:ext cx="6132719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Many thanks to our kind reviewers: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Vadim </a:t>
            </a:r>
            <a:r>
              <a:rPr lang="en-US" sz="2400" dirty="0" err="1"/>
              <a:t>Petrochenkov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hlinkClick r:id="rId4"/>
              </a:rPr>
              <a:t>https://github.com/petrochenkov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Alexander </a:t>
            </a:r>
            <a:r>
              <a:rPr lang="en-US" sz="2400" dirty="0" err="1"/>
              <a:t>Chichigin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hlinkClick r:id="rId5"/>
              </a:rPr>
              <a:t>https://github.com/Gabriel-Fallen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Jakub </a:t>
            </a:r>
            <a:r>
              <a:rPr lang="en-US" sz="2400" dirty="0" err="1"/>
              <a:t>Beránek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hlinkClick r:id="rId6"/>
              </a:rPr>
              <a:t>https://github.com/kobzol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Alexander </a:t>
            </a:r>
            <a:r>
              <a:rPr lang="en-US" sz="2400" dirty="0" err="1"/>
              <a:t>Monakov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hlinkClick r:id="rId7"/>
              </a:rPr>
              <a:t>https://github.com/amonakov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hlinkClick r:id="rId8"/>
              </a:rPr>
              <a:t>https://codeberg.org/amonakov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Per </a:t>
            </a:r>
            <a:r>
              <a:rPr lang="en-US" sz="2400" dirty="0" err="1"/>
              <a:t>Vognsen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hlinkClick r:id="rId9"/>
              </a:rPr>
              <a:t>https://mastodon.social/@pervognsen</a:t>
            </a:r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15298754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FF772-26C0-4B3E-964B-0964EB9F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335574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9136B-B365-46F5-825E-7A9918916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Preparation of this talk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DBF354-0DC2-4803-89E3-1ABEE8FE4F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collected and analyzed over </a:t>
            </a:r>
            <a:r>
              <a:rPr lang="ru-RU" dirty="0"/>
              <a:t>350 </a:t>
            </a:r>
            <a:r>
              <a:rPr lang="en-US" dirty="0"/>
              <a:t>papers</a:t>
            </a:r>
            <a:r>
              <a:rPr lang="ru-RU" dirty="0"/>
              <a:t>, </a:t>
            </a:r>
            <a:r>
              <a:rPr lang="en-US" dirty="0"/>
              <a:t>blogposts and discussions about the topic (see </a:t>
            </a:r>
            <a:r>
              <a:rPr lang="en-US" dirty="0">
                <a:hlinkClick r:id="rId2"/>
              </a:rPr>
              <a:t>materials</a:t>
            </a:r>
            <a:r>
              <a:rPr lang="en-US" dirty="0"/>
              <a:t>)</a:t>
            </a:r>
            <a:endParaRPr lang="ru-RU" dirty="0"/>
          </a:p>
          <a:p>
            <a:r>
              <a:rPr lang="en-US" dirty="0"/>
              <a:t>Overall time spent on preparation </a:t>
            </a:r>
            <a:r>
              <a:rPr lang="ru-RU" dirty="0"/>
              <a:t>(</a:t>
            </a:r>
            <a:r>
              <a:rPr lang="en-US" dirty="0"/>
              <a:t>Apr </a:t>
            </a:r>
            <a:r>
              <a:rPr lang="ru-RU" dirty="0"/>
              <a:t>2026)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en-US" dirty="0"/>
              <a:t>&gt; 3 man-months</a:t>
            </a:r>
          </a:p>
          <a:p>
            <a:r>
              <a:rPr lang="en-US" dirty="0"/>
              <a:t>Analysis was conducted for</a:t>
            </a:r>
          </a:p>
          <a:p>
            <a:pPr lvl="1"/>
            <a:r>
              <a:rPr lang="en-US" dirty="0"/>
              <a:t>Rust 1.87.0 (May </a:t>
            </a:r>
            <a:r>
              <a:rPr lang="ru-RU" dirty="0"/>
              <a:t>2025)</a:t>
            </a:r>
            <a:endParaRPr lang="en-US" dirty="0"/>
          </a:p>
          <a:p>
            <a:pPr lvl="1"/>
            <a:r>
              <a:rPr lang="en-US" dirty="0"/>
              <a:t>Clang llvmorg-20.1.7 (June </a:t>
            </a:r>
            <a:r>
              <a:rPr lang="ru-RU" dirty="0"/>
              <a:t>2025)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44E76B-4928-4306-BECE-744C15289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875200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5CA1B-E0AE-4385-B529-287CD5DF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benchmarks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A4F79-CC8D-4D79-B7AC-BED163797E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Used standard Criterion benchmarks in each project (cargo bench)</a:t>
            </a:r>
            <a:r>
              <a:rPr lang="ru-RU" dirty="0"/>
              <a:t>, </a:t>
            </a:r>
            <a:r>
              <a:rPr lang="en-US" dirty="0"/>
              <a:t>averaged with geomean</a:t>
            </a:r>
            <a:endParaRPr lang="ru-RU" dirty="0"/>
          </a:p>
          <a:p>
            <a:pPr lvl="1"/>
            <a:r>
              <a:rPr lang="en-US" dirty="0"/>
              <a:t>Some especially slow tests in </a:t>
            </a:r>
            <a:r>
              <a:rPr lang="en-US" dirty="0" err="1"/>
              <a:t>oxipng</a:t>
            </a:r>
            <a:r>
              <a:rPr lang="en-US" dirty="0"/>
              <a:t> were disabled</a:t>
            </a:r>
          </a:p>
          <a:p>
            <a:pPr lvl="1"/>
            <a:r>
              <a:rPr lang="en-US" dirty="0"/>
              <a:t>To counteract system noise we took minimum of average from several runs</a:t>
            </a:r>
          </a:p>
          <a:p>
            <a:pPr lvl="1"/>
            <a:r>
              <a:rPr lang="en-US" dirty="0"/>
              <a:t>Note that 1% geomean may mean that</a:t>
            </a:r>
            <a:endParaRPr lang="ru-RU" dirty="0"/>
          </a:p>
          <a:p>
            <a:pPr lvl="2"/>
            <a:r>
              <a:rPr lang="en-US" dirty="0"/>
              <a:t>All tests in project slowed down by </a:t>
            </a:r>
            <a:r>
              <a:rPr lang="ru-RU" dirty="0"/>
              <a:t>1</a:t>
            </a:r>
            <a:r>
              <a:rPr lang="en-US" dirty="0"/>
              <a:t>%</a:t>
            </a:r>
            <a:endParaRPr lang="ru-RU" dirty="0"/>
          </a:p>
          <a:p>
            <a:pPr lvl="2"/>
            <a:r>
              <a:rPr lang="en-US" dirty="0"/>
              <a:t>10% of tests slowed down by </a:t>
            </a:r>
            <a:r>
              <a:rPr lang="ru-RU" dirty="0"/>
              <a:t>10</a:t>
            </a:r>
            <a:r>
              <a:rPr lang="en-US" dirty="0"/>
              <a:t>% (more likely)</a:t>
            </a:r>
          </a:p>
          <a:p>
            <a:pPr lvl="1"/>
            <a:r>
              <a:rPr lang="en-US" dirty="0"/>
              <a:t>Some tests could slow down (or speedup) by more than 10%</a:t>
            </a:r>
          </a:p>
          <a:p>
            <a:r>
              <a:rPr lang="en-US" dirty="0"/>
              <a:t>Geomeans are not ideal</a:t>
            </a:r>
          </a:p>
          <a:p>
            <a:pPr lvl="1"/>
            <a:r>
              <a:rPr lang="en-US" dirty="0"/>
              <a:t>Biased by scenarios with more benches</a:t>
            </a:r>
          </a:p>
          <a:p>
            <a:r>
              <a:rPr lang="en-US" dirty="0"/>
              <a:t>Further details </a:t>
            </a:r>
            <a:r>
              <a:rPr lang="en-US" dirty="0">
                <a:hlinkClick r:id="rId2"/>
              </a:rPr>
              <a:t>here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B6D97D-68D9-4155-9ADF-837DD9990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6190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5CA1B-E0AE-4385-B529-287CD5DF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benchmarks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A4F79-CC8D-4D79-B7AC-BED163797E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Used Clang llvmorg-20.1.7</a:t>
            </a:r>
          </a:p>
          <a:p>
            <a:r>
              <a:rPr lang="en-US" dirty="0" err="1"/>
              <a:t>Llvm</a:t>
            </a:r>
            <a:r>
              <a:rPr lang="en-US" dirty="0"/>
              <a:t>-bench (</a:t>
            </a:r>
            <a:r>
              <a:rPr lang="en-US" dirty="0">
                <a:hlinkClick r:id="rId2"/>
              </a:rPr>
              <a:t>benchmarks/cpp/</a:t>
            </a:r>
            <a:r>
              <a:rPr lang="en-US" dirty="0" err="1">
                <a:hlinkClick r:id="rId2"/>
              </a:rPr>
              <a:t>llvm</a:t>
            </a:r>
            <a:r>
              <a:rPr lang="en-US" dirty="0">
                <a:hlinkClick r:id="rId2"/>
              </a:rPr>
              <a:t>-bench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Measured median time of -O2 compilation of CGBuiltin.cpp (the largest and slowest-to-compile file in LLVM) with Clang</a:t>
            </a:r>
          </a:p>
          <a:p>
            <a:pPr lvl="1"/>
            <a:r>
              <a:rPr lang="en-US" dirty="0"/>
              <a:t>Tested Clang was built with itself</a:t>
            </a:r>
          </a:p>
          <a:p>
            <a:r>
              <a:rPr lang="en-US" dirty="0" err="1"/>
              <a:t>Ffmpeg</a:t>
            </a:r>
            <a:r>
              <a:rPr lang="en-US" dirty="0"/>
              <a:t>-bench (</a:t>
            </a:r>
            <a:r>
              <a:rPr lang="en-US" dirty="0">
                <a:hlinkClick r:id="rId3"/>
              </a:rPr>
              <a:t>benchmarks/</a:t>
            </a:r>
            <a:r>
              <a:rPr lang="en-US" dirty="0" err="1">
                <a:hlinkClick r:id="rId3"/>
              </a:rPr>
              <a:t>cpp</a:t>
            </a:r>
            <a:r>
              <a:rPr lang="en-US" dirty="0">
                <a:hlinkClick r:id="rId3"/>
              </a:rPr>
              <a:t>/</a:t>
            </a:r>
            <a:r>
              <a:rPr lang="en-US" dirty="0" err="1">
                <a:hlinkClick r:id="rId3"/>
              </a:rPr>
              <a:t>ffmpeg</a:t>
            </a:r>
            <a:r>
              <a:rPr lang="en-US" dirty="0">
                <a:hlinkClick r:id="rId3"/>
              </a:rPr>
              <a:t>-bench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Based on </a:t>
            </a:r>
            <a:r>
              <a:rPr lang="en-US" dirty="0">
                <a:hlinkClick r:id="rId4"/>
              </a:rPr>
              <a:t>Stack Smashing Protection and Its Performance Impact</a:t>
            </a:r>
            <a:endParaRPr lang="en-US" dirty="0"/>
          </a:p>
          <a:p>
            <a:pPr lvl="1"/>
            <a:r>
              <a:rPr lang="en-US" dirty="0"/>
              <a:t>Measured median time to convert FLV to MP4</a:t>
            </a:r>
          </a:p>
          <a:p>
            <a:r>
              <a:rPr lang="en-US" dirty="0" err="1"/>
              <a:t>Phoronix</a:t>
            </a:r>
            <a:r>
              <a:rPr lang="en-US" dirty="0"/>
              <a:t> Test Suite (</a:t>
            </a:r>
            <a:r>
              <a:rPr lang="en-US" dirty="0">
                <a:hlinkClick r:id="rId5"/>
              </a:rPr>
              <a:t>benchmarks/cpp/PTS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Popular benchmark suite from </a:t>
            </a:r>
            <a:r>
              <a:rPr lang="en-US" dirty="0">
                <a:hlinkClick r:id="rId6"/>
              </a:rPr>
              <a:t>phoronix-test-suite.com</a:t>
            </a:r>
            <a:endParaRPr lang="en-US" dirty="0"/>
          </a:p>
          <a:p>
            <a:pPr lvl="1"/>
            <a:r>
              <a:rPr lang="en-US" dirty="0"/>
              <a:t>Measured </a:t>
            </a:r>
            <a:r>
              <a:rPr lang="en-US" dirty="0" err="1"/>
              <a:t>botan</a:t>
            </a:r>
            <a:r>
              <a:rPr lang="en-US" dirty="0"/>
              <a:t>, bullet, </a:t>
            </a:r>
            <a:r>
              <a:rPr lang="en-US" dirty="0" err="1"/>
              <a:t>coremark</a:t>
            </a:r>
            <a:r>
              <a:rPr lang="en-US" dirty="0"/>
              <a:t>, c-ray, dav1d, </a:t>
            </a:r>
            <a:r>
              <a:rPr lang="en-US" dirty="0" err="1"/>
              <a:t>gcrypt</a:t>
            </a:r>
            <a:r>
              <a:rPr lang="en-US" dirty="0"/>
              <a:t>, </a:t>
            </a:r>
            <a:r>
              <a:rPr lang="en-US" dirty="0" err="1"/>
              <a:t>gmpbench</a:t>
            </a:r>
            <a:r>
              <a:rPr lang="en-US" dirty="0"/>
              <a:t>, </a:t>
            </a:r>
            <a:r>
              <a:rPr lang="en-US" dirty="0" err="1"/>
              <a:t>luajit</a:t>
            </a:r>
            <a:r>
              <a:rPr lang="en-US" dirty="0"/>
              <a:t>, </a:t>
            </a:r>
            <a:r>
              <a:rPr lang="en-US" dirty="0" err="1"/>
              <a:t>nginx</a:t>
            </a:r>
            <a:r>
              <a:rPr lang="en-US" dirty="0"/>
              <a:t>, </a:t>
            </a:r>
            <a:r>
              <a:rPr lang="en-US" dirty="0" err="1"/>
              <a:t>opencv</a:t>
            </a:r>
            <a:r>
              <a:rPr lang="en-US" dirty="0"/>
              <a:t>, </a:t>
            </a:r>
            <a:r>
              <a:rPr lang="en-US" dirty="0" err="1"/>
              <a:t>openssl</a:t>
            </a:r>
            <a:r>
              <a:rPr lang="en-US" dirty="0"/>
              <a:t>, </a:t>
            </a:r>
            <a:r>
              <a:rPr lang="en-US" dirty="0" err="1"/>
              <a:t>polybench</a:t>
            </a:r>
            <a:r>
              <a:rPr lang="en-US" dirty="0"/>
              <a:t>-c, </a:t>
            </a:r>
            <a:r>
              <a:rPr lang="en-US" dirty="0" err="1"/>
              <a:t>povray</a:t>
            </a:r>
            <a:r>
              <a:rPr lang="en-US" dirty="0"/>
              <a:t>, </a:t>
            </a:r>
            <a:r>
              <a:rPr lang="en-US" dirty="0" err="1"/>
              <a:t>rocksdb</a:t>
            </a:r>
            <a:r>
              <a:rPr lang="en-US" dirty="0"/>
              <a:t>, </a:t>
            </a:r>
            <a:r>
              <a:rPr lang="en-US" dirty="0" err="1"/>
              <a:t>simdjson</a:t>
            </a:r>
            <a:r>
              <a:rPr lang="en-US" dirty="0"/>
              <a:t>, </a:t>
            </a:r>
            <a:r>
              <a:rPr lang="en-US" dirty="0" err="1"/>
              <a:t>vpxenc</a:t>
            </a:r>
            <a:r>
              <a:rPr lang="en-US" dirty="0"/>
              <a:t>, x265 (see</a:t>
            </a:r>
            <a:r>
              <a:rPr lang="ru-RU" dirty="0"/>
              <a:t> </a:t>
            </a:r>
            <a:r>
              <a:rPr lang="en-US" dirty="0">
                <a:hlinkClick r:id="rId7"/>
              </a:rPr>
              <a:t>#55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Used median time of benchmark</a:t>
            </a:r>
            <a:endParaRPr lang="ru-RU" dirty="0"/>
          </a:p>
          <a:p>
            <a:pPr lvl="1"/>
            <a:r>
              <a:rPr lang="en-US" dirty="0"/>
              <a:t>Ignored tests with </a:t>
            </a:r>
            <a:r>
              <a:rPr lang="en-US" dirty="0" err="1"/>
              <a:t>Stdev</a:t>
            </a:r>
            <a:r>
              <a:rPr lang="en-US" dirty="0"/>
              <a:t> &gt; 0.5%</a:t>
            </a:r>
            <a:r>
              <a:rPr lang="ru-RU" dirty="0"/>
              <a:t> </a:t>
            </a:r>
            <a:r>
              <a:rPr lang="en-US" dirty="0"/>
              <a:t>or changes &lt; 1%</a:t>
            </a:r>
            <a:endParaRPr lang="ru-RU" dirty="0"/>
          </a:p>
          <a:p>
            <a:r>
              <a:rPr lang="en-US" dirty="0"/>
              <a:t>To counteract system noise we took minimum of average from several runs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B6D97D-68D9-4155-9ADF-837DD9990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214722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11025-3987-40D3-AB36-1F964AC43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7E195-2D89-40B0-84F4-14ACEA9DC1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benchmarks (except no-static) were run on </a:t>
            </a:r>
            <a:r>
              <a:rPr lang="ru-RU" dirty="0"/>
              <a:t>Intel Xeon E-2236</a:t>
            </a:r>
            <a:endParaRPr lang="en-US" dirty="0"/>
          </a:p>
          <a:p>
            <a:pPr lvl="1"/>
            <a:r>
              <a:rPr lang="en-US" dirty="0"/>
              <a:t>With fixed </a:t>
            </a:r>
            <a:r>
              <a:rPr lang="ru-RU" dirty="0"/>
              <a:t>2 GHz</a:t>
            </a:r>
            <a:r>
              <a:rPr lang="en-US" dirty="0"/>
              <a:t> frequency</a:t>
            </a:r>
          </a:p>
          <a:p>
            <a:pPr lvl="1"/>
            <a:r>
              <a:rPr lang="en-US" dirty="0"/>
              <a:t>With Ubuntu 24.04 OS</a:t>
            </a:r>
          </a:p>
          <a:p>
            <a:r>
              <a:rPr lang="en-US" dirty="0"/>
              <a:t>Servers have been set up according to</a:t>
            </a:r>
            <a:r>
              <a:rPr lang="ru-RU" dirty="0"/>
              <a:t> </a:t>
            </a:r>
            <a:r>
              <a:rPr lang="en-US" dirty="0" err="1">
                <a:hlinkClick r:id="rId2"/>
              </a:rPr>
              <a:t>uInit</a:t>
            </a:r>
            <a:r>
              <a:rPr lang="en-US" dirty="0">
                <a:hlinkClick r:id="rId2"/>
              </a:rPr>
              <a:t> methodology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506350-54E9-44B9-BB4E-563A479D9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737295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42CED-06E0-4945-B954-B71ECA6CA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E32FD0-943A-4D42-94F4-8E534E5678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6660"/>
            <a:ext cx="10515600" cy="4351338"/>
          </a:xfrm>
        </p:spPr>
        <p:txBody>
          <a:bodyPr>
            <a:normAutofit/>
          </a:bodyPr>
          <a:lstStyle/>
          <a:p>
            <a:r>
              <a:rPr lang="en-US"/>
              <a:t>(</a:t>
            </a:r>
            <a:r>
              <a:rPr lang="en-US" dirty="0" err="1"/>
              <a:t>Yugr</a:t>
            </a:r>
            <a:r>
              <a:rPr lang="en-US" dirty="0"/>
              <a:t>) Benchmark </a:t>
            </a:r>
            <a:r>
              <a:rPr lang="en-US" dirty="0" err="1"/>
              <a:t>meilisearch</a:t>
            </a:r>
            <a:endParaRPr lang="en-US" dirty="0"/>
          </a:p>
          <a:p>
            <a:r>
              <a:rPr lang="en-US" dirty="0"/>
              <a:t>(Zak) Fast-math: update analysis (P3715, -</a:t>
            </a:r>
            <a:r>
              <a:rPr lang="en-US" dirty="0" err="1"/>
              <a:t>fno</a:t>
            </a:r>
            <a:r>
              <a:rPr lang="en-US" dirty="0"/>
              <a:t>-math-</a:t>
            </a:r>
            <a:r>
              <a:rPr lang="en-US" dirty="0" err="1"/>
              <a:t>errno</a:t>
            </a:r>
            <a:r>
              <a:rPr lang="en-US" dirty="0"/>
              <a:t> and -</a:t>
            </a:r>
            <a:r>
              <a:rPr lang="en-US" dirty="0" err="1"/>
              <a:t>fno</a:t>
            </a:r>
            <a:r>
              <a:rPr lang="en-US" dirty="0"/>
              <a:t>-trapping-math)</a:t>
            </a:r>
          </a:p>
          <a:p>
            <a:r>
              <a:rPr lang="en-US" dirty="0"/>
              <a:t>(Zak) Struct reorder: fill analysis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1BFC05-DC86-4D82-B3D8-5A738801D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335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45777</TotalTime>
  <Words>13889</Words>
  <Application>Microsoft Office PowerPoint</Application>
  <PresentationFormat>Widescreen</PresentationFormat>
  <Paragraphs>2065</Paragraphs>
  <Slides>169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169</vt:i4>
      </vt:variant>
    </vt:vector>
  </HeadingPairs>
  <TitlesOfParts>
    <vt:vector size="177" baseType="lpstr">
      <vt:lpstr>Arial</vt:lpstr>
      <vt:lpstr>Calibri</vt:lpstr>
      <vt:lpstr>Calibri (Body)</vt:lpstr>
      <vt:lpstr>Calibri Light</vt:lpstr>
      <vt:lpstr>Consolas</vt:lpstr>
      <vt:lpstr>Courier New</vt:lpstr>
      <vt:lpstr>Wingdings</vt:lpstr>
      <vt:lpstr>Office Theme</vt:lpstr>
      <vt:lpstr>Performance of Rust language</vt:lpstr>
      <vt:lpstr>About us</vt:lpstr>
      <vt:lpstr>Rust language features</vt:lpstr>
      <vt:lpstr>Rust performance: Disadvantages</vt:lpstr>
      <vt:lpstr>Rust performance: Advantages</vt:lpstr>
      <vt:lpstr>Goals of this talk</vt:lpstr>
      <vt:lpstr>Opinion of language creators</vt:lpstr>
      <vt:lpstr>Overhead analysis</vt:lpstr>
      <vt:lpstr>Benchmarks</vt:lpstr>
      <vt:lpstr>Rust and C++</vt:lpstr>
      <vt:lpstr>Not covered: Other language aspects</vt:lpstr>
      <vt:lpstr>Not covered: Parallel programming</vt:lpstr>
      <vt:lpstr>Not covered: Unsafe code</vt:lpstr>
      <vt:lpstr>Not covered: Non-idiomatic code</vt:lpstr>
      <vt:lpstr>Bounds checks</vt:lpstr>
      <vt:lpstr>Buffer overflows</vt:lpstr>
      <vt:lpstr>Prevalence of buffer overflow vulnerabilities</vt:lpstr>
      <vt:lpstr>Memory safety in Rust</vt:lpstr>
      <vt:lpstr>Overheads</vt:lpstr>
      <vt:lpstr>Compiler optimizations</vt:lpstr>
      <vt:lpstr>Successful optimization</vt:lpstr>
      <vt:lpstr>Unsuccessful optimization</vt:lpstr>
      <vt:lpstr>Problem with optimizer: delayed panics</vt:lpstr>
      <vt:lpstr>Workarounds: Overview</vt:lpstr>
      <vt:lpstr>Workarounds</vt:lpstr>
      <vt:lpstr>Workarounds</vt:lpstr>
      <vt:lpstr>Workarounds: Unsafe-code</vt:lpstr>
      <vt:lpstr>Workarounds: Bounded types</vt:lpstr>
      <vt:lpstr>Workarounds</vt:lpstr>
      <vt:lpstr>Workarounds: Manual asserts</vt:lpstr>
      <vt:lpstr>Workarounds: Reslicing</vt:lpstr>
      <vt:lpstr>Workarounds: Reslicing</vt:lpstr>
      <vt:lpstr>Workarounds: Limiting iteration range</vt:lpstr>
      <vt:lpstr>Workarounds: Iterators</vt:lpstr>
      <vt:lpstr>Disadvantages of iterators</vt:lpstr>
      <vt:lpstr>Workarounds: Order of accesses</vt:lpstr>
      <vt:lpstr>Workarounds: SIMD</vt:lpstr>
      <vt:lpstr>Workarounds</vt:lpstr>
      <vt:lpstr>Workarounds: Arithmetic instead of checks</vt:lpstr>
      <vt:lpstr>Workarounds: Arithmetic instead of checks</vt:lpstr>
      <vt:lpstr>Prevalence</vt:lpstr>
      <vt:lpstr>Performance improvement after disabling bounds checks</vt:lpstr>
      <vt:lpstr>Hardened C/C++</vt:lpstr>
      <vt:lpstr>Rust vs. Hardened C++</vt:lpstr>
      <vt:lpstr>Overheads in Hardened C++</vt:lpstr>
      <vt:lpstr>Conclusions</vt:lpstr>
      <vt:lpstr>Recommended readings</vt:lpstr>
      <vt:lpstr>Aliasing rules</vt:lpstr>
      <vt:lpstr>Pointer aliasing</vt:lpstr>
      <vt:lpstr>Why aliasing is important?</vt:lpstr>
      <vt:lpstr>Alias analysis theory</vt:lpstr>
      <vt:lpstr>Aliasing in Rust</vt:lpstr>
      <vt:lpstr>Limitations</vt:lpstr>
      <vt:lpstr>Limitations</vt:lpstr>
      <vt:lpstr>Limitations</vt:lpstr>
      <vt:lpstr>Efficiency of Rust aliasing rules</vt:lpstr>
      <vt:lpstr>Performance degradation after disabling aliasing rules</vt:lpstr>
      <vt:lpstr>Situation in C/C++</vt:lpstr>
      <vt:lpstr>Conclusions</vt:lpstr>
      <vt:lpstr>Recommended readings</vt:lpstr>
      <vt:lpstr>Mandatory initialization</vt:lpstr>
      <vt:lpstr>Mandatory initialization</vt:lpstr>
      <vt:lpstr>Example</vt:lpstr>
      <vt:lpstr>Rust approach</vt:lpstr>
      <vt:lpstr>Other languages</vt:lpstr>
      <vt:lpstr>Issue with mandatory initializations</vt:lpstr>
      <vt:lpstr>Prevalence of redundant initializations</vt:lpstr>
      <vt:lpstr>Overheads in benchmarks</vt:lpstr>
      <vt:lpstr>Example overheads in Rust programs</vt:lpstr>
      <vt:lpstr>Overheads with forced stack initialization for C++</vt:lpstr>
      <vt:lpstr>Overheads with forced stack+heap initialization for C++</vt:lpstr>
      <vt:lpstr>Compiler optimizations</vt:lpstr>
      <vt:lpstr>Workarounds</vt:lpstr>
      <vt:lpstr>Workarounds: Standard types</vt:lpstr>
      <vt:lpstr>Workarounds: Vectors</vt:lpstr>
      <vt:lpstr>Workarounds: IO</vt:lpstr>
      <vt:lpstr>Conclusions</vt:lpstr>
      <vt:lpstr>Recommended readings</vt:lpstr>
      <vt:lpstr>Symbol localization</vt:lpstr>
      <vt:lpstr>Symbol localization</vt:lpstr>
      <vt:lpstr>Localization in Rust</vt:lpstr>
      <vt:lpstr>Compiler optimizations</vt:lpstr>
      <vt:lpstr>Linker optimizations</vt:lpstr>
      <vt:lpstr>Example</vt:lpstr>
      <vt:lpstr>Comparison to C/C++</vt:lpstr>
      <vt:lpstr>Prevalence</vt:lpstr>
      <vt:lpstr>Slowdown with disabled localization</vt:lpstr>
      <vt:lpstr>Conclusions</vt:lpstr>
      <vt:lpstr>Recommended readings</vt:lpstr>
      <vt:lpstr>No inplace-initialization</vt:lpstr>
      <vt:lpstr>Overview</vt:lpstr>
      <vt:lpstr>Why placement new is needed?</vt:lpstr>
      <vt:lpstr>Why placement new is needed?</vt:lpstr>
      <vt:lpstr>Compiler optimizations</vt:lpstr>
      <vt:lpstr>Issues with move/copy elision</vt:lpstr>
      <vt:lpstr>Workarounds</vt:lpstr>
      <vt:lpstr>Conclusions</vt:lpstr>
      <vt:lpstr>Recommended readings</vt:lpstr>
      <vt:lpstr>Structure optimizations</vt:lpstr>
      <vt:lpstr>Alignment of structure fields</vt:lpstr>
      <vt:lpstr>Structures in Rust</vt:lpstr>
      <vt:lpstr>Layout optimizations</vt:lpstr>
      <vt:lpstr>C++ status</vt:lpstr>
      <vt:lpstr>Internals of Rust enums</vt:lpstr>
      <vt:lpstr>Niches</vt:lpstr>
      <vt:lpstr>Examples of niches</vt:lpstr>
      <vt:lpstr>C++ status</vt:lpstr>
      <vt:lpstr>Overheads</vt:lpstr>
      <vt:lpstr>Conclusions</vt:lpstr>
      <vt:lpstr>Recommended readings</vt:lpstr>
      <vt:lpstr>Arithmetic checks</vt:lpstr>
      <vt:lpstr>Overview</vt:lpstr>
      <vt:lpstr>Example error (OpenSSH 3.3)</vt:lpstr>
      <vt:lpstr>Default arithmetic checks in Rust</vt:lpstr>
      <vt:lpstr>Important missing checks</vt:lpstr>
      <vt:lpstr>Integer overflow checks in Rust</vt:lpstr>
      <vt:lpstr>Other overheads</vt:lpstr>
      <vt:lpstr>Defined overflow</vt:lpstr>
      <vt:lpstr>Defined overflow: Example</vt:lpstr>
      <vt:lpstr>Problem with inclusive ranges</vt:lpstr>
      <vt:lpstr>Compiler optimizations</vt:lpstr>
      <vt:lpstr>Workarounds</vt:lpstr>
      <vt:lpstr>Improvements without default checks (division by zero, etc.)</vt:lpstr>
      <vt:lpstr>Slowdown with integer overflow checks</vt:lpstr>
      <vt:lpstr>Slowdown in C++</vt:lpstr>
      <vt:lpstr>Conclusions</vt:lpstr>
      <vt:lpstr>Recommended readings</vt:lpstr>
      <vt:lpstr>Standard library</vt:lpstr>
      <vt:lpstr>Overview</vt:lpstr>
      <vt:lpstr>Standard library checks</vt:lpstr>
      <vt:lpstr>Example</vt:lpstr>
      <vt:lpstr>Example</vt:lpstr>
      <vt:lpstr>Other overheads</vt:lpstr>
      <vt:lpstr>Improvements with disabled UTF-8 checks</vt:lpstr>
      <vt:lpstr>Improvements with disabled container overflow checks</vt:lpstr>
      <vt:lpstr>Optimizations in standard library</vt:lpstr>
      <vt:lpstr>Conclusions</vt:lpstr>
      <vt:lpstr>Recommended readings</vt:lpstr>
      <vt:lpstr>Lack of fast-math</vt:lpstr>
      <vt:lpstr>Floating point computations</vt:lpstr>
      <vt:lpstr>Types of fast-math flags</vt:lpstr>
      <vt:lpstr>Fast math in other languages</vt:lpstr>
      <vt:lpstr>Optimizations: Vectorization</vt:lpstr>
      <vt:lpstr>Optimizations: Algebraic simplifications</vt:lpstr>
      <vt:lpstr>Optimizations: Fused instructions</vt:lpstr>
      <vt:lpstr>Optimizations: Finite only</vt:lpstr>
      <vt:lpstr>Optimizations: Errno</vt:lpstr>
      <vt:lpstr>Issues with fast-math: Checks</vt:lpstr>
      <vt:lpstr>Issues with fast-math: Rounding</vt:lpstr>
      <vt:lpstr>Rust approach</vt:lpstr>
      <vt:lpstr>Workarounds: Intrinsics</vt:lpstr>
      <vt:lpstr>Performance with fast-math</vt:lpstr>
      <vt:lpstr>Conclusions</vt:lpstr>
      <vt:lpstr>Recommended readings</vt:lpstr>
      <vt:lpstr>Conclusions</vt:lpstr>
      <vt:lpstr>Speedup with disabling (most) Rust checks</vt:lpstr>
      <vt:lpstr>Slowdown in Hardened C++</vt:lpstr>
      <vt:lpstr>Distribution of overheads in benchmarks</vt:lpstr>
      <vt:lpstr>Distribution of overheads in benchmarks</vt:lpstr>
      <vt:lpstr>Distribution of overheads in Hardened C++ benchmarks</vt:lpstr>
      <vt:lpstr>Conclusions</vt:lpstr>
      <vt:lpstr>What we didn’t talk about ...</vt:lpstr>
      <vt:lpstr>The End</vt:lpstr>
      <vt:lpstr>Appendix</vt:lpstr>
      <vt:lpstr>Preparation of this talk</vt:lpstr>
      <vt:lpstr>Rust benchmarks</vt:lpstr>
      <vt:lpstr>C++ benchmarks</vt:lpstr>
      <vt:lpstr>Hardware</vt:lpstr>
      <vt:lpstr>TODO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Производительность языка Rust</dc:title>
  <dc:creator>Asus</dc:creator>
  <cp:lastModifiedBy>Asus</cp:lastModifiedBy>
  <cp:revision>1001</cp:revision>
  <dcterms:created xsi:type="dcterms:W3CDTF">2026-01-25T07:50:40Z</dcterms:created>
  <dcterms:modified xsi:type="dcterms:W3CDTF">2026-05-11T19:17:59Z</dcterms:modified>
</cp:coreProperties>
</file>