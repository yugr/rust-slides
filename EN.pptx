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1"/>
  </p:notesMasterIdLst>
  <p:sldIdLst>
    <p:sldId id="256" r:id="rId2"/>
    <p:sldId id="290" r:id="rId3"/>
    <p:sldId id="302" r:id="rId4"/>
    <p:sldId id="291" r:id="rId5"/>
    <p:sldId id="292" r:id="rId6"/>
    <p:sldId id="261" r:id="rId7"/>
    <p:sldId id="260" r:id="rId8"/>
    <p:sldId id="300" r:id="rId9"/>
    <p:sldId id="298" r:id="rId10"/>
    <p:sldId id="259" r:id="rId11"/>
    <p:sldId id="257" r:id="rId12"/>
    <p:sldId id="264" r:id="rId13"/>
    <p:sldId id="480" r:id="rId14"/>
    <p:sldId id="301" r:id="rId15"/>
    <p:sldId id="269" r:id="rId16"/>
    <p:sldId id="271" r:id="rId17"/>
    <p:sldId id="272" r:id="rId18"/>
    <p:sldId id="270" r:id="rId19"/>
    <p:sldId id="276" r:id="rId20"/>
    <p:sldId id="273" r:id="rId21"/>
    <p:sldId id="278" r:id="rId22"/>
    <p:sldId id="279" r:id="rId23"/>
    <p:sldId id="288" r:id="rId24"/>
    <p:sldId id="282" r:id="rId25"/>
    <p:sldId id="304" r:id="rId26"/>
    <p:sldId id="305" r:id="rId27"/>
    <p:sldId id="294" r:id="rId28"/>
    <p:sldId id="287" r:id="rId29"/>
    <p:sldId id="306" r:id="rId30"/>
    <p:sldId id="283" r:id="rId31"/>
    <p:sldId id="284" r:id="rId32"/>
    <p:sldId id="297" r:id="rId33"/>
    <p:sldId id="470" r:id="rId34"/>
    <p:sldId id="274" r:id="rId35"/>
    <p:sldId id="296" r:id="rId36"/>
    <p:sldId id="286" r:id="rId37"/>
    <p:sldId id="472" r:id="rId38"/>
    <p:sldId id="307" r:id="rId39"/>
    <p:sldId id="285" r:id="rId40"/>
    <p:sldId id="295" r:id="rId41"/>
    <p:sldId id="281" r:id="rId42"/>
    <p:sldId id="280" r:id="rId43"/>
    <p:sldId id="293" r:id="rId44"/>
    <p:sldId id="303" r:id="rId45"/>
    <p:sldId id="299" r:id="rId46"/>
    <p:sldId id="277" r:id="rId47"/>
    <p:sldId id="275" r:id="rId48"/>
    <p:sldId id="308" r:id="rId49"/>
    <p:sldId id="309" r:id="rId50"/>
    <p:sldId id="311" r:id="rId51"/>
    <p:sldId id="312" r:id="rId52"/>
    <p:sldId id="314" r:id="rId53"/>
    <p:sldId id="315" r:id="rId54"/>
    <p:sldId id="316" r:id="rId55"/>
    <p:sldId id="321" r:id="rId56"/>
    <p:sldId id="317" r:id="rId57"/>
    <p:sldId id="318" r:id="rId58"/>
    <p:sldId id="322" r:id="rId59"/>
    <p:sldId id="319" r:id="rId60"/>
    <p:sldId id="320" r:id="rId61"/>
    <p:sldId id="329" r:id="rId62"/>
    <p:sldId id="330" r:id="rId63"/>
    <p:sldId id="357" r:id="rId64"/>
    <p:sldId id="359" r:id="rId65"/>
    <p:sldId id="368" r:id="rId66"/>
    <p:sldId id="454" r:id="rId67"/>
    <p:sldId id="360" r:id="rId68"/>
    <p:sldId id="369" r:id="rId69"/>
    <p:sldId id="367" r:id="rId70"/>
    <p:sldId id="362" r:id="rId71"/>
    <p:sldId id="471" r:id="rId72"/>
    <p:sldId id="361" r:id="rId73"/>
    <p:sldId id="365" r:id="rId74"/>
    <p:sldId id="371" r:id="rId75"/>
    <p:sldId id="372" r:id="rId76"/>
    <p:sldId id="373" r:id="rId77"/>
    <p:sldId id="363" r:id="rId78"/>
    <p:sldId id="364" r:id="rId79"/>
    <p:sldId id="335" r:id="rId80"/>
    <p:sldId id="336" r:id="rId81"/>
    <p:sldId id="380" r:id="rId82"/>
    <p:sldId id="376" r:id="rId83"/>
    <p:sldId id="418" r:id="rId84"/>
    <p:sldId id="417" r:id="rId85"/>
    <p:sldId id="416" r:id="rId86"/>
    <p:sldId id="378" r:id="rId87"/>
    <p:sldId id="375" r:id="rId88"/>
    <p:sldId id="419" r:id="rId89"/>
    <p:sldId id="377" r:id="rId90"/>
    <p:sldId id="331" r:id="rId91"/>
    <p:sldId id="381" r:id="rId92"/>
    <p:sldId id="422" r:id="rId93"/>
    <p:sldId id="421" r:id="rId94"/>
    <p:sldId id="384" r:id="rId95"/>
    <p:sldId id="423" r:id="rId96"/>
    <p:sldId id="385" r:id="rId97"/>
    <p:sldId id="386" r:id="rId98"/>
    <p:sldId id="387" r:id="rId99"/>
    <p:sldId id="327" r:id="rId100"/>
    <p:sldId id="461" r:id="rId101"/>
    <p:sldId id="462" r:id="rId102"/>
    <p:sldId id="463" r:id="rId103"/>
    <p:sldId id="464" r:id="rId104"/>
    <p:sldId id="455" r:id="rId105"/>
    <p:sldId id="456" r:id="rId106"/>
    <p:sldId id="457" r:id="rId107"/>
    <p:sldId id="458" r:id="rId108"/>
    <p:sldId id="465" r:id="rId109"/>
    <p:sldId id="466" r:id="rId110"/>
    <p:sldId id="467" r:id="rId111"/>
    <p:sldId id="323" r:id="rId112"/>
    <p:sldId id="395" r:id="rId113"/>
    <p:sldId id="424" r:id="rId114"/>
    <p:sldId id="425" r:id="rId115"/>
    <p:sldId id="427" r:id="rId116"/>
    <p:sldId id="426" r:id="rId117"/>
    <p:sldId id="397" r:id="rId118"/>
    <p:sldId id="431" r:id="rId119"/>
    <p:sldId id="482" r:id="rId120"/>
    <p:sldId id="432" r:id="rId121"/>
    <p:sldId id="398" r:id="rId122"/>
    <p:sldId id="399" r:id="rId123"/>
    <p:sldId id="428" r:id="rId124"/>
    <p:sldId id="430" r:id="rId125"/>
    <p:sldId id="435" r:id="rId126"/>
    <p:sldId id="400" r:id="rId127"/>
    <p:sldId id="401" r:id="rId128"/>
    <p:sldId id="333" r:id="rId129"/>
    <p:sldId id="402" r:id="rId130"/>
    <p:sldId id="437" r:id="rId131"/>
    <p:sldId id="439" r:id="rId132"/>
    <p:sldId id="403" r:id="rId133"/>
    <p:sldId id="438" r:id="rId134"/>
    <p:sldId id="404" r:id="rId135"/>
    <p:sldId id="436" r:id="rId136"/>
    <p:sldId id="440" r:id="rId137"/>
    <p:sldId id="407" r:id="rId138"/>
    <p:sldId id="408" r:id="rId139"/>
    <p:sldId id="325" r:id="rId140"/>
    <p:sldId id="441" r:id="rId141"/>
    <p:sldId id="258" r:id="rId142"/>
    <p:sldId id="442" r:id="rId143"/>
    <p:sldId id="443" r:id="rId144"/>
    <p:sldId id="444" r:id="rId145"/>
    <p:sldId id="262" r:id="rId146"/>
    <p:sldId id="445" r:id="rId147"/>
    <p:sldId id="483" r:id="rId148"/>
    <p:sldId id="446" r:id="rId149"/>
    <p:sldId id="447" r:id="rId150"/>
    <p:sldId id="448" r:id="rId151"/>
    <p:sldId id="450" r:id="rId152"/>
    <p:sldId id="451" r:id="rId153"/>
    <p:sldId id="414" r:id="rId154"/>
    <p:sldId id="415" r:id="rId155"/>
    <p:sldId id="268" r:id="rId156"/>
    <p:sldId id="452" r:id="rId157"/>
    <p:sldId id="474" r:id="rId158"/>
    <p:sldId id="469" r:id="rId159"/>
    <p:sldId id="468" r:id="rId160"/>
    <p:sldId id="473" r:id="rId161"/>
    <p:sldId id="267" r:id="rId162"/>
    <p:sldId id="337" r:id="rId163"/>
    <p:sldId id="265" r:id="rId164"/>
    <p:sldId id="484" r:id="rId165"/>
    <p:sldId id="266" r:id="rId166"/>
    <p:sldId id="433" r:id="rId167"/>
    <p:sldId id="289" r:id="rId168"/>
    <p:sldId id="453" r:id="rId169"/>
    <p:sldId id="434" r:id="rId1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5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commentAuthors" Target="comment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76068-F81C-4E93-8398-C6F4BAF6874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0068E-63B5-4F5C-A960-A599937A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2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E5FC-277C-4CAD-8299-2A1F3533C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51917-1CD0-4C4F-B6F8-EDD141075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0735D-453A-4979-A48F-F4D0283C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66CA-BBB7-4443-BE9D-EFD07F3021E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53E63-E716-4A70-80EE-F5D08530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5264A-48A8-4832-AFBC-A98A977A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2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08AB-8E00-453F-B352-3D4BF4CD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86CCA-090D-42AC-95D0-4A04B8DD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E0767-1E2C-4CE9-A7DC-F97C8AA7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B1A39-07E6-4DBD-ABBE-EAF3092D4259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AA7A9-15BA-41A5-9E8D-464CA240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6C41-C57E-4D22-9E8A-B4FB1888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0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47FC-A2E6-420E-9B59-3BD664A2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CADF5-6117-4830-A0ED-B9214B7B2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48A07-8724-4A76-817E-DAD6845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B0A41-885D-48C0-9F9D-F981EF2F568F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FBE2-BE11-43B4-821D-6EBB6491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DAF3-7F32-4359-97BE-E97E1A52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C7AD-6C55-4FA5-B045-C3B387DD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8E50-A7BE-4476-B401-14799C61F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AC909-EA98-4CF7-931E-854479F6B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0FC90-720E-47B7-8AF1-F92A0890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B9584-5F83-4C45-AE49-6234E0E1AEF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A7FFA-E072-4518-851B-2AC8F813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1C09B-9E0E-4CE2-90DF-307143EC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8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535F-842C-4F23-94E0-D3BD9BF6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C99D-AC1C-4886-A961-263B09A33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17F1D-3F85-4E5D-9C10-EE928CF1A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38AFC-11E6-4169-8C73-52D31C17A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43A94-C9A1-4B9C-A69F-C4BCF9FC2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BB971-C87E-4C02-9CE9-D2785BB8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8517-F1F2-4917-AD4E-90AFD9389CC6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8A222-A574-4837-BA0A-8911E66B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41E22-045C-464D-B7C8-6E216DA3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AE55-6268-4ADF-844B-5E502B89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E728E-F367-464B-91DA-EFBAA73E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B413-2E2D-4299-B58F-A87DC2533D1D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CC1EE-28A4-4B2C-A320-76B3BBEA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0D340-12B3-491D-8109-3DB22F26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D3078-7340-4053-9402-D6DF4AEE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283D-D87B-4651-9756-E0D231D9E06F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75A91-28A5-42A7-AF1E-B64FEEC7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F9872-B8CB-4781-8789-C6311349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9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29F0-8616-4EE0-95D5-4BF5615C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6002-0DD0-4B9C-A340-4F291CE3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D6570-670B-47CC-8226-19CC37709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BBF32-9C51-41BF-95D4-6E9ED7AA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C4534-F427-495A-908E-1C2745183F2F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0060C-3C2F-452D-8457-84E4653A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A2BB-BCC2-4E42-B0C9-E4DDDED8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1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2F1D-787D-4BE5-8171-B436584C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8B29C1-8B7F-40D2-9630-6128753A8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3B68-26F2-45F0-9C67-0FFEC81CF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52746-0DA2-4B3D-B9C0-DDEE786D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73CAC-1F47-4E73-875F-5DD96C29AB63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5FE50-E84D-43DA-928F-88A9F66F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DC1E-2353-4199-9203-76CB1154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5571-E35E-459B-AB0E-ABB1A218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9B00-4968-450F-A957-AEEE313AE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0B35-DD4B-4C24-B56F-349C3952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7ACD-65BF-4941-9A66-0AD85B5D274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2B01C-1E74-4462-B53E-CA87E193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8D4E-F669-4128-A76B-EC6BABF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04F65-30C7-4474-9D6C-AA02759D5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86F7F-D879-4D6B-AAA7-0CC635C10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221E3-40B2-4393-AA83-84C40AAD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7262-16C2-4CEB-85BD-6BBD800A84F2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B2D8-4285-4D57-B10C-C55FD083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F8DD-1382-42FE-A53C-77FD0247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2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301CD-62E3-4539-B56F-577FB878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51756-F4E4-459B-8A5F-C11840935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3741-CB30-4536-A2AB-CC3EF7F20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D86D1-42A6-4E56-9738-C463DDE67D86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0981E-93FF-4B93-B078-3CB92BD8B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B726-E1AE-4669-B602-C21096B6E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3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z-inform" TargetMode="External"/><Relationship Id="rId4" Type="http://schemas.openxmlformats.org/officeDocument/2006/relationships/hyperlink" Target="https://github.com/yugr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iki.c2.com/?SufficientlySmartCompil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ru/photo/87059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users.rust-lang.org/t/what-kind-of-performance-rust-is-trying-to-achieve/1674/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yugr/baseline" TargetMode="External"/><Relationship Id="rId2" Type="http://schemas.openxmlformats.org/officeDocument/2006/relationships/hyperlink" Target="https://github.com/yugr/rust-privat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Olympic_types_of_sport_with_icons.png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G4BJ23BFBE&amp;t=72s" TargetMode="External"/><Relationship Id="rId2" Type="http://schemas.openxmlformats.org/officeDocument/2006/relationships/hyperlink" Target="https://www.youtube.com/watch?v=3fchvdSPpZ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dHBSxDsVl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rust-lang.org/book/ch16-00-concurrency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book/ch20-00-advanced-features.html" TargetMode="External"/><Relationship Id="rId2" Type="http://schemas.openxmlformats.org/officeDocument/2006/relationships/hyperlink" Target="https://doc.rust-lang.org/nomicon/meet-safe-and-unsaf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lickr.com/photos/cazatoma/8746664127" TargetMode="Externa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rust/comments/kpqmrh/comment/gi3u2ki" TargetMode="External"/><Relationship Id="rId2" Type="http://schemas.openxmlformats.org/officeDocument/2006/relationships/hyperlink" Target="https://www.reddit.com/r/rust/comments/9jsqyg/comment/e6ufwc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bounds-checks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5958324/free-public-domain-cc0-phot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https://www.microsoft.com/en-us/msrc/blog/2019/07/a-proactive-approach-to-more-secure-code" TargetMode="External"/><Relationship Id="rId7" Type="http://schemas.openxmlformats.org/officeDocument/2006/relationships/hyperlink" Target="https://security.googleblog.com/2024/11/retrofitting-spatial-safety-to-hundreds.html" TargetMode="External"/><Relationship Id="rId2" Type="http://schemas.openxmlformats.org/officeDocument/2006/relationships/hyperlink" Target="https://cwe.mitre.org/top25/archive/2024/2024_cwe_top2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a.gov/sites/default/files/feeds/known_exploited_vulnerabilities.json" TargetMode="External"/><Relationship Id="rId5" Type="http://schemas.openxmlformats.org/officeDocument/2006/relationships/hyperlink" Target="https://github.com/CVEProject/cvelistV5/tree/main/cves/2024" TargetMode="External"/><Relationship Id="rId4" Type="http://schemas.openxmlformats.org/officeDocument/2006/relationships/hyperlink" Target="https://www.chromium.org/Home/chromium-security/memory-safety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s/safety.htm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blob/main/features/cons/bounds-checks/btb.md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klad/bounds-check-cost/blob/master/src/main.r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aY744zdf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176s9nEf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yale.edu/homes/abhishek/gupta-isca23.pdf" TargetMode="External"/><Relationship Id="rId2" Type="http://schemas.openxmlformats.org/officeDocument/2006/relationships/hyperlink" Target="https://github.com/rust-lang/rfcs/blob/master/text/0560-integer-overflow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st-lang/rust/issues/5075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ckwilcox.com/blog/autovec/" TargetMode="External"/><Relationship Id="rId2" Type="http://schemas.openxmlformats.org/officeDocument/2006/relationships/hyperlink" Target="https://github.com/fschutt/fastblur/pull/3/chang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harr.org/matt/blog/2018/04/18/ispc-origins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injurysource.com/preventing-slip-and-fall-injuries-at-work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st-lang/rust/pull/36072/files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102303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age-rs/jpeg-decoder/pull/167/file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github.com/dropbox/rust-brotli/blob/238c9c539b446d7d980e0a50795752c45dd3359e/src/enc/static_dict.rs#L12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exels.com/photo/close-up-of-a-person-cutting-bread-19359855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morysafety.org/blog/rav1d-performance-optimization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TzEPaaEs" TargetMode="External"/><Relationship Id="rId2" Type="http://schemas.openxmlformats.org/officeDocument/2006/relationships/hyperlink" Target="https://godbolt.org/z/P8de874c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e69173xv" TargetMode="External"/><Relationship Id="rId2" Type="http://schemas.openxmlformats.org/officeDocument/2006/relationships/hyperlink" Target="https://godbolt.org/z/P8de874c1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106539" TargetMode="External"/><Relationship Id="rId2" Type="http://schemas.openxmlformats.org/officeDocument/2006/relationships/hyperlink" Target="https://www.reddit.com/r/rust/comments/yaft60/zerocost_iterator_abstractionsnot_so_zeroco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www.publicdomainpictures.net/en/view-image.php?image=235675&amp;picture=man-carrying-stack-of-boxes" TargetMode="External"/><Relationship Id="rId4" Type="http://schemas.openxmlformats.org/officeDocument/2006/relationships/hyperlink" Target="https://users.rust-lang.org/t/are-iterators-even-efficient/36050/2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G3bfGEhnG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in-osowski/cmov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cons/bounds-checks/count-loops" TargetMode="External"/><Relationship Id="rId2" Type="http://schemas.openxmlformats.org/officeDocument/2006/relationships/hyperlink" Target="https://github.com/yugr/rust-slides/blob/main/features/cons/bounds-checks/count-pan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ugr/rust-private/tree/yugr/disable-bounds-checks/2" TargetMode="External"/><Relationship Id="rId4" Type="http://schemas.openxmlformats.org/officeDocument/2006/relationships/hyperlink" Target="https://github.com/yugr/rust-slides/blob/main/features/cons/bounds-checks/analysis.md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yugr/rust-private/tree/yugr/disable-bounds-checks/2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urse.llvm.org/t/rfc-c-buffer-hardening/65734" TargetMode="External"/><Relationship Id="rId7" Type="http://schemas.openxmlformats.org/officeDocument/2006/relationships/image" Target="../media/image20.jpg"/><Relationship Id="rId2" Type="http://schemas.openxmlformats.org/officeDocument/2006/relationships/hyperlink" Target="https://github.com/yugr/rust-slides/tree/main/features/cons/bounds-checks/bounds-te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nl.no/Mount_Everest" TargetMode="External"/><Relationship Id="rId5" Type="http://schemas.openxmlformats.org/officeDocument/2006/relationships/image" Target="../media/image19.png"/><Relationship Id="rId4" Type="http://schemas.openxmlformats.org/officeDocument/2006/relationships/hyperlink" Target="https://github.com/yugr/slides/blob/main/CppZeroCost/2025/EN.pdf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MG5vdefK" TargetMode="External"/><Relationship Id="rId2" Type="http://schemas.openxmlformats.org/officeDocument/2006/relationships/hyperlink" Target="https://godbolt.org/z/jGT6adEYM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50759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dlerc.blog/posts/2024/11/story-time-bounds-checking" TargetMode="External"/><Relationship Id="rId2" Type="http://schemas.openxmlformats.org/officeDocument/2006/relationships/hyperlink" Target="https://shnatsel.medium.com/how-to-avoid-bounds-checks-in-rust-without-unsafe-f65e618b4c1e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alias" TargetMode="Externa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ercules_slaying_the_Hydra.gi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nqdax4vEP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161494.161501" TargetMode="External"/><Relationship Id="rId2" Type="http://schemas.openxmlformats.org/officeDocument/2006/relationships/hyperlink" Target="https://dl.acm.org/doi/10.1145/99583.9959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10.1145/3605573.3605644" TargetMode="External"/><Relationship Id="rId5" Type="http://schemas.openxmlformats.org/officeDocument/2006/relationships/hyperlink" Target="https://dl.acm.org/doi/10.5555/645989.674312" TargetMode="External"/><Relationship Id="rId4" Type="http://schemas.openxmlformats.org/officeDocument/2006/relationships/hyperlink" Target="https://www.microsoft.com/en-us/research/wp-content/uploads/2016/02/tr-2001-38.pdf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6WoTzoo5v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16515" TargetMode="External"/><Relationship Id="rId2" Type="http://schemas.openxmlformats.org/officeDocument/2006/relationships/hyperlink" Target="http://llvm.org/docs/LangRef.html#noalias-and-alias-scope-metad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WjY9rxex7" TargetMode="External"/><Relationship Id="rId4" Type="http://schemas.openxmlformats.org/officeDocument/2006/relationships/hyperlink" Target="https://github.com/rust-lang/rust/commit/71f5cfb21f3fd2f1740bced061c66ff112fec259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yugr/force-aliasing/2" TargetMode="External"/><Relationship Id="rId2" Type="http://schemas.openxmlformats.org/officeDocument/2006/relationships/hyperlink" Target="https://github.com/yugr/rust-slides/blob/main/features/pros/alias/analysis.md#preval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yugr/rust-private/tree/yugr/force-aliasing/2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161494.161501" TargetMode="External"/><Relationship Id="rId7" Type="http://schemas.openxmlformats.org/officeDocument/2006/relationships/hyperlink" Target="https://github.com/travisdowns/uarch-bench/wiki/Memory-Disambiguation-on-Skylake" TargetMode="External"/><Relationship Id="rId2" Type="http://schemas.openxmlformats.org/officeDocument/2006/relationships/hyperlink" Target="https://dl.acm.org/doi/10.1145/99583.9959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10.1145/3605573.3605644" TargetMode="External"/><Relationship Id="rId5" Type="http://schemas.openxmlformats.org/officeDocument/2006/relationships/hyperlink" Target="https://dl.acm.org/doi/10.5555/645989.674312" TargetMode="External"/><Relationship Id="rId4" Type="http://schemas.openxmlformats.org/officeDocument/2006/relationships/hyperlink" Target="https://www.microsoft.com/en-us/research/wp-content/uploads/2016/02/tr-2001-38.pdf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init" TargetMode="Externa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-std.org/jtc1/sc22/wg21/docs/papers/2023/p2723r1.html#real-world" TargetMode="External"/><Relationship Id="rId2" Type="http://schemas.openxmlformats.org/officeDocument/2006/relationships/hyperlink" Target="https://github.com/microsoft/MSRC-Security-Research/blob/master/presentations/2019_09_CppCon/CppCon2019%20-%20Killing%20Uninitialized%20Memor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exels.com/photo/vintage-water-tap-dripping-in-black-and-white-29725026/" TargetMode="External"/><Relationship Id="rId4" Type="http://schemas.openxmlformats.org/officeDocument/2006/relationships/image" Target="../media/image26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kyouko-taiga.github.io/swift-thoughts/tutorial/chapter-1" TargetMode="External"/><Relationship Id="rId2" Type="http://schemas.openxmlformats.org/officeDocument/2006/relationships/hyperlink" Target="https://ericlippert.com/2012/03/05/why-are-local-variables-definitely-assigned-in-unreachable-statement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-std.org/jtc1/sc22/wg21/docs/papers/2024/p2795r5.html" TargetMode="External"/><Relationship Id="rId5" Type="http://schemas.openxmlformats.org/officeDocument/2006/relationships/hyperlink" Target="https://medium.com/@AlexanderObregon/how-javas-default-values-for-variables-work-9256ce8ed620" TargetMode="External"/><Relationship Id="rId4" Type="http://schemas.openxmlformats.org/officeDocument/2006/relationships/hyperlink" Target="https://go.dev/ref/spec#The_zero_value" TargetMode="Externa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valgrind/tree/yugr/deadwrites/3" TargetMode="External"/><Relationship Id="rId2" Type="http://schemas.openxmlformats.org/officeDocument/2006/relationships/hyperlink" Target="https://github.com/yugr/rust-slides/tree/main/features/cons/init/count-stores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kio-rs/tokio/pull/1744#issuecomment-554543881" TargetMode="External"/><Relationship Id="rId2" Type="http://schemas.openxmlformats.org/officeDocument/2006/relationships/hyperlink" Target="https://github.com/rust-lang/rust/pull/2695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hadravid.github.io/posts/2025-05-rav1d-faster/" TargetMode="External"/><Relationship Id="rId5" Type="http://schemas.openxmlformats.org/officeDocument/2006/relationships/hyperlink" Target="https://github.com/rust-lang/rfcs/pull/837#issuecomment-75497481" TargetMode="External"/><Relationship Id="rId4" Type="http://schemas.openxmlformats.org/officeDocument/2006/relationships/hyperlink" Target="https://github.com/shadow/shadow/issues/1643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rust-lang.org/std/ptr/macro.addr_of_mut.html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QWjF8NvqAU" TargetMode="External"/><Relationship Id="rId2" Type="http://schemas.openxmlformats.org/officeDocument/2006/relationships/hyperlink" Target="https://github.com/microsoft/MSRC-Security-Research/blob/master/presentations/2019_09_CppCon/CppCon2019%20-%20Killing%20Uninitialized%20Memory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pen-std.org/jtc1/sc22/wg21/docs/papers/2024/p2795r5.html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static" TargetMode="Externa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reviews.llvm.org/D23980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CppRussia/blob/master/2024/EN.pdf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M7Tchx49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llvm.org/docs/CodingStandards.html#id59" TargetMode="External"/><Relationship Id="rId2" Type="http://schemas.openxmlformats.org/officeDocument/2006/relationships/hyperlink" Target="https://google.github.io/styleguide/cppguide.html#Internal_Link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gr/llvm-project/commits/yugr/internal-private/2" TargetMode="External"/><Relationship Id="rId5" Type="http://schemas.openxmlformats.org/officeDocument/2006/relationships/hyperlink" Target="https://chromium.googlesource.com/chromium/src/+/main/styleguide/c++/c++.md#unnamed-namespaces" TargetMode="External"/><Relationship Id="rId4" Type="http://schemas.openxmlformats.org/officeDocument/2006/relationships/hyperlink" Target="https://isocpp.github.io/CppCoreGuidelines/CppCoreGuidelines#rs-unnamed2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Localizer" TargetMode="External"/><Relationship Id="rId2" Type="http://schemas.openxmlformats.org/officeDocument/2006/relationships/hyperlink" Target="https://github.com/yugr/rust-slides/blob/main/features/pros/static/0001-Remove-internal-functions.patch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yugr/rust-slides/blob/main/features/pros/static/0001-Remove-internal-functions.patch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archive.org/web/20240309202636/https:/embeddedgurus.com/stack-overflow/2008/12/efficient-c-tips-5-make-local-functions-static/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pros/copy-elision" TargetMode="External"/><Relationship Id="rId2" Type="http://schemas.openxmlformats.org/officeDocument/2006/relationships/hyperlink" Target="https://github.com/yugr/rust-slides/tree/main/features/cons/placement-new" TargetMode="Externa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pp-ru/ideas/issues/256" TargetMode="External"/><Relationship Id="rId2" Type="http://schemas.openxmlformats.org/officeDocument/2006/relationships/hyperlink" Target="https://assets.ctfassets.net/oxjq45e8ilak/2eGPH36FWGYOPN2dgTom47/eb317b89aab933d9f28a367a7dcb1083/Roman_Rusyayev_Anton_Polukhin_Nastoyashcheye_i_budushcheye_copy_elision_2020_06_28_15_51_5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slides/tree/main/features/pros/copy-elision" TargetMode="Externa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rust-lang.github.io/rust-project-goals/2025h2/in-place-initialization.html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rust-lang.github.io/rust-project-goals/2025h2/mir-move-elimination.html" TargetMode="External"/><Relationship Id="rId2" Type="http://schemas.openxmlformats.org/officeDocument/2006/relationships/hyperlink" Target="https://rust-lang.github.io/rust-project-goals/2025h2/in-place-initialization.html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.ctfassets.net/oxjq45e8ilak/2eGPH36FWGYOPN2dgTom47/eb317b89aab933d9f28a367a7dcb1083/Roman_Rusyayev_Anton_Polukhin_Nastoyashcheye_i_budushcheye_copy_elision_2020_06_28_15_51_59.pdf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niche" TargetMode="Externa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katecpp.github.io/struct-members-order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70118259@N00/3173642531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GMoejn7rd" TargetMode="External"/><Relationship Id="rId4" Type="http://schemas.openxmlformats.org/officeDocument/2006/relationships/hyperlink" Target="https://godbolt.org/z/MxYh7bv34" TargetMode="Externa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dbolt.org/z/n8a1x9nWr" TargetMode="Externa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nowmediagroup.tv/blog/10-must-read-books-why-multidisciplinary-reading-is-a-must/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fcs/pull/3204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github.com/Sedeniono/tiny-optional?tab=readme-ov-file#use-case-1-wasting-no-memo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zakhar/struct-reorder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tb.org/esr/structure-packing/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arithmetic-checks" TargetMode="Externa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cwe.mitre.org/top25/archive/2019/2019_cwe_top25.html" TargetMode="External"/><Relationship Id="rId7" Type="http://schemas.openxmlformats.org/officeDocument/2006/relationships/hyperlink" Target="https://github.com/yugr/slides/blob/main/CppZeroCost/2025/EN.pdf" TargetMode="External"/><Relationship Id="rId2" Type="http://schemas.openxmlformats.org/officeDocument/2006/relationships/hyperlink" Target="https://cwe.mitre.org/top25/archive/2024/2024_cwe_top2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regehr.org/archives/1559" TargetMode="External"/><Relationship Id="rId5" Type="http://schemas.openxmlformats.org/officeDocument/2006/relationships/hyperlink" Target="https://gcc.gnu.org/bugzilla/show_bug.cgi?id=35412" TargetMode="External"/><Relationship Id="rId10" Type="http://schemas.openxmlformats.org/officeDocument/2006/relationships/hyperlink" Target="https://www.researchgate.net/publication/336109913_Famous_Failures_Revisited_A_Focus_on_System_Integration" TargetMode="External"/><Relationship Id="rId4" Type="http://schemas.openxmlformats.org/officeDocument/2006/relationships/hyperlink" Target="https://gcc.gnu.org/legacy-ml/gcc-patches/2000-10/msg00607.html" TargetMode="External"/><Relationship Id="rId9" Type="http://schemas.openxmlformats.org/officeDocument/2006/relationships/image" Target="../media/image38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fcs/pull/560#issuecomment-69403142" TargetMode="Externa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://danluu.com/integer-overflow/" TargetMode="External"/><Relationship Id="rId2" Type="http://schemas.openxmlformats.org/officeDocument/2006/relationships/hyperlink" Target="https://news.ycombinator.com/item?id=876626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43h1c87M5" TargetMode="External"/><Relationship Id="rId4" Type="http://schemas.openxmlformats.org/officeDocument/2006/relationships/hyperlink" Target="https://godbolt.org/z/1x49jffv3" TargetMode="Externa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https://kristerw.blogspot.com/2016/02/how-undefined-signed-overflow-enables.html?m=1" TargetMode="Externa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c1sMcxfsP" TargetMode="External"/><Relationship Id="rId2" Type="http://schemas.openxmlformats.org/officeDocument/2006/relationships/hyperlink" Target="https://godbolt.org/z/Yssq68Gj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yG1OZ69H_-o?t=2358" TargetMode="Externa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rust/comments/15tvuio/comment/jwnumm3/?utm_source=share&amp;utm_medium=web3x&amp;utm_name=web3xcss&amp;utm_term=1&amp;utm_content=share_button" TargetMode="Externa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blob/main/features/cons/arithmetic-checks/analysis.md#optimizations" TargetMode="Externa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github.com/yugr/rust-private/tree/yugr/no-overflow-checks/2" TargetMode="Externa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github.com/yugr/rust-private/tree/yugr/force-overflow-checks/2" TargetMode="Externa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fcs/pull/560" TargetMode="External"/><Relationship Id="rId7" Type="http://schemas.openxmlformats.org/officeDocument/2006/relationships/hyperlink" Target="https://web.ist.utl.pt/nuno.lopes/pubs/ub-pldi25.pdf" TargetMode="External"/><Relationship Id="rId2" Type="http://schemas.openxmlformats.org/officeDocument/2006/relationships/hyperlink" Target="https://github.com/rust-lang/rfcs/blob/master/text/0560-integer-overflow.m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risterw.blogspot.com/2016/02/how-undefined-signed-overflow-enables.html?m=1" TargetMode="External"/><Relationship Id="rId5" Type="http://schemas.openxmlformats.org/officeDocument/2006/relationships/hyperlink" Target="https://users.cs.utah.edu/~regehr/papers/overflow12.pdf" TargetMode="External"/><Relationship Id="rId4" Type="http://schemas.openxmlformats.org/officeDocument/2006/relationships/hyperlink" Target="https://huonw.github.io/blog/2016/04/myths-and-legends-about-integer-overflow-in-rust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cons/stdlib" TargetMode="External"/><Relationship Id="rId2" Type="http://schemas.openxmlformats.org/officeDocument/2006/relationships/hyperlink" Target="https://github.com/yugr/rust-slides/tree/main/features/pros/stdlib" TargetMode="Externa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oa67f1j5z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60673" TargetMode="External"/><Relationship Id="rId2" Type="http://schemas.openxmlformats.org/officeDocument/2006/relationships/hyperlink" Target="https://github.com/yugr/rust-slides/tree/main/features/pros/stdlib/hash-benchmark" TargetMode="Externa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yugr/rust-private/tree/yugr/stdlib/no-char-checks/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ithub.com/yugr/rust-private/tree/yugr/stdlib/no-overflow-checks/2" TargetMode="Externa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vm/llvm-project/blob/2ae4b92a1cf01b7d09f70ccc919eca2b5d02b080/libcxx/include/__algorithm/sort.h#L375" TargetMode="External"/><Relationship Id="rId2" Type="http://schemas.openxmlformats.org/officeDocument/2006/relationships/hyperlink" Target="https://github.com/yugr/rust-slides/tree/main/features/pros/stdlib/tree-benchmar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slides/tree/main/features/pros/stdlib/sort-benchmark" TargetMode="Externa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ultapher/sort-research-rs/blob/main/writeup/sort_safety/text.md" TargetMode="Externa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fastmath" TargetMode="Externa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sn7G4r4P" TargetMode="External"/><Relationship Id="rId2" Type="http://schemas.openxmlformats.org/officeDocument/2006/relationships/hyperlink" Target="https://godbolt.org/z/Tqvsv4Tqs" TargetMode="Externa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6P1ohcTr" TargetMode="External"/><Relationship Id="rId2" Type="http://schemas.openxmlformats.org/officeDocument/2006/relationships/hyperlink" Target="https://godbolt.org/z/v5vvEb1Th" TargetMode="Externa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a5GME55MM" TargetMode="External"/><Relationship Id="rId2" Type="http://schemas.openxmlformats.org/officeDocument/2006/relationships/hyperlink" Target="https://godbolt.org/z/hjzWejv3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dMeKc8PW9" TargetMode="External"/><Relationship Id="rId4" Type="http://schemas.openxmlformats.org/officeDocument/2006/relationships/hyperlink" Target="https://godbolt.org/z/nancn6j8x" TargetMode="Externa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vPTo9fz4" TargetMode="External"/><Relationship Id="rId2" Type="http://schemas.openxmlformats.org/officeDocument/2006/relationships/hyperlink" Target="https://godbolt.org/z/qTTY4r7Yx" TargetMode="Externa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e8sM1dh9" TargetMode="External"/><Relationship Id="rId2" Type="http://schemas.openxmlformats.org/officeDocument/2006/relationships/hyperlink" Target="https://godbolt.org/z/v5YEq7hb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zoWrsfr1h" TargetMode="External"/><Relationship Id="rId4" Type="http://schemas.openxmlformats.org/officeDocument/2006/relationships/hyperlink" Target="https://godbolt.org/z/TYab9sndr" TargetMode="Externa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v33ffaqx" TargetMode="External"/><Relationship Id="rId2" Type="http://schemas.openxmlformats.org/officeDocument/2006/relationships/hyperlink" Target="https://godbolt.org/z/MPPoc5oea" TargetMode="Externa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rYebWsfco" TargetMode="Externa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21690#issuecomment-2664787927" TargetMode="Externa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nals.rust-lang.org/t/suggestion-ffastmath-intrinsics-in-stable/14447" TargetMode="Externa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zakhar/algebraic-math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private/tree/zakhar/fast-math" TargetMode="Externa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hyperlink" Target="https://llvm.org/devmtg/2024-10/slides/techtalk/Kaylor-Towards-Useful-Fast-Math.pdf" TargetMode="External"/><Relationship Id="rId2" Type="http://schemas.openxmlformats.org/officeDocument/2006/relationships/hyperlink" Target="https://kristerw.github.io/2021/10/19/fast-mat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rlp.net/blog/taming-float-sums/" TargetMode="External"/><Relationship Id="rId5" Type="http://schemas.openxmlformats.org/officeDocument/2006/relationships/hyperlink" Target="https://www.open-std.org/jtc1/sc22/wg21/docs/papers/2025/p3715r0.html" TargetMode="External"/><Relationship Id="rId4" Type="http://schemas.openxmlformats.org/officeDocument/2006/relationships/hyperlink" Target="https://simonbyrne.github.io/notes/fastmath/" TargetMode="Externa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github.com/yugr/rust-private/tree/yugr/disable-all-checks/1" TargetMode="Externa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github.com/yugr/rust-private/tree/yugr/disable-all-checks/1" TargetMode="Externa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github.com/yugr/rust-slides/blob/main/benchmarks/rust/histogram.py" TargetMode="Externa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github.com/yugr/rust-slides/blob/main/benchmarks/rust/histogram.py" TargetMode="Externa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blob/main/benchmarks/cpp/histogram.py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edpix.com/photo/1171460/weigh-plus-minus-horizontal-plus-minus-balance-sheet-cost-calculation-course" TargetMode="Externa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ugr/rust-slides/tree/main/features/cons/probestack" TargetMode="External"/><Relationship Id="rId3" Type="http://schemas.openxmlformats.org/officeDocument/2006/relationships/hyperlink" Target="https://github.com/yugr/rust-slides/tree/main/features/cons/panics" TargetMode="External"/><Relationship Id="rId7" Type="http://schemas.openxmlformats.org/officeDocument/2006/relationships/hyperlink" Target="https://github.com/yugr/rust-slides/tree/main/features/pros/vtable" TargetMode="External"/><Relationship Id="rId2" Type="http://schemas.openxmlformats.org/officeDocument/2006/relationships/hyperlink" Target="https://github.com/yugr/rust-slides/tree/main/features/cons/cg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gr/rust-slides/tree/main/features/pros/noplt" TargetMode="External"/><Relationship Id="rId5" Type="http://schemas.openxmlformats.org/officeDocument/2006/relationships/hyperlink" Target="https://github.com/yugr/rust-slides/tree/main/features/pros/abi" TargetMode="External"/><Relationship Id="rId10" Type="http://schemas.openxmlformats.org/officeDocument/2006/relationships/hyperlink" Target="https://vectorportal.com/vector/timeglass/34811" TargetMode="External"/><Relationship Id="rId4" Type="http://schemas.openxmlformats.org/officeDocument/2006/relationships/hyperlink" Target="https://github.com/yugr/rust-slides/tree/main/features/pros/gc-sections" TargetMode="External"/><Relationship Id="rId9" Type="http://schemas.openxmlformats.org/officeDocument/2006/relationships/image" Target="../media/image53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berg.org/amonakov" TargetMode="External"/><Relationship Id="rId3" Type="http://schemas.openxmlformats.org/officeDocument/2006/relationships/hyperlink" Target="https://github.com/yugr/rust-slides/blob/main/EN.pdf" TargetMode="External"/><Relationship Id="rId7" Type="http://schemas.openxmlformats.org/officeDocument/2006/relationships/hyperlink" Target="https://github.com/amonakov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obzol" TargetMode="External"/><Relationship Id="rId5" Type="http://schemas.openxmlformats.org/officeDocument/2006/relationships/hyperlink" Target="https://github.com/Gabriel-Fallen" TargetMode="External"/><Relationship Id="rId4" Type="http://schemas.openxmlformats.org/officeDocument/2006/relationships/hyperlink" Target="https://github.com/petrochenkov" TargetMode="External"/><Relationship Id="rId9" Type="http://schemas.openxmlformats.org/officeDocument/2006/relationships/hyperlink" Target="https://mastodon.social/@pervognsen" TargetMode="Externa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materials" TargetMode="Externa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benchmarks" TargetMode="Externa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benchmarks/cpp/ffmpeg-bench" TargetMode="External"/><Relationship Id="rId7" Type="http://schemas.openxmlformats.org/officeDocument/2006/relationships/hyperlink" Target="https://github.com/yugr/rust-slides/issues/55" TargetMode="External"/><Relationship Id="rId2" Type="http://schemas.openxmlformats.org/officeDocument/2006/relationships/hyperlink" Target="https://github.com/yugr/rust-slides/tree/main/benchmarks/cpp/llvm-ben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horonix-test-suite.com/" TargetMode="External"/><Relationship Id="rId5" Type="http://schemas.openxmlformats.org/officeDocument/2006/relationships/hyperlink" Target="https://github.com/yugr/rust-slides/tree/main/benchmarks/cpp/PTS" TargetMode="External"/><Relationship Id="rId4" Type="http://schemas.openxmlformats.org/officeDocument/2006/relationships/hyperlink" Target="https://zatoichi-engineer.github.io/2017/10/04/stack-smashing-protection.html#performance-cost" TargetMode="Externa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uInit" TargetMode="Externa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9DE8-A7DE-48D8-AF7F-E86E2218F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Performance of Rust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4F02A-C8D6-4179-9140-FD2C99812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May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EBCA2-4DAF-414F-A5EE-354B3D2F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86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2AED-D104-474B-84D9-AD556117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A289D-91F9-4067-9253-842C67CA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57" y="4138566"/>
            <a:ext cx="1448991" cy="1862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333A7-8B6B-47B6-9EDF-04148C3CF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753" y="2218765"/>
            <a:ext cx="1524000" cy="152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46AA54-D228-4271-8F18-9F5F75E411D1}"/>
              </a:ext>
            </a:extLst>
          </p:cNvPr>
          <p:cNvSpPr txBox="1"/>
          <p:nvPr/>
        </p:nvSpPr>
        <p:spPr>
          <a:xfrm>
            <a:off x="3753968" y="2103602"/>
            <a:ext cx="6331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Yuri </a:t>
            </a:r>
            <a:r>
              <a:rPr lang="en-US" dirty="0" err="1"/>
              <a:t>Gribov</a:t>
            </a:r>
            <a:r>
              <a:rPr lang="en-US" dirty="0"/>
              <a:t> (</a:t>
            </a:r>
            <a:r>
              <a:rPr lang="en-US" dirty="0" err="1"/>
              <a:t>yugr</a:t>
            </a:r>
            <a:r>
              <a:rPr lang="en-US" dirty="0"/>
              <a:t>, </a:t>
            </a:r>
            <a:r>
              <a:rPr lang="en-US" dirty="0" err="1"/>
              <a:t>the_real_yugr</a:t>
            </a:r>
            <a:r>
              <a:rPr lang="en-US" dirty="0"/>
              <a:t>), </a:t>
            </a:r>
            <a:r>
              <a:rPr lang="en-US" dirty="0">
                <a:hlinkClick r:id="rId4"/>
              </a:rPr>
              <a:t>https://github.com/yugr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 and fan of system SW </a:t>
            </a:r>
            <a:r>
              <a:rPr lang="ru-RU" dirty="0"/>
              <a:t>(</a:t>
            </a:r>
            <a:r>
              <a:rPr lang="en-US" dirty="0"/>
              <a:t>compilers</a:t>
            </a:r>
            <a:r>
              <a:rPr lang="ru-RU" dirty="0"/>
              <a:t>, </a:t>
            </a:r>
            <a:r>
              <a:rPr lang="en-US" dirty="0"/>
              <a:t>runtimes</a:t>
            </a:r>
            <a:r>
              <a:rPr lang="ru-RU" dirty="0"/>
              <a:t>, </a:t>
            </a:r>
            <a:r>
              <a:rPr lang="en-US" dirty="0"/>
              <a:t>verification tools, </a:t>
            </a:r>
            <a:r>
              <a:rPr lang="en-US" dirty="0" err="1"/>
              <a:t>etc</a:t>
            </a:r>
            <a:r>
              <a:rPr lang="ru-RU" dirty="0"/>
              <a:t>.)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Compiler </a:t>
            </a:r>
            <a:r>
              <a:rPr lang="en-US" dirty="0" err="1"/>
              <a:t>teamlead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89DAC-DC40-432C-8CDA-AB74CC849162}"/>
              </a:ext>
            </a:extLst>
          </p:cNvPr>
          <p:cNvSpPr txBox="1"/>
          <p:nvPr/>
        </p:nvSpPr>
        <p:spPr>
          <a:xfrm>
            <a:off x="3753969" y="4607980"/>
            <a:ext cx="5829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Zakhar </a:t>
            </a:r>
            <a:r>
              <a:rPr lang="en-US" dirty="0" err="1"/>
              <a:t>Akimov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https://github.com/z-inform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 of general-purpose and AI compilers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ML-in-compilers expert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0FFBF9-CAA1-499A-A684-513B1BA1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2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8DF9-DDF2-48F4-A881-B36DF3BB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language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6DEBD-4BE7-4CB8-9B39-EE3FE39F0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Language for high-performance system programming</a:t>
            </a:r>
          </a:p>
          <a:p>
            <a:pPr lvl="1"/>
            <a:r>
              <a:rPr lang="en-US" dirty="0"/>
              <a:t>Zero cost/overhead abstractions: don’t pay for what you don’t use + no (or minimal) runtime overhead (iterators, closures, traits, etc.)</a:t>
            </a:r>
          </a:p>
          <a:p>
            <a:pPr lvl="1"/>
            <a:r>
              <a:rPr lang="en-US" dirty="0"/>
              <a:t>Allows low-level tuning (SIMD, inline assembler, compiler </a:t>
            </a:r>
            <a:r>
              <a:rPr lang="en-US" dirty="0" err="1"/>
              <a:t>intrinsics</a:t>
            </a:r>
            <a:r>
              <a:rPr lang="en-US" dirty="0"/>
              <a:t> like __</a:t>
            </a:r>
            <a:r>
              <a:rPr lang="en-US" dirty="0" err="1"/>
              <a:t>builtin_expect</a:t>
            </a:r>
            <a:r>
              <a:rPr lang="en-US" dirty="0"/>
              <a:t>, etc.)</a:t>
            </a:r>
          </a:p>
          <a:p>
            <a:r>
              <a:rPr lang="en-US" dirty="0"/>
              <a:t>Supports modern programming paradigms</a:t>
            </a:r>
            <a:endParaRPr lang="ru-RU" dirty="0"/>
          </a:p>
          <a:p>
            <a:pPr lvl="1"/>
            <a:r>
              <a:rPr lang="en-US" dirty="0"/>
              <a:t>Procedural,</a:t>
            </a:r>
            <a:r>
              <a:rPr lang="ru-RU" dirty="0"/>
              <a:t> </a:t>
            </a:r>
            <a:r>
              <a:rPr lang="en-US" dirty="0"/>
              <a:t>functional and object-oriented programming</a:t>
            </a:r>
          </a:p>
          <a:p>
            <a:pPr lvl="1"/>
            <a:r>
              <a:rPr lang="en-US" dirty="0"/>
              <a:t>Static and runtime polymorphism</a:t>
            </a:r>
          </a:p>
          <a:p>
            <a:pPr lvl="1"/>
            <a:r>
              <a:rPr lang="en-US" dirty="0"/>
              <a:t>Metaprogramming</a:t>
            </a:r>
          </a:p>
          <a:p>
            <a:r>
              <a:rPr lang="en-US" dirty="0"/>
              <a:t>Reduces number of UBs through stricter language rules and runtime checks</a:t>
            </a:r>
          </a:p>
          <a:p>
            <a:pPr lvl="1"/>
            <a:r>
              <a:rPr lang="en-US" dirty="0"/>
              <a:t>Especially memory safety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CE1C-BF6B-4832-8357-487E09E6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7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266-DCB4-4472-B804-C46A1C7C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performance: Disadvantages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673D49-B112-4B11-9AD6-71D331EF6C7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Runtime checks</a:t>
            </a:r>
            <a:endParaRPr lang="ru-RU" dirty="0"/>
          </a:p>
          <a:p>
            <a:r>
              <a:rPr lang="en-US" dirty="0"/>
              <a:t>Forced initialization</a:t>
            </a:r>
          </a:p>
          <a:p>
            <a:r>
              <a:rPr lang="en-US" dirty="0"/>
              <a:t>Integer overflows are defined behavior</a:t>
            </a:r>
            <a:endParaRPr lang="ru-RU" dirty="0"/>
          </a:p>
          <a:p>
            <a:r>
              <a:rPr lang="en-US" dirty="0"/>
              <a:t>Performance-robustness tradeoffs in </a:t>
            </a:r>
            <a:r>
              <a:rPr lang="en-US" dirty="0" err="1"/>
              <a:t>stdlib</a:t>
            </a:r>
            <a:endParaRPr lang="en-US" dirty="0"/>
          </a:p>
          <a:p>
            <a:r>
              <a:rPr lang="ru-RU" dirty="0"/>
              <a:t>...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918-12E0-42A0-AC72-36B6C273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Plus, Minus icon - Free Download PNG ...">
            <a:extLst>
              <a:ext uri="{FF2B5EF4-FFF2-40B4-BE49-F238E27FC236}">
                <a16:creationId xmlns:a16="http://schemas.microsoft.com/office/drawing/2014/main" id="{8C9F0949-E7A9-496D-813D-A4916C2DC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251" y="365125"/>
            <a:ext cx="1681443" cy="16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24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266-DCB4-4472-B804-C46A1C7C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performance: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11E3-E455-4924-AA1C-701D4788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673D49-B112-4B11-9AD6-71D331EF6C7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More aggressive alias analysis</a:t>
            </a:r>
          </a:p>
          <a:p>
            <a:pPr lvl="1"/>
            <a:r>
              <a:rPr lang="en-US" dirty="0"/>
              <a:t>Basically restrict-by-default</a:t>
            </a:r>
          </a:p>
          <a:p>
            <a:r>
              <a:rPr lang="en-US" dirty="0"/>
              <a:t>Structure layout optimizations</a:t>
            </a:r>
          </a:p>
          <a:p>
            <a:pPr lvl="1"/>
            <a:r>
              <a:rPr lang="en-US" dirty="0"/>
              <a:t>Field reorder and niche optimizations</a:t>
            </a:r>
          </a:p>
          <a:p>
            <a:r>
              <a:rPr lang="en-US" dirty="0"/>
              <a:t>More efficient standard library containers</a:t>
            </a:r>
          </a:p>
          <a:p>
            <a:r>
              <a:rPr lang="en-US" dirty="0"/>
              <a:t>...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918-12E0-42A0-AC72-36B6C273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2" descr="Plus, Minus icon - Free Download PNG ...">
            <a:extLst>
              <a:ext uri="{FF2B5EF4-FFF2-40B4-BE49-F238E27FC236}">
                <a16:creationId xmlns:a16="http://schemas.microsoft.com/office/drawing/2014/main" id="{B22C295E-DA79-4A3D-A8BB-57324B71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251" y="365125"/>
            <a:ext cx="1681443" cy="16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1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E1C6-BA6C-4297-9FD0-C1E66B4C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this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1C00-33DC-4488-AAE1-C01FE5C39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“expensive”</a:t>
            </a:r>
            <a:r>
              <a:rPr lang="ru-RU" dirty="0"/>
              <a:t> </a:t>
            </a:r>
            <a:r>
              <a:rPr lang="en-US" dirty="0"/>
              <a:t>are Rust checks in practice?</a:t>
            </a:r>
          </a:p>
          <a:p>
            <a:pPr lvl="1"/>
            <a:r>
              <a:rPr lang="en-US" dirty="0"/>
              <a:t>Compared to Rust without checks and/or C/C++</a:t>
            </a:r>
          </a:p>
          <a:p>
            <a:pPr lvl="1"/>
            <a:r>
              <a:rPr lang="en-US" dirty="0"/>
              <a:t>What are the immediate (extra instructions) and indirect </a:t>
            </a:r>
            <a:r>
              <a:rPr lang="ru-RU" dirty="0"/>
              <a:t>(</a:t>
            </a:r>
            <a:r>
              <a:rPr lang="en-US" dirty="0"/>
              <a:t>disabling optimizations, I$/BTB pressure)</a:t>
            </a:r>
            <a:r>
              <a:rPr lang="ru-RU" dirty="0"/>
              <a:t> </a:t>
            </a:r>
            <a:r>
              <a:rPr lang="en-US" dirty="0"/>
              <a:t>consequences</a:t>
            </a:r>
          </a:p>
          <a:p>
            <a:r>
              <a:rPr lang="en-US" dirty="0"/>
              <a:t>Can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Sufficiently Smart</a:t>
            </a:r>
            <a:r>
              <a:rPr lang="en-US" dirty="0"/>
              <a:t> (Heroic) Compilers © help to mitigate overheads?</a:t>
            </a:r>
          </a:p>
          <a:p>
            <a:r>
              <a:rPr lang="en-US" dirty="0"/>
              <a:t>And if not, can developer help compiler to get rid of them?</a:t>
            </a:r>
          </a:p>
          <a:p>
            <a:r>
              <a:rPr lang="en-US" dirty="0"/>
              <a:t>On the contrary, what language features help compiler to optimize code better?</a:t>
            </a:r>
          </a:p>
          <a:p>
            <a:endParaRPr lang="en-US" dirty="0"/>
          </a:p>
        </p:txBody>
      </p:sp>
      <p:pic>
        <p:nvPicPr>
          <p:cNvPr id="4" name="Picture 4" descr="картинки : доска, колесо, игра, отдых, Красный, цвет, Цель, круг,  соревнование, стрела, Симметрия, Выстрел, центр, Игры, Победитель,  Прицеливаться, дартс, Успех, Гол, достижение, Точность, удар, Точный,  Дартборд, Индивидуальные виды спорта, Внутренние ...">
            <a:extLst>
              <a:ext uri="{FF2B5EF4-FFF2-40B4-BE49-F238E27FC236}">
                <a16:creationId xmlns:a16="http://schemas.microsoft.com/office/drawing/2014/main" id="{4A68C681-A33E-4B88-B5AE-F5006C0F4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324" y="681037"/>
            <a:ext cx="2125476" cy="141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6A656-DDAE-439A-B4C1-7E9D7E507316}"/>
              </a:ext>
            </a:extLst>
          </p:cNvPr>
          <p:cNvSpPr txBox="1"/>
          <p:nvPr/>
        </p:nvSpPr>
        <p:spPr>
          <a:xfrm>
            <a:off x="9022556" y="2091882"/>
            <a:ext cx="2537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https://pxhere.com/ru/photo/870592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4C16-16CD-4CD8-934B-798A6C4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8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42C0-E7EA-4553-A526-BBFA4F2C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Opinion of language creators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9FAB-0F7A-4F38-BA82-1168FFF7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Steven </a:t>
            </a:r>
            <a:r>
              <a:rPr lang="en-US" dirty="0" err="1">
                <a:hlinkClick r:id="rId2"/>
              </a:rPr>
              <a:t>Klabnik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"Generally Rust is the same order of magnitude as C. Sometimes faster, sometimes slower”</a:t>
            </a:r>
          </a:p>
          <a:p>
            <a:pPr lvl="1"/>
            <a:r>
              <a:rPr lang="en-US" dirty="0"/>
              <a:t>“Rust prioritizes memory safety above all else. But speed is a close second"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07E8-7692-4A0F-985F-E2A82E37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61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6CC3-E58F-4B6F-B5D5-594EBF70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797A-519E-433F-A038-B1E37653A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estimate overheads caused by checks?</a:t>
            </a:r>
          </a:p>
          <a:p>
            <a:r>
              <a:rPr lang="en-US" dirty="0"/>
              <a:t>Rust compiler does not provide flags to disable safety checks</a:t>
            </a:r>
          </a:p>
          <a:p>
            <a:r>
              <a:rPr lang="en-US" dirty="0"/>
              <a:t>We will compare regular Rust with </a:t>
            </a:r>
            <a:r>
              <a:rPr lang="en-US" dirty="0">
                <a:hlinkClick r:id="rId2"/>
              </a:rPr>
              <a:t>patched Rust</a:t>
            </a:r>
            <a:r>
              <a:rPr lang="ru-RU" dirty="0"/>
              <a:t> </a:t>
            </a:r>
            <a:r>
              <a:rPr lang="en-US" dirty="0"/>
              <a:t>with disabled checks</a:t>
            </a:r>
            <a:endParaRPr lang="ru-RU" dirty="0"/>
          </a:p>
          <a:p>
            <a:pPr lvl="1"/>
            <a:r>
              <a:rPr lang="en-US" dirty="0"/>
              <a:t>Repo with modified compiler: </a:t>
            </a:r>
            <a:r>
              <a:rPr lang="en-US" dirty="0" err="1">
                <a:hlinkClick r:id="rId2"/>
              </a:rPr>
              <a:t>yugr</a:t>
            </a:r>
            <a:r>
              <a:rPr lang="en-US" dirty="0">
                <a:hlinkClick r:id="rId2"/>
              </a:rPr>
              <a:t>/rust-private</a:t>
            </a:r>
            <a:endParaRPr lang="en-US" dirty="0"/>
          </a:p>
          <a:p>
            <a:pPr lvl="1"/>
            <a:r>
              <a:rPr lang="en-US" dirty="0"/>
              <a:t>Baseline branch </a:t>
            </a:r>
            <a:r>
              <a:rPr lang="en-US" dirty="0" err="1">
                <a:hlinkClick r:id="rId3"/>
              </a:rPr>
              <a:t>yugr</a:t>
            </a:r>
            <a:r>
              <a:rPr lang="en-US" dirty="0">
                <a:hlinkClick r:id="rId3"/>
              </a:rPr>
              <a:t>/baseline</a:t>
            </a:r>
            <a:r>
              <a:rPr lang="en-US" dirty="0"/>
              <a:t> (on top of </a:t>
            </a:r>
            <a:r>
              <a:rPr lang="ru-RU" dirty="0"/>
              <a:t>1.87.0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Disabled </a:t>
            </a:r>
            <a:r>
              <a:rPr lang="en-US" dirty="0" err="1"/>
              <a:t>hashtable</a:t>
            </a:r>
            <a:r>
              <a:rPr lang="en-US" dirty="0"/>
              <a:t> randomization and forced function alignment for better measurement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671CC-A3F9-40EE-84C9-50E37290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5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Rust compiler runtime benchmarks</a:t>
            </a:r>
          </a:p>
          <a:p>
            <a:r>
              <a:rPr lang="en-US" dirty="0"/>
              <a:t>Benchmarks from large open-source Rust projects from various domains:</a:t>
            </a:r>
            <a:endParaRPr lang="ru-RU" dirty="0"/>
          </a:p>
          <a:p>
            <a:pPr lvl="1"/>
            <a:r>
              <a:rPr lang="en-US" dirty="0" err="1"/>
              <a:t>Gamedev</a:t>
            </a:r>
            <a:r>
              <a:rPr lang="en-US" dirty="0"/>
              <a:t> (Bevy, </a:t>
            </a:r>
            <a:r>
              <a:rPr lang="en-US" dirty="0" err="1"/>
              <a:t>Veloren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Databases </a:t>
            </a:r>
            <a:r>
              <a:rPr lang="ru-RU" dirty="0"/>
              <a:t>(</a:t>
            </a:r>
            <a:r>
              <a:rPr lang="en-US" dirty="0" err="1"/>
              <a:t>SpacetimeDB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Text processing </a:t>
            </a:r>
            <a:r>
              <a:rPr lang="ru-RU" dirty="0"/>
              <a:t>(</a:t>
            </a:r>
            <a:r>
              <a:rPr lang="en-US" dirty="0"/>
              <a:t>Zed, Ruff, regex)</a:t>
            </a:r>
          </a:p>
          <a:p>
            <a:pPr lvl="1"/>
            <a:r>
              <a:rPr lang="en-US" dirty="0"/>
              <a:t>Codecs </a:t>
            </a:r>
            <a:r>
              <a:rPr lang="ru-RU" dirty="0"/>
              <a:t>(</a:t>
            </a:r>
            <a:r>
              <a:rPr lang="en-US" dirty="0"/>
              <a:t>rav1e, </a:t>
            </a:r>
            <a:r>
              <a:rPr lang="en-US" dirty="0" err="1"/>
              <a:t>oxipng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Linear algebra </a:t>
            </a:r>
            <a:r>
              <a:rPr lang="ru-RU" dirty="0"/>
              <a:t>(</a:t>
            </a:r>
            <a:r>
              <a:rPr lang="en-US" dirty="0" err="1"/>
              <a:t>nalgebra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Asynchronous runtime (</a:t>
            </a:r>
            <a:r>
              <a:rPr lang="en-US" dirty="0" err="1"/>
              <a:t>tokio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Packet managers </a:t>
            </a:r>
            <a:r>
              <a:rPr lang="ru-RU" dirty="0"/>
              <a:t>(</a:t>
            </a:r>
            <a:r>
              <a:rPr lang="en-US" dirty="0" err="1"/>
              <a:t>uv</a:t>
            </a:r>
            <a:r>
              <a:rPr lang="en-US" dirty="0"/>
              <a:t>)</a:t>
            </a:r>
          </a:p>
          <a:p>
            <a:r>
              <a:rPr lang="en-US" dirty="0"/>
              <a:t>Many benchmarks have already been optimized (via unsafe,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C2539-4128-4E11-B9CE-64674132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501" y="1098328"/>
            <a:ext cx="1373079" cy="1055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2689B-9D13-45FF-86A6-D9DC2CFFF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634" y="276942"/>
            <a:ext cx="1372332" cy="909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ED790-8703-4E1A-A6C7-8EAA17447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760" y="203294"/>
            <a:ext cx="1186299" cy="1034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E8690A-112F-400F-B410-9C2EB9219180}"/>
              </a:ext>
            </a:extLst>
          </p:cNvPr>
          <p:cNvSpPr txBox="1"/>
          <p:nvPr/>
        </p:nvSpPr>
        <p:spPr>
          <a:xfrm>
            <a:off x="358588" y="6445624"/>
            <a:ext cx="4912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Akovin</a:t>
            </a:r>
            <a:r>
              <a:rPr lang="en-US" sz="1000" dirty="0"/>
              <a:t>, </a:t>
            </a:r>
            <a:r>
              <a:rPr lang="en-US" sz="1000" dirty="0">
                <a:hlinkClick r:id="rId5"/>
              </a:rPr>
              <a:t>https://commons.wikimedia.org/wiki/File:Olympic_types_of_sport_with_icons.png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6667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911C-23AD-443C-B7FD-0F654BDF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and</a:t>
            </a:r>
            <a:r>
              <a:rPr lang="ru-RU" dirty="0"/>
              <a:t> </a:t>
            </a:r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E5F66-0EBD-4E83-947D-0A757A89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Rust and</a:t>
            </a:r>
            <a:r>
              <a:rPr lang="ru-RU" dirty="0"/>
              <a:t> </a:t>
            </a:r>
            <a:r>
              <a:rPr lang="en-US" dirty="0"/>
              <a:t>C++ are similar in expressive power:</a:t>
            </a:r>
          </a:p>
          <a:p>
            <a:pPr lvl="1"/>
            <a:r>
              <a:rPr lang="en-US" dirty="0"/>
              <a:t>Support several programming paradigms (procedural</a:t>
            </a:r>
            <a:r>
              <a:rPr lang="ru-RU" dirty="0"/>
              <a:t>, </a:t>
            </a:r>
            <a:r>
              <a:rPr lang="en-US" dirty="0"/>
              <a:t>OOP, functional)</a:t>
            </a:r>
          </a:p>
          <a:p>
            <a:pPr lvl="1"/>
            <a:r>
              <a:rPr lang="en-US" dirty="0"/>
              <a:t>Different types of polymorphism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Similar application domain (high-performance system programming)</a:t>
            </a:r>
            <a:endParaRPr lang="ru-RU" dirty="0"/>
          </a:p>
          <a:p>
            <a:pPr lvl="1"/>
            <a:r>
              <a:rPr lang="en-US" dirty="0"/>
              <a:t>Zero cost/overhead abstractions</a:t>
            </a:r>
          </a:p>
          <a:p>
            <a:pPr lvl="1"/>
            <a:r>
              <a:rPr lang="en-US" dirty="0"/>
              <a:t>Support for low-level tuning</a:t>
            </a:r>
          </a:p>
          <a:p>
            <a:r>
              <a:rPr lang="en-US" dirty="0"/>
              <a:t>Same backend optimizers (LLVM, GCC)</a:t>
            </a:r>
            <a:r>
              <a:rPr lang="ru-RU" dirty="0"/>
              <a:t> </a:t>
            </a:r>
            <a:r>
              <a:rPr lang="en-US" dirty="0"/>
              <a:t>and optimization technology (PGO, LTO, etc.)</a:t>
            </a:r>
          </a:p>
          <a:p>
            <a:r>
              <a:rPr lang="en-US" dirty="0"/>
              <a:t>“Safe” C++ dialect (Hardened C/C++) has similar runtime checks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30" name="Picture 6" descr="The Rust Programming Language · GitHub">
            <a:extLst>
              <a:ext uri="{FF2B5EF4-FFF2-40B4-BE49-F238E27FC236}">
                <a16:creationId xmlns:a16="http://schemas.microsoft.com/office/drawing/2014/main" id="{C357BCBA-5866-464D-8B81-242F5507A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99" y="196944"/>
            <a:ext cx="1454524" cy="145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SO C++ Standards Committee · GitHub">
            <a:extLst>
              <a:ext uri="{FF2B5EF4-FFF2-40B4-BE49-F238E27FC236}">
                <a16:creationId xmlns:a16="http://schemas.microsoft.com/office/drawing/2014/main" id="{50AAB90A-3D91-4D78-9E8F-C0E2C21F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634" y="157723"/>
            <a:ext cx="1532965" cy="15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4D1C0-E095-441E-8355-BD7F640D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0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covered: Other language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Ergonomics, expressiveness </a:t>
            </a:r>
            <a:r>
              <a:rPr lang="ru-RU" dirty="0"/>
              <a:t>(</a:t>
            </a:r>
            <a:r>
              <a:rPr lang="en-US" dirty="0"/>
              <a:t>e.g. self-referential data structures), safety, etc.</a:t>
            </a:r>
          </a:p>
          <a:p>
            <a:r>
              <a:rPr lang="en-US" dirty="0"/>
              <a:t>A lot of talks on these topics already!</a:t>
            </a:r>
          </a:p>
          <a:p>
            <a:pPr lvl="1"/>
            <a:r>
              <a:rPr lang="en-US" dirty="0">
                <a:hlinkClick r:id="rId2"/>
              </a:rPr>
              <a:t>Rust Features that I Want in C++</a:t>
            </a:r>
            <a:r>
              <a:rPr lang="en-US" dirty="0"/>
              <a:t> (David </a:t>
            </a:r>
            <a:r>
              <a:rPr lang="en-US" dirty="0" err="1"/>
              <a:t>Sankel</a:t>
            </a:r>
            <a:r>
              <a:rPr lang="en-US" dirty="0"/>
              <a:t>, </a:t>
            </a:r>
            <a:r>
              <a:rPr lang="en-US" dirty="0" err="1"/>
              <a:t>CppNow</a:t>
            </a:r>
            <a:r>
              <a:rPr lang="en-US" dirty="0"/>
              <a:t> 2022)</a:t>
            </a:r>
          </a:p>
          <a:p>
            <a:pPr lvl="1"/>
            <a:r>
              <a:rPr lang="en-US" dirty="0">
                <a:hlinkClick r:id="rId3"/>
              </a:rPr>
              <a:t>The existential threat against C++ and where to go from here</a:t>
            </a:r>
            <a:r>
              <a:rPr lang="en-US" dirty="0"/>
              <a:t> (Helge Penne, NDC 2024)</a:t>
            </a:r>
          </a:p>
          <a:p>
            <a:pPr lvl="1"/>
            <a:r>
              <a:rPr lang="en-US" dirty="0">
                <a:hlinkClick r:id="rId4"/>
              </a:rPr>
              <a:t>Rust vs C++ with Steve </a:t>
            </a:r>
            <a:r>
              <a:rPr lang="en-US" dirty="0" err="1">
                <a:hlinkClick r:id="rId4"/>
              </a:rPr>
              <a:t>Klabnik</a:t>
            </a:r>
            <a:r>
              <a:rPr lang="en-US" dirty="0">
                <a:hlinkClick r:id="rId4"/>
              </a:rPr>
              <a:t> and Herb Sutter</a:t>
            </a:r>
            <a:r>
              <a:rPr lang="en-US" dirty="0"/>
              <a:t> (SW Engineering Daily podcast)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DE4E-3F66-482F-8319-FC2323B1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covered:</a:t>
            </a:r>
            <a:r>
              <a:rPr lang="ru-RU" dirty="0"/>
              <a:t> </a:t>
            </a:r>
            <a:r>
              <a:rPr lang="en-US" dirty="0"/>
              <a:t>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Easy and reliable parallel programming is considered one of the big advantages of Rust</a:t>
            </a:r>
            <a:endParaRPr lang="ru-RU" dirty="0"/>
          </a:p>
          <a:p>
            <a:pPr lvl="1"/>
            <a:r>
              <a:rPr lang="en-US" dirty="0">
                <a:hlinkClick r:id="rId2"/>
              </a:rPr>
              <a:t>Fearless Concurrency with Rust</a:t>
            </a:r>
            <a:endParaRPr lang="en-US" dirty="0"/>
          </a:p>
          <a:p>
            <a:r>
              <a:rPr lang="en-US" dirty="0"/>
              <a:t>But this requires a separate talk and deeper expertise</a:t>
            </a:r>
          </a:p>
          <a:p>
            <a:pPr lvl="1"/>
            <a:r>
              <a:rPr lang="en-US" dirty="0" err="1"/>
              <a:t>RustCon</a:t>
            </a:r>
            <a:r>
              <a:rPr lang="en-US" dirty="0"/>
              <a:t> 2027 anyone?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6743A-098C-4F11-94CF-4B18B395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04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covered: Unsafe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Rust language consists of two parts:</a:t>
            </a:r>
          </a:p>
          <a:p>
            <a:pPr lvl="1"/>
            <a:r>
              <a:rPr lang="en-US" dirty="0"/>
              <a:t>Safe code (most of Rust code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/>
              <a:t>Unsafe code:</a:t>
            </a:r>
          </a:p>
          <a:p>
            <a:pPr lvl="2"/>
            <a:r>
              <a:rPr lang="en-US" dirty="0"/>
              <a:t>“Things the Rust authors will implore you not to do” (</a:t>
            </a:r>
            <a:r>
              <a:rPr lang="en-US" dirty="0" err="1">
                <a:hlinkClick r:id="rId2"/>
              </a:rPr>
              <a:t>Rustonomicon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“Aspects of the language you may not use every day and useful in very specific situations”</a:t>
            </a:r>
            <a:r>
              <a:rPr lang="ru-RU" dirty="0"/>
              <a:t> (</a:t>
            </a:r>
            <a:r>
              <a:rPr lang="en-US" dirty="0">
                <a:hlinkClick r:id="rId3"/>
              </a:rPr>
              <a:t>Rust Book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Used for hotspot optimizations</a:t>
            </a:r>
            <a:endParaRPr lang="ru-RU" dirty="0"/>
          </a:p>
          <a:p>
            <a:pPr lvl="2"/>
            <a:r>
              <a:rPr lang="en-US" dirty="0"/>
              <a:t>Used for tuning in real-world projects </a:t>
            </a:r>
            <a:r>
              <a:rPr lang="ru-RU" dirty="0"/>
              <a:t>(</a:t>
            </a:r>
            <a:r>
              <a:rPr lang="en-US" dirty="0"/>
              <a:t>including benchmarks that we consider)</a:t>
            </a:r>
            <a:endParaRPr lang="ru-RU" dirty="0"/>
          </a:p>
          <a:p>
            <a:r>
              <a:rPr lang="en-US" dirty="0"/>
              <a:t>In this talk we focus on </a:t>
            </a:r>
            <a:r>
              <a:rPr lang="en-US" i="1" dirty="0"/>
              <a:t>safe </a:t>
            </a:r>
            <a:r>
              <a:rPr lang="en-US" dirty="0"/>
              <a:t>code optimizations:</a:t>
            </a:r>
            <a:endParaRPr lang="ru-RU" dirty="0"/>
          </a:p>
          <a:p>
            <a:pPr lvl="1"/>
            <a:r>
              <a:rPr lang="en-US" dirty="0"/>
              <a:t>(Also not covering third-party libraries</a:t>
            </a:r>
            <a:r>
              <a:rPr lang="ru-RU" dirty="0"/>
              <a:t>, </a:t>
            </a:r>
            <a:r>
              <a:rPr lang="en-US" dirty="0"/>
              <a:t>SIMD and compiler </a:t>
            </a:r>
            <a:r>
              <a:rPr lang="en-US" dirty="0" err="1"/>
              <a:t>intrinsics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Unsafe constructs remove the main advantage of the language</a:t>
            </a:r>
          </a:p>
          <a:p>
            <a:pPr lvl="1"/>
            <a:r>
              <a:rPr lang="en-US" dirty="0"/>
              <a:t>Unsafe optimizations are well-known and often trivial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6FB7-552D-4B96-8474-6ED8850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UNSAFE | Luckily this didn't apply to ...">
            <a:extLst>
              <a:ext uri="{FF2B5EF4-FFF2-40B4-BE49-F238E27FC236}">
                <a16:creationId xmlns:a16="http://schemas.microsoft.com/office/drawing/2014/main" id="{5A965522-F052-4988-A3ED-ECF63B926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391" y="681037"/>
            <a:ext cx="2304769" cy="153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E4B53E-C0D2-4F5D-9055-F420B68E7B39}"/>
              </a:ext>
            </a:extLst>
          </p:cNvPr>
          <p:cNvSpPr txBox="1"/>
          <p:nvPr/>
        </p:nvSpPr>
        <p:spPr>
          <a:xfrm>
            <a:off x="116541" y="6502213"/>
            <a:ext cx="4034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Tricia J, </a:t>
            </a:r>
            <a:r>
              <a:rPr lang="en-US" sz="1000" dirty="0">
                <a:hlinkClick r:id="rId5"/>
              </a:rPr>
              <a:t>https://www.flickr.com/photos/cazatoma/8746664127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2550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covered: Non-idiomatic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Nikita Popov</a:t>
            </a:r>
            <a:r>
              <a:rPr lang="en-US" dirty="0"/>
              <a:t>, LLVM lead maintainer:</a:t>
            </a:r>
          </a:p>
          <a:p>
            <a:pPr lvl="1"/>
            <a:r>
              <a:rPr lang="en-US" dirty="0"/>
              <a:t>“Languages like C, C++ and Rust are by-design on equal footing“</a:t>
            </a:r>
          </a:p>
          <a:p>
            <a:pPr lvl="1"/>
            <a:r>
              <a:rPr lang="en-US" dirty="0"/>
              <a:t>“You can only compare how easy it is to write performant code or how performant idiomatic code is”</a:t>
            </a:r>
          </a:p>
          <a:p>
            <a:r>
              <a:rPr lang="en-US" dirty="0">
                <a:hlinkClick r:id="rId3"/>
              </a:rPr>
              <a:t>Scott McMurray</a:t>
            </a:r>
            <a:r>
              <a:rPr lang="en-US" dirty="0"/>
              <a:t>, Rust compiler team:</a:t>
            </a:r>
          </a:p>
          <a:p>
            <a:pPr lvl="1"/>
            <a:r>
              <a:rPr lang="en-US" dirty="0"/>
              <a:t>“Clang and </a:t>
            </a:r>
            <a:r>
              <a:rPr lang="en-US" dirty="0" err="1"/>
              <a:t>rustc</a:t>
            </a:r>
            <a:r>
              <a:rPr lang="en-US" dirty="0"/>
              <a:t> are both producing LLVM IR and running mostly the same LLVM optimization passes”</a:t>
            </a:r>
          </a:p>
          <a:p>
            <a:pPr lvl="1"/>
            <a:r>
              <a:rPr lang="en-US" dirty="0"/>
              <a:t>“Given enough work they can always produce essentially the same thing, making the comparisons pointless”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6FB7-552D-4B96-8474-6ED8850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37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Bounds checks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8E61-48B6-4351-B51D-7CE0FB07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82A08-3A38-4F73-B5C3-E3424FE51B7C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65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3228-3760-4226-AC20-B5B4E86E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A251B-AFAB-4D1F-860A-F2E607F34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43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Morris Worm (1988)</a:t>
            </a:r>
          </a:p>
          <a:p>
            <a:r>
              <a:rPr lang="en-US" dirty="0"/>
              <a:t>Writing excessively large volume of data into program variable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local_buf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sprintf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“Message from user: %s”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received_data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Stack overflow</a:t>
            </a:r>
            <a:endParaRPr lang="ru-RU" dirty="0"/>
          </a:p>
          <a:p>
            <a:pPr lvl="1"/>
            <a:r>
              <a:rPr lang="en-US" dirty="0"/>
              <a:t>Stack Smashing, Return-to-libc, Return-Oriented Programming attacks</a:t>
            </a:r>
          </a:p>
          <a:p>
            <a:pPr lvl="1"/>
            <a:r>
              <a:rPr lang="en-US" dirty="0"/>
              <a:t>The most standardized and widely used type of attacks</a:t>
            </a:r>
          </a:p>
          <a:p>
            <a:r>
              <a:rPr lang="en-US" dirty="0"/>
              <a:t>Heap overflow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7203C-7930-4B98-B51C-7530BB7B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344" y="1502896"/>
            <a:ext cx="2841526" cy="4262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D0371-EB56-4B28-A2BA-F24A998EABC4}"/>
              </a:ext>
            </a:extLst>
          </p:cNvPr>
          <p:cNvSpPr txBox="1"/>
          <p:nvPr/>
        </p:nvSpPr>
        <p:spPr>
          <a:xfrm>
            <a:off x="8964705" y="5765186"/>
            <a:ext cx="275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https://www.rawpixel.com/image/5958324/free-public-domain-cc0-photo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2FB3-0ABE-4551-B64E-9996F34C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3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58F6-C4AB-4F64-B829-BC366562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32402" cy="1325563"/>
          </a:xfrm>
        </p:spPr>
        <p:txBody>
          <a:bodyPr/>
          <a:lstStyle/>
          <a:p>
            <a:r>
              <a:rPr lang="en-US" dirty="0"/>
              <a:t>Prevalence of buffer overflow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9631-53E8-4D6D-A000-E7F004BC0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Leads ratings of the most dangerous vulnerabilities</a:t>
            </a:r>
          </a:p>
          <a:p>
            <a:pPr lvl="1"/>
            <a:r>
              <a:rPr lang="en-US" dirty="0">
                <a:hlinkClick r:id="rId2"/>
              </a:rPr>
              <a:t>Mitre CWE Top 25 2024</a:t>
            </a:r>
            <a:r>
              <a:rPr lang="en-US" dirty="0"/>
              <a:t> (</a:t>
            </a:r>
            <a:r>
              <a:rPr lang="ru-RU" dirty="0"/>
              <a:t>2, 6, 20</a:t>
            </a:r>
            <a:r>
              <a:rPr lang="en-US" dirty="0"/>
              <a:t> places)</a:t>
            </a:r>
            <a:endParaRPr lang="ru-RU" dirty="0"/>
          </a:p>
          <a:p>
            <a:r>
              <a:rPr lang="ru-RU" dirty="0"/>
              <a:t>70% </a:t>
            </a:r>
            <a:r>
              <a:rPr lang="en-US" dirty="0"/>
              <a:t>vulnerabilities in </a:t>
            </a:r>
            <a:r>
              <a:rPr lang="en-US" dirty="0">
                <a:hlinkClick r:id="rId3"/>
              </a:rPr>
              <a:t>Microsoft</a:t>
            </a:r>
            <a:r>
              <a:rPr lang="en-US" dirty="0"/>
              <a:t> products and </a:t>
            </a:r>
            <a:r>
              <a:rPr lang="en-US" dirty="0">
                <a:hlinkClick r:id="rId4"/>
              </a:rPr>
              <a:t>Chromium</a:t>
            </a:r>
            <a:r>
              <a:rPr lang="en-US" dirty="0"/>
              <a:t> caused by memory errors</a:t>
            </a:r>
          </a:p>
          <a:p>
            <a:r>
              <a:rPr lang="en-US" dirty="0"/>
              <a:t>And up to</a:t>
            </a:r>
            <a:r>
              <a:rPr lang="ru-RU" dirty="0"/>
              <a:t> 80% </a:t>
            </a:r>
            <a:r>
              <a:rPr lang="en-US" dirty="0"/>
              <a:t>memory errors are caused buffer overflow</a:t>
            </a:r>
          </a:p>
          <a:p>
            <a:pPr lvl="1"/>
            <a:r>
              <a:rPr lang="en-US" dirty="0">
                <a:hlinkClick r:id="rId5"/>
              </a:rPr>
              <a:t>CVE</a:t>
            </a:r>
            <a:r>
              <a:rPr lang="ru-RU" dirty="0"/>
              <a:t> </a:t>
            </a:r>
            <a:r>
              <a:rPr lang="en-US" dirty="0"/>
              <a:t>and</a:t>
            </a:r>
            <a:r>
              <a:rPr lang="ru-RU" dirty="0"/>
              <a:t> </a:t>
            </a:r>
            <a:r>
              <a:rPr lang="en-US" dirty="0">
                <a:hlinkClick r:id="rId6"/>
              </a:rPr>
              <a:t>KEV</a:t>
            </a:r>
            <a:r>
              <a:rPr lang="en-US" dirty="0"/>
              <a:t> statistics (2024)</a:t>
            </a:r>
          </a:p>
          <a:p>
            <a:pPr lvl="1"/>
            <a:r>
              <a:rPr lang="en-US" dirty="0">
                <a:hlinkClick r:id="rId7"/>
              </a:rPr>
              <a:t>Google Project Zero</a:t>
            </a:r>
            <a:r>
              <a:rPr lang="en-US" dirty="0"/>
              <a:t> (2024)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3CDCD-FB7A-4AC6-9448-79BD07580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496" y="620417"/>
            <a:ext cx="2601445" cy="7584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23C0-A182-4343-A2FF-947681E8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6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safety in</a:t>
            </a:r>
            <a:r>
              <a:rPr lang="ru-RU" dirty="0"/>
              <a:t>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0075" cy="4351338"/>
          </a:xfrm>
        </p:spPr>
        <p:txBody>
          <a:bodyPr>
            <a:normAutofit/>
          </a:bodyPr>
          <a:lstStyle/>
          <a:p>
            <a:r>
              <a:rPr lang="en-US" dirty="0"/>
              <a:t>Frontend generates bounds checks for standard index accesses</a:t>
            </a:r>
          </a:p>
          <a:p>
            <a:pPr lvl="1"/>
            <a:r>
              <a:rPr lang="en-US" dirty="0"/>
              <a:t>Arrays</a:t>
            </a:r>
            <a:r>
              <a:rPr lang="ru-RU" dirty="0"/>
              <a:t>, </a:t>
            </a:r>
            <a:r>
              <a:rPr lang="en-US" dirty="0"/>
              <a:t>slices, containers, etc.</a:t>
            </a:r>
          </a:p>
          <a:p>
            <a:pPr lvl="1"/>
            <a:r>
              <a:rPr lang="en-US" dirty="0"/>
              <a:t>Checks may be eliminated later if optimizer can guarantee correctness</a:t>
            </a:r>
            <a:endParaRPr lang="ru-RU" dirty="0"/>
          </a:p>
          <a:p>
            <a:r>
              <a:rPr lang="en-US" dirty="0"/>
              <a:t>Uses safer algorithms in </a:t>
            </a:r>
            <a:r>
              <a:rPr lang="en-US" dirty="0" err="1"/>
              <a:t>stdlib</a:t>
            </a:r>
            <a:endParaRPr lang="ru-RU" dirty="0"/>
          </a:p>
          <a:p>
            <a:pPr lvl="1"/>
            <a:r>
              <a:rPr lang="en-US" dirty="0"/>
              <a:t>E.g. sorting won’t crash on incorrect comparators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E9C-1AC0-427A-B43C-401FB1E7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18</a:t>
            </a:fld>
            <a:endParaRPr lang="en-US"/>
          </a:p>
        </p:txBody>
      </p:sp>
      <p:pic>
        <p:nvPicPr>
          <p:cNvPr id="1026" name="Picture 2" descr="Free of Charge Creative Commons Highway ...">
            <a:extLst>
              <a:ext uri="{FF2B5EF4-FFF2-40B4-BE49-F238E27FC236}">
                <a16:creationId xmlns:a16="http://schemas.microsoft.com/office/drawing/2014/main" id="{DFF4F3E3-1531-47A6-87F0-6293E7F17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301" y="998537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CF570-3E4E-4860-83A4-FC4AE3612691}"/>
              </a:ext>
            </a:extLst>
          </p:cNvPr>
          <p:cNvSpPr txBox="1"/>
          <p:nvPr/>
        </p:nvSpPr>
        <p:spPr>
          <a:xfrm>
            <a:off x="72558" y="6492875"/>
            <a:ext cx="41229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Nick </a:t>
            </a:r>
            <a:r>
              <a:rPr lang="en-US" sz="1000" dirty="0" err="1"/>
              <a:t>Youngson</a:t>
            </a:r>
            <a:r>
              <a:rPr lang="en-US" sz="1000" dirty="0"/>
              <a:t>, </a:t>
            </a:r>
            <a:r>
              <a:rPr lang="en-US" sz="1000" dirty="0">
                <a:hlinkClick r:id="rId3"/>
              </a:rPr>
              <a:t>https://www.picpedia.org/highway-signs/s/safety.html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4409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 and non-taken conditional jump </a:t>
            </a:r>
            <a:r>
              <a:rPr lang="ru-RU" dirty="0"/>
              <a:t>(</a:t>
            </a:r>
            <a:r>
              <a:rPr lang="en-US" dirty="0"/>
              <a:t>1-2 ALU slots)</a:t>
            </a:r>
          </a:p>
          <a:p>
            <a:r>
              <a:rPr lang="en-US" dirty="0"/>
              <a:t>Extra register for keeping object length for comparison</a:t>
            </a:r>
            <a:endParaRPr lang="ru-RU" dirty="0"/>
          </a:p>
          <a:p>
            <a:r>
              <a:rPr lang="en-US" dirty="0"/>
              <a:t>I$ pressure (cache misses) due to checking code and panic handlers</a:t>
            </a:r>
          </a:p>
          <a:p>
            <a:pPr lvl="1"/>
            <a:r>
              <a:rPr lang="en-US" dirty="0"/>
              <a:t>Branch predictor pressure for never-taken branches is </a:t>
            </a:r>
            <a:r>
              <a:rPr lang="en-US" dirty="0">
                <a:hlinkClick r:id="rId2"/>
              </a:rPr>
              <a:t>likely none</a:t>
            </a:r>
            <a:endParaRPr lang="en-US" dirty="0"/>
          </a:p>
          <a:p>
            <a:r>
              <a:rPr lang="en-US" dirty="0"/>
              <a:t>Disabling other optimizations</a:t>
            </a:r>
            <a:endParaRPr lang="ru-RU" dirty="0"/>
          </a:p>
          <a:p>
            <a:pPr lvl="1"/>
            <a:r>
              <a:rPr lang="en-US" dirty="0"/>
              <a:t>Mainly vectorizer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89D59-DF34-4EB4-AFE1-AD82CBDD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9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many cases compiler can</a:t>
            </a:r>
          </a:p>
          <a:p>
            <a:pPr lvl="1"/>
            <a:r>
              <a:rPr lang="en-US" dirty="0"/>
              <a:t>Prove correctness of memory access and remove checks</a:t>
            </a:r>
          </a:p>
          <a:p>
            <a:pPr lvl="1"/>
            <a:r>
              <a:rPr lang="en-US" dirty="0"/>
              <a:t>Or extract checks from loops (O(N) -&gt; O(1))</a:t>
            </a:r>
            <a:endParaRPr lang="ru-RU" dirty="0"/>
          </a:p>
          <a:p>
            <a:r>
              <a:rPr lang="en-US" dirty="0"/>
              <a:t>Such optimizations are done in LLVM optimizer</a:t>
            </a:r>
            <a:endParaRPr lang="ru-RU" dirty="0"/>
          </a:p>
          <a:p>
            <a:pPr lvl="1"/>
            <a:r>
              <a:rPr lang="en-US" dirty="0" err="1"/>
              <a:t>InstCombine</a:t>
            </a:r>
            <a:r>
              <a:rPr lang="en-US" dirty="0"/>
              <a:t>, </a:t>
            </a:r>
            <a:r>
              <a:rPr lang="en-US" dirty="0" err="1"/>
              <a:t>SimpleLoopUnswitch</a:t>
            </a:r>
            <a:r>
              <a:rPr lang="en-US" dirty="0"/>
              <a:t>, </a:t>
            </a:r>
            <a:r>
              <a:rPr lang="en-US" dirty="0" err="1"/>
              <a:t>LoopVectorize</a:t>
            </a:r>
            <a:r>
              <a:rPr lang="en-US" dirty="0"/>
              <a:t>, etc.</a:t>
            </a:r>
            <a:endParaRPr lang="ru-RU" dirty="0"/>
          </a:p>
          <a:p>
            <a:pPr lvl="1"/>
            <a:r>
              <a:rPr lang="en-US" dirty="0"/>
              <a:t>Also help Hardened C/C++</a:t>
            </a:r>
            <a:endParaRPr lang="ru-RU" dirty="0"/>
          </a:p>
          <a:p>
            <a:r>
              <a:rPr lang="en-US" dirty="0"/>
              <a:t>Optimizer has been significantly improved and many older issues are successfully optimized in modern Rust</a:t>
            </a:r>
          </a:p>
          <a:p>
            <a:pPr lvl="1"/>
            <a:r>
              <a:rPr lang="en-US" dirty="0"/>
              <a:t>E.g. well-known </a:t>
            </a:r>
            <a:r>
              <a:rPr lang="en-US" dirty="0">
                <a:hlinkClick r:id="rId2"/>
              </a:rPr>
              <a:t>examples of Alex </a:t>
            </a:r>
            <a:r>
              <a:rPr lang="en-US" dirty="0" err="1">
                <a:hlinkClick r:id="rId2"/>
              </a:rPr>
              <a:t>Kladov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 err="1"/>
              <a:t>matklad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798F-61E8-43F0-99D0-7F2722AC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4A-E75A-485D-9E8C-D61ACD01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8900"/>
            <a:ext cx="10515600" cy="1325563"/>
          </a:xfrm>
        </p:spPr>
        <p:txBody>
          <a:bodyPr/>
          <a:lstStyle/>
          <a:p>
            <a:r>
              <a:rPr lang="en-US" dirty="0"/>
              <a:t>Successful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F733-21AE-4BC9-9BE5-2B5D5B10426E}"/>
              </a:ext>
            </a:extLst>
          </p:cNvPr>
          <p:cNvSpPr txBox="1"/>
          <p:nvPr/>
        </p:nvSpPr>
        <p:spPr>
          <a:xfrm>
            <a:off x="323850" y="2552700"/>
            <a:ext cx="53720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*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84526-447D-45FE-A6E2-D4CCB45DB920}"/>
              </a:ext>
            </a:extLst>
          </p:cNvPr>
          <p:cNvSpPr txBox="1"/>
          <p:nvPr/>
        </p:nvSpPr>
        <p:spPr>
          <a:xfrm>
            <a:off x="5695950" y="1583204"/>
            <a:ext cx="63627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cfi_startproc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test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je      .LBB0_1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// n == 0 =&gt; return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- 1]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jbe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.LBB0_6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//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b.len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() &lt; n =&gt; panic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.p2align        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.LBB0_4: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// Loop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without checks!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r8d,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imul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r8d,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r9,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r8d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r9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r9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26F8CF-1300-414A-9A5A-5FE2898FAF08}"/>
              </a:ext>
            </a:extLst>
          </p:cNvPr>
          <p:cNvCxnSpPr/>
          <p:nvPr/>
        </p:nvCxnSpPr>
        <p:spPr>
          <a:xfrm>
            <a:off x="4533900" y="3608294"/>
            <a:ext cx="1162050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20C494-6E9E-416A-8EBD-1A0DE0FD29F1}"/>
              </a:ext>
            </a:extLst>
          </p:cNvPr>
          <p:cNvSpPr txBox="1"/>
          <p:nvPr/>
        </p:nvSpPr>
        <p:spPr>
          <a:xfrm>
            <a:off x="6858000" y="441306"/>
            <a:ext cx="4295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All checks moved to function prologue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898BD-7095-4992-AD77-E69F33AA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9255B-6A1E-485E-8959-39F53293253E}"/>
              </a:ext>
            </a:extLst>
          </p:cNvPr>
          <p:cNvSpPr txBox="1"/>
          <p:nvPr/>
        </p:nvSpPr>
        <p:spPr>
          <a:xfrm>
            <a:off x="412377" y="5288340"/>
            <a:ext cx="2196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Compiled with -</a:t>
            </a:r>
            <a:r>
              <a:rPr lang="en-US" sz="1600" dirty="0" err="1"/>
              <a:t>Cno</a:t>
            </a:r>
            <a:r>
              <a:rPr lang="en-US" sz="1600" dirty="0"/>
              <a:t>-vectorize-loops</a:t>
            </a:r>
          </a:p>
          <a:p>
            <a:r>
              <a:rPr lang="en-US" sz="1600" dirty="0"/>
              <a:t>-</a:t>
            </a:r>
            <a:r>
              <a:rPr lang="en-US" sz="1600" dirty="0" err="1"/>
              <a:t>Cno</a:t>
            </a:r>
            <a:r>
              <a:rPr lang="en-US" sz="1600" dirty="0"/>
              <a:t>-vectorize-</a:t>
            </a:r>
            <a:r>
              <a:rPr lang="en-US" sz="1600" dirty="0" err="1"/>
              <a:t>slp</a:t>
            </a:r>
            <a:endParaRPr lang="en-US" sz="1600" dirty="0"/>
          </a:p>
          <a:p>
            <a:r>
              <a:rPr lang="en-US" sz="1600" dirty="0"/>
              <a:t>-</a:t>
            </a:r>
            <a:r>
              <a:rPr lang="en-US" sz="1600" dirty="0" err="1"/>
              <a:t>Cllvm-args</a:t>
            </a:r>
            <a:r>
              <a:rPr lang="en-US" sz="1600" dirty="0"/>
              <a:t>=-unroll-allow-remainder=0</a:t>
            </a:r>
          </a:p>
          <a:p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3B8A1-3CDF-4AA1-901F-8921D089FB6E}"/>
              </a:ext>
            </a:extLst>
          </p:cNvPr>
          <p:cNvSpPr txBox="1"/>
          <p:nvPr/>
        </p:nvSpPr>
        <p:spPr>
          <a:xfrm>
            <a:off x="2277034" y="4334686"/>
            <a:ext cx="2279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https://godbolt.org/z/aY744zdfe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8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4A-E75A-485D-9E8C-D61ACD01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8900"/>
            <a:ext cx="10515600" cy="1325563"/>
          </a:xfrm>
        </p:spPr>
        <p:txBody>
          <a:bodyPr/>
          <a:lstStyle/>
          <a:p>
            <a:r>
              <a:rPr lang="en-US" dirty="0"/>
              <a:t>Unsuccessful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F733-21AE-4BC9-9BE5-2B5D5B10426E}"/>
              </a:ext>
            </a:extLst>
          </p:cNvPr>
          <p:cNvSpPr txBox="1"/>
          <p:nvPr/>
        </p:nvSpPr>
        <p:spPr>
          <a:xfrm>
            <a:off x="323850" y="2363172"/>
            <a:ext cx="612457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num_chunks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num_chunks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84526-447D-45FE-A6E2-D4CCB45DB920}"/>
              </a:ext>
            </a:extLst>
          </p:cNvPr>
          <p:cNvSpPr txBox="1"/>
          <p:nvPr/>
        </p:nvSpPr>
        <p:spPr>
          <a:xfrm>
            <a:off x="6372227" y="1575077"/>
            <a:ext cx="57301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bar: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.p2align        4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        </a:t>
            </a:r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Loop </a:t>
            </a:r>
            <a:r>
              <a:rPr lang="ru-RU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with checks!</a:t>
            </a:r>
            <a:r>
              <a:rPr lang="ru-RU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[r8 - 3]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[r8 - 2]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[r8 - 1]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r8,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.LBB0_6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+ 4*r8 - 12]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+ 4*r8 - 8]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+ 4*r8 - 4]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r8, 4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dec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26F8CF-1300-414A-9A5A-5FE2898FAF08}"/>
              </a:ext>
            </a:extLst>
          </p:cNvPr>
          <p:cNvCxnSpPr>
            <a:cxnSpLocks/>
          </p:cNvCxnSpPr>
          <p:nvPr/>
        </p:nvCxnSpPr>
        <p:spPr>
          <a:xfrm>
            <a:off x="4657725" y="3028950"/>
            <a:ext cx="1714502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20C494-6E9E-416A-8EBD-1A0DE0FD29F1}"/>
              </a:ext>
            </a:extLst>
          </p:cNvPr>
          <p:cNvSpPr txBox="1"/>
          <p:nvPr/>
        </p:nvSpPr>
        <p:spPr>
          <a:xfrm>
            <a:off x="7600950" y="450831"/>
            <a:ext cx="3543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Checks remain within the loop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02D13-9D9A-44F9-8A97-68CB22C4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3258B0-F19B-46FF-91E0-922932662ECC}"/>
              </a:ext>
            </a:extLst>
          </p:cNvPr>
          <p:cNvSpPr txBox="1"/>
          <p:nvPr/>
        </p:nvSpPr>
        <p:spPr>
          <a:xfrm>
            <a:off x="412377" y="5288340"/>
            <a:ext cx="2196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Compiled with -</a:t>
            </a:r>
            <a:r>
              <a:rPr lang="en-US" sz="1600" dirty="0" err="1"/>
              <a:t>Cno</a:t>
            </a:r>
            <a:r>
              <a:rPr lang="en-US" sz="1600" dirty="0"/>
              <a:t>-vectorize-loops</a:t>
            </a:r>
          </a:p>
          <a:p>
            <a:r>
              <a:rPr lang="en-US" sz="1600" dirty="0"/>
              <a:t>-</a:t>
            </a:r>
            <a:r>
              <a:rPr lang="en-US" sz="1600" dirty="0" err="1"/>
              <a:t>Cno</a:t>
            </a:r>
            <a:r>
              <a:rPr lang="en-US" sz="1600" dirty="0"/>
              <a:t>-vectorize-</a:t>
            </a:r>
            <a:r>
              <a:rPr lang="en-US" sz="1600" dirty="0" err="1"/>
              <a:t>slp</a:t>
            </a:r>
            <a:endParaRPr lang="en-US" sz="1600" dirty="0"/>
          </a:p>
          <a:p>
            <a:r>
              <a:rPr lang="en-US" sz="1600" dirty="0"/>
              <a:t>-</a:t>
            </a:r>
            <a:r>
              <a:rPr lang="en-US" sz="1600" dirty="0" err="1"/>
              <a:t>Cllvm-args</a:t>
            </a:r>
            <a:r>
              <a:rPr lang="en-US" sz="1600" dirty="0"/>
              <a:t>=-unroll-allow-remainder=0</a:t>
            </a:r>
          </a:p>
          <a:p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3386A-2CE6-43CC-8A9F-114516ABAC71}"/>
              </a:ext>
            </a:extLst>
          </p:cNvPr>
          <p:cNvSpPr txBox="1"/>
          <p:nvPr/>
        </p:nvSpPr>
        <p:spPr>
          <a:xfrm>
            <a:off x="2608730" y="4633749"/>
            <a:ext cx="228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https://godbolt.org/z/176s9nEfE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4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8A69-5176-40F0-9B29-D7B094A6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optimizer: delayed panics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1BDF0-7505-4227-A913-B34846002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Rust RFC 560</a:t>
            </a:r>
            <a:r>
              <a:rPr lang="en-US" dirty="0"/>
              <a:t> suggested that compiler could combine several checks together</a:t>
            </a:r>
          </a:p>
          <a:p>
            <a:pPr lvl="1"/>
            <a:r>
              <a:rPr lang="en-US" dirty="0"/>
              <a:t>If it helps optimization</a:t>
            </a:r>
          </a:p>
          <a:p>
            <a:pPr lvl="1"/>
            <a:r>
              <a:rPr lang="en-US" dirty="0"/>
              <a:t>And observed program behavior won’t change </a:t>
            </a:r>
            <a:r>
              <a:rPr lang="ru-RU" dirty="0"/>
              <a:t>(</a:t>
            </a:r>
            <a:r>
              <a:rPr lang="en-US" dirty="0"/>
              <a:t>modulo error message</a:t>
            </a:r>
            <a:r>
              <a:rPr lang="ru-RU" dirty="0"/>
              <a:t>)</a:t>
            </a:r>
          </a:p>
          <a:p>
            <a:r>
              <a:rPr lang="en-US" dirty="0"/>
              <a:t>Similar to classical concept of </a:t>
            </a:r>
            <a:r>
              <a:rPr lang="en-US" dirty="0">
                <a:hlinkClick r:id="rId3"/>
              </a:rPr>
              <a:t>Imprecise Exceptions</a:t>
            </a:r>
            <a:endParaRPr lang="ru-RU" dirty="0"/>
          </a:p>
          <a:p>
            <a:r>
              <a:rPr lang="en-US" dirty="0"/>
              <a:t>This has not been decided and optimization currently isn’t enabled for bounds checks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r>
              <a:rPr lang="en-US" dirty="0"/>
              <a:t>Example: </a:t>
            </a:r>
            <a:r>
              <a:rPr lang="en-US" dirty="0">
                <a:hlinkClick r:id="rId4"/>
              </a:rPr>
              <a:t>rust #50759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ABA71-A5DA-45F0-91B1-A1EA5CD211F1}"/>
              </a:ext>
            </a:extLst>
          </p:cNvPr>
          <p:cNvSpPr txBox="1"/>
          <p:nvPr/>
        </p:nvSpPr>
        <p:spPr>
          <a:xfrm>
            <a:off x="6296025" y="2381250"/>
            <a:ext cx="57054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::{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&lt;(),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Error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"/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Each access checked separately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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// </a:t>
            </a:r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would be enough to check only</a:t>
            </a:r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h[15])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"/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Ok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(())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4CA2-53AD-47F3-AB2F-63BF5CF4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7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72502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slices (rather than containers like </a:t>
            </a:r>
            <a:r>
              <a:rPr lang="en-US" dirty="0" err="1"/>
              <a:t>Vec</a:t>
            </a:r>
            <a:r>
              <a:rPr lang="en-US" dirty="0"/>
              <a:t>) in loops</a:t>
            </a:r>
          </a:p>
          <a:p>
            <a:pPr lvl="1"/>
            <a:r>
              <a:rPr lang="en-US" dirty="0"/>
              <a:t>This simplifies job of alias analysis</a:t>
            </a:r>
          </a:p>
          <a:p>
            <a:pPr lvl="1"/>
            <a:r>
              <a:rPr lang="en-US" dirty="0"/>
              <a:t>Example: </a:t>
            </a:r>
            <a:r>
              <a:rPr lang="en-US" dirty="0" err="1">
                <a:hlinkClick r:id="rId2"/>
              </a:rPr>
              <a:t>fschutt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fastblur</a:t>
            </a:r>
            <a:r>
              <a:rPr lang="en-US" dirty="0">
                <a:hlinkClick r:id="rId2"/>
              </a:rPr>
              <a:t> #3</a:t>
            </a:r>
            <a:endParaRPr lang="ru-RU" dirty="0"/>
          </a:p>
          <a:p>
            <a:r>
              <a:rPr lang="en-US" dirty="0"/>
              <a:t>Avoid complex index computations</a:t>
            </a:r>
            <a:endParaRPr lang="ru-RU" dirty="0"/>
          </a:p>
          <a:p>
            <a:pPr lvl="1"/>
            <a:r>
              <a:rPr lang="en-US" dirty="0"/>
              <a:t>Anything more complicated than adding a constant or adding two variables</a:t>
            </a:r>
          </a:p>
          <a:p>
            <a:pPr lvl="1"/>
            <a:r>
              <a:rPr lang="en-US" dirty="0"/>
              <a:t>Even affine operations may break optimizer: </a:t>
            </a:r>
            <a:r>
              <a:rPr lang="en-US" dirty="0">
                <a:hlinkClick r:id="rId3"/>
              </a:rPr>
              <a:t>Taking Advantage of Auto-Vectorization in Rust</a:t>
            </a:r>
            <a:endParaRPr lang="en-US" dirty="0"/>
          </a:p>
          <a:p>
            <a:r>
              <a:rPr lang="en-US" dirty="0"/>
              <a:t>Do not rely on optimizer in non-trivial cases</a:t>
            </a:r>
            <a:endParaRPr lang="ru-RU" dirty="0"/>
          </a:p>
          <a:p>
            <a:pPr lvl="1"/>
            <a:r>
              <a:rPr lang="en-US" dirty="0"/>
              <a:t>Optimizations vary (non-monotonically) across compiler versions</a:t>
            </a:r>
          </a:p>
          <a:p>
            <a:pPr lvl="1"/>
            <a:r>
              <a:rPr lang="en-US" dirty="0">
                <a:hlinkClick r:id="rId4"/>
              </a:rPr>
              <a:t>“Auto-vectorization is not a programming model”</a:t>
            </a:r>
            <a:endParaRPr lang="en-US" dirty="0"/>
          </a:p>
          <a:p>
            <a:r>
              <a:rPr lang="en-US" dirty="0"/>
              <a:t>Same advices are relevant for Hardened C/C++!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0ACC-3BCF-4D43-AA7F-AC3F0899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38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 elimination</a:t>
            </a:r>
            <a:endParaRPr lang="ru-RU" dirty="0"/>
          </a:p>
          <a:p>
            <a:r>
              <a:rPr lang="en-US" dirty="0"/>
              <a:t>Reducing number of checks</a:t>
            </a:r>
            <a:endParaRPr lang="ru-RU" dirty="0"/>
          </a:p>
          <a:p>
            <a:r>
              <a:rPr lang="en-US" dirty="0"/>
              <a:t>Reducing cost of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76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Checks elimination</a:t>
            </a:r>
            <a:endParaRPr lang="ru-RU" b="1" dirty="0"/>
          </a:p>
          <a:p>
            <a:r>
              <a:rPr lang="en-US" dirty="0"/>
              <a:t>Reducing number of checks</a:t>
            </a:r>
            <a:endParaRPr lang="ru-RU" dirty="0"/>
          </a:p>
          <a:p>
            <a:r>
              <a:rPr lang="en-US" dirty="0"/>
              <a:t>Reducing cost of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8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Unsafe-code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simplest and most robust solution</a:t>
            </a:r>
          </a:p>
          <a:p>
            <a:r>
              <a:rPr lang="en-US" dirty="0"/>
              <a:t>Used in </a:t>
            </a:r>
            <a:r>
              <a:rPr lang="en-US" dirty="0" err="1"/>
              <a:t>stdlib</a:t>
            </a:r>
            <a:r>
              <a:rPr lang="en-US" dirty="0"/>
              <a:t> containers and iterators</a:t>
            </a:r>
            <a:endParaRPr lang="ru-RU" dirty="0"/>
          </a:p>
          <a:p>
            <a:r>
              <a:rPr lang="en-US" dirty="0"/>
              <a:t>Several variants:</a:t>
            </a:r>
          </a:p>
          <a:p>
            <a:pPr lvl="1"/>
            <a:r>
              <a:rPr lang="en-US" dirty="0"/>
              <a:t>Explicit pointers in unsafe blocks</a:t>
            </a:r>
          </a:p>
          <a:p>
            <a:pPr lvl="1"/>
            <a:r>
              <a:rPr lang="en-US" dirty="0"/>
              <a:t>Check-less APIs like </a:t>
            </a:r>
            <a:r>
              <a:rPr lang="en-US" dirty="0" err="1"/>
              <a:t>get_unchecked</a:t>
            </a:r>
            <a:r>
              <a:rPr lang="en-US" dirty="0"/>
              <a:t>, etc.</a:t>
            </a:r>
            <a:endParaRPr lang="ru-RU" dirty="0"/>
          </a:p>
          <a:p>
            <a:pPr lvl="1"/>
            <a:r>
              <a:rPr lang="en-US" dirty="0"/>
              <a:t>Compiler hints std::hint::</a:t>
            </a:r>
            <a:r>
              <a:rPr lang="en-US" dirty="0" err="1"/>
              <a:t>unreachable_unchecked</a:t>
            </a:r>
            <a:r>
              <a:rPr lang="en-US" dirty="0"/>
              <a:t> and std::hint::</a:t>
            </a:r>
            <a:r>
              <a:rPr lang="en-US" dirty="0" err="1"/>
              <a:t>assert_unchecked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0ACC-3BCF-4D43-AA7F-AC3F0899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27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DBABD80-5A47-45CE-8D46-DD40CACDBD3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0160C7-74EC-4178-99AC-60BDA62A8651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8" name="Picture 2" descr="Workplace Slip and Fall Injuries ...">
            <a:extLst>
              <a:ext uri="{FF2B5EF4-FFF2-40B4-BE49-F238E27FC236}">
                <a16:creationId xmlns:a16="http://schemas.microsoft.com/office/drawing/2014/main" id="{3EB27115-774A-4A5E-A5C0-CA06562A8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611327"/>
            <a:ext cx="2572084" cy="171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518CA-6176-4AFC-93DD-E3CA6E7AEC23}"/>
              </a:ext>
            </a:extLst>
          </p:cNvPr>
          <p:cNvSpPr txBox="1"/>
          <p:nvPr/>
        </p:nvSpPr>
        <p:spPr>
          <a:xfrm>
            <a:off x="143436" y="6492875"/>
            <a:ext cx="4890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https://workinjurysource.com/preventing-slip-and-fall-injuries-at-work/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17AD2-200E-4E25-BD38-9C2F41608352}"/>
              </a:ext>
            </a:extLst>
          </p:cNvPr>
          <p:cNvSpPr txBox="1"/>
          <p:nvPr/>
        </p:nvSpPr>
        <p:spPr>
          <a:xfrm>
            <a:off x="6257365" y="3103908"/>
            <a:ext cx="58449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(&amp;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mut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    // fill the hole again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get_unchecked_mut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elt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take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unwrap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59E7D-AF85-43C2-82D3-AC8B3EDC6954}"/>
              </a:ext>
            </a:extLst>
          </p:cNvPr>
          <p:cNvSpPr txBox="1"/>
          <p:nvPr/>
        </p:nvSpPr>
        <p:spPr>
          <a:xfrm>
            <a:off x="8157882" y="5453122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rust #36072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65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Workarounds: Bounded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 range can be expressed via type system:</a:t>
            </a:r>
          </a:p>
          <a:p>
            <a:pPr lvl="1"/>
            <a:r>
              <a:rPr lang="en-US" dirty="0"/>
              <a:t>Enums or bool</a:t>
            </a:r>
            <a:endParaRPr lang="ru-RU" dirty="0"/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rust #102303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21037-A4FB-4FE5-B054-B3B80FA9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0C7A5-B707-4671-B60C-3F0EBC6D0FE5}"/>
              </a:ext>
            </a:extLst>
          </p:cNvPr>
          <p:cNvSpPr txBox="1"/>
          <p:nvPr/>
        </p:nvSpPr>
        <p:spPr>
          <a:xfrm>
            <a:off x="1515037" y="3561853"/>
            <a:ext cx="4114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EA6E3-BA9C-4E18-B1E2-F510BF225B2A}"/>
              </a:ext>
            </a:extLst>
          </p:cNvPr>
          <p:cNvSpPr txBox="1"/>
          <p:nvPr/>
        </p:nvSpPr>
        <p:spPr>
          <a:xfrm>
            <a:off x="6562165" y="3007856"/>
            <a:ext cx="4661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A64B7E-6D45-44E8-BF8C-8D8D0D19D68D}"/>
              </a:ext>
            </a:extLst>
          </p:cNvPr>
          <p:cNvCxnSpPr>
            <a:cxnSpLocks/>
          </p:cNvCxnSpPr>
          <p:nvPr/>
        </p:nvCxnSpPr>
        <p:spPr>
          <a:xfrm>
            <a:off x="5504329" y="4027547"/>
            <a:ext cx="95025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2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 elimination</a:t>
            </a:r>
            <a:endParaRPr lang="ru-RU" dirty="0"/>
          </a:p>
          <a:p>
            <a:r>
              <a:rPr lang="en-US" b="1" dirty="0"/>
              <a:t>Reducing number of checks</a:t>
            </a:r>
            <a:endParaRPr lang="ru-RU" b="1" dirty="0"/>
          </a:p>
          <a:p>
            <a:r>
              <a:rPr lang="en-US" dirty="0"/>
              <a:t>Reducing cost of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4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Manual asserts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257674" cy="4351338"/>
          </a:xfrm>
        </p:spPr>
        <p:txBody>
          <a:bodyPr/>
          <a:lstStyle/>
          <a:p>
            <a:r>
              <a:rPr lang="en-US" dirty="0"/>
              <a:t>Replaces many checks with one</a:t>
            </a:r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jpeg-decoder #167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6B16-1212-4376-A65E-F12C7092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B9739-A4DD-45C9-8351-9E71E7887629}"/>
              </a:ext>
            </a:extLst>
          </p:cNvPr>
          <p:cNvSpPr txBox="1"/>
          <p:nvPr/>
        </p:nvSpPr>
        <p:spPr>
          <a:xfrm>
            <a:off x="5638799" y="1652648"/>
            <a:ext cx="625736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optimizer hint to eliminate bounds checks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within loops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assert!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 ==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64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temp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Wrapping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64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columns</a:t>
            </a:r>
          </a:p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in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..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 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16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24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56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latin typeface="Consolas" panose="020B0609020204030204" pitchFamily="49" charset="0"/>
              </a:rPr>
              <a:t>...</a:t>
            </a:r>
            <a:endParaRPr 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7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974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en-US" dirty="0" err="1"/>
              <a:t>Reslicing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1670220"/>
            <a:ext cx="10515600" cy="4351338"/>
          </a:xfrm>
        </p:spPr>
        <p:txBody>
          <a:bodyPr/>
          <a:lstStyle/>
          <a:p>
            <a:r>
              <a:rPr lang="en-US" dirty="0" err="1"/>
              <a:t>Reslicing</a:t>
            </a:r>
            <a:r>
              <a:rPr lang="en-US" dirty="0"/>
              <a:t>, </a:t>
            </a:r>
            <a:r>
              <a:rPr lang="en-US" dirty="0" err="1"/>
              <a:t>preslicing</a:t>
            </a:r>
            <a:r>
              <a:rPr lang="en-US" dirty="0"/>
              <a:t> or </a:t>
            </a:r>
            <a:r>
              <a:rPr lang="en-US" dirty="0" err="1"/>
              <a:t>subslicing</a:t>
            </a:r>
            <a:endParaRPr lang="en-US" dirty="0"/>
          </a:p>
          <a:p>
            <a:r>
              <a:rPr lang="en-US" dirty="0"/>
              <a:t>Pre-construct slices of known size</a:t>
            </a:r>
            <a:endParaRPr lang="ru-RU" dirty="0"/>
          </a:p>
          <a:p>
            <a:r>
              <a:rPr lang="en-US" dirty="0"/>
              <a:t>Forces compiler to perform </a:t>
            </a:r>
            <a:r>
              <a:rPr lang="en-US" i="1" dirty="0"/>
              <a:t>single</a:t>
            </a:r>
            <a:r>
              <a:rPr lang="ru-RU" dirty="0"/>
              <a:t> </a:t>
            </a:r>
            <a:r>
              <a:rPr lang="en-US" dirty="0"/>
              <a:t>check when creating slice</a:t>
            </a:r>
            <a:endParaRPr lang="ru-RU" dirty="0"/>
          </a:p>
          <a:p>
            <a:r>
              <a:rPr lang="en-US" dirty="0"/>
              <a:t>Example: </a:t>
            </a:r>
            <a:r>
              <a:rPr lang="en-US" dirty="0" err="1">
                <a:hlinkClick r:id="rId2"/>
              </a:rPr>
              <a:t>dropbox</a:t>
            </a:r>
            <a:r>
              <a:rPr lang="en-US" dirty="0">
                <a:hlinkClick r:id="rId2"/>
              </a:rPr>
              <a:t>/rust-</a:t>
            </a:r>
            <a:r>
              <a:rPr lang="en-US" dirty="0" err="1">
                <a:hlinkClick r:id="rId2"/>
              </a:rPr>
              <a:t>brotli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E62B7-C8EA-441E-8F63-270268E6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31</a:t>
            </a:fld>
            <a:endParaRPr lang="en-US"/>
          </a:p>
        </p:txBody>
      </p:sp>
      <p:pic>
        <p:nvPicPr>
          <p:cNvPr id="9" name="Picture 2" descr="Cutting Bread · Free Stock Photo">
            <a:extLst>
              <a:ext uri="{FF2B5EF4-FFF2-40B4-BE49-F238E27FC236}">
                <a16:creationId xmlns:a16="http://schemas.microsoft.com/office/drawing/2014/main" id="{4C7313E7-04E6-4DAC-8E76-FC6F7A203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841" y="571500"/>
            <a:ext cx="1600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FF9D6F-8530-4A14-BBBE-923BF58AE896}"/>
              </a:ext>
            </a:extLst>
          </p:cNvPr>
          <p:cNvSpPr txBox="1"/>
          <p:nvPr/>
        </p:nvSpPr>
        <p:spPr>
          <a:xfrm>
            <a:off x="304799" y="6437805"/>
            <a:ext cx="4769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Lalada</a:t>
            </a:r>
            <a:r>
              <a:rPr lang="en-US" sz="1000" dirty="0"/>
              <a:t>, </a:t>
            </a:r>
            <a:r>
              <a:rPr lang="en-US" sz="1000" dirty="0">
                <a:hlinkClick r:id="rId4"/>
              </a:rPr>
              <a:t>https://www.pexels.com/photo/close-up-of-a-person-cutting-bread-19359855/</a:t>
            </a:r>
            <a:r>
              <a:rPr lang="en-US" sz="10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F533E-E796-4E09-8C87-DB3F79BB97FC}"/>
              </a:ext>
            </a:extLst>
          </p:cNvPr>
          <p:cNvSpPr txBox="1"/>
          <p:nvPr/>
        </p:nvSpPr>
        <p:spPr>
          <a:xfrm>
            <a:off x="1515037" y="4508043"/>
            <a:ext cx="3415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13456-ADDB-48BE-B6B9-EBB62AED6C02}"/>
              </a:ext>
            </a:extLst>
          </p:cNvPr>
          <p:cNvSpPr txBox="1"/>
          <p:nvPr/>
        </p:nvSpPr>
        <p:spPr>
          <a:xfrm>
            <a:off x="6400801" y="4369543"/>
            <a:ext cx="4814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slice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slice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DB9526-D03C-487E-83FF-49792F64A68A}"/>
              </a:ext>
            </a:extLst>
          </p:cNvPr>
          <p:cNvCxnSpPr>
            <a:cxnSpLocks/>
          </p:cNvCxnSpPr>
          <p:nvPr/>
        </p:nvCxnSpPr>
        <p:spPr>
          <a:xfrm>
            <a:off x="4796118" y="4960743"/>
            <a:ext cx="1470211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266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974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en-US" dirty="0" err="1"/>
              <a:t>Reslicing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1670220"/>
            <a:ext cx="10515600" cy="4351338"/>
          </a:xfrm>
        </p:spPr>
        <p:txBody>
          <a:bodyPr/>
          <a:lstStyle/>
          <a:p>
            <a:r>
              <a:rPr lang="en-US" dirty="0" err="1"/>
              <a:t>Offsetted</a:t>
            </a:r>
            <a:r>
              <a:rPr lang="en-US" dirty="0"/>
              <a:t> slices should better be constructed in two steps to avoid potential integer overflow</a:t>
            </a:r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Optimizing rav1d, an AV1 Decoder in Rust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E62B7-C8EA-441E-8F63-270268E6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6DAD1-F248-4F20-9B4B-28B23AEB8A89}"/>
              </a:ext>
            </a:extLst>
          </p:cNvPr>
          <p:cNvSpPr txBox="1"/>
          <p:nvPr/>
        </p:nvSpPr>
        <p:spPr>
          <a:xfrm>
            <a:off x="2214282" y="4406070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81E30-2489-4165-8BC1-219E7DEF5264}"/>
              </a:ext>
            </a:extLst>
          </p:cNvPr>
          <p:cNvSpPr txBox="1"/>
          <p:nvPr/>
        </p:nvSpPr>
        <p:spPr>
          <a:xfrm>
            <a:off x="6669741" y="4406070"/>
            <a:ext cx="257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..][..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5ADCE-2203-4C13-ADA4-1EF86D614D3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634753" y="4590736"/>
            <a:ext cx="203498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254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1742"/>
            <a:ext cx="10515600" cy="1325563"/>
          </a:xfrm>
        </p:spPr>
        <p:txBody>
          <a:bodyPr/>
          <a:lstStyle/>
          <a:p>
            <a:r>
              <a:rPr lang="en-US" dirty="0"/>
              <a:t>Workarounds: Limiting iteration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21" y="1430504"/>
            <a:ext cx="10515600" cy="4351338"/>
          </a:xfrm>
        </p:spPr>
        <p:txBody>
          <a:bodyPr/>
          <a:lstStyle/>
          <a:p>
            <a:r>
              <a:rPr lang="en-US" dirty="0"/>
              <a:t>When iterating over several containers explicitly compute common safe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B7BFE-91DA-46BA-8B3C-34378BA5A315}"/>
              </a:ext>
            </a:extLst>
          </p:cNvPr>
          <p:cNvSpPr txBox="1"/>
          <p:nvPr/>
        </p:nvSpPr>
        <p:spPr>
          <a:xfrm>
            <a:off x="590550" y="2462412"/>
            <a:ext cx="56102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 {</a:t>
            </a:r>
          </a:p>
          <a:p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.LBB1_2: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je  .LBB1_5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r8d,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r8d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r8,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.LBB1_2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E2C2E-9B74-474D-AFB5-D5E2C7E249A7}"/>
              </a:ext>
            </a:extLst>
          </p:cNvPr>
          <p:cNvSpPr txBox="1"/>
          <p:nvPr/>
        </p:nvSpPr>
        <p:spPr>
          <a:xfrm>
            <a:off x="6438899" y="2462412"/>
            <a:ext cx="5610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9FCC8A-C543-48AD-A891-0C45B08E8ACE}"/>
              </a:ext>
            </a:extLst>
          </p:cNvPr>
          <p:cNvCxnSpPr/>
          <p:nvPr/>
        </p:nvCxnSpPr>
        <p:spPr>
          <a:xfrm>
            <a:off x="4544266" y="3429000"/>
            <a:ext cx="173102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34C00F-DD08-4F66-B9D0-1F2036F4B2B4}"/>
              </a:ext>
            </a:extLst>
          </p:cNvPr>
          <p:cNvSpPr txBox="1"/>
          <p:nvPr/>
        </p:nvSpPr>
        <p:spPr>
          <a:xfrm>
            <a:off x="3581401" y="6117395"/>
            <a:ext cx="6243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Compiled with</a:t>
            </a:r>
          </a:p>
          <a:p>
            <a:r>
              <a:rPr lang="en-US" dirty="0"/>
              <a:t>-</a:t>
            </a:r>
            <a:r>
              <a:rPr lang="en-US" dirty="0" err="1"/>
              <a:t>Cno</a:t>
            </a:r>
            <a:r>
              <a:rPr lang="en-US" dirty="0"/>
              <a:t>-vectorize-loops -</a:t>
            </a:r>
            <a:r>
              <a:rPr lang="en-US" dirty="0" err="1"/>
              <a:t>Cllvm-args</a:t>
            </a:r>
            <a:r>
              <a:rPr lang="en-US" dirty="0"/>
              <a:t>=-unroll-allow-remainder=0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BC644-E4F4-49A5-9CD8-13D8FF07C338}"/>
              </a:ext>
            </a:extLst>
          </p:cNvPr>
          <p:cNvSpPr txBox="1"/>
          <p:nvPr/>
        </p:nvSpPr>
        <p:spPr>
          <a:xfrm>
            <a:off x="2715743" y="3818073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https://godbolt.org/z/P8de874c1</a:t>
            </a: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59350-C1E2-4094-83E5-ABC64473E47D}"/>
              </a:ext>
            </a:extLst>
          </p:cNvPr>
          <p:cNvSpPr txBox="1"/>
          <p:nvPr/>
        </p:nvSpPr>
        <p:spPr>
          <a:xfrm>
            <a:off x="9317691" y="3818074"/>
            <a:ext cx="2283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https://godbolt.org/z/6TzEPaaEs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441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-149191"/>
            <a:ext cx="10515600" cy="1325563"/>
          </a:xfrm>
        </p:spPr>
        <p:txBody>
          <a:bodyPr/>
          <a:lstStyle/>
          <a:p>
            <a:r>
              <a:rPr lang="en-US" dirty="0"/>
              <a:t>Workarounds: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21" y="1253331"/>
            <a:ext cx="10515600" cy="4351338"/>
          </a:xfrm>
        </p:spPr>
        <p:txBody>
          <a:bodyPr/>
          <a:lstStyle/>
          <a:p>
            <a:r>
              <a:rPr lang="en-US" dirty="0"/>
              <a:t>Many iterators know container size and can utilize this information to remove bounds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34</a:t>
            </a:fld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9FCC8A-C543-48AD-A891-0C45B08E8ACE}"/>
              </a:ext>
            </a:extLst>
          </p:cNvPr>
          <p:cNvCxnSpPr/>
          <p:nvPr/>
        </p:nvCxnSpPr>
        <p:spPr>
          <a:xfrm>
            <a:off x="4364971" y="3849221"/>
            <a:ext cx="173102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737298-C4F8-4264-BF72-642DB51459A3}"/>
              </a:ext>
            </a:extLst>
          </p:cNvPr>
          <p:cNvSpPr txBox="1"/>
          <p:nvPr/>
        </p:nvSpPr>
        <p:spPr>
          <a:xfrm>
            <a:off x="590550" y="2462412"/>
            <a:ext cx="56102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 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.LBB1_2: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je  .LBB1_5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r8d,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r8d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r8,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.LBB1_2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549DAD-A8BD-4683-BC83-08FE95136619}"/>
              </a:ext>
            </a:extLst>
          </p:cNvPr>
          <p:cNvSpPr txBox="1"/>
          <p:nvPr/>
        </p:nvSpPr>
        <p:spPr>
          <a:xfrm>
            <a:off x="6438899" y="2462412"/>
            <a:ext cx="56102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This also works:</a:t>
            </a:r>
          </a:p>
          <a:p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  </a:t>
            </a:r>
            <a:r>
              <a:rPr lang="es-E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(x, y) in </a:t>
            </a:r>
            <a:r>
              <a:rPr lang="es-E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x.iter_mut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().zip(y)</a:t>
            </a:r>
            <a:endParaRPr lang="nn-NO" sz="16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iter_mut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zip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for_each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(|(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)|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C87FA-CF4F-4AF9-B710-888CD1432E67}"/>
              </a:ext>
            </a:extLst>
          </p:cNvPr>
          <p:cNvSpPr txBox="1"/>
          <p:nvPr/>
        </p:nvSpPr>
        <p:spPr>
          <a:xfrm>
            <a:off x="3715871" y="6142253"/>
            <a:ext cx="6127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Compiled with</a:t>
            </a:r>
          </a:p>
          <a:p>
            <a:r>
              <a:rPr lang="en-US" dirty="0"/>
              <a:t>-</a:t>
            </a:r>
            <a:r>
              <a:rPr lang="en-US" dirty="0" err="1"/>
              <a:t>Cno</a:t>
            </a:r>
            <a:r>
              <a:rPr lang="en-US" dirty="0"/>
              <a:t>-vectorize-loops -</a:t>
            </a:r>
            <a:r>
              <a:rPr lang="en-US" dirty="0" err="1"/>
              <a:t>Cllvm-args</a:t>
            </a:r>
            <a:r>
              <a:rPr lang="en-US" dirty="0"/>
              <a:t>=-unroll-allow-remainder=0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021D5-81D9-4B54-9240-FC73AC8665AB}"/>
              </a:ext>
            </a:extLst>
          </p:cNvPr>
          <p:cNvSpPr txBox="1"/>
          <p:nvPr/>
        </p:nvSpPr>
        <p:spPr>
          <a:xfrm>
            <a:off x="2734234" y="4078714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https://godbolt.org/z/P8de874c1</a:t>
            </a:r>
            <a:r>
              <a:rPr 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823E3-954C-4379-8211-BD740FAC72F2}"/>
              </a:ext>
            </a:extLst>
          </p:cNvPr>
          <p:cNvSpPr txBox="1"/>
          <p:nvPr/>
        </p:nvSpPr>
        <p:spPr>
          <a:xfrm>
            <a:off x="9317691" y="4032072"/>
            <a:ext cx="2283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https://godbolt.org/z/je69173xv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77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“Miracle of zero cost abstraction has a limit" (</a:t>
            </a:r>
            <a:r>
              <a:rPr lang="en-US" dirty="0" err="1">
                <a:hlinkClick r:id="rId2"/>
              </a:rPr>
              <a:t>fridsun</a:t>
            </a:r>
            <a:r>
              <a:rPr lang="en-US" dirty="0">
                <a:hlinkClick r:id="rId2"/>
              </a:rPr>
              <a:t> at Reddit</a:t>
            </a:r>
            <a:r>
              <a:rPr lang="en-US" dirty="0"/>
              <a:t>)</a:t>
            </a:r>
          </a:p>
          <a:p>
            <a:r>
              <a:rPr lang="en-US" dirty="0"/>
              <a:t>Significant slowdown and code size increase for debug builds</a:t>
            </a:r>
            <a:endParaRPr lang="ru-RU" dirty="0"/>
          </a:p>
          <a:p>
            <a:r>
              <a:rPr lang="en-US" dirty="0"/>
              <a:t>Compiler sometimes fails to inline long iterator chains</a:t>
            </a:r>
          </a:p>
          <a:p>
            <a:r>
              <a:rPr lang="en-US" dirty="0"/>
              <a:t>Iterator lambdas take references to container elements which may cause issues with alias analysis (</a:t>
            </a:r>
            <a:r>
              <a:rPr lang="en-US" dirty="0">
                <a:hlinkClick r:id="rId3"/>
              </a:rPr>
              <a:t>rust #106539</a:t>
            </a:r>
            <a:r>
              <a:rPr lang="en-US" dirty="0"/>
              <a:t>)</a:t>
            </a:r>
          </a:p>
          <a:p>
            <a:r>
              <a:rPr lang="en-US" dirty="0"/>
              <a:t>Chained iterators (chain, </a:t>
            </a:r>
            <a:r>
              <a:rPr lang="en-US" dirty="0" err="1"/>
              <a:t>flat_map</a:t>
            </a:r>
            <a:r>
              <a:rPr lang="en-US" dirty="0"/>
              <a:t>, flatten, ..=, etc.) may generate inefficient code in for-loops (“external iteration”)</a:t>
            </a:r>
          </a:p>
          <a:p>
            <a:pPr lvl="1"/>
            <a:r>
              <a:rPr lang="en-US" dirty="0"/>
              <a:t>Use only with .</a:t>
            </a:r>
            <a:r>
              <a:rPr lang="en-US" dirty="0" err="1"/>
              <a:t>for_each</a:t>
            </a:r>
            <a:r>
              <a:rPr lang="en-US" dirty="0"/>
              <a:t>, .fold, .find, etc. (“internal iteration”)</a:t>
            </a:r>
          </a:p>
          <a:p>
            <a:pPr lvl="1"/>
            <a:r>
              <a:rPr lang="en-US" dirty="0">
                <a:hlinkClick r:id="rId4"/>
              </a:rPr>
              <a:t>Are iterators even efficient?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D8B69-3494-470D-94CA-D2D67B2C63A1}"/>
              </a:ext>
            </a:extLst>
          </p:cNvPr>
          <p:cNvSpPr txBox="1"/>
          <p:nvPr/>
        </p:nvSpPr>
        <p:spPr>
          <a:xfrm>
            <a:off x="89647" y="6525750"/>
            <a:ext cx="7723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Karen Arnolds,  </a:t>
            </a:r>
            <a:r>
              <a:rPr lang="en-US" sz="1050" dirty="0">
                <a:hlinkClick r:id="rId5"/>
              </a:rPr>
              <a:t>https://www.publicdomainpictures.net/en/view-image.php?image=235675&amp;picture=man-carrying-stack-of-boxes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A1D424-6970-4186-9169-75A48071E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044" y="136524"/>
            <a:ext cx="1551077" cy="214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4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Workarounds: Order of accesses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Prefer to access data starting with farthest element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B8119-A71B-4196-9F69-50A30CF3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F8E08-525F-48CF-B65E-5FBAA6CBCB60}"/>
              </a:ext>
            </a:extLst>
          </p:cNvPr>
          <p:cNvSpPr txBox="1"/>
          <p:nvPr/>
        </p:nvSpPr>
        <p:spPr>
          <a:xfrm>
            <a:off x="1770810" y="3847282"/>
            <a:ext cx="222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0EF1FE-EC44-42B2-85C3-497940F11FCB}"/>
              </a:ext>
            </a:extLst>
          </p:cNvPr>
          <p:cNvCxnSpPr>
            <a:cxnSpLocks/>
          </p:cNvCxnSpPr>
          <p:nvPr/>
        </p:nvCxnSpPr>
        <p:spPr>
          <a:xfrm>
            <a:off x="3787308" y="4308947"/>
            <a:ext cx="18089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5E717B-9F05-492B-AC3B-648993BC7690}"/>
              </a:ext>
            </a:extLst>
          </p:cNvPr>
          <p:cNvSpPr txBox="1"/>
          <p:nvPr/>
        </p:nvSpPr>
        <p:spPr>
          <a:xfrm>
            <a:off x="1847010" y="2473109"/>
            <a:ext cx="222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C7CCC-0009-474D-BD5B-D45D168C62E6}"/>
              </a:ext>
            </a:extLst>
          </p:cNvPr>
          <p:cNvSpPr txBox="1"/>
          <p:nvPr/>
        </p:nvSpPr>
        <p:spPr>
          <a:xfrm>
            <a:off x="5878604" y="2473109"/>
            <a:ext cx="4814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0EF6EC-BC05-46D4-824A-58F106C728D6}"/>
              </a:ext>
            </a:extLst>
          </p:cNvPr>
          <p:cNvCxnSpPr>
            <a:cxnSpLocks/>
          </p:cNvCxnSpPr>
          <p:nvPr/>
        </p:nvCxnSpPr>
        <p:spPr>
          <a:xfrm>
            <a:off x="3863508" y="2934774"/>
            <a:ext cx="18089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9BE2E0-0A7D-4C84-BD9C-B8CADE211196}"/>
              </a:ext>
            </a:extLst>
          </p:cNvPr>
          <p:cNvSpPr txBox="1"/>
          <p:nvPr/>
        </p:nvSpPr>
        <p:spPr>
          <a:xfrm>
            <a:off x="4616543" y="3364195"/>
            <a:ext cx="199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746E01-49E5-47FF-B9A4-14ED7D3888E2}"/>
              </a:ext>
            </a:extLst>
          </p:cNvPr>
          <p:cNvSpPr txBox="1"/>
          <p:nvPr/>
        </p:nvSpPr>
        <p:spPr>
          <a:xfrm>
            <a:off x="1770810" y="5228219"/>
            <a:ext cx="222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ED4AC0-765D-44B9-BD3B-87E286241FDF}"/>
              </a:ext>
            </a:extLst>
          </p:cNvPr>
          <p:cNvCxnSpPr>
            <a:cxnSpLocks/>
          </p:cNvCxnSpPr>
          <p:nvPr/>
        </p:nvCxnSpPr>
        <p:spPr>
          <a:xfrm>
            <a:off x="3787308" y="5689884"/>
            <a:ext cx="18851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CB8ADD6-0668-42F8-B754-0E46FC2A023E}"/>
              </a:ext>
            </a:extLst>
          </p:cNvPr>
          <p:cNvSpPr txBox="1"/>
          <p:nvPr/>
        </p:nvSpPr>
        <p:spPr>
          <a:xfrm>
            <a:off x="4616542" y="4711079"/>
            <a:ext cx="199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F39EA8-1FAA-4003-98C0-2AE9D6CD2B94}"/>
              </a:ext>
            </a:extLst>
          </p:cNvPr>
          <p:cNvSpPr txBox="1"/>
          <p:nvPr/>
        </p:nvSpPr>
        <p:spPr>
          <a:xfrm>
            <a:off x="5802404" y="3847282"/>
            <a:ext cx="4814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panic!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D3144A-50D4-4BAD-8C99-9C0EF4235E73}"/>
              </a:ext>
            </a:extLst>
          </p:cNvPr>
          <p:cNvSpPr txBox="1"/>
          <p:nvPr/>
        </p:nvSpPr>
        <p:spPr>
          <a:xfrm>
            <a:off x="5878604" y="5366718"/>
            <a:ext cx="4583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.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try_into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76547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6EEA-6F6B-4C5F-9E7A-750C7B18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035D7-C742-4A8A-9C05-63E0DDA7C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5096436" cy="4667250"/>
          </a:xfrm>
        </p:spPr>
        <p:txBody>
          <a:bodyPr>
            <a:normAutofit/>
          </a:bodyPr>
          <a:lstStyle/>
          <a:p>
            <a:r>
              <a:rPr lang="en-US" dirty="0"/>
              <a:t>Developer can manually vectorize code</a:t>
            </a:r>
            <a:endParaRPr lang="ru-RU" dirty="0"/>
          </a:p>
          <a:p>
            <a:r>
              <a:rPr lang="en-US" dirty="0" err="1"/>
              <a:t>Stdlib</a:t>
            </a:r>
            <a:r>
              <a:rPr lang="en-US" dirty="0"/>
              <a:t> provides</a:t>
            </a:r>
          </a:p>
          <a:p>
            <a:pPr lvl="1"/>
            <a:r>
              <a:rPr lang="en-US" dirty="0"/>
              <a:t>Portable std::</a:t>
            </a:r>
            <a:r>
              <a:rPr lang="en-US" dirty="0" err="1"/>
              <a:t>simd</a:t>
            </a:r>
            <a:r>
              <a:rPr lang="en-US" dirty="0"/>
              <a:t> API (nightly only)</a:t>
            </a:r>
          </a:p>
          <a:p>
            <a:pPr lvl="1"/>
            <a:r>
              <a:rPr lang="en-US" dirty="0"/>
              <a:t>Platform vector </a:t>
            </a:r>
            <a:r>
              <a:rPr lang="en-US" dirty="0" err="1"/>
              <a:t>intrinsics</a:t>
            </a:r>
            <a:r>
              <a:rPr lang="en-US" dirty="0"/>
              <a:t> std::arch (unsafe)</a:t>
            </a:r>
          </a:p>
          <a:p>
            <a:r>
              <a:rPr lang="en-US" dirty="0"/>
              <a:t>There are also many third-party 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C8E5-117D-45C1-9BD0-9A1FF100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D8B08-B980-40FF-8D0F-994332D1C274}"/>
              </a:ext>
            </a:extLst>
          </p:cNvPr>
          <p:cNvSpPr txBox="1"/>
          <p:nvPr/>
        </p:nvSpPr>
        <p:spPr>
          <a:xfrm>
            <a:off x="6096000" y="1689100"/>
            <a:ext cx="61766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sum_simd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]) -&gt;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i32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6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LANES</a:t>
            </a:r>
            <a:r>
              <a:rPr lang="fr-FR" sz="16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usize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fr-FR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AVX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i32x8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splat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for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chunks_exact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LANES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i32x8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from_slice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tail_acc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for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chunks_exact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LANES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remainder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tail_acc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reduce_sum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tail_acc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FBB93C-0FC4-4112-8AE5-314BA0CE8D55}"/>
              </a:ext>
            </a:extLst>
          </p:cNvPr>
          <p:cNvSpPr txBox="1"/>
          <p:nvPr/>
        </p:nvSpPr>
        <p:spPr>
          <a:xfrm>
            <a:off x="7523630" y="5890249"/>
            <a:ext cx="2382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https://godbolt.org/z/G3bfGEhnG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340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 elimination</a:t>
            </a:r>
            <a:endParaRPr lang="ru-RU" dirty="0"/>
          </a:p>
          <a:p>
            <a:r>
              <a:rPr lang="en-US" dirty="0"/>
              <a:t>Reducing number of checks</a:t>
            </a:r>
            <a:endParaRPr lang="ru-RU" dirty="0"/>
          </a:p>
          <a:p>
            <a:r>
              <a:rPr lang="en-US" b="1" dirty="0"/>
              <a:t>Reducing cost of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39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6550"/>
            <a:ext cx="11039475" cy="1325563"/>
          </a:xfrm>
        </p:spPr>
        <p:txBody>
          <a:bodyPr/>
          <a:lstStyle/>
          <a:p>
            <a:r>
              <a:rPr lang="en-US" dirty="0"/>
              <a:t>Workarounds: Arithmetic instead of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4" y="1825625"/>
            <a:ext cx="6167717" cy="4351338"/>
          </a:xfrm>
        </p:spPr>
        <p:txBody>
          <a:bodyPr>
            <a:normAutofit/>
          </a:bodyPr>
          <a:lstStyle/>
          <a:p>
            <a:r>
              <a:rPr lang="en-US" dirty="0"/>
              <a:t>Checks may be replaced with conditional move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sums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-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sums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...</a:t>
            </a:r>
          </a:p>
          <a:p>
            <a:r>
              <a:rPr lang="en-US" dirty="0"/>
              <a:t>CMOV may be faster or slower than branch</a:t>
            </a:r>
          </a:p>
          <a:p>
            <a:r>
              <a:rPr lang="en-US" dirty="0"/>
              <a:t>Disadvantage: bounds errors will now be ignored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9A12-EF7C-4450-AE2D-CE7ED7E0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39</a:t>
            </a:fld>
            <a:endParaRPr lang="en-US"/>
          </a:p>
        </p:txBody>
      </p:sp>
      <p:pic>
        <p:nvPicPr>
          <p:cNvPr id="2050" name="Picture 2" descr="Results">
            <a:extLst>
              <a:ext uri="{FF2B5EF4-FFF2-40B4-BE49-F238E27FC236}">
                <a16:creationId xmlns:a16="http://schemas.microsoft.com/office/drawing/2014/main" id="{5E59DCBA-B43B-4A10-9328-351393A1B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195" y="1503653"/>
            <a:ext cx="5537479" cy="417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8E407-712C-4D31-9C44-720F3D788CEA}"/>
              </a:ext>
            </a:extLst>
          </p:cNvPr>
          <p:cNvSpPr txBox="1"/>
          <p:nvPr/>
        </p:nvSpPr>
        <p:spPr>
          <a:xfrm>
            <a:off x="7639049" y="5618567"/>
            <a:ext cx="4238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https://github.com/marcin-osowski/cmov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78864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6550"/>
            <a:ext cx="11039475" cy="1325563"/>
          </a:xfrm>
        </p:spPr>
        <p:txBody>
          <a:bodyPr/>
          <a:lstStyle/>
          <a:p>
            <a:r>
              <a:rPr lang="en-US" dirty="0"/>
              <a:t>Workarounds: Arithmetic instead of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3750" cy="4351338"/>
          </a:xfrm>
        </p:spPr>
        <p:txBody>
          <a:bodyPr>
            <a:normAutofit/>
          </a:bodyPr>
          <a:lstStyle/>
          <a:p>
            <a:r>
              <a:rPr lang="en-US" dirty="0"/>
              <a:t>Bounds checks may be replaced with masking if length is 2</a:t>
            </a:r>
            <a:r>
              <a:rPr lang="en-US" baseline="30000" dirty="0"/>
              <a:t>N</a:t>
            </a:r>
            <a:r>
              <a:rPr lang="en-US" dirty="0"/>
              <a:t> (or can be padded to 2</a:t>
            </a:r>
            <a:r>
              <a:rPr lang="en-US" baseline="30000" dirty="0"/>
              <a:t>N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LOOKUP_TABLE_SIZE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next_power_of_two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u64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LOOKUP_TABLE_SIZE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...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LOOKUP_TABLE_SIZE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)]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</a:t>
            </a:r>
          </a:p>
          <a:p>
            <a:r>
              <a:rPr lang="en-US" dirty="0"/>
              <a:t>AND is </a:t>
            </a:r>
            <a:r>
              <a:rPr lang="en-US" i="1" dirty="0"/>
              <a:t>usually</a:t>
            </a:r>
            <a:r>
              <a:rPr lang="ru-RU" dirty="0"/>
              <a:t> </a:t>
            </a:r>
            <a:r>
              <a:rPr lang="en-US" dirty="0"/>
              <a:t>faster (e.g. can run on more ALUs in processor)</a:t>
            </a:r>
          </a:p>
          <a:p>
            <a:r>
              <a:rPr lang="en-US" dirty="0"/>
              <a:t>Unfortunately optimization (currently) applicable only to arrays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9A12-EF7C-4450-AE2D-CE7ED7E0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07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9CB7-FD0B-494B-882C-251D3FA6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57CA2-B317-41A7-AD6D-0FDE43C3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20</a:t>
            </a:r>
            <a:r>
              <a:rPr lang="en-US" dirty="0"/>
              <a:t>% of checks in Rust compiler are bounds checks</a:t>
            </a:r>
          </a:p>
          <a:p>
            <a:pPr lvl="1"/>
            <a:r>
              <a:rPr lang="en-US" dirty="0"/>
              <a:t>Based on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analysis of binary code</a:t>
            </a:r>
            <a:endParaRPr lang="en-US" dirty="0"/>
          </a:p>
          <a:p>
            <a:r>
              <a:rPr lang="en-US" dirty="0"/>
              <a:t>In inner loops checks 80% contain only bounds checks</a:t>
            </a:r>
          </a:p>
          <a:p>
            <a:pPr lvl="1"/>
            <a:r>
              <a:rPr lang="en-US" dirty="0"/>
              <a:t>These checks prevent vectorization of surrounding loops</a:t>
            </a:r>
          </a:p>
          <a:p>
            <a:pPr lvl="1"/>
            <a:r>
              <a:rPr lang="en-US" dirty="0"/>
              <a:t>Data collected with</a:t>
            </a:r>
            <a:r>
              <a:rPr lang="ru-RU" dirty="0"/>
              <a:t> </a:t>
            </a:r>
            <a:r>
              <a:rPr lang="en-US" dirty="0">
                <a:hlinkClick r:id="rId3"/>
              </a:rPr>
              <a:t>LLVM plugin</a:t>
            </a:r>
            <a:r>
              <a:rPr lang="en-US" dirty="0"/>
              <a:t> based on </a:t>
            </a:r>
            <a:r>
              <a:rPr lang="en-US" dirty="0" err="1"/>
              <a:t>rustc</a:t>
            </a:r>
            <a:r>
              <a:rPr lang="en-US" dirty="0"/>
              <a:t> and</a:t>
            </a:r>
            <a:r>
              <a:rPr lang="ru-RU" dirty="0"/>
              <a:t> </a:t>
            </a:r>
            <a:r>
              <a:rPr lang="en-US" dirty="0" err="1"/>
              <a:t>oxipng</a:t>
            </a:r>
            <a:r>
              <a:rPr lang="en-US" dirty="0"/>
              <a:t> analysis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F2BE2-C94D-4A7D-82D4-E183CCC7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6F58C-85CE-411B-A2B5-2DD9CF595705}"/>
              </a:ext>
            </a:extLst>
          </p:cNvPr>
          <p:cNvSpPr txBox="1"/>
          <p:nvPr/>
        </p:nvSpPr>
        <p:spPr>
          <a:xfrm>
            <a:off x="322729" y="6069291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Analysis methodology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751A1-5216-46AD-9396-C6EFECB58D83}"/>
              </a:ext>
            </a:extLst>
          </p:cNvPr>
          <p:cNvSpPr txBox="1"/>
          <p:nvPr/>
        </p:nvSpPr>
        <p:spPr>
          <a:xfrm>
            <a:off x="322728" y="643862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Compiler branch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04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9A1-A939-48FE-B1ED-39DD16F7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7" y="298767"/>
            <a:ext cx="10601325" cy="1325563"/>
          </a:xfrm>
        </p:spPr>
        <p:txBody>
          <a:bodyPr/>
          <a:lstStyle/>
          <a:p>
            <a:r>
              <a:rPr lang="en-US" dirty="0"/>
              <a:t>Performance improvement after disabling bounds checks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D499A-96B6-4756-9CEF-600C01A0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F21CD-C45A-4346-AB95-864AEDA812A2}"/>
              </a:ext>
            </a:extLst>
          </p:cNvPr>
          <p:cNvSpPr txBox="1"/>
          <p:nvPr/>
        </p:nvSpPr>
        <p:spPr>
          <a:xfrm>
            <a:off x="9242612" y="1694329"/>
            <a:ext cx="25370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disabled instrumentation in user code and checks in </a:t>
            </a:r>
            <a:r>
              <a:rPr lang="en-US" sz="2000" dirty="0" err="1"/>
              <a:t>stdlib</a:t>
            </a:r>
            <a:r>
              <a:rPr lang="en-US" sz="2000" dirty="0"/>
              <a:t> (containers</a:t>
            </a:r>
            <a:r>
              <a:rPr lang="ru-RU" sz="2000" dirty="0"/>
              <a:t>, </a:t>
            </a:r>
            <a:r>
              <a:rPr lang="en-US" sz="2000" dirty="0"/>
              <a:t>slices, strings, etc.)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F640A-C2E6-4CE4-BB9D-944E55396BEF}"/>
              </a:ext>
            </a:extLst>
          </p:cNvPr>
          <p:cNvSpPr txBox="1"/>
          <p:nvPr/>
        </p:nvSpPr>
        <p:spPr>
          <a:xfrm>
            <a:off x="322728" y="643862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FA9FD-B2C1-4E97-AE55-1E098C003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480" y="1694329"/>
            <a:ext cx="6163234" cy="49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98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Hardened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507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C/C++</a:t>
            </a:r>
            <a:r>
              <a:rPr lang="ru-RU" dirty="0"/>
              <a:t> </a:t>
            </a:r>
            <a:r>
              <a:rPr lang="en-US" dirty="0"/>
              <a:t>provides limited support for memory safety:</a:t>
            </a:r>
          </a:p>
          <a:p>
            <a:pPr lvl="1"/>
            <a:r>
              <a:rPr lang="en-US" dirty="0" err="1"/>
              <a:t>StackProtector</a:t>
            </a:r>
            <a:endParaRPr lang="en-US" dirty="0"/>
          </a:p>
          <a:p>
            <a:pPr lvl="1"/>
            <a:r>
              <a:rPr lang="en-US" dirty="0"/>
              <a:t>_FORTIFY_SOURCE</a:t>
            </a:r>
          </a:p>
          <a:p>
            <a:pPr lvl="1"/>
            <a:r>
              <a:rPr lang="en-US" dirty="0"/>
              <a:t>Hardened STL (C++ only)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fsanitize</a:t>
            </a:r>
            <a:r>
              <a:rPr lang="en-US" dirty="0"/>
              <a:t>=bounds, -</a:t>
            </a:r>
            <a:r>
              <a:rPr lang="en-US" dirty="0" err="1"/>
              <a:t>fsanitize</a:t>
            </a:r>
            <a:r>
              <a:rPr lang="en-US" dirty="0"/>
              <a:t>=object-size</a:t>
            </a:r>
          </a:p>
          <a:p>
            <a:r>
              <a:rPr lang="en-US" dirty="0"/>
              <a:t>Complete, Rust-like correctness checks are impossible due to lack of information about lengths for raw pointers</a:t>
            </a:r>
          </a:p>
          <a:p>
            <a:pPr lvl="1"/>
            <a:r>
              <a:rPr lang="en-US" dirty="0"/>
              <a:t>E.g. only 20% of non-trivial memory accesses in Clang code </a:t>
            </a:r>
            <a:r>
              <a:rPr lang="en-US" dirty="0">
                <a:hlinkClick r:id="rId2"/>
              </a:rPr>
              <a:t>can be checked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C++ Safe Buffers</a:t>
            </a:r>
            <a:r>
              <a:rPr lang="en-US" dirty="0"/>
              <a:t> may solve this but requires non-trivial code </a:t>
            </a:r>
            <a:r>
              <a:rPr lang="en-US" dirty="0" err="1"/>
              <a:t>mofications</a:t>
            </a:r>
            <a:endParaRPr lang="en-US" dirty="0"/>
          </a:p>
          <a:p>
            <a:r>
              <a:rPr lang="en-US" dirty="0"/>
              <a:t>More information:</a:t>
            </a:r>
          </a:p>
          <a:p>
            <a:pPr lvl="1"/>
            <a:r>
              <a:rPr lang="en-US" dirty="0">
                <a:hlinkClick r:id="rId4"/>
              </a:rPr>
              <a:t>Hardening: current status and trends</a:t>
            </a:r>
            <a:r>
              <a:rPr lang="en-US" dirty="0"/>
              <a:t> (C++ Zero Cost 2026)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E9C-1AC0-427A-B43C-401FB1E7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7B85E-6835-48C8-AACE-DE0DD7539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987" y="4522342"/>
            <a:ext cx="2909706" cy="1325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8BA17D-B545-4702-BC29-CA69AE6B51EB}"/>
              </a:ext>
            </a:extLst>
          </p:cNvPr>
          <p:cNvSpPr txBox="1"/>
          <p:nvPr/>
        </p:nvSpPr>
        <p:spPr>
          <a:xfrm>
            <a:off x="8526669" y="2673525"/>
            <a:ext cx="3180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Mario </a:t>
            </a:r>
            <a:r>
              <a:rPr lang="en-US" sz="1200" dirty="0" err="1"/>
              <a:t>Simoes</a:t>
            </a:r>
            <a:r>
              <a:rPr lang="en-US" sz="1200" dirty="0"/>
              <a:t>, </a:t>
            </a:r>
            <a:r>
              <a:rPr lang="en-US" sz="1200" dirty="0">
                <a:hlinkClick r:id="rId6"/>
              </a:rPr>
              <a:t>https://snl.no/Mount_Everest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996D1D-0526-4FCA-A822-1B54E240E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279" y="1541337"/>
            <a:ext cx="3409123" cy="19176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4FA10-C08A-4CE1-A8CC-1627ADCD3558}"/>
              </a:ext>
            </a:extLst>
          </p:cNvPr>
          <p:cNvSpPr txBox="1"/>
          <p:nvPr/>
        </p:nvSpPr>
        <p:spPr>
          <a:xfrm>
            <a:off x="126739" y="6492875"/>
            <a:ext cx="3180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Mario </a:t>
            </a:r>
            <a:r>
              <a:rPr lang="en-US" sz="1200" dirty="0" err="1"/>
              <a:t>Simoes</a:t>
            </a:r>
            <a:r>
              <a:rPr lang="en-US" sz="1200" dirty="0"/>
              <a:t>, </a:t>
            </a:r>
            <a:r>
              <a:rPr lang="en-US" sz="1200" dirty="0">
                <a:hlinkClick r:id="rId6"/>
              </a:rPr>
              <a:t>https://snl.no/Mount_Everest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4532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E8C9A518-2F18-43CF-9834-C577EB57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7"/>
            <a:ext cx="10515600" cy="1325563"/>
          </a:xfrm>
        </p:spPr>
        <p:txBody>
          <a:bodyPr/>
          <a:lstStyle/>
          <a:p>
            <a:r>
              <a:rPr lang="en-US" dirty="0"/>
              <a:t>Rust vs. Hardened C++</a:t>
            </a:r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92A36EF2-7246-4B5A-B610-2CAD0462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C0160C7-74EC-4178-99AC-60BDA62A8651}" type="slidenum">
              <a:rPr lang="en-US" smtClean="0"/>
              <a:t>44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E1BBC3-361E-4AFC-A787-F452EE9CA219}"/>
              </a:ext>
            </a:extLst>
          </p:cNvPr>
          <p:cNvSpPr txBox="1"/>
          <p:nvPr/>
        </p:nvSpPr>
        <p:spPr>
          <a:xfrm>
            <a:off x="618564" y="1547417"/>
            <a:ext cx="5477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BEDD68-5C47-4B72-928B-221D1A011A7C}"/>
              </a:ext>
            </a:extLst>
          </p:cNvPr>
          <p:cNvSpPr txBox="1"/>
          <p:nvPr/>
        </p:nvSpPr>
        <p:spPr>
          <a:xfrm>
            <a:off x="653300" y="3687474"/>
            <a:ext cx="57015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push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[rip + .Lanon.1]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call    qword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[rip +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panic_bounds_check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9FC58C-C205-4CFD-AA5D-1D3BD428FD41}"/>
              </a:ext>
            </a:extLst>
          </p:cNvPr>
          <p:cNvSpPr txBox="1"/>
          <p:nvPr/>
        </p:nvSpPr>
        <p:spPr>
          <a:xfrm>
            <a:off x="7112654" y="1456606"/>
            <a:ext cx="4717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extern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“C”</a:t>
            </a: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44ACD6-D57D-4476-AE78-5CB15BB7F77E}"/>
              </a:ext>
            </a:extLst>
          </p:cNvPr>
          <p:cNvSpPr txBox="1"/>
          <p:nvPr/>
        </p:nvSpPr>
        <p:spPr>
          <a:xfrm>
            <a:off x="6869767" y="3687474"/>
            <a:ext cx="52034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.LFB821: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jnb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.L3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DWORD PTR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rdi+rdx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*4]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foo.cold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.L3: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push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call    std::__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glibcxx_assert_fail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666CF0-FEC7-4836-9210-999A42A68622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3357281" y="2378414"/>
            <a:ext cx="1" cy="130906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97EC84-9F41-4F06-8412-66544FD91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9471491" y="2533824"/>
            <a:ext cx="1" cy="107242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B7905F-5E43-490E-BD70-FA7A1071C505}"/>
              </a:ext>
            </a:extLst>
          </p:cNvPr>
          <p:cNvSpPr txBox="1"/>
          <p:nvPr/>
        </p:nvSpPr>
        <p:spPr>
          <a:xfrm>
            <a:off x="755557" y="2852101"/>
            <a:ext cx="2387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rustc</a:t>
            </a:r>
            <a:r>
              <a:rPr lang="en-US" dirty="0"/>
              <a:t> -O -</a:t>
            </a:r>
            <a:r>
              <a:rPr lang="en-US" dirty="0" err="1"/>
              <a:t>Cpanic</a:t>
            </a:r>
            <a:r>
              <a:rPr lang="en-US" dirty="0"/>
              <a:t>=abort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E81FD0-E6C4-479F-A7F6-7C9B83D90732}"/>
              </a:ext>
            </a:extLst>
          </p:cNvPr>
          <p:cNvSpPr txBox="1"/>
          <p:nvPr/>
        </p:nvSpPr>
        <p:spPr>
          <a:xfrm>
            <a:off x="6081712" y="2882423"/>
            <a:ext cx="34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gcc</a:t>
            </a:r>
            <a:r>
              <a:rPr lang="en-US" dirty="0"/>
              <a:t> -O2 -D_GLIBCXX_ASSERTIONS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8B7791-BBF7-465A-BDFB-AB5996AD83B0}"/>
              </a:ext>
            </a:extLst>
          </p:cNvPr>
          <p:cNvSpPr txBox="1"/>
          <p:nvPr/>
        </p:nvSpPr>
        <p:spPr>
          <a:xfrm>
            <a:off x="3504077" y="2694583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https://godbolt.org/z/jGT6adEYM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1D8851-019E-4D0F-B7CD-2A85D7C8611D}"/>
              </a:ext>
            </a:extLst>
          </p:cNvPr>
          <p:cNvSpPr txBox="1"/>
          <p:nvPr/>
        </p:nvSpPr>
        <p:spPr>
          <a:xfrm>
            <a:off x="9738180" y="2692049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https://godbolt.org/z/6MG5vdefK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078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9A1-A939-48FE-B1ED-39DD16F7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Overheads in Hardened C++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D499A-96B6-4756-9CEF-600C01A0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16D31-C090-4E25-AE04-468A4088B229}"/>
              </a:ext>
            </a:extLst>
          </p:cNvPr>
          <p:cNvSpPr txBox="1"/>
          <p:nvPr/>
        </p:nvSpPr>
        <p:spPr>
          <a:xfrm>
            <a:off x="838200" y="5338583"/>
            <a:ext cx="3895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Unexpected performance improvements due to optimizer anomalies (bad vectorization, enabled </a:t>
            </a:r>
            <a:r>
              <a:rPr lang="en-US" sz="1600" dirty="0" err="1"/>
              <a:t>inlining</a:t>
            </a:r>
            <a:r>
              <a:rPr lang="en-US" sz="1600" dirty="0"/>
              <a:t>, etc.)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E08B15-7831-4763-A8CA-9907577CE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37" y="1928625"/>
            <a:ext cx="11473704" cy="305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23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DE64-8D87-4928-98EF-5C314A18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0330-319B-4265-9CB4-93175ABC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Bounds checks in Rust are applied much more aggressively than in Hardened C/C++</a:t>
            </a:r>
          </a:p>
          <a:p>
            <a:pPr lvl="1"/>
            <a:r>
              <a:rPr lang="en-US" dirty="0"/>
              <a:t>Hardened C/C++</a:t>
            </a:r>
            <a:r>
              <a:rPr lang="ru-RU" dirty="0"/>
              <a:t> </a:t>
            </a:r>
            <a:r>
              <a:rPr lang="en-US" dirty="0"/>
              <a:t>checks </a:t>
            </a:r>
            <a:r>
              <a:rPr lang="ru-RU" dirty="0"/>
              <a:t>5</a:t>
            </a:r>
            <a:r>
              <a:rPr lang="en-US" dirty="0"/>
              <a:t>x accesses than Rust</a:t>
            </a:r>
            <a:endParaRPr lang="ru-RU" dirty="0"/>
          </a:p>
          <a:p>
            <a:r>
              <a:rPr lang="en-US" dirty="0"/>
              <a:t>Overheads may reach </a:t>
            </a:r>
            <a:r>
              <a:rPr lang="ru-RU" dirty="0"/>
              <a:t>3-4%</a:t>
            </a:r>
            <a:r>
              <a:rPr lang="en-US" dirty="0"/>
              <a:t> (and are comparable to Hardened C/C++</a:t>
            </a:r>
            <a:r>
              <a:rPr lang="ru-RU" dirty="0"/>
              <a:t>)</a:t>
            </a:r>
          </a:p>
          <a:p>
            <a:pPr lvl="1"/>
            <a:r>
              <a:rPr lang="en-US" dirty="0"/>
              <a:t>But some tests may degrade by 10% and more (same applies to Hardened C/C++)</a:t>
            </a:r>
          </a:p>
          <a:p>
            <a:r>
              <a:rPr lang="en-US" dirty="0"/>
              <a:t>There are many ways to avoid checks in hot code</a:t>
            </a:r>
          </a:p>
          <a:p>
            <a:pPr lvl="1"/>
            <a:r>
              <a:rPr lang="en-US" dirty="0"/>
              <a:t>Some of them won’t be needed if delayed panics are finally implemented (</a:t>
            </a:r>
            <a:r>
              <a:rPr lang="en-US" dirty="0">
                <a:hlinkClick r:id="rId2"/>
              </a:rPr>
              <a:t>rust #50759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CD42-7D07-42C8-AE40-84900801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1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B0DE-4C05-402A-8637-FC6BA69E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DFC6-7019-40AC-8B90-DDCFB759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How to avoid bounds checks in Rust without unsafe</a:t>
            </a:r>
            <a:r>
              <a:rPr lang="en-US" dirty="0"/>
              <a:t> (Sergey Davidoff aka </a:t>
            </a:r>
            <a:r>
              <a:rPr lang="en-US" dirty="0" err="1"/>
              <a:t>Shnatsel</a:t>
            </a:r>
            <a:r>
              <a:rPr lang="en-US" dirty="0"/>
              <a:t>, Rust Secure WG lead)</a:t>
            </a:r>
          </a:p>
          <a:p>
            <a:pPr lvl="1"/>
            <a:r>
              <a:rPr lang="en-US" dirty="0"/>
              <a:t>“Bible” of bounds check elimination</a:t>
            </a:r>
          </a:p>
          <a:p>
            <a:r>
              <a:rPr lang="en-US" dirty="0">
                <a:hlinkClick r:id="rId3"/>
              </a:rPr>
              <a:t>Story-time: C++, bounds checking, performance, and compilers</a:t>
            </a:r>
            <a:r>
              <a:rPr lang="en-US" dirty="0"/>
              <a:t> (Chandler Carruth, SW foundations &amp; PLs technical lead, creator of Carbon language)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441FE-F429-4B2E-9ABE-586760B0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58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8E61-48B6-4351-B51D-7CE0FB07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8F657-411A-41C1-A3CC-2B166A303859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84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9249-37A4-4BB2-8505-8B46470D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8151-D0CD-491B-946E-15212099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Universal feature in programming languages</a:t>
            </a:r>
            <a:endParaRPr lang="ru-RU" dirty="0"/>
          </a:p>
          <a:p>
            <a:r>
              <a:rPr lang="en-US" dirty="0"/>
              <a:t>Can two different references </a:t>
            </a:r>
            <a:r>
              <a:rPr lang="ru-RU" dirty="0"/>
              <a:t>(</a:t>
            </a:r>
            <a:r>
              <a:rPr lang="en-US" dirty="0"/>
              <a:t>pointers</a:t>
            </a:r>
            <a:r>
              <a:rPr lang="ru-RU" dirty="0"/>
              <a:t>) </a:t>
            </a:r>
            <a:r>
              <a:rPr lang="en-US" dirty="0"/>
              <a:t>address same object in program?</a:t>
            </a:r>
          </a:p>
          <a:p>
            <a:r>
              <a:rPr lang="en-US" dirty="0"/>
              <a:t>Different languages make different choices:</a:t>
            </a:r>
          </a:p>
          <a:p>
            <a:pPr lvl="1"/>
            <a:r>
              <a:rPr lang="en-US" dirty="0"/>
              <a:t>No two pointers in program may refer to same data (e.g. Fortran 77)</a:t>
            </a:r>
            <a:endParaRPr lang="ru-RU" dirty="0"/>
          </a:p>
          <a:p>
            <a:pPr lvl="1"/>
            <a:r>
              <a:rPr lang="en-US" dirty="0"/>
              <a:t>Any two pointers may address same data (e.g. pre-C89)</a:t>
            </a:r>
          </a:p>
          <a:p>
            <a:pPr lvl="1"/>
            <a:r>
              <a:rPr lang="en-US" dirty="0"/>
              <a:t>Intermediate variants</a:t>
            </a:r>
          </a:p>
          <a:p>
            <a:pPr lvl="2"/>
            <a:r>
              <a:rPr lang="en-US" dirty="0"/>
              <a:t>E.g. strict (type-based) aliasing in C89 and restrict annotations in C99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33C7B-340C-4F20-A332-387A60CC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18C2BD9-15F2-4A8A-9CD3-8789A73EE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9331" y="253066"/>
            <a:ext cx="2144093" cy="205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1C55DD-E571-4DB5-A07E-5C019A197696}"/>
              </a:ext>
            </a:extLst>
          </p:cNvPr>
          <p:cNvSpPr txBox="1"/>
          <p:nvPr/>
        </p:nvSpPr>
        <p:spPr>
          <a:xfrm>
            <a:off x="62753" y="6504641"/>
            <a:ext cx="465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https://commons.wikimedia.org/wiki/File:Hercules_slaying_the_Hydra.gif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16376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C768-9F03-45EB-A999-97F2D406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-169352"/>
            <a:ext cx="10515600" cy="1325563"/>
          </a:xfrm>
        </p:spPr>
        <p:txBody>
          <a:bodyPr/>
          <a:lstStyle/>
          <a:p>
            <a:r>
              <a:rPr lang="en-US" dirty="0"/>
              <a:t>Why aliasing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C3962-3A46-46BC-8044-5E039A931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132234"/>
            <a:ext cx="10515600" cy="28083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Unlimited aliasing is convenient for developer but reduces optimization opportunities for compiler</a:t>
            </a:r>
            <a:endParaRPr lang="ru-RU" dirty="0"/>
          </a:p>
          <a:p>
            <a:r>
              <a:rPr lang="en-US" dirty="0"/>
              <a:t>Reduced aliasing enables many optimizations</a:t>
            </a:r>
          </a:p>
          <a:p>
            <a:pPr lvl="1"/>
            <a:r>
              <a:rPr lang="en-US" dirty="0"/>
              <a:t>E.g. vectorizers</a:t>
            </a:r>
            <a:r>
              <a:rPr lang="ru-RU" dirty="0"/>
              <a:t>,</a:t>
            </a:r>
            <a:r>
              <a:rPr lang="en-US" dirty="0"/>
              <a:t> CSE,</a:t>
            </a:r>
            <a:r>
              <a:rPr lang="ru-RU" dirty="0"/>
              <a:t> </a:t>
            </a:r>
            <a:r>
              <a:rPr lang="en-US" dirty="0"/>
              <a:t>GVN, LICM, DSE, etc.</a:t>
            </a:r>
          </a:p>
          <a:p>
            <a:pPr lvl="1"/>
            <a:r>
              <a:rPr lang="en-US" dirty="0"/>
              <a:t>Even used in CPU (for speculative execution of loads)</a:t>
            </a:r>
            <a:endParaRPr lang="ru-RU" dirty="0"/>
          </a:p>
          <a:p>
            <a:r>
              <a:rPr lang="en-US" dirty="0"/>
              <a:t>Alias Analysis is one of the main components of any mature compiler</a:t>
            </a:r>
          </a:p>
          <a:p>
            <a:pPr lvl="1"/>
            <a:r>
              <a:rPr lang="en-US" dirty="0"/>
              <a:t>Identifies pointers that</a:t>
            </a:r>
            <a:r>
              <a:rPr lang="ru-RU" dirty="0"/>
              <a:t> </a:t>
            </a:r>
            <a:r>
              <a:rPr lang="en-US" dirty="0"/>
              <a:t>may (or may not)</a:t>
            </a:r>
            <a:r>
              <a:rPr lang="ru-RU" dirty="0"/>
              <a:t> </a:t>
            </a:r>
            <a:r>
              <a:rPr lang="en-US" dirty="0"/>
              <a:t>alias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5358-E7B4-4749-8C2C-BDF37FD6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5A0A7-A29E-4732-A125-E0A8EF18F69B}"/>
              </a:ext>
            </a:extLst>
          </p:cNvPr>
          <p:cNvSpPr txBox="1"/>
          <p:nvPr/>
        </p:nvSpPr>
        <p:spPr>
          <a:xfrm>
            <a:off x="932891" y="4011097"/>
            <a:ext cx="57346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alias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F8835-4FBA-481B-A2A5-4B3C8B225FDC}"/>
              </a:ext>
            </a:extLst>
          </p:cNvPr>
          <p:cNvSpPr txBox="1"/>
          <p:nvPr/>
        </p:nvSpPr>
        <p:spPr>
          <a:xfrm>
            <a:off x="7495054" y="4011098"/>
            <a:ext cx="38587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alias: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DWORD PTR [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460FCA-E2E6-4874-9C2C-8300E390BE9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667501" y="5411481"/>
            <a:ext cx="827553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2498942-3B20-4D7E-A38D-EA2C799D4DCB}"/>
              </a:ext>
            </a:extLst>
          </p:cNvPr>
          <p:cNvSpPr txBox="1"/>
          <p:nvPr/>
        </p:nvSpPr>
        <p:spPr>
          <a:xfrm>
            <a:off x="4446494" y="5826979"/>
            <a:ext cx="233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https://godbolt.org/z/nqdax4vEP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859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6F3F-7D8F-44CD-9745-A9F855E4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 analysis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8D20E-A837-448A-B03C-F32932D8F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Precise </a:t>
            </a:r>
            <a:r>
              <a:rPr lang="en-US" i="1" dirty="0"/>
              <a:t>intra</a:t>
            </a:r>
            <a:r>
              <a:rPr lang="en-US" dirty="0"/>
              <a:t>procedural alias analysis is</a:t>
            </a:r>
          </a:p>
          <a:p>
            <a:pPr lvl="1"/>
            <a:r>
              <a:rPr lang="en-US" dirty="0"/>
              <a:t>NP-complete</a:t>
            </a:r>
            <a:r>
              <a:rPr lang="ru-RU" dirty="0"/>
              <a:t> </a:t>
            </a:r>
            <a:r>
              <a:rPr lang="en-US" dirty="0"/>
              <a:t>without dynamic allocations (</a:t>
            </a:r>
            <a:r>
              <a:rPr lang="en-US" dirty="0">
                <a:hlinkClick r:id="rId2"/>
              </a:rPr>
              <a:t>Pointer-induced aliasing</a:t>
            </a:r>
            <a:r>
              <a:rPr lang="en-US" dirty="0"/>
              <a:t>, 1991)</a:t>
            </a:r>
            <a:endParaRPr lang="ru-RU" dirty="0"/>
          </a:p>
          <a:p>
            <a:pPr lvl="1"/>
            <a:r>
              <a:rPr lang="en-US" dirty="0"/>
              <a:t>Undecidable otherwise (</a:t>
            </a:r>
            <a:r>
              <a:rPr lang="en-US" dirty="0">
                <a:hlinkClick r:id="rId3"/>
              </a:rPr>
              <a:t>Undecidability of static analysis</a:t>
            </a:r>
            <a:r>
              <a:rPr lang="en-US" dirty="0"/>
              <a:t>, 1992)</a:t>
            </a:r>
          </a:p>
          <a:p>
            <a:r>
              <a:rPr lang="en-US" dirty="0"/>
              <a:t>Aliasing is very rare in real programs</a:t>
            </a:r>
          </a:p>
          <a:p>
            <a:pPr lvl="1"/>
            <a:r>
              <a:rPr lang="en-US" dirty="0"/>
              <a:t>98% of pointers in SPEC benchmarks address only one object</a:t>
            </a:r>
            <a:endParaRPr lang="ru-RU" dirty="0"/>
          </a:p>
          <a:p>
            <a:pPr lvl="2"/>
            <a:r>
              <a:rPr lang="en-US" dirty="0">
                <a:hlinkClick r:id="rId4"/>
              </a:rPr>
              <a:t>Dynamic Points-To Sets</a:t>
            </a:r>
            <a:r>
              <a:rPr lang="ru-RU" dirty="0"/>
              <a:t> (</a:t>
            </a:r>
            <a:r>
              <a:rPr lang="en-US" dirty="0"/>
              <a:t>Mock et al., 2001)</a:t>
            </a:r>
            <a:endParaRPr lang="ru-RU" dirty="0"/>
          </a:p>
          <a:p>
            <a:r>
              <a:rPr lang="en-US" dirty="0"/>
              <a:t>Existing alias analyses are conservative and overestimate aliasing 1.5-20x</a:t>
            </a:r>
          </a:p>
          <a:p>
            <a:pPr lvl="1"/>
            <a:r>
              <a:rPr lang="en-US" dirty="0">
                <a:hlinkClick r:id="rId4"/>
              </a:rPr>
              <a:t>Dynamic Points-To Sets</a:t>
            </a:r>
            <a:r>
              <a:rPr lang="ru-RU" dirty="0"/>
              <a:t> (</a:t>
            </a:r>
            <a:r>
              <a:rPr lang="en-US" dirty="0"/>
              <a:t>Mock et al., 2001)</a:t>
            </a:r>
            <a:endParaRPr lang="ru-RU" dirty="0"/>
          </a:p>
          <a:p>
            <a:pPr lvl="1"/>
            <a:r>
              <a:rPr lang="en-US" dirty="0">
                <a:hlinkClick r:id="rId5"/>
              </a:rPr>
              <a:t>Speculative Alias Analysis for Executable Code</a:t>
            </a:r>
            <a:r>
              <a:rPr lang="en-US" dirty="0"/>
              <a:t> (Fernandez et al., 2002)</a:t>
            </a:r>
          </a:p>
          <a:p>
            <a:pPr lvl="1"/>
            <a:r>
              <a:rPr lang="en-US" dirty="0">
                <a:hlinkClick r:id="rId6"/>
              </a:rPr>
              <a:t>ORAQL — Optimistic Responses to Alias Queries in LLVM</a:t>
            </a:r>
            <a:r>
              <a:rPr lang="en-US" dirty="0"/>
              <a:t> (</a:t>
            </a:r>
            <a:r>
              <a:rPr lang="en-US" dirty="0" err="1"/>
              <a:t>Doerfert</a:t>
            </a:r>
            <a:r>
              <a:rPr lang="en-US" dirty="0"/>
              <a:t> et al., 2023)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FD291-5D9C-42B9-BE79-497DD737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03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6CA-4CAD-4640-858E-8B9921A8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in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46FD-E26A-49FC-83BD-BEB328B1D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9450" cy="4351338"/>
          </a:xfrm>
        </p:spPr>
        <p:txBody>
          <a:bodyPr>
            <a:normAutofit/>
          </a:bodyPr>
          <a:lstStyle/>
          <a:p>
            <a:r>
              <a:rPr lang="en-US" dirty="0"/>
              <a:t>Limitations imposes by Borrow checker simplify alias analysis:</a:t>
            </a:r>
          </a:p>
          <a:p>
            <a:pPr lvl="1"/>
            <a:r>
              <a:rPr lang="en-US" dirty="0"/>
              <a:t>Mutable reference may not alias any other (mutable or shared) reference</a:t>
            </a:r>
          </a:p>
          <a:p>
            <a:pPr lvl="1"/>
            <a:r>
              <a:rPr lang="en-US" dirty="0"/>
              <a:t>While it exists, mutable reference is the only pointer to object</a:t>
            </a:r>
          </a:p>
          <a:p>
            <a:pPr lvl="1"/>
            <a:r>
              <a:rPr lang="en-US" dirty="0"/>
              <a:t>Object addressed by shared reference may not be changed while reference exists</a:t>
            </a:r>
          </a:p>
          <a:p>
            <a:r>
              <a:rPr lang="en-US" dirty="0"/>
              <a:t>In practice this achieves similar effect as restrict in C/C++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9A51-24D0-4249-B45E-3C9FD8CB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B1B2A-90AD-47D1-B022-CD1DC8848EE0}"/>
              </a:ext>
            </a:extLst>
          </p:cNvPr>
          <p:cNvSpPr txBox="1"/>
          <p:nvPr/>
        </p:nvSpPr>
        <p:spPr>
          <a:xfrm>
            <a:off x="8096250" y="531158"/>
            <a:ext cx="3848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7A8BE-4CF2-4035-85AD-C171F66B7089}"/>
              </a:ext>
            </a:extLst>
          </p:cNvPr>
          <p:cNvSpPr txBox="1"/>
          <p:nvPr/>
        </p:nvSpPr>
        <p:spPr>
          <a:xfrm>
            <a:off x="8143875" y="2458323"/>
            <a:ext cx="3752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define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@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store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store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2D2BA5-26C1-413B-A740-4FA11A811EDE}"/>
              </a:ext>
            </a:extLst>
          </p:cNvPr>
          <p:cNvSpPr txBox="1"/>
          <p:nvPr/>
        </p:nvSpPr>
        <p:spPr>
          <a:xfrm>
            <a:off x="8043862" y="4545836"/>
            <a:ext cx="39528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ret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C44FEE-6129-4111-A78D-C8596E1E8FD0}"/>
              </a:ext>
            </a:extLst>
          </p:cNvPr>
          <p:cNvCxnSpPr>
            <a:cxnSpLocks/>
          </p:cNvCxnSpPr>
          <p:nvPr/>
        </p:nvCxnSpPr>
        <p:spPr>
          <a:xfrm>
            <a:off x="10020300" y="1643156"/>
            <a:ext cx="0" cy="63269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92B5B5-5B91-48C9-A745-75F3DE3C7AB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020300" y="4069976"/>
            <a:ext cx="0" cy="47586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00D7F0-B213-4B29-B6F2-61E0C705A9D7}"/>
              </a:ext>
            </a:extLst>
          </p:cNvPr>
          <p:cNvSpPr txBox="1"/>
          <p:nvPr/>
        </p:nvSpPr>
        <p:spPr>
          <a:xfrm>
            <a:off x="8586227" y="6003676"/>
            <a:ext cx="2357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https://godbolt.org/z/6WoTzoo5v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135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3DC2-01D3-472B-9151-936A2935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0A3D-FF36-4404-AB04-9D1125AC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9475" cy="4351338"/>
          </a:xfrm>
        </p:spPr>
        <p:txBody>
          <a:bodyPr>
            <a:normAutofit/>
          </a:bodyPr>
          <a:lstStyle/>
          <a:p>
            <a:r>
              <a:rPr lang="en-US" dirty="0"/>
              <a:t>Information about aliasing is represented via </a:t>
            </a:r>
            <a:r>
              <a:rPr lang="en-US" dirty="0" err="1"/>
              <a:t>noalias</a:t>
            </a:r>
            <a:r>
              <a:rPr lang="en-US" dirty="0"/>
              <a:t> attribute in function arguments</a:t>
            </a:r>
          </a:p>
          <a:p>
            <a:pPr lvl="1"/>
            <a:r>
              <a:rPr lang="en-US" dirty="0"/>
              <a:t>References that appear </a:t>
            </a:r>
            <a:r>
              <a:rPr lang="en-US" i="1" dirty="0"/>
              <a:t>inside </a:t>
            </a:r>
            <a:r>
              <a:rPr lang="en-US" dirty="0"/>
              <a:t>functions are not marked and can alias from LLVM standpoint</a:t>
            </a:r>
          </a:p>
          <a:p>
            <a:r>
              <a:rPr lang="en-US" dirty="0"/>
              <a:t>May be solved via </a:t>
            </a:r>
            <a:r>
              <a:rPr lang="en-US" dirty="0" err="1">
                <a:hlinkClick r:id="rId2"/>
              </a:rPr>
              <a:t>alias.scope</a:t>
            </a:r>
            <a:r>
              <a:rPr lang="en-US" dirty="0">
                <a:hlinkClick r:id="rId2"/>
              </a:rPr>
              <a:t> metadata</a:t>
            </a:r>
            <a:r>
              <a:rPr lang="en-US" dirty="0"/>
              <a:t> in future (</a:t>
            </a:r>
            <a:r>
              <a:rPr lang="en-US" dirty="0">
                <a:hlinkClick r:id="rId3"/>
              </a:rPr>
              <a:t>#16515</a:t>
            </a:r>
            <a:r>
              <a:rPr lang="en-US" dirty="0"/>
              <a:t>)</a:t>
            </a:r>
          </a:p>
          <a:p>
            <a:r>
              <a:rPr lang="en-US" dirty="0"/>
              <a:t>Workaround: create dummy</a:t>
            </a:r>
            <a:r>
              <a:rPr lang="ru-RU" dirty="0"/>
              <a:t>-</a:t>
            </a:r>
            <a:r>
              <a:rPr lang="en-US" dirty="0"/>
              <a:t>functions</a:t>
            </a:r>
            <a:r>
              <a:rPr lang="ru-RU" dirty="0"/>
              <a:t> </a:t>
            </a:r>
            <a:r>
              <a:rPr lang="en-US" dirty="0"/>
              <a:t>specifically for </a:t>
            </a:r>
            <a:r>
              <a:rPr lang="en-US" dirty="0" err="1"/>
              <a:t>noalias</a:t>
            </a:r>
            <a:r>
              <a:rPr lang="en-US" dirty="0"/>
              <a:t> annotations</a:t>
            </a:r>
          </a:p>
          <a:p>
            <a:pPr lvl="1"/>
            <a:r>
              <a:rPr lang="en-US" dirty="0"/>
              <a:t>Example:</a:t>
            </a:r>
            <a:r>
              <a:rPr lang="ru-RU" dirty="0"/>
              <a:t> </a:t>
            </a:r>
            <a:r>
              <a:rPr lang="en-US" dirty="0" err="1">
                <a:hlinkClick r:id="rId4"/>
              </a:rPr>
              <a:t>rustc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F96B0-A3A2-4B7E-900F-9044BAC6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6C026-28A1-4716-BF50-E1E56117FCB9}"/>
              </a:ext>
            </a:extLst>
          </p:cNvPr>
          <p:cNvSpPr txBox="1"/>
          <p:nvPr/>
        </p:nvSpPr>
        <p:spPr>
          <a:xfrm>
            <a:off x="8286751" y="1325568"/>
            <a:ext cx="37147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C1C39-8C7A-4F24-8DAD-1C6E0122F876}"/>
              </a:ext>
            </a:extLst>
          </p:cNvPr>
          <p:cNvSpPr txBox="1"/>
          <p:nvPr/>
        </p:nvSpPr>
        <p:spPr>
          <a:xfrm>
            <a:off x="8259855" y="3940975"/>
            <a:ext cx="38245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2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ret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0DEE58-15BC-44E0-92D1-8A19F2D02A2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0172139" y="3429000"/>
            <a:ext cx="0" cy="51197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E9476F-F852-4135-A9C7-C4DC24436972}"/>
              </a:ext>
            </a:extLst>
          </p:cNvPr>
          <p:cNvSpPr txBox="1"/>
          <p:nvPr/>
        </p:nvSpPr>
        <p:spPr>
          <a:xfrm>
            <a:off x="8497980" y="5695638"/>
            <a:ext cx="2277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https://godbolt.org/z/WjY9rxex7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848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0DFE-523B-4E6C-B58A-2D327C5F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1C8B-47E1-4580-A0CB-850D105F2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5625" cy="4351338"/>
          </a:xfrm>
        </p:spPr>
        <p:txBody>
          <a:bodyPr/>
          <a:lstStyle/>
          <a:p>
            <a:r>
              <a:rPr lang="en-US" dirty="0"/>
              <a:t>One case of above problem is aliasing of references to structure fields</a:t>
            </a:r>
            <a:endParaRPr lang="ru-RU" dirty="0"/>
          </a:p>
          <a:p>
            <a:r>
              <a:rPr lang="en-US" dirty="0"/>
              <a:t>E.g. when passing two vectors to function compiler fails to understand that their buffers do not alias</a:t>
            </a:r>
            <a:endParaRPr lang="ru-RU" dirty="0"/>
          </a:p>
          <a:p>
            <a:r>
              <a:rPr lang="en-US" dirty="0"/>
              <a:t>Workaround: pass raw slices to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84024-4D76-4236-8B68-69F588C7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4D926-8409-43D2-81FA-C4C3B3F158C7}"/>
              </a:ext>
            </a:extLst>
          </p:cNvPr>
          <p:cNvSpPr txBox="1"/>
          <p:nvPr/>
        </p:nvSpPr>
        <p:spPr>
          <a:xfrm>
            <a:off x="7829550" y="1428750"/>
            <a:ext cx="40290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3A6FB-3CC4-41EE-8F5D-7DB26EFAD93E}"/>
              </a:ext>
            </a:extLst>
          </p:cNvPr>
          <p:cNvSpPr txBox="1"/>
          <p:nvPr/>
        </p:nvSpPr>
        <p:spPr>
          <a:xfrm>
            <a:off x="8029574" y="3782913"/>
            <a:ext cx="36290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06FB62-C6E5-4AEF-BBA7-53DC3E244B09}"/>
              </a:ext>
            </a:extLst>
          </p:cNvPr>
          <p:cNvCxnSpPr>
            <a:cxnSpLocks/>
          </p:cNvCxnSpPr>
          <p:nvPr/>
        </p:nvCxnSpPr>
        <p:spPr>
          <a:xfrm flipH="1">
            <a:off x="9844086" y="3084612"/>
            <a:ext cx="1" cy="53828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546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259C-7A36-4765-BA29-59802A6C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DADD1-7E79-46BE-8E20-8739895F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Aliasing rules apply only to references</a:t>
            </a:r>
            <a:endParaRPr lang="ru-RU" dirty="0"/>
          </a:p>
          <a:p>
            <a:r>
              <a:rPr lang="en-US" dirty="0"/>
              <a:t>Raw pointers will still alias in Rust</a:t>
            </a:r>
            <a:endParaRPr lang="ru-RU" dirty="0"/>
          </a:p>
          <a:p>
            <a:pPr lvl="1"/>
            <a:r>
              <a:rPr lang="en-US" dirty="0"/>
              <a:t>This is worse than in C/C++ due to lack of strict aliasing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C975B-B888-4AD8-89D6-1DA0B022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94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CB7C-7BB2-497D-AB38-7DDF8E09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Rust aliasing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0ADC-B477-493E-9705-8D57080C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AB8DB-3BE3-47E9-AAD9-0331EBFD79D5}"/>
              </a:ext>
            </a:extLst>
          </p:cNvPr>
          <p:cNvSpPr txBox="1"/>
          <p:nvPr/>
        </p:nvSpPr>
        <p:spPr>
          <a:xfrm>
            <a:off x="228039" y="6119336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Analysis methodology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5875B-D97C-4E55-905D-4FD2A00A6F20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Compiler branch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40907-6395-4836-80B1-734F50EA6DEA}"/>
              </a:ext>
            </a:extLst>
          </p:cNvPr>
          <p:cNvSpPr txBox="1"/>
          <p:nvPr/>
        </p:nvSpPr>
        <p:spPr>
          <a:xfrm>
            <a:off x="9820275" y="2098577"/>
            <a:ext cx="21050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of alias analysis </a:t>
            </a:r>
            <a:r>
              <a:rPr lang="ru-RU" dirty="0"/>
              <a:t>– </a:t>
            </a:r>
            <a:r>
              <a:rPr lang="en-US" dirty="0"/>
              <a:t>number of pointer pairs for which analysis could give definite answer </a:t>
            </a:r>
            <a:r>
              <a:rPr lang="ru-RU" dirty="0"/>
              <a:t>(</a:t>
            </a:r>
            <a:r>
              <a:rPr lang="en-US" dirty="0" err="1"/>
              <a:t>MustAlias</a:t>
            </a:r>
            <a:r>
              <a:rPr lang="en-US" dirty="0"/>
              <a:t> / </a:t>
            </a:r>
            <a:r>
              <a:rPr lang="en-US" dirty="0" err="1"/>
              <a:t>NoAlias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1DB5B-563D-41B9-AA77-FFB932CEFCE8}"/>
              </a:ext>
            </a:extLst>
          </p:cNvPr>
          <p:cNvSpPr txBox="1"/>
          <p:nvPr/>
        </p:nvSpPr>
        <p:spPr>
          <a:xfrm>
            <a:off x="1419224" y="5604986"/>
            <a:ext cx="802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Degradation of alias analysis precision in Rust after turning of reference rules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6E53B8-1D57-4A29-84C7-72C302282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" y="1690688"/>
            <a:ext cx="8915961" cy="37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947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8189-755D-4F0A-9D27-F53B2B44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degradation after disabling aliasing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9745-C71B-42E8-BD21-92D92B16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0467C-7A55-40D1-889A-8D31451703FF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17DCB-E4FA-481B-9DF8-360B26F6F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92" y="1865294"/>
            <a:ext cx="6070226" cy="485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03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6931-75D5-4C29-87E7-EF84BBBA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 in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7E30B-CCE3-4D6A-A1D2-F576E91B7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1894" cy="4351338"/>
          </a:xfrm>
        </p:spPr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ru-RU" dirty="0"/>
              <a:t> </a:t>
            </a:r>
            <a:r>
              <a:rPr lang="en-US" dirty="0"/>
              <a:t>and C++ disallow aliasing of pointers to different types</a:t>
            </a:r>
            <a:endParaRPr lang="ru-RU" dirty="0"/>
          </a:p>
          <a:p>
            <a:pPr lvl="1"/>
            <a:r>
              <a:rPr lang="en-US" dirty="0"/>
              <a:t>Except char *, signed/unsigned, scalar/vector, etc.</a:t>
            </a:r>
          </a:p>
          <a:p>
            <a:r>
              <a:rPr lang="en-US" dirty="0"/>
              <a:t>But many projects ignore this rule via -</a:t>
            </a:r>
            <a:r>
              <a:rPr lang="en-US" dirty="0" err="1"/>
              <a:t>fno</a:t>
            </a:r>
            <a:r>
              <a:rPr lang="en-US" dirty="0"/>
              <a:t>-strict-aliasing flag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2B529-8127-4DB6-B0F8-4A65E7AF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73FD0-BED0-4609-ADC1-AA5076C0C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94" y="1429123"/>
            <a:ext cx="4911852" cy="273782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0A7854-3E1A-48E0-BA70-409699F4D672}"/>
              </a:ext>
            </a:extLst>
          </p:cNvPr>
          <p:cNvSpPr txBox="1">
            <a:spLocks/>
          </p:cNvSpPr>
          <p:nvPr/>
        </p:nvSpPr>
        <p:spPr>
          <a:xfrm>
            <a:off x="838200" y="4470680"/>
            <a:ext cx="10358718" cy="2647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 and</a:t>
            </a:r>
            <a:r>
              <a:rPr lang="ru-RU" dirty="0"/>
              <a:t> </a:t>
            </a:r>
            <a:r>
              <a:rPr lang="en-US" dirty="0"/>
              <a:t>C++ also allow developer to explicitly prohibit aliasing via restrict keyword</a:t>
            </a:r>
          </a:p>
          <a:p>
            <a:pPr lvl="1"/>
            <a:r>
              <a:rPr lang="en-US" dirty="0"/>
              <a:t>In practice this is seldomly used </a:t>
            </a:r>
            <a:r>
              <a:rPr lang="ru-RU" dirty="0"/>
              <a:t>(</a:t>
            </a:r>
            <a:r>
              <a:rPr lang="en-US" dirty="0"/>
              <a:t>Rust couldn’t enable its aliasing rules for long time due to lots of hidden bugs in LLVM)</a:t>
            </a:r>
          </a:p>
        </p:txBody>
      </p:sp>
    </p:spTree>
    <p:extLst>
      <p:ext uri="{BB962C8B-B14F-4D97-AF65-F5344CB8AC3E}">
        <p14:creationId xmlns:p14="http://schemas.microsoft.com/office/powerpoint/2010/main" val="32774279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B9F6-958F-47FF-AF84-F4AD8BD2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3F32C-778E-4F8A-8F79-DEF4E035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Rust aliasing rules allow to</a:t>
            </a:r>
          </a:p>
          <a:p>
            <a:pPr lvl="1"/>
            <a:r>
              <a:rPr lang="en-US" dirty="0"/>
              <a:t>Increase analysis precision by 5% on average</a:t>
            </a:r>
          </a:p>
          <a:p>
            <a:pPr lvl="1"/>
            <a:r>
              <a:rPr lang="en-US" dirty="0"/>
              <a:t>Improve performance by</a:t>
            </a:r>
            <a:r>
              <a:rPr lang="ru-RU" dirty="0"/>
              <a:t> </a:t>
            </a:r>
            <a:r>
              <a:rPr lang="en-US" dirty="0"/>
              <a:t>1-2% on average</a:t>
            </a:r>
            <a:endParaRPr lang="ru-RU" dirty="0"/>
          </a:p>
          <a:p>
            <a:r>
              <a:rPr lang="en-US" dirty="0"/>
              <a:t>Can expect performance increase after further </a:t>
            </a:r>
            <a:r>
              <a:rPr lang="en-US" dirty="0" err="1"/>
              <a:t>codegen</a:t>
            </a:r>
            <a:r>
              <a:rPr lang="en-US" dirty="0"/>
              <a:t> improvements (aliasing metadata)</a:t>
            </a:r>
            <a:endParaRPr lang="ru-R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417EA-E855-48A0-83C2-DE3F271E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906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28DC-6809-49E3-847B-63B77066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68088-729D-49BA-8ECA-814F14C48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of alias analysis:</a:t>
            </a:r>
          </a:p>
          <a:p>
            <a:pPr lvl="1"/>
            <a:r>
              <a:rPr lang="en-US" dirty="0">
                <a:hlinkClick r:id="rId2"/>
              </a:rPr>
              <a:t>Pointer-induced aliasing</a:t>
            </a:r>
            <a:r>
              <a:rPr lang="en-US" dirty="0"/>
              <a:t> (</a:t>
            </a:r>
            <a:r>
              <a:rPr lang="en-US" dirty="0" err="1"/>
              <a:t>Landi</a:t>
            </a:r>
            <a:r>
              <a:rPr lang="en-US" dirty="0"/>
              <a:t>, 1991)</a:t>
            </a:r>
            <a:endParaRPr lang="ru-RU" dirty="0"/>
          </a:p>
          <a:p>
            <a:pPr lvl="1"/>
            <a:r>
              <a:rPr lang="en-US" dirty="0">
                <a:hlinkClick r:id="rId3"/>
              </a:rPr>
              <a:t>Undecidability of static analysis</a:t>
            </a:r>
            <a:r>
              <a:rPr lang="en-US" dirty="0"/>
              <a:t> (</a:t>
            </a:r>
            <a:r>
              <a:rPr lang="en-US" dirty="0" err="1"/>
              <a:t>Landi</a:t>
            </a:r>
            <a:r>
              <a:rPr lang="en-US" dirty="0"/>
              <a:t>, 1992)</a:t>
            </a:r>
          </a:p>
          <a:p>
            <a:r>
              <a:rPr lang="en-US" dirty="0"/>
              <a:t>Aliasing in real code:</a:t>
            </a:r>
          </a:p>
          <a:p>
            <a:pPr lvl="1"/>
            <a:r>
              <a:rPr lang="en-US" dirty="0">
                <a:hlinkClick r:id="rId4"/>
              </a:rPr>
              <a:t>Dynamic Points-To Sets</a:t>
            </a:r>
            <a:r>
              <a:rPr lang="ru-RU" dirty="0"/>
              <a:t> (</a:t>
            </a:r>
            <a:r>
              <a:rPr lang="en-US" dirty="0"/>
              <a:t>Mock et al., 2001)</a:t>
            </a:r>
            <a:endParaRPr lang="ru-RU" dirty="0"/>
          </a:p>
          <a:p>
            <a:pPr lvl="1"/>
            <a:r>
              <a:rPr lang="en-US" dirty="0">
                <a:hlinkClick r:id="rId5"/>
              </a:rPr>
              <a:t>Speculative Alias Analysis for Executable Code</a:t>
            </a:r>
            <a:r>
              <a:rPr lang="en-US" dirty="0"/>
              <a:t> (Fernandez et al., 2002)</a:t>
            </a:r>
          </a:p>
          <a:p>
            <a:pPr lvl="1"/>
            <a:r>
              <a:rPr lang="en-US" dirty="0">
                <a:hlinkClick r:id="rId6"/>
              </a:rPr>
              <a:t>ORAQL — Optimistic Responses to Alias Queries in LLVM</a:t>
            </a:r>
            <a:r>
              <a:rPr lang="en-US" dirty="0"/>
              <a:t> (</a:t>
            </a:r>
            <a:r>
              <a:rPr lang="en-US" dirty="0" err="1"/>
              <a:t>Doerfert</a:t>
            </a:r>
            <a:r>
              <a:rPr lang="en-US" dirty="0"/>
              <a:t> et al., 2023)</a:t>
            </a:r>
          </a:p>
          <a:p>
            <a:r>
              <a:rPr lang="en-US" dirty="0"/>
              <a:t>De-aliasing in CPU:</a:t>
            </a:r>
          </a:p>
          <a:p>
            <a:pPr lvl="1"/>
            <a:r>
              <a:rPr lang="en-US" dirty="0">
                <a:hlinkClick r:id="rId7"/>
              </a:rPr>
              <a:t>Memory Disambiguation on Skylake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BFE4-F481-419C-AE48-DBCD5371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28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Mandatory initialization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32816-2DD3-47B3-8FC4-17F6CD04BE74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303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Mandatory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6545" cy="4351338"/>
          </a:xfrm>
        </p:spPr>
        <p:txBody>
          <a:bodyPr>
            <a:normAutofit/>
          </a:bodyPr>
          <a:lstStyle/>
          <a:p>
            <a:r>
              <a:rPr lang="en-US" dirty="0"/>
              <a:t>Uninitialized variables may cause information leaks and other errors</a:t>
            </a:r>
            <a:endParaRPr lang="ru-RU" dirty="0"/>
          </a:p>
          <a:p>
            <a:pPr lvl="1"/>
            <a:r>
              <a:rPr lang="en-US" dirty="0"/>
              <a:t>Password or address leaks </a:t>
            </a:r>
            <a:r>
              <a:rPr lang="ru-RU" dirty="0"/>
              <a:t>(</a:t>
            </a:r>
            <a:r>
              <a:rPr lang="en-US" dirty="0"/>
              <a:t>the latter compromises ASLR)</a:t>
            </a:r>
          </a:p>
          <a:p>
            <a:r>
              <a:rPr lang="en-US" dirty="0"/>
              <a:t>Prevalence:</a:t>
            </a:r>
          </a:p>
          <a:p>
            <a:pPr lvl="1"/>
            <a:r>
              <a:rPr lang="en-US" dirty="0"/>
              <a:t>10% CVE root cause in Microsoft products in </a:t>
            </a:r>
            <a:r>
              <a:rPr lang="ru-RU" dirty="0"/>
              <a:t>2018 (</a:t>
            </a:r>
            <a:r>
              <a:rPr lang="en-US" dirty="0"/>
              <a:t>see </a:t>
            </a:r>
            <a:r>
              <a:rPr lang="en-US" dirty="0">
                <a:hlinkClick r:id="rId2"/>
              </a:rPr>
              <a:t>Killing Uninitialized Memory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12% exploitable bugs in Android (see </a:t>
            </a:r>
            <a:r>
              <a:rPr lang="en-US" dirty="0">
                <a:hlinkClick r:id="rId3"/>
              </a:rPr>
              <a:t>P2723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 descr="Vintage Water Tap Dripping in Black and ...">
            <a:extLst>
              <a:ext uri="{FF2B5EF4-FFF2-40B4-BE49-F238E27FC236}">
                <a16:creationId xmlns:a16="http://schemas.microsoft.com/office/drawing/2014/main" id="{2F9EB11D-EE99-4770-818D-7B22294D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745" y="681037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DFFD0F-64EE-484A-B75F-BA9A4F14171E}"/>
              </a:ext>
            </a:extLst>
          </p:cNvPr>
          <p:cNvSpPr txBox="1"/>
          <p:nvPr/>
        </p:nvSpPr>
        <p:spPr>
          <a:xfrm>
            <a:off x="161365" y="6512391"/>
            <a:ext cx="5934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Alex Dos Santos, </a:t>
            </a:r>
            <a:r>
              <a:rPr lang="en-US" sz="1000" dirty="0">
                <a:hlinkClick r:id="rId5"/>
              </a:rPr>
              <a:t>https://www.pexels.com/photo/vintage-water-tap-dripping-in-black-and-white-29725026/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13576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8067-D6EA-48A6-AF9A-4CC40E75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0" y="0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70BF-6C6B-473F-97B9-2F7573D53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1" y="1325563"/>
            <a:ext cx="6333564" cy="51917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password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32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“...”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Leaking password under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baz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E03D-8CB4-456C-8E5E-3769F563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381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0C67-37BB-4E15-B974-2DAEF33D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61A6-7F16-4FEC-867C-D7C445DC9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Rust requires initialization of all variables</a:t>
            </a:r>
          </a:p>
          <a:p>
            <a:pPr lvl="1"/>
            <a:r>
              <a:rPr lang="en-US" dirty="0"/>
              <a:t>Local, global, heap</a:t>
            </a:r>
          </a:p>
          <a:p>
            <a:r>
              <a:rPr lang="en-US" dirty="0"/>
              <a:t>Each variable must be assigned on all paths before first 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1BD6A-1F18-4597-83A0-FC8D01B3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7E73A-9C86-4F03-9089-5A8413375336}"/>
              </a:ext>
            </a:extLst>
          </p:cNvPr>
          <p:cNvSpPr txBox="1"/>
          <p:nvPr/>
        </p:nvSpPr>
        <p:spPr>
          <a:xfrm>
            <a:off x="3128680" y="3429000"/>
            <a:ext cx="411928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No mut needed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CD9A7-FDBD-48B8-92CB-F7C2CCE72165}"/>
              </a:ext>
            </a:extLst>
          </p:cNvPr>
          <p:cNvSpPr txBox="1"/>
          <p:nvPr/>
        </p:nvSpPr>
        <p:spPr>
          <a:xfrm>
            <a:off x="573741" y="3429000"/>
            <a:ext cx="2061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B7E3F-59BB-4A31-87DF-B241BDF810D1}"/>
              </a:ext>
            </a:extLst>
          </p:cNvPr>
          <p:cNvSpPr txBox="1"/>
          <p:nvPr/>
        </p:nvSpPr>
        <p:spPr>
          <a:xfrm>
            <a:off x="7673786" y="3429000"/>
            <a:ext cx="4007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No mut needed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 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AAA3B-C18B-4850-8EC4-9310CAEA3363}"/>
              </a:ext>
            </a:extLst>
          </p:cNvPr>
          <p:cNvSpPr txBox="1"/>
          <p:nvPr/>
        </p:nvSpPr>
        <p:spPr>
          <a:xfrm>
            <a:off x="1604682" y="4612324"/>
            <a:ext cx="690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F2693-9235-4139-959F-E0AD8C443164}"/>
              </a:ext>
            </a:extLst>
          </p:cNvPr>
          <p:cNvSpPr txBox="1"/>
          <p:nvPr/>
        </p:nvSpPr>
        <p:spPr>
          <a:xfrm>
            <a:off x="5428128" y="4612324"/>
            <a:ext cx="690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69D88-83C0-439E-8F25-A27974E8A694}"/>
              </a:ext>
            </a:extLst>
          </p:cNvPr>
          <p:cNvSpPr txBox="1"/>
          <p:nvPr/>
        </p:nvSpPr>
        <p:spPr>
          <a:xfrm>
            <a:off x="10174941" y="4644092"/>
            <a:ext cx="1506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NOT OK</a:t>
            </a:r>
          </a:p>
        </p:txBody>
      </p:sp>
    </p:spTree>
    <p:extLst>
      <p:ext uri="{BB962C8B-B14F-4D97-AF65-F5344CB8AC3E}">
        <p14:creationId xmlns:p14="http://schemas.microsoft.com/office/powerpoint/2010/main" val="3817829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2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Many other languages also require initialization </a:t>
            </a:r>
            <a:r>
              <a:rPr lang="ru-RU" dirty="0"/>
              <a:t>(</a:t>
            </a:r>
            <a:r>
              <a:rPr lang="en-US" dirty="0"/>
              <a:t>or </a:t>
            </a:r>
            <a:r>
              <a:rPr lang="en-US" dirty="0" err="1"/>
              <a:t>autoinitialize</a:t>
            </a:r>
            <a:r>
              <a:rPr lang="en-US" dirty="0"/>
              <a:t> with zeroes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C#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Swift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Go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Java</a:t>
            </a:r>
            <a:endParaRPr lang="en-US" dirty="0"/>
          </a:p>
          <a:p>
            <a:pPr lvl="1"/>
            <a:r>
              <a:rPr lang="en-US" dirty="0"/>
              <a:t>Hardened C/C++ (-</a:t>
            </a:r>
            <a:r>
              <a:rPr lang="en-US" dirty="0" err="1"/>
              <a:t>ftrivial</a:t>
            </a:r>
            <a:r>
              <a:rPr lang="en-US" dirty="0"/>
              <a:t>-auto-var-</a:t>
            </a:r>
            <a:r>
              <a:rPr lang="en-US" dirty="0" err="1"/>
              <a:t>init</a:t>
            </a:r>
            <a:r>
              <a:rPr lang="en-US" dirty="0"/>
              <a:t>), C++26 (</a:t>
            </a:r>
            <a:r>
              <a:rPr lang="en-US" dirty="0">
                <a:hlinkClick r:id="rId6"/>
              </a:rPr>
              <a:t>P2795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Only local </a:t>
            </a:r>
            <a:r>
              <a:rPr lang="en-US" dirty="0" err="1"/>
              <a:t>varibles</a:t>
            </a:r>
            <a:endParaRPr lang="en-US" dirty="0"/>
          </a:p>
          <a:p>
            <a:pPr lvl="3"/>
            <a:r>
              <a:rPr lang="en-US" dirty="0"/>
              <a:t>Global variables and </a:t>
            </a:r>
            <a:r>
              <a:rPr lang="en-US" dirty="0" err="1"/>
              <a:t>sbrk</a:t>
            </a:r>
            <a:r>
              <a:rPr lang="en-US" dirty="0"/>
              <a:t>/</a:t>
            </a:r>
            <a:r>
              <a:rPr lang="en-US" dirty="0" err="1"/>
              <a:t>mmap</a:t>
            </a:r>
            <a:r>
              <a:rPr lang="en-US" dirty="0"/>
              <a:t>-buffers already zero-initialized</a:t>
            </a:r>
          </a:p>
          <a:p>
            <a:pPr lvl="3"/>
            <a:r>
              <a:rPr lang="en-US" dirty="0"/>
              <a:t>Heap can be zero-initialized via hardened allocator</a:t>
            </a:r>
          </a:p>
          <a:p>
            <a:pPr lvl="2"/>
            <a:r>
              <a:rPr lang="en-US" dirty="0"/>
              <a:t>Enabled by default in Android user/kernel-space and Chrome</a:t>
            </a:r>
            <a:endParaRPr lang="ru-RU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140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B770-04C2-4E5C-BD09-3F7FAA92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with mandatory initializations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A0EE-3113-4B1F-B2B8-0907D211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Initializations are often redundant in practice</a:t>
            </a:r>
            <a:endParaRPr lang="ru-RU" dirty="0"/>
          </a:p>
          <a:p>
            <a:pPr lvl="1"/>
            <a:r>
              <a:rPr lang="en-US" dirty="0"/>
              <a:t>Will be overwritten with other values later without being read</a:t>
            </a:r>
          </a:p>
          <a:p>
            <a:r>
              <a:rPr lang="en-US" dirty="0"/>
              <a:t>Compiler can’t always eliminate such redundant initializations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example.bin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pPr marL="457200" lvl="1" indent="0">
              <a:buNone/>
            </a:pP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buffer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memset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not removed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read_exact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buffer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pPr marL="457200" lvl="1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...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0D27-26EB-4549-B45A-A7752592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68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Prevalence of redundant initializations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initializations are redundant?</a:t>
            </a:r>
          </a:p>
          <a:p>
            <a:r>
              <a:rPr lang="en-US" dirty="0"/>
              <a:t>Static estimate (via </a:t>
            </a:r>
            <a:r>
              <a:rPr lang="en-US" dirty="0">
                <a:hlinkClick r:id="rId2"/>
              </a:rPr>
              <a:t>LLVM plugin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Hardened Clang: +4% stores in loops (Clang benchmark)</a:t>
            </a:r>
            <a:endParaRPr lang="ru-RU" dirty="0"/>
          </a:p>
          <a:p>
            <a:r>
              <a:rPr lang="en-US" dirty="0"/>
              <a:t>Dynamic estimate (via </a:t>
            </a:r>
            <a:r>
              <a:rPr lang="en-US" dirty="0" err="1">
                <a:hlinkClick r:id="rId3"/>
              </a:rPr>
              <a:t>Valgrind</a:t>
            </a:r>
            <a:r>
              <a:rPr lang="en-US" dirty="0">
                <a:hlinkClick r:id="rId3"/>
              </a:rPr>
              <a:t> plugin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Compiling large C++ source file:</a:t>
            </a:r>
          </a:p>
          <a:p>
            <a:pPr lvl="2"/>
            <a:r>
              <a:rPr lang="en-US" dirty="0"/>
              <a:t>Clang: 11%</a:t>
            </a:r>
            <a:r>
              <a:rPr lang="ru-RU" dirty="0"/>
              <a:t> </a:t>
            </a:r>
            <a:r>
              <a:rPr lang="en-US" dirty="0"/>
              <a:t>unused writes</a:t>
            </a:r>
          </a:p>
          <a:p>
            <a:pPr lvl="2"/>
            <a:r>
              <a:rPr lang="en-US" dirty="0"/>
              <a:t>Hardened Clang (-</a:t>
            </a:r>
            <a:r>
              <a:rPr lang="en-US" dirty="0" err="1"/>
              <a:t>ftrivial</a:t>
            </a:r>
            <a:r>
              <a:rPr lang="en-US" dirty="0"/>
              <a:t>-auto-var-</a:t>
            </a:r>
            <a:r>
              <a:rPr lang="en-US" dirty="0" err="1"/>
              <a:t>init</a:t>
            </a:r>
            <a:r>
              <a:rPr lang="en-US" dirty="0"/>
              <a:t>): 23%</a:t>
            </a:r>
            <a:r>
              <a:rPr lang="ru-RU" dirty="0"/>
              <a:t> </a:t>
            </a:r>
            <a:r>
              <a:rPr lang="en-US" dirty="0"/>
              <a:t>unused writes (i.e. 2x increase)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63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Overheads in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Unfortunately it’s not possible to directly measure initialization overheads in Rust benchmarks</a:t>
            </a:r>
          </a:p>
          <a:p>
            <a:pPr lvl="1"/>
            <a:r>
              <a:rPr lang="en-US" dirty="0"/>
              <a:t>That would require extensive code rewrites</a:t>
            </a:r>
          </a:p>
          <a:p>
            <a:r>
              <a:rPr lang="en-US" dirty="0"/>
              <a:t>We will illustrate overheads</a:t>
            </a:r>
          </a:p>
          <a:p>
            <a:pPr lvl="1"/>
            <a:r>
              <a:rPr lang="en-US" dirty="0"/>
              <a:t>Reported in various Rust projects</a:t>
            </a:r>
          </a:p>
          <a:p>
            <a:pPr lvl="1"/>
            <a:r>
              <a:rPr lang="en-US" dirty="0"/>
              <a:t>Measured for Hardened C/C++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121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A612-7704-43C7-BA23-E35EE309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en-US" dirty="0"/>
              <a:t>Example overheads in Rust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018C5-56D7-4615-891E-AB0077FF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7" y="1660619"/>
            <a:ext cx="10152529" cy="4351338"/>
          </a:xfrm>
        </p:spPr>
        <p:txBody>
          <a:bodyPr>
            <a:normAutofit/>
          </a:bodyPr>
          <a:lstStyle/>
          <a:p>
            <a:r>
              <a:rPr lang="en-US" dirty="0"/>
              <a:t>What are the potential consequences for performance?</a:t>
            </a:r>
          </a:p>
          <a:p>
            <a:pPr lvl="1"/>
            <a:r>
              <a:rPr lang="en-US" dirty="0"/>
              <a:t>7% in</a:t>
            </a:r>
            <a:r>
              <a:rPr lang="ru-RU" dirty="0"/>
              <a:t> </a:t>
            </a:r>
            <a:r>
              <a:rPr lang="en-US" dirty="0" err="1"/>
              <a:t>stdlib</a:t>
            </a:r>
            <a:r>
              <a:rPr lang="en-US" dirty="0"/>
              <a:t> file IO (</a:t>
            </a:r>
            <a:r>
              <a:rPr lang="en-US" dirty="0">
                <a:hlinkClick r:id="rId2"/>
              </a:rPr>
              <a:t>rust #26950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20-30% in</a:t>
            </a:r>
            <a:r>
              <a:rPr lang="ru-RU" dirty="0"/>
              <a:t> </a:t>
            </a:r>
            <a:r>
              <a:rPr lang="en-US" dirty="0"/>
              <a:t>Hyper HTTP (see</a:t>
            </a:r>
            <a:r>
              <a:rPr lang="ru-RU" dirty="0"/>
              <a:t> </a:t>
            </a:r>
            <a:r>
              <a:rPr lang="en-US" dirty="0" err="1">
                <a:hlinkClick r:id="rId3"/>
              </a:rPr>
              <a:t>tokio</a:t>
            </a:r>
            <a:r>
              <a:rPr lang="en-US" dirty="0">
                <a:hlinkClick r:id="rId3"/>
              </a:rPr>
              <a:t> #1744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30% in Shadow simulator (</a:t>
            </a:r>
            <a:r>
              <a:rPr lang="en-US" dirty="0">
                <a:hlinkClick r:id="rId4"/>
              </a:rPr>
              <a:t>shadow #1643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25% in</a:t>
            </a:r>
            <a:r>
              <a:rPr lang="ru-RU" dirty="0"/>
              <a:t> </a:t>
            </a:r>
            <a:r>
              <a:rPr lang="en-US" dirty="0" err="1"/>
              <a:t>stdlib</a:t>
            </a:r>
            <a:r>
              <a:rPr lang="en-US" dirty="0"/>
              <a:t> </a:t>
            </a:r>
            <a:r>
              <a:rPr lang="en-US" dirty="0" err="1"/>
              <a:t>TcpStream</a:t>
            </a:r>
            <a:r>
              <a:rPr lang="en-US" dirty="0"/>
              <a:t> (</a:t>
            </a:r>
            <a:r>
              <a:rPr lang="en-US" dirty="0">
                <a:hlinkClick r:id="rId5"/>
              </a:rPr>
              <a:t>RFC #837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1.5% in</a:t>
            </a:r>
            <a:r>
              <a:rPr lang="ru-RU" dirty="0"/>
              <a:t> </a:t>
            </a:r>
            <a:r>
              <a:rPr lang="en-US" dirty="0"/>
              <a:t>rav1d (</a:t>
            </a:r>
            <a:r>
              <a:rPr lang="en-US" dirty="0">
                <a:hlinkClick r:id="rId6"/>
              </a:rPr>
              <a:t>Making the rav1d Video Decoder 1% Faster</a:t>
            </a:r>
            <a:r>
              <a:rPr lang="en-US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029176-D7B2-4AA2-8787-FF2CF11BB1AA}"/>
              </a:ext>
            </a:extLst>
          </p:cNvPr>
          <p:cNvSpPr txBox="1">
            <a:spLocks/>
          </p:cNvSpPr>
          <p:nvPr/>
        </p:nvSpPr>
        <p:spPr>
          <a:xfrm>
            <a:off x="6342530" y="1762872"/>
            <a:ext cx="52219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C19B-5574-4F99-90E9-4D37867E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3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Overheads with forced stack initialization for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A5B96-865A-434A-9CFE-5F43D6417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020" y="1690688"/>
            <a:ext cx="6209181" cy="496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237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Overheads with forced </a:t>
            </a:r>
            <a:r>
              <a:rPr lang="en-US" dirty="0" err="1"/>
              <a:t>stack+heap</a:t>
            </a:r>
            <a:r>
              <a:rPr lang="en-US" dirty="0"/>
              <a:t> initialization for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9AFF7-DE5C-4B76-9C09-C7831986189F}"/>
              </a:ext>
            </a:extLst>
          </p:cNvPr>
          <p:cNvSpPr txBox="1"/>
          <p:nvPr/>
        </p:nvSpPr>
        <p:spPr>
          <a:xfrm>
            <a:off x="9117106" y="2178424"/>
            <a:ext cx="26714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used crude approach to heap initialization (LD_PRELOAD + </a:t>
            </a:r>
            <a:r>
              <a:rPr lang="en-US" dirty="0" err="1"/>
              <a:t>memset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sophisticated implementation would have smaller overheads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099B9-FFF5-4DAA-9412-F599DC332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219" y="1770323"/>
            <a:ext cx="6110499" cy="48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626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Redundant scalar initializations can be optimized away by many SSA passes in LLVM (and are very cheap anyway)</a:t>
            </a:r>
          </a:p>
          <a:p>
            <a:pPr lvl="1"/>
            <a:r>
              <a:rPr lang="en-US" dirty="0"/>
              <a:t>DCE, BDCE, ADCE, </a:t>
            </a:r>
            <a:r>
              <a:rPr lang="en-US" dirty="0" err="1"/>
              <a:t>InstCombine</a:t>
            </a:r>
            <a:r>
              <a:rPr lang="en-US" dirty="0"/>
              <a:t>, etc.</a:t>
            </a:r>
          </a:p>
          <a:p>
            <a:r>
              <a:rPr lang="en-US" dirty="0"/>
              <a:t>Redundant array initializations pose the main problem</a:t>
            </a:r>
          </a:p>
          <a:p>
            <a:pPr lvl="1"/>
            <a:r>
              <a:rPr lang="en-US" dirty="0" err="1"/>
              <a:t>DeadStoreElimination</a:t>
            </a:r>
            <a:r>
              <a:rPr lang="en-US" dirty="0"/>
              <a:t>, </a:t>
            </a:r>
            <a:r>
              <a:rPr lang="en-US" dirty="0" err="1"/>
              <a:t>MoveAutoInit</a:t>
            </a:r>
            <a:r>
              <a:rPr lang="en-US" dirty="0"/>
              <a:t>, </a:t>
            </a:r>
            <a:r>
              <a:rPr lang="en-US" dirty="0" err="1"/>
              <a:t>MemCpyOptimizer</a:t>
            </a:r>
            <a:endParaRPr lang="en-US" dirty="0"/>
          </a:p>
          <a:p>
            <a:pPr lvl="1"/>
            <a:r>
              <a:rPr lang="en-US" dirty="0"/>
              <a:t>To a lesser degree </a:t>
            </a:r>
            <a:r>
              <a:rPr lang="en-US" dirty="0" err="1"/>
              <a:t>InstCombine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78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does not simply create a reference to uninitialized object and fill it:</a:t>
            </a:r>
          </a:p>
          <a:p>
            <a:pPr marL="457200" lvl="1" indent="0">
              <a:buNone/>
            </a:pPr>
            <a:r>
              <a:rPr lang="en-US" dirty="0"/>
              <a:t>“Creating a reference with &amp;/&amp;mut is </a:t>
            </a:r>
            <a:r>
              <a:rPr lang="en-US" b="1" dirty="0"/>
              <a:t>only allowed if</a:t>
            </a:r>
            <a:r>
              <a:rPr lang="en-US" dirty="0"/>
              <a:t> the pointer is properly aligned and </a:t>
            </a:r>
            <a:r>
              <a:rPr lang="en-US" b="1" dirty="0"/>
              <a:t>points to initialized data</a:t>
            </a:r>
            <a:r>
              <a:rPr lang="en-US" dirty="0"/>
              <a:t>” (</a:t>
            </a:r>
            <a:r>
              <a:rPr lang="en-US" dirty="0" err="1">
                <a:hlinkClick r:id="rId2"/>
              </a:rPr>
              <a:t>addr_of_mut</a:t>
            </a:r>
            <a:r>
              <a:rPr lang="en-US" dirty="0"/>
              <a:t>)</a:t>
            </a:r>
          </a:p>
          <a:p>
            <a:r>
              <a:rPr lang="en-US" dirty="0"/>
              <a:t>Recommended solution is to use </a:t>
            </a:r>
            <a:r>
              <a:rPr lang="en-US" dirty="0" err="1"/>
              <a:t>MaybeUninit</a:t>
            </a:r>
            <a:r>
              <a:rPr lang="ru-RU" dirty="0"/>
              <a:t> </a:t>
            </a:r>
            <a:r>
              <a:rPr lang="en-US" dirty="0"/>
              <a:t>type and various API around it</a:t>
            </a:r>
          </a:p>
          <a:p>
            <a:r>
              <a:rPr lang="en-US" dirty="0"/>
              <a:t>Unfortunately </a:t>
            </a:r>
            <a:r>
              <a:rPr lang="en-US" dirty="0" err="1"/>
              <a:t>MaybeUninit</a:t>
            </a:r>
            <a:r>
              <a:rPr lang="en-US" dirty="0"/>
              <a:t> APIs are not always convenient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61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Standard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7" y="1690688"/>
            <a:ext cx="56253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Arrays: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MaybeUninit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::&lt;[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]&gt;::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as_mut_ptr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offset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assume_init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5613B1-040D-4497-90E8-EB96F8DC7E78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62535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Structures: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MaybeUninit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::&lt;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&gt;::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as_mut_ptr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Need write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(instead of explicit assign)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to avoid dropping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uninitialized String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addr_of_mut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((*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"basic"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to_string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(*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flag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(*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disabled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assume_init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832419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61BD1-7FAB-4AFA-B02B-2F4DE148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3CFF-D9B5-4C91-BB84-0CBA009A8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old_len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reserve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spare_capacity_mut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idx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].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set_len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DE7E4-18A5-4AED-B967-889A6664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650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E38D-612B-4B63-8B23-63477202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8001-ACD2-426D-AAF0-F134CDA7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MaybeUninit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4096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BorrowedBuf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[..]);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read_buf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unfilled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())?;</a:t>
            </a:r>
          </a:p>
          <a:p>
            <a:pPr marL="0" indent="0">
              <a:buNone/>
            </a:pP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filled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Work with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buf.filled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CBAF0-6BC2-4B27-82A6-0DEB0902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165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Initialization overheads in Rust and Hardened C++ are on par</a:t>
            </a:r>
          </a:p>
          <a:p>
            <a:pPr lvl="1"/>
            <a:r>
              <a:rPr lang="en-US" dirty="0"/>
              <a:t>Higher than in C++</a:t>
            </a:r>
            <a:r>
              <a:rPr lang="ru-RU" dirty="0"/>
              <a:t>26</a:t>
            </a:r>
            <a:r>
              <a:rPr lang="en-US" dirty="0"/>
              <a:t> due to heap initializations</a:t>
            </a:r>
          </a:p>
          <a:p>
            <a:r>
              <a:rPr lang="en-US" dirty="0"/>
              <a:t>These overheads can be large in some scenarios (5-10% or more</a:t>
            </a:r>
            <a:r>
              <a:rPr lang="ru-RU" dirty="0"/>
              <a:t>) </a:t>
            </a:r>
            <a:r>
              <a:rPr lang="en-US" dirty="0"/>
              <a:t>and require manual code tuning:</a:t>
            </a:r>
          </a:p>
          <a:p>
            <a:pPr lvl="1"/>
            <a:r>
              <a:rPr lang="en-US" dirty="0"/>
              <a:t>Using dedicated APIs</a:t>
            </a:r>
            <a:r>
              <a:rPr lang="ru-RU" dirty="0"/>
              <a:t> </a:t>
            </a:r>
            <a:r>
              <a:rPr lang="en-US" dirty="0"/>
              <a:t>like </a:t>
            </a:r>
            <a:r>
              <a:rPr lang="en-US" dirty="0" err="1"/>
              <a:t>MaybeUninit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4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Killing Uninitialized Memory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video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Report from Microsoft about enabling similar checks in Visual Studio</a:t>
            </a:r>
          </a:p>
          <a:p>
            <a:r>
              <a:rPr lang="en-US" dirty="0">
                <a:hlinkClick r:id="rId4"/>
              </a:rPr>
              <a:t>P2795: Erroneous behavior for uninitialized reads</a:t>
            </a:r>
            <a:endParaRPr lang="en-US" dirty="0"/>
          </a:p>
          <a:p>
            <a:pPr lvl="1"/>
            <a:r>
              <a:rPr lang="en-US" dirty="0"/>
              <a:t>To be integrated to C++26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505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localization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0185C-4993-41AF-B35D-98ABA6DCB189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081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in translation unit (crate in Rust, </a:t>
            </a:r>
            <a:r>
              <a:rPr lang="en-US" dirty="0" err="1"/>
              <a:t>cpp</a:t>
            </a:r>
            <a:r>
              <a:rPr lang="en-US" dirty="0"/>
              <a:t> file in C++</a:t>
            </a:r>
            <a:r>
              <a:rPr lang="ru-RU" dirty="0"/>
              <a:t>)</a:t>
            </a:r>
            <a:r>
              <a:rPr lang="en-US" dirty="0"/>
              <a:t> can be used locally or globally (in other translation units)</a:t>
            </a:r>
          </a:p>
          <a:p>
            <a:pPr lvl="1"/>
            <a:r>
              <a:rPr lang="en-US" dirty="0"/>
              <a:t>Controlled with </a:t>
            </a:r>
            <a:r>
              <a:rPr lang="en-US" dirty="0">
                <a:solidFill>
                  <a:srgbClr val="C00000"/>
                </a:solidFill>
              </a:rPr>
              <a:t>static</a:t>
            </a:r>
            <a:r>
              <a:rPr lang="en-US" dirty="0"/>
              <a:t> keyword and anonymous namespaces in C++</a:t>
            </a:r>
          </a:p>
          <a:p>
            <a:pPr lvl="1"/>
            <a:r>
              <a:rPr lang="en-US" dirty="0"/>
              <a:t>Or with </a:t>
            </a:r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>
                <a:solidFill>
                  <a:srgbClr val="C00000"/>
                </a:solidFill>
              </a:rPr>
              <a:t>crate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dirty="0"/>
              <a:t>, etc. in Rust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Rust and C++ make opposing default choice:</a:t>
            </a:r>
          </a:p>
          <a:p>
            <a:pPr lvl="1"/>
            <a:r>
              <a:rPr lang="en-US" dirty="0"/>
              <a:t>In Rust functions are local for their module by default (top-level functions are local to their crate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>
                <a:solidFill>
                  <a:srgbClr val="C00000"/>
                </a:solidFill>
              </a:rPr>
              <a:t>crate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ru-RU" dirty="0"/>
              <a:t>-</a:t>
            </a:r>
            <a:r>
              <a:rPr lang="en-US" dirty="0"/>
              <a:t>functions</a:t>
            </a:r>
            <a:r>
              <a:rPr lang="ru-RU" dirty="0"/>
              <a:t> </a:t>
            </a:r>
            <a:r>
              <a:rPr lang="en-US" dirty="0"/>
              <a:t>are local to crate</a:t>
            </a:r>
          </a:p>
          <a:p>
            <a:pPr lvl="1"/>
            <a:r>
              <a:rPr lang="en-US" dirty="0"/>
              <a:t>Only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/>
              <a:t>-functions are visible across whole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364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835" y="0"/>
            <a:ext cx="10515600" cy="1325563"/>
          </a:xfrm>
        </p:spPr>
        <p:txBody>
          <a:bodyPr/>
          <a:lstStyle/>
          <a:p>
            <a:r>
              <a:rPr lang="en-US" dirty="0"/>
              <a:t>Localization in 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FACE2-45C0-46D6-BD11-C8A4D234A4F4}"/>
              </a:ext>
            </a:extLst>
          </p:cNvPr>
          <p:cNvSpPr txBox="1"/>
          <p:nvPr/>
        </p:nvSpPr>
        <p:spPr>
          <a:xfrm>
            <a:off x="999565" y="1143960"/>
            <a:ext cx="479163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crate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"Hello world {}"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mod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super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"Goodbye world {}"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foo3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"Nice world {}"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use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foo3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foo3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C898B-2C0E-49D7-B6F6-72DC51DEF160}"/>
              </a:ext>
            </a:extLst>
          </p:cNvPr>
          <p:cNvSpPr txBox="1"/>
          <p:nvPr/>
        </p:nvSpPr>
        <p:spPr>
          <a:xfrm>
            <a:off x="6113929" y="2551837"/>
            <a:ext cx="55670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+baseline test.rs -O --emit=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asm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--crate-type=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rlib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-o- \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|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rustfilt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| grep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globl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globl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test::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::foo3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globl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test::bar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03A27-96E2-4AB2-A0D5-85FCB59AC363}"/>
              </a:ext>
            </a:extLst>
          </p:cNvPr>
          <p:cNvSpPr txBox="1"/>
          <p:nvPr/>
        </p:nvSpPr>
        <p:spPr>
          <a:xfrm>
            <a:off x="7324165" y="5011270"/>
            <a:ext cx="2572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Only foo3 and</a:t>
            </a:r>
            <a:r>
              <a:rPr lang="ru-RU" sz="2400" dirty="0"/>
              <a:t> </a:t>
            </a:r>
            <a:r>
              <a:rPr lang="en-US" sz="2400" dirty="0"/>
              <a:t>bar are exported!</a:t>
            </a:r>
          </a:p>
        </p:txBody>
      </p:sp>
    </p:spTree>
    <p:extLst>
      <p:ext uri="{BB962C8B-B14F-4D97-AF65-F5344CB8AC3E}">
        <p14:creationId xmlns:p14="http://schemas.microsoft.com/office/powerpoint/2010/main" val="18003871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Local functions are much better optimized by compiler</a:t>
            </a:r>
            <a:endParaRPr lang="ru-RU" dirty="0"/>
          </a:p>
          <a:p>
            <a:r>
              <a:rPr lang="en-US" dirty="0"/>
              <a:t>Usually such optimizations are related to API or ABI changes:</a:t>
            </a:r>
          </a:p>
          <a:p>
            <a:pPr lvl="1"/>
            <a:r>
              <a:rPr lang="en-US" dirty="0" err="1"/>
              <a:t>Interprocedural</a:t>
            </a:r>
            <a:r>
              <a:rPr lang="en-US" dirty="0"/>
              <a:t> constant propagation (IPSCCP)</a:t>
            </a:r>
          </a:p>
          <a:p>
            <a:pPr lvl="1"/>
            <a:r>
              <a:rPr lang="en-US" dirty="0"/>
              <a:t>Replacing pass-by-reference with pass-by-value (</a:t>
            </a:r>
            <a:r>
              <a:rPr lang="en-US" dirty="0" err="1"/>
              <a:t>ArgumentPromotion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Removing dead arguments or return values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 err="1"/>
              <a:t>DeadArgumentElimination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Relaxed calling convention (using </a:t>
            </a:r>
            <a:r>
              <a:rPr lang="en-US" dirty="0" err="1"/>
              <a:t>coldcc</a:t>
            </a:r>
            <a:r>
              <a:rPr lang="ru-RU" dirty="0"/>
              <a:t> </a:t>
            </a:r>
            <a:r>
              <a:rPr lang="en-US" dirty="0"/>
              <a:t>in Transforms/IPO/GlobalOpt.cpp)</a:t>
            </a:r>
          </a:p>
          <a:p>
            <a:pPr lvl="1"/>
            <a:r>
              <a:rPr lang="en-US" dirty="0" err="1"/>
              <a:t>Interprocedural</a:t>
            </a:r>
            <a:r>
              <a:rPr lang="en-US" dirty="0"/>
              <a:t> register allocation (</a:t>
            </a:r>
            <a:r>
              <a:rPr lang="en-US" dirty="0">
                <a:hlinkClick r:id="rId2"/>
              </a:rPr>
              <a:t>IPRA</a:t>
            </a:r>
            <a:r>
              <a:rPr lang="en-US" dirty="0"/>
              <a:t>)</a:t>
            </a:r>
          </a:p>
          <a:p>
            <a:r>
              <a:rPr lang="en-US" dirty="0"/>
              <a:t>And also</a:t>
            </a:r>
          </a:p>
          <a:p>
            <a:pPr lvl="1"/>
            <a:r>
              <a:rPr lang="en-US" dirty="0"/>
              <a:t>More aggressive </a:t>
            </a:r>
            <a:r>
              <a:rPr lang="en-US" dirty="0" err="1"/>
              <a:t>inlining</a:t>
            </a:r>
            <a:r>
              <a:rPr lang="en-US" dirty="0"/>
              <a:t> (e.g. local functions which are only called once are always </a:t>
            </a:r>
            <a:r>
              <a:rPr lang="en-US" dirty="0" err="1"/>
              <a:t>inlined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Better dead code elimination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058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Linker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shared libraries (DLLs) local functions</a:t>
            </a:r>
          </a:p>
          <a:p>
            <a:pPr lvl="1"/>
            <a:r>
              <a:rPr lang="en-US" dirty="0"/>
              <a:t>May be called directly </a:t>
            </a:r>
            <a:r>
              <a:rPr lang="ru-RU" dirty="0"/>
              <a:t>(</a:t>
            </a:r>
            <a:r>
              <a:rPr lang="en-US" dirty="0"/>
              <a:t>bypassing PLT/GOT)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en-US" dirty="0"/>
              <a:t>Do not need to be resolved by loader at startup</a:t>
            </a:r>
          </a:p>
          <a:p>
            <a:r>
              <a:rPr lang="en-US" dirty="0"/>
              <a:t>See more details in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Dynamic libraries and how to optimize them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665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98188-CC2B-4A07-A091-648F940167BB}"/>
              </a:ext>
            </a:extLst>
          </p:cNvPr>
          <p:cNvSpPr txBox="1"/>
          <p:nvPr/>
        </p:nvSpPr>
        <p:spPr>
          <a:xfrm>
            <a:off x="376517" y="1737598"/>
            <a:ext cx="6875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#[inline(never)]  // Simulate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inliner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fail</a:t>
            </a:r>
          </a:p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C3CDA-6CBB-4932-9207-C0D70939F56C}"/>
              </a:ext>
            </a:extLst>
          </p:cNvPr>
          <p:cNvSpPr txBox="1"/>
          <p:nvPr/>
        </p:nvSpPr>
        <p:spPr>
          <a:xfrm>
            <a:off x="6947648" y="3066854"/>
            <a:ext cx="5011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ret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7A8BB4-B397-4188-B34A-A2233ED323EE}"/>
              </a:ext>
            </a:extLst>
          </p:cNvPr>
          <p:cNvCxnSpPr/>
          <p:nvPr/>
        </p:nvCxnSpPr>
        <p:spPr>
          <a:xfrm>
            <a:off x="5531224" y="3774141"/>
            <a:ext cx="986117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A7C1FA-2524-422C-B83B-C2876D280E86}"/>
              </a:ext>
            </a:extLst>
          </p:cNvPr>
          <p:cNvSpPr txBox="1"/>
          <p:nvPr/>
        </p:nvSpPr>
        <p:spPr>
          <a:xfrm>
            <a:off x="7252447" y="4543425"/>
            <a:ext cx="3158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Loop in foo was optimized 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CF970-816F-4F70-9D39-66A2C6783DBD}"/>
              </a:ext>
            </a:extLst>
          </p:cNvPr>
          <p:cNvSpPr txBox="1"/>
          <p:nvPr/>
        </p:nvSpPr>
        <p:spPr>
          <a:xfrm>
            <a:off x="8677835" y="2243929"/>
            <a:ext cx="233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https://godbolt.org/z/MM7Tchx49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652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37B0-B911-4403-B700-3797F770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014B8-8AF4-4AD9-BE96-D8C52197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authoritative coding guidelines suggest to localize functions:</a:t>
            </a:r>
          </a:p>
          <a:p>
            <a:pPr lvl="1"/>
            <a:r>
              <a:rPr lang="en-US" dirty="0">
                <a:hlinkClick r:id="rId2"/>
              </a:rPr>
              <a:t>Google C++ Style Guide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LLVM Coding Standard</a:t>
            </a:r>
            <a:r>
              <a:rPr lang="en-US" dirty="0"/>
              <a:t> (Restrict Visibility)</a:t>
            </a:r>
          </a:p>
          <a:p>
            <a:pPr lvl="1"/>
            <a:r>
              <a:rPr lang="en-US" dirty="0">
                <a:hlinkClick r:id="rId4"/>
              </a:rPr>
              <a:t>C++ Core Guidelines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Chromium C++ Style Guide</a:t>
            </a:r>
            <a:endParaRPr lang="en-US" dirty="0"/>
          </a:p>
          <a:p>
            <a:r>
              <a:rPr lang="en-US" dirty="0"/>
              <a:t>No way to localize private class methods in C++</a:t>
            </a:r>
          </a:p>
          <a:p>
            <a:pPr lvl="1"/>
            <a:r>
              <a:rPr lang="en-US" dirty="0">
                <a:hlinkClick r:id="rId6"/>
              </a:rPr>
              <a:t>Prototype optimization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6D27-2321-4B0F-A031-DEA90CB4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204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80-90% of functions in Rust programs are local</a:t>
            </a:r>
          </a:p>
          <a:p>
            <a:pPr lvl="1"/>
            <a:r>
              <a:rPr lang="en-US" dirty="0"/>
              <a:t>Statistics collected via </a:t>
            </a:r>
            <a:r>
              <a:rPr lang="en-US" dirty="0">
                <a:hlinkClick r:id="rId2"/>
              </a:rPr>
              <a:t>this patch</a:t>
            </a:r>
            <a:endParaRPr lang="en-US" dirty="0"/>
          </a:p>
          <a:p>
            <a:r>
              <a:rPr lang="en-US" dirty="0"/>
              <a:t>In C/C++ results depend on the project:</a:t>
            </a:r>
          </a:p>
          <a:p>
            <a:pPr lvl="1"/>
            <a:r>
              <a:rPr lang="en-US" dirty="0"/>
              <a:t>80-90% (clang, </a:t>
            </a:r>
            <a:r>
              <a:rPr lang="en-US" dirty="0" err="1"/>
              <a:t>ffmpeg</a:t>
            </a:r>
            <a:r>
              <a:rPr lang="en-US" dirty="0"/>
              <a:t>, git, </a:t>
            </a:r>
            <a:r>
              <a:rPr lang="en-US" dirty="0" err="1"/>
              <a:t>opencv</a:t>
            </a:r>
            <a:r>
              <a:rPr lang="en-US" dirty="0"/>
              <a:t>, bitcoin)</a:t>
            </a:r>
          </a:p>
          <a:p>
            <a:pPr lvl="1"/>
            <a:r>
              <a:rPr lang="en-US" dirty="0"/>
              <a:t>40-50% (</a:t>
            </a:r>
            <a:r>
              <a:rPr lang="en-US" dirty="0" err="1"/>
              <a:t>openssl</a:t>
            </a:r>
            <a:r>
              <a:rPr lang="en-US" dirty="0"/>
              <a:t>, </a:t>
            </a:r>
            <a:r>
              <a:rPr lang="en-US" dirty="0" err="1"/>
              <a:t>tmux</a:t>
            </a:r>
            <a:r>
              <a:rPr lang="en-US" dirty="0"/>
              <a:t>, </a:t>
            </a:r>
            <a:r>
              <a:rPr lang="en-US" dirty="0" err="1"/>
              <a:t>gcc</a:t>
            </a:r>
            <a:r>
              <a:rPr lang="en-US" dirty="0"/>
              <a:t>, </a:t>
            </a:r>
            <a:r>
              <a:rPr lang="en-US" dirty="0" err="1"/>
              <a:t>libuv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(Statistics collected with </a:t>
            </a:r>
            <a:r>
              <a:rPr lang="en-US" dirty="0">
                <a:hlinkClick r:id="rId3"/>
              </a:rPr>
              <a:t>Localizer</a:t>
            </a:r>
            <a:r>
              <a:rPr lang="en-US" dirty="0"/>
              <a:t> tool)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757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Slowdown with disabled localization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11507-4C9E-4E12-9FA3-5A7C6F5D4C70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patch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29A0A-1715-4F90-976F-4F97481F0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57" y="1666545"/>
            <a:ext cx="6258485" cy="50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981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localization allows compiler to generate much more performant code (over 5%)</a:t>
            </a:r>
          </a:p>
          <a:p>
            <a:r>
              <a:rPr lang="en-US" dirty="0"/>
              <a:t>Rust</a:t>
            </a:r>
            <a:r>
              <a:rPr lang="ru-RU" dirty="0"/>
              <a:t> </a:t>
            </a:r>
            <a:r>
              <a:rPr lang="en-US" dirty="0"/>
              <a:t>has more optimal performance-wise defaults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364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Efficient C Tips #5 – Make ‘local’ functions ‘static’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671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inplace</a:t>
            </a:r>
            <a:r>
              <a:rPr lang="en-US" dirty="0"/>
              <a:t>-initialization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0D7BC-3079-43E1-9B1E-FF3C0415090F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</a:t>
            </a:r>
            <a:r>
              <a:rPr lang="ru-RU" dirty="0"/>
              <a:t> </a:t>
            </a:r>
            <a:r>
              <a:rPr lang="en-US" dirty="0">
                <a:hlinkClick r:id="rId3"/>
              </a:rPr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089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C++ has placement-new</a:t>
            </a:r>
            <a:r>
              <a:rPr lang="ru-RU" dirty="0"/>
              <a:t> </a:t>
            </a:r>
            <a:r>
              <a:rPr lang="en-US" dirty="0"/>
              <a:t>mechanism for constructing objects in arbitrary memory buffer: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some_alloc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Or std::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construct_at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Complemented by perfect forwarding: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vector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LargeStruct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emplace_back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large_struct_initializer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/>
              <a:t>Rust</a:t>
            </a:r>
            <a:r>
              <a:rPr lang="ru-RU" dirty="0"/>
              <a:t> </a:t>
            </a:r>
            <a:r>
              <a:rPr lang="en-US" dirty="0"/>
              <a:t>lacks similar mechanism</a:t>
            </a:r>
          </a:p>
          <a:p>
            <a:pPr lvl="1"/>
            <a:r>
              <a:rPr lang="en-US" dirty="0"/>
              <a:t>Caused by mandatory object initialization</a:t>
            </a:r>
            <a:endParaRPr lang="ru-RU" dirty="0"/>
          </a:p>
          <a:p>
            <a:r>
              <a:rPr lang="en-US" dirty="0"/>
              <a:t>Problem: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Can compiler eliminate copy (from stack to heap)?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Box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LargeStruct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055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9912-E47F-465D-B5E9-9DA23CC8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Why placement new is needed?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AE5A7-E870-4CAE-9836-F16430C4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F0AB8-FDCA-4A97-847D-92708C058B90}"/>
              </a:ext>
            </a:extLst>
          </p:cNvPr>
          <p:cNvSpPr txBox="1"/>
          <p:nvPr/>
        </p:nvSpPr>
        <p:spPr>
          <a:xfrm>
            <a:off x="591670" y="2151727"/>
            <a:ext cx="58360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&lt;[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cfg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fast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into_boxed_slice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Problematic copy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1B96D-216D-4F8C-B91E-D15574AC0421}"/>
              </a:ext>
            </a:extLst>
          </p:cNvPr>
          <p:cNvSpPr txBox="1"/>
          <p:nvPr/>
        </p:nvSpPr>
        <p:spPr>
          <a:xfrm>
            <a:off x="6669741" y="2151727"/>
            <a:ext cx="506505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Can compiler eliminate copy?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LIMIT=$((8 * 1024))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+baseline -O test.rs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ulimit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-s $ LIMIT; ./test)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thread 'main' has overflowed its stack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fatal runtime error: stack overflow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Works with dedicated non-copying API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+baseline --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cfg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fast -O test.rs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ulimit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-s $ LIMIT; ./test)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8082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9912-E47F-465D-B5E9-9DA23CC8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Why placement new is needed?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AE5A7-E870-4CAE-9836-F16430C4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55D0E-2790-4C42-875A-1A07A0FEC217}"/>
              </a:ext>
            </a:extLst>
          </p:cNvPr>
          <p:cNvSpPr txBox="1"/>
          <p:nvPr/>
        </p:nvSpPr>
        <p:spPr>
          <a:xfrm>
            <a:off x="838200" y="994024"/>
            <a:ext cx="5257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vals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{};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default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default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fill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vals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begin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vals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vector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reserve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NITER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size_t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NITER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#ifdef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USE_PLACEMENT_NEW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emplace_back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#else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push_back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#endif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asm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"r"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"memory"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979A6-9396-4718-88E1-2B061C27ABBD}"/>
              </a:ext>
            </a:extLst>
          </p:cNvPr>
          <p:cNvSpPr txBox="1"/>
          <p:nvPr/>
        </p:nvSpPr>
        <p:spPr>
          <a:xfrm>
            <a:off x="5100917" y="4347881"/>
            <a:ext cx="3594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USE_PLACEMENT_NEW ~</a:t>
            </a:r>
            <a:r>
              <a:rPr lang="ru-RU" sz="2400" dirty="0">
                <a:solidFill>
                  <a:srgbClr val="FF0000"/>
                </a:solidFill>
              </a:rPr>
              <a:t>10%</a:t>
            </a:r>
            <a:r>
              <a:rPr lang="en-US" sz="2400" dirty="0">
                <a:solidFill>
                  <a:srgbClr val="FF0000"/>
                </a:solidFill>
              </a:rPr>
              <a:t> faster</a:t>
            </a:r>
            <a:r>
              <a:rPr lang="ru-RU" sz="2400" dirty="0">
                <a:solidFill>
                  <a:srgbClr val="FF0000"/>
                </a:solidFill>
              </a:rPr>
              <a:t>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9110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Move/copy elision</a:t>
            </a:r>
          </a:p>
          <a:p>
            <a:pPr lvl="1"/>
            <a:r>
              <a:rPr lang="en-US" dirty="0"/>
              <a:t>Detects and removes redundant moves and copies</a:t>
            </a:r>
          </a:p>
          <a:p>
            <a:r>
              <a:rPr lang="en-US" dirty="0"/>
              <a:t>Can work more aggressively (compared to C++)</a:t>
            </a:r>
          </a:p>
          <a:p>
            <a:pPr lvl="1"/>
            <a:r>
              <a:rPr lang="en-US" dirty="0"/>
              <a:t>High-level IR (MIR)</a:t>
            </a:r>
          </a:p>
          <a:p>
            <a:pPr lvl="1"/>
            <a:r>
              <a:rPr lang="en-US" dirty="0"/>
              <a:t>Shallow move/copy (essentially move/copy in Rust is just a </a:t>
            </a:r>
            <a:r>
              <a:rPr lang="en-US" dirty="0" err="1"/>
              <a:t>memcpy</a:t>
            </a:r>
            <a:r>
              <a:rPr lang="en-US" dirty="0"/>
              <a:t>)</a:t>
            </a:r>
          </a:p>
          <a:p>
            <a:r>
              <a:rPr lang="en-US" dirty="0"/>
              <a:t>Modern C++</a:t>
            </a:r>
            <a:r>
              <a:rPr lang="ru-RU" dirty="0"/>
              <a:t> </a:t>
            </a:r>
            <a:r>
              <a:rPr lang="en-US" dirty="0"/>
              <a:t>compilers do not support complete copy elision optimization</a:t>
            </a:r>
            <a:endParaRPr lang="ru-RU" dirty="0"/>
          </a:p>
          <a:p>
            <a:pPr lvl="1"/>
            <a:r>
              <a:rPr lang="en-US" dirty="0"/>
              <a:t>Only limited optimizations like RVO, NRVO, etc.</a:t>
            </a:r>
          </a:p>
          <a:p>
            <a:pPr lvl="1"/>
            <a:r>
              <a:rPr lang="en-US" dirty="0"/>
              <a:t>Mainly due to lack of high-level IR (</a:t>
            </a:r>
            <a:r>
              <a:rPr lang="en-US" dirty="0" err="1"/>
              <a:t>ClangIR</a:t>
            </a:r>
            <a:r>
              <a:rPr lang="en-US" dirty="0"/>
              <a:t> to the rescue?)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Ultimate Copy Elision</a:t>
            </a:r>
            <a:r>
              <a:rPr lang="en-US" dirty="0"/>
              <a:t> work by Roman </a:t>
            </a:r>
            <a:r>
              <a:rPr lang="en-US" dirty="0" err="1"/>
              <a:t>Rusyaev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GitHub</a:t>
            </a:r>
            <a:r>
              <a:rPr lang="en-US" dirty="0"/>
              <a:t>)</a:t>
            </a:r>
          </a:p>
          <a:p>
            <a:r>
              <a:rPr lang="en-US" dirty="0"/>
              <a:t>Implementation in compiler:</a:t>
            </a:r>
          </a:p>
          <a:p>
            <a:pPr lvl="1"/>
            <a:r>
              <a:rPr lang="en-US" dirty="0"/>
              <a:t>MIR (high-level IR): </a:t>
            </a:r>
            <a:r>
              <a:rPr lang="en-US" dirty="0" err="1"/>
              <a:t>CopyProp</a:t>
            </a:r>
            <a:r>
              <a:rPr lang="en-US" dirty="0"/>
              <a:t>, </a:t>
            </a:r>
            <a:r>
              <a:rPr lang="en-US" dirty="0" err="1"/>
              <a:t>DeadStoreElimination</a:t>
            </a:r>
            <a:r>
              <a:rPr lang="en-US" dirty="0"/>
              <a:t>, </a:t>
            </a:r>
            <a:r>
              <a:rPr lang="en-US" dirty="0" err="1"/>
              <a:t>DestinationPropagation</a:t>
            </a:r>
            <a:r>
              <a:rPr lang="en-US" dirty="0"/>
              <a:t>, </a:t>
            </a:r>
            <a:r>
              <a:rPr lang="en-US" dirty="0" err="1"/>
              <a:t>RenameReturnPlace</a:t>
            </a:r>
            <a:endParaRPr lang="en-US" dirty="0"/>
          </a:p>
          <a:p>
            <a:pPr lvl="1"/>
            <a:r>
              <a:rPr lang="en-US" dirty="0"/>
              <a:t>LLVM: </a:t>
            </a:r>
            <a:r>
              <a:rPr lang="en-US" dirty="0" err="1"/>
              <a:t>MemCpyOptPass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3C1F6-C5DD-4614-B2F1-6ECD74190FB0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357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move/copy elision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Depends on compiler version</a:t>
            </a:r>
          </a:p>
          <a:p>
            <a:pPr lvl="1"/>
            <a:r>
              <a:rPr lang="en-US" dirty="0"/>
              <a:t>Not always monotonically</a:t>
            </a:r>
          </a:p>
          <a:p>
            <a:r>
              <a:rPr lang="en-US" dirty="0"/>
              <a:t>Works only for release builds</a:t>
            </a:r>
            <a:endParaRPr lang="ru-RU" dirty="0"/>
          </a:p>
          <a:p>
            <a:pPr lvl="1"/>
            <a:r>
              <a:rPr lang="en-US" dirty="0"/>
              <a:t>Copies in debug builds are not optimized and may cause stack overflow or significant slowdown</a:t>
            </a:r>
          </a:p>
          <a:p>
            <a:r>
              <a:rPr lang="en-US" dirty="0"/>
              <a:t>Language support for </a:t>
            </a:r>
            <a:r>
              <a:rPr lang="en-US" dirty="0" err="1"/>
              <a:t>inplace</a:t>
            </a:r>
            <a:r>
              <a:rPr lang="en-US" dirty="0"/>
              <a:t>-initialization is one of </a:t>
            </a:r>
            <a:r>
              <a:rPr lang="ru-RU" dirty="0"/>
              <a:t> </a:t>
            </a:r>
            <a:r>
              <a:rPr lang="en-US" dirty="0"/>
              <a:t>project goals in </a:t>
            </a:r>
            <a:r>
              <a:rPr lang="ru-RU" dirty="0"/>
              <a:t>2026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In-place initialization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36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for mandatory initialization:</a:t>
            </a:r>
          </a:p>
          <a:p>
            <a:pPr lvl="1"/>
            <a:r>
              <a:rPr lang="en-US" dirty="0"/>
              <a:t>Use dedicated APIs to create uninitialized buffers and then initialize them: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Box</a:t>
            </a:r>
            <a:r>
              <a:rPr lang="en-US" dirty="0"/>
              <a:t>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Rc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new_uninit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Vec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with_capacity</a:t>
            </a:r>
            <a:r>
              <a:rPr lang="en-US" dirty="0"/>
              <a:t>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set_len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Also other APIs e.g.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Vec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into_boxed_slice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325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Copy elision has more opportunities in Rust than in C++</a:t>
            </a:r>
          </a:p>
          <a:p>
            <a:r>
              <a:rPr lang="en-US" dirty="0"/>
              <a:t>But can’t fully compensate for lack of language support for </a:t>
            </a:r>
            <a:r>
              <a:rPr lang="en-US" dirty="0" err="1"/>
              <a:t>inplace</a:t>
            </a:r>
            <a:r>
              <a:rPr lang="en-US" dirty="0"/>
              <a:t> initialization</a:t>
            </a:r>
          </a:p>
          <a:p>
            <a:pPr lvl="1"/>
            <a:r>
              <a:rPr lang="en-US" dirty="0"/>
              <a:t>Like placement new and</a:t>
            </a:r>
            <a:r>
              <a:rPr lang="ru-RU" dirty="0"/>
              <a:t> </a:t>
            </a:r>
            <a:r>
              <a:rPr lang="en-US" dirty="0"/>
              <a:t>perfect forwarding</a:t>
            </a:r>
            <a:endParaRPr lang="ru-RU" dirty="0"/>
          </a:p>
          <a:p>
            <a:r>
              <a:rPr lang="en-US" dirty="0"/>
              <a:t>Language developers are aware of this problem and try to solve it:</a:t>
            </a:r>
            <a:endParaRPr lang="ru-RU" dirty="0"/>
          </a:p>
          <a:p>
            <a:pPr lvl="1"/>
            <a:r>
              <a:rPr lang="en-US" dirty="0">
                <a:hlinkClick r:id="rId2"/>
              </a:rPr>
              <a:t>Rust Project Goals 2026: In-place initialization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Rust Project Goals 2026: MIR move elimination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032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Ultimate Copy Elision</a:t>
            </a:r>
            <a:endParaRPr lang="en-US" dirty="0"/>
          </a:p>
          <a:p>
            <a:pPr lvl="1"/>
            <a:r>
              <a:rPr lang="en-US" dirty="0"/>
              <a:t>Comprehensive overview of C++ copy elision by Roman </a:t>
            </a:r>
            <a:r>
              <a:rPr lang="en-US" dirty="0" err="1"/>
              <a:t>Rusyaev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980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optimizations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B10AC-2DD3-4AB7-B7B0-997763F0771F}"/>
              </a:ext>
            </a:extLst>
          </p:cNvPr>
          <p:cNvSpPr txBox="1"/>
          <p:nvPr/>
        </p:nvSpPr>
        <p:spPr>
          <a:xfrm>
            <a:off x="180975" y="6211669"/>
            <a:ext cx="1755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r>
              <a:rPr lang="en-US" dirty="0"/>
              <a:t> (not filled yet)</a:t>
            </a:r>
          </a:p>
        </p:txBody>
      </p:sp>
    </p:spTree>
    <p:extLst>
      <p:ext uri="{BB962C8B-B14F-4D97-AF65-F5344CB8AC3E}">
        <p14:creationId xmlns:p14="http://schemas.microsoft.com/office/powerpoint/2010/main" val="20886308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048EE-7229-4F4F-80AB-E74BF13B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of structure fields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3C473F-79B1-47BE-8F8D-89A447B7E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7664" cy="2897377"/>
          </a:xfrm>
        </p:spPr>
        <p:txBody>
          <a:bodyPr>
            <a:normAutofit/>
          </a:bodyPr>
          <a:lstStyle/>
          <a:p>
            <a:r>
              <a:rPr lang="en-US" dirty="0"/>
              <a:t>Many languages (C, C++, C#, Swift) preserve order of fields in structures according to source code</a:t>
            </a:r>
            <a:endParaRPr lang="ru-RU" dirty="0"/>
          </a:p>
          <a:p>
            <a:r>
              <a:rPr lang="en-US" dirty="0"/>
              <a:t>Fields need to be properly aligned by adding padding bytes in between</a:t>
            </a:r>
            <a:endParaRPr lang="ru-RU" dirty="0"/>
          </a:p>
          <a:p>
            <a:pPr lvl="1"/>
            <a:r>
              <a:rPr lang="en-US" dirty="0"/>
              <a:t>Alignment is necessary due to HW constraints</a:t>
            </a:r>
          </a:p>
          <a:p>
            <a:pPr lvl="1"/>
            <a:r>
              <a:rPr lang="en-US" dirty="0"/>
              <a:t>Unaligned memory access may cause exception or slowdown</a:t>
            </a:r>
          </a:p>
          <a:p>
            <a:r>
              <a:rPr lang="en-US" dirty="0"/>
              <a:t>Alignment speeds up access to fields but reduces D$ locality</a:t>
            </a:r>
            <a:endParaRPr lang="ru-RU" dirty="0"/>
          </a:p>
        </p:txBody>
      </p:sp>
      <p:sp>
        <p:nvSpPr>
          <p:cNvPr id="4" name="AutoShape 2" descr="Structure with ineffective member placement">
            <a:extLst>
              <a:ext uri="{FF2B5EF4-FFF2-40B4-BE49-F238E27FC236}">
                <a16:creationId xmlns:a16="http://schemas.microsoft.com/office/drawing/2014/main" id="{3610C219-D068-4ABA-A7AE-DA35D1151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Structure with ineffective member placement">
            <a:extLst>
              <a:ext uri="{FF2B5EF4-FFF2-40B4-BE49-F238E27FC236}">
                <a16:creationId xmlns:a16="http://schemas.microsoft.com/office/drawing/2014/main" id="{DD15E656-A954-41EC-BE78-8F7ED23463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455557-A721-4000-A21D-12CE9093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465" y="5280345"/>
            <a:ext cx="6124575" cy="34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CB2D5-39BD-4A9B-882B-994A50565F4E}"/>
              </a:ext>
            </a:extLst>
          </p:cNvPr>
          <p:cNvSpPr txBox="1"/>
          <p:nvPr/>
        </p:nvSpPr>
        <p:spPr>
          <a:xfrm>
            <a:off x="1603673" y="4786221"/>
            <a:ext cx="27746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RandomOrder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m_byte1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uint64_t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m_long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m_byte2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m_int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m_byte3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CC3C9-398B-4DF5-A6AF-56ACCD1B5A26}"/>
              </a:ext>
            </a:extLst>
          </p:cNvPr>
          <p:cNvSpPr txBox="1"/>
          <p:nvPr/>
        </p:nvSpPr>
        <p:spPr>
          <a:xfrm>
            <a:off x="10942040" y="6523489"/>
            <a:ext cx="124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Image source</a:t>
            </a:r>
            <a:endParaRPr lang="ru-RU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27CF4-5E0A-4B1E-80DC-87441B17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890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51610-B8D9-422F-A976-3068047D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in Rust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D4A3CA-E3AC-4BCC-98A4-A1B15B38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Rust ABI </a:t>
            </a:r>
            <a:r>
              <a:rPr lang="en-US" dirty="0"/>
              <a:t>does not guarantee order of fields in structs</a:t>
            </a:r>
          </a:p>
          <a:p>
            <a:r>
              <a:rPr lang="en-US" dirty="0"/>
              <a:t>This allows compiler to freely modify it</a:t>
            </a:r>
            <a:endParaRPr lang="ru-RU" dirty="0"/>
          </a:p>
          <a:p>
            <a:r>
              <a:rPr lang="en-US" dirty="0"/>
              <a:t>Fields can be reordered to</a:t>
            </a:r>
            <a:endParaRPr lang="ru-RU" dirty="0"/>
          </a:p>
          <a:p>
            <a:pPr lvl="1"/>
            <a:r>
              <a:rPr lang="en-US" dirty="0"/>
              <a:t>Reduce D$ pressure </a:t>
            </a:r>
            <a:r>
              <a:rPr lang="ru-RU" dirty="0"/>
              <a:t>(</a:t>
            </a:r>
            <a:r>
              <a:rPr lang="en-US" dirty="0"/>
              <a:t>by reducing amount of padding)</a:t>
            </a:r>
            <a:endParaRPr lang="ru-RU" dirty="0"/>
          </a:p>
          <a:p>
            <a:pPr lvl="1"/>
            <a:r>
              <a:rPr lang="en-US" dirty="0"/>
              <a:t>Optimize placement of niches </a:t>
            </a:r>
            <a:r>
              <a:rPr lang="ru-RU" dirty="0"/>
              <a:t>(</a:t>
            </a:r>
            <a:r>
              <a:rPr lang="en-US" dirty="0"/>
              <a:t>see below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In theory compiler could also co-allocate fields that are frequently used together</a:t>
            </a:r>
            <a:endParaRPr lang="ru-RU" dirty="0"/>
          </a:p>
          <a:p>
            <a:pPr lvl="1"/>
            <a:r>
              <a:rPr lang="en-US" dirty="0"/>
              <a:t>Could be enabled via PGO or static analysis (like -</a:t>
            </a:r>
            <a:r>
              <a:rPr lang="en-US" dirty="0" err="1"/>
              <a:t>fipa</a:t>
            </a:r>
            <a:r>
              <a:rPr lang="en-US" dirty="0"/>
              <a:t>-struct-reorg in GCC)</a:t>
            </a:r>
          </a:p>
          <a:p>
            <a:r>
              <a:rPr lang="en-US" dirty="0"/>
              <a:t>And extract rarely used fields (structure peeling)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B5C86-873D-4A3E-A0A1-7478DC57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300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C335C-1706-4E27-BC4E-3DEF1CFF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optimizations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2A78B-FACD-4265-BA5E-6E703B420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865660" cy="4351338"/>
          </a:xfrm>
        </p:spPr>
        <p:txBody>
          <a:bodyPr/>
          <a:lstStyle/>
          <a:p>
            <a:r>
              <a:rPr lang="en-US" dirty="0"/>
              <a:t>Struct fields are sorted according to decreasing alignment to reduce struct size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C523C-30BB-41C2-8A3B-61158656C906}"/>
              </a:ext>
            </a:extLst>
          </p:cNvPr>
          <p:cNvSpPr txBox="1"/>
          <p:nvPr/>
        </p:nvSpPr>
        <p:spPr>
          <a:xfrm>
            <a:off x="476118" y="4181857"/>
            <a:ext cx="29843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endParaRPr lang="en-US" sz="14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 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 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31E04-8235-48E3-9BA6-7C9FBBD66539}"/>
              </a:ext>
            </a:extLst>
          </p:cNvPr>
          <p:cNvSpPr txBox="1"/>
          <p:nvPr/>
        </p:nvSpPr>
        <p:spPr>
          <a:xfrm>
            <a:off x="4411583" y="2903954"/>
            <a:ext cx="25942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16 bytes 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A28FD-A5B0-4274-A4AF-F4FEF13A3598}"/>
              </a:ext>
            </a:extLst>
          </p:cNvPr>
          <p:cNvSpPr txBox="1"/>
          <p:nvPr/>
        </p:nvSpPr>
        <p:spPr>
          <a:xfrm>
            <a:off x="8358519" y="2719288"/>
            <a:ext cx="22377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#[repr(C)]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24 bytes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F710E-19F3-4BF0-AC03-8EE50F058B77}"/>
              </a:ext>
            </a:extLst>
          </p:cNvPr>
          <p:cNvSpPr txBox="1"/>
          <p:nvPr/>
        </p:nvSpPr>
        <p:spPr>
          <a:xfrm>
            <a:off x="3993377" y="4196646"/>
            <a:ext cx="36929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movzx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byte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+ 10]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74B58-BB2B-4F14-89AD-0B335141A7E8}"/>
              </a:ext>
            </a:extLst>
          </p:cNvPr>
          <p:cNvSpPr txBox="1"/>
          <p:nvPr/>
        </p:nvSpPr>
        <p:spPr>
          <a:xfrm>
            <a:off x="7945902" y="4196646"/>
            <a:ext cx="4007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movzx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byte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+ 16]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67809-EB9C-4EAF-AEF0-967C81DE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B7FD14-83DF-4042-B41E-DAF7CBAD5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967" y="241985"/>
            <a:ext cx="1609950" cy="1571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5B2FDF-7C61-4C6A-9F8B-221720421503}"/>
              </a:ext>
            </a:extLst>
          </p:cNvPr>
          <p:cNvSpPr txBox="1"/>
          <p:nvPr/>
        </p:nvSpPr>
        <p:spPr>
          <a:xfrm>
            <a:off x="187962" y="6492875"/>
            <a:ext cx="4410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Jeffrey </a:t>
            </a:r>
            <a:r>
              <a:rPr lang="en-US" sz="1000" dirty="0" err="1"/>
              <a:t>Bary</a:t>
            </a:r>
            <a:r>
              <a:rPr lang="en-US" sz="1000" dirty="0"/>
              <a:t>, </a:t>
            </a:r>
            <a:r>
              <a:rPr lang="en-US" sz="1000" dirty="0">
                <a:hlinkClick r:id="rId3"/>
              </a:rPr>
              <a:t>https://www.flickr.com/photos/70118259@N00/3173642531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A2D69B-DC09-40CC-A195-1CCE43202DB1}"/>
              </a:ext>
            </a:extLst>
          </p:cNvPr>
          <p:cNvSpPr txBox="1"/>
          <p:nvPr/>
        </p:nvSpPr>
        <p:spPr>
          <a:xfrm>
            <a:off x="4674416" y="5552857"/>
            <a:ext cx="233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https://godbolt.org/z/MxYh7bv34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4E9DAF-194A-495D-891A-2789496E3047}"/>
              </a:ext>
            </a:extLst>
          </p:cNvPr>
          <p:cNvSpPr txBox="1"/>
          <p:nvPr/>
        </p:nvSpPr>
        <p:spPr>
          <a:xfrm>
            <a:off x="8274424" y="5552217"/>
            <a:ext cx="2321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https://godbolt.org/z/GMoejn7rd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0209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25E86-AAF1-4EAF-A00D-9623D134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status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64C00-1F57-488C-B3C1-7CB36AA6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static analyzers detect suboptimal field order:</a:t>
            </a:r>
            <a:endParaRPr lang="ru-RU" dirty="0"/>
          </a:p>
          <a:p>
            <a:pPr lvl="1"/>
            <a:r>
              <a:rPr lang="en-US" dirty="0"/>
              <a:t>-</a:t>
            </a:r>
            <a:r>
              <a:rPr lang="en-US" dirty="0" err="1"/>
              <a:t>Wpadded</a:t>
            </a:r>
            <a:r>
              <a:rPr lang="en-US" dirty="0"/>
              <a:t>, clang-tidy</a:t>
            </a:r>
            <a:r>
              <a:rPr lang="ru-RU" dirty="0"/>
              <a:t>, </a:t>
            </a:r>
            <a:r>
              <a:rPr lang="en-US" dirty="0"/>
              <a:t>PVS-studio, etc.</a:t>
            </a:r>
          </a:p>
          <a:p>
            <a:pPr lvl="1"/>
            <a:r>
              <a:rPr lang="en-US" dirty="0" err="1"/>
              <a:t>Pahole</a:t>
            </a:r>
            <a:r>
              <a:rPr lang="en-US" dirty="0"/>
              <a:t> (uses </a:t>
            </a:r>
            <a:r>
              <a:rPr lang="en-US" dirty="0" err="1"/>
              <a:t>debuginfo</a:t>
            </a:r>
            <a:r>
              <a:rPr lang="en-US" dirty="0"/>
              <a:t>)</a:t>
            </a:r>
          </a:p>
          <a:p>
            <a:r>
              <a:rPr lang="en-US" dirty="0"/>
              <a:t>clang-reorder-fields – LLVM-based tool for reordering fields to minimize padding</a:t>
            </a:r>
          </a:p>
          <a:p>
            <a:r>
              <a:rPr lang="en-US" dirty="0"/>
              <a:t>In theory with Fat LTO compiler could reorder fields automatically</a:t>
            </a:r>
            <a:endParaRPr lang="ru-RU" dirty="0"/>
          </a:p>
          <a:p>
            <a:pPr lvl="1"/>
            <a:r>
              <a:rPr lang="en-US" dirty="0"/>
              <a:t>Already done in LCC compiler for Elbrus</a:t>
            </a:r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3A522-AC3C-44F1-8E3E-8364EF00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624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86CB3-CA98-4D5C-9B68-DF83F5F6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17"/>
            <a:ext cx="10515600" cy="1325563"/>
          </a:xfrm>
        </p:spPr>
        <p:txBody>
          <a:bodyPr/>
          <a:lstStyle/>
          <a:p>
            <a:r>
              <a:rPr lang="en-US" dirty="0"/>
              <a:t>Internals of Rust </a:t>
            </a:r>
            <a:r>
              <a:rPr lang="en-US" dirty="0" err="1"/>
              <a:t>enums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C07E6B-7EC2-45BD-B980-C5C37E47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080"/>
            <a:ext cx="11049000" cy="4351338"/>
          </a:xfrm>
        </p:spPr>
        <p:txBody>
          <a:bodyPr/>
          <a:lstStyle/>
          <a:p>
            <a:r>
              <a:rPr lang="en-US" dirty="0"/>
              <a:t>Rust </a:t>
            </a:r>
            <a:r>
              <a:rPr lang="en-US" dirty="0" err="1"/>
              <a:t>enums</a:t>
            </a:r>
            <a:r>
              <a:rPr lang="en-US" dirty="0"/>
              <a:t> are analogous to std::variant in C++</a:t>
            </a:r>
          </a:p>
          <a:p>
            <a:r>
              <a:rPr lang="en-US" dirty="0"/>
              <a:t>The may contain different types, identified by hidden tag field</a:t>
            </a:r>
            <a:endParaRPr lang="ru-RU" dirty="0"/>
          </a:p>
          <a:p>
            <a:r>
              <a:rPr lang="en-US" dirty="0"/>
              <a:t>Enum object consists of</a:t>
            </a:r>
            <a:endParaRPr lang="ru-RU" dirty="0"/>
          </a:p>
          <a:p>
            <a:pPr lvl="1"/>
            <a:r>
              <a:rPr lang="en-US" dirty="0"/>
              <a:t>Tag (or discriminant) – index of actual type</a:t>
            </a:r>
            <a:endParaRPr lang="ru-RU" dirty="0"/>
          </a:p>
          <a:p>
            <a:pPr lvl="1"/>
            <a:r>
              <a:rPr lang="en-US" dirty="0"/>
              <a:t>This type’s data</a:t>
            </a:r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83A7C-41A1-4006-BC2B-7DE3ACD76820}"/>
              </a:ext>
            </a:extLst>
          </p:cNvPr>
          <p:cNvSpPr txBox="1"/>
          <p:nvPr/>
        </p:nvSpPr>
        <p:spPr>
          <a:xfrm>
            <a:off x="5815668" y="4077260"/>
            <a:ext cx="46454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mov     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mov     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5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+ 4]</a:t>
            </a:r>
          </a:p>
          <a:p>
            <a:r>
              <a:rPr lang="en-US" sz="15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053054-EF4D-495B-ADD6-1ECD0C6E207B}"/>
              </a:ext>
            </a:extLst>
          </p:cNvPr>
          <p:cNvSpPr txBox="1"/>
          <p:nvPr/>
        </p:nvSpPr>
        <p:spPr>
          <a:xfrm>
            <a:off x="784963" y="3781425"/>
            <a:ext cx="327240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5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5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5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match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..}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..}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5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5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en-US" sz="1500" b="0" dirty="0">
              <a:solidFill>
                <a:srgbClr val="0070C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D7ED05-5C62-423B-ADB7-4BE3CBF50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2515" y="5458652"/>
            <a:ext cx="6231709" cy="809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BFF70-C917-4AE8-88F0-D0A4481E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7DDAA-7BDC-48E5-BE78-367B805A8794}"/>
              </a:ext>
            </a:extLst>
          </p:cNvPr>
          <p:cNvSpPr txBox="1"/>
          <p:nvPr/>
        </p:nvSpPr>
        <p:spPr>
          <a:xfrm>
            <a:off x="6990886" y="3526865"/>
            <a:ext cx="2294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https://godbolt.org/z/n8a1x9nWr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645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E987B-1D83-44ED-96AA-CD1B807A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Niches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B1B54-A130-4A7D-A393-F4253196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 bit combinations may not correspond to any valid value of encoded type</a:t>
            </a:r>
            <a:endParaRPr lang="ru-RU" dirty="0"/>
          </a:p>
          <a:p>
            <a:r>
              <a:rPr lang="en-US" dirty="0"/>
              <a:t>For example</a:t>
            </a:r>
            <a:endParaRPr lang="ru-RU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x</a:t>
            </a:r>
            <a:r>
              <a:rPr lang="en-US" dirty="0"/>
              <a:t> or</a:t>
            </a:r>
            <a:r>
              <a:rPr lang="ru-RU" dirty="0"/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NonZero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rgbClr val="C00000"/>
                </a:solidFill>
              </a:rPr>
              <a:t>i32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ru-RU" dirty="0"/>
              <a:t> </a:t>
            </a:r>
            <a:r>
              <a:rPr lang="en-US" dirty="0"/>
              <a:t>may not be zero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bool</a:t>
            </a:r>
            <a:r>
              <a:rPr lang="en-US" dirty="0"/>
              <a:t> (8</a:t>
            </a:r>
            <a:r>
              <a:rPr lang="ru-RU" dirty="0"/>
              <a:t> </a:t>
            </a:r>
            <a:r>
              <a:rPr lang="en-US" dirty="0"/>
              <a:t>bits</a:t>
            </a:r>
            <a:r>
              <a:rPr lang="ru-RU" dirty="0"/>
              <a:t>) </a:t>
            </a:r>
            <a:r>
              <a:rPr lang="en-US" dirty="0"/>
              <a:t>can only be 0b0 or 0b1</a:t>
            </a:r>
            <a:endParaRPr lang="ru-RU" dirty="0"/>
          </a:p>
          <a:p>
            <a:pPr lvl="2"/>
            <a:r>
              <a:rPr lang="en-US" dirty="0"/>
              <a:t>Remaining </a:t>
            </a:r>
            <a:r>
              <a:rPr lang="ru-RU" dirty="0"/>
              <a:t>254 </a:t>
            </a:r>
            <a:r>
              <a:rPr lang="en-US" dirty="0"/>
              <a:t>values are invalid</a:t>
            </a:r>
            <a:endParaRPr lang="ru-RU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char</a:t>
            </a:r>
            <a:r>
              <a:rPr lang="en-US" dirty="0"/>
              <a:t> (32 bits</a:t>
            </a:r>
            <a:r>
              <a:rPr lang="ru-RU" dirty="0"/>
              <a:t>) </a:t>
            </a:r>
            <a:r>
              <a:rPr lang="en-US" dirty="0"/>
              <a:t>may only contain values in [0x0, 0xD7FF] and [0xE000, 0x10FFFF] ranges</a:t>
            </a:r>
            <a:endParaRPr lang="ru-RU" dirty="0"/>
          </a:p>
          <a:p>
            <a:r>
              <a:rPr lang="en-US" dirty="0"/>
              <a:t>Such invalid value ranges (not bits!) are called niches</a:t>
            </a:r>
          </a:p>
          <a:p>
            <a:r>
              <a:rPr lang="en-US" dirty="0"/>
              <a:t>They may be used to keep tag of </a:t>
            </a:r>
            <a:r>
              <a:rPr lang="en-US" dirty="0" err="1"/>
              <a:t>enum</a:t>
            </a:r>
            <a:r>
              <a:rPr lang="en-US" dirty="0"/>
              <a:t> types</a:t>
            </a:r>
            <a:r>
              <a:rPr lang="ru-RU" dirty="0"/>
              <a:t> (</a:t>
            </a:r>
            <a:r>
              <a:rPr lang="en-US" dirty="0"/>
              <a:t>instead of using separate field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/>
              <a:t>So called Discriminant Elision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AFC72-2547-49DB-9CA3-BCF1A1DE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105</a:t>
            </a:fld>
            <a:endParaRPr lang="en-US"/>
          </a:p>
        </p:txBody>
      </p:sp>
      <p:pic>
        <p:nvPicPr>
          <p:cNvPr id="5" name="Picture 2" descr="Books &amp; Why Multidisciplinary Reading ...">
            <a:extLst>
              <a:ext uri="{FF2B5EF4-FFF2-40B4-BE49-F238E27FC236}">
                <a16:creationId xmlns:a16="http://schemas.microsoft.com/office/drawing/2014/main" id="{03DA1343-2E9C-4CA1-8F24-E8C053895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935" y="158049"/>
            <a:ext cx="27146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A64A7A-C650-48BB-86E4-4A9ADE811C51}"/>
              </a:ext>
            </a:extLst>
          </p:cNvPr>
          <p:cNvCxnSpPr>
            <a:cxnSpLocks/>
          </p:cNvCxnSpPr>
          <p:nvPr/>
        </p:nvCxnSpPr>
        <p:spPr>
          <a:xfrm>
            <a:off x="9467850" y="1566022"/>
            <a:ext cx="339538" cy="0"/>
          </a:xfrm>
          <a:prstGeom prst="straightConnector1">
            <a:avLst/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7011FD-5E92-48E5-A6E8-7D25E3579BEE}"/>
              </a:ext>
            </a:extLst>
          </p:cNvPr>
          <p:cNvCxnSpPr>
            <a:cxnSpLocks/>
          </p:cNvCxnSpPr>
          <p:nvPr/>
        </p:nvCxnSpPr>
        <p:spPr>
          <a:xfrm>
            <a:off x="10934700" y="1566022"/>
            <a:ext cx="339538" cy="0"/>
          </a:xfrm>
          <a:prstGeom prst="straightConnector1">
            <a:avLst/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9C4D94-906A-4DA3-B88C-34F46A32B9F4}"/>
              </a:ext>
            </a:extLst>
          </p:cNvPr>
          <p:cNvSpPr txBox="1"/>
          <p:nvPr/>
        </p:nvSpPr>
        <p:spPr>
          <a:xfrm>
            <a:off x="134469" y="6492875"/>
            <a:ext cx="5602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https://nowmediagroup.tv/blog/10-must-read-books-why-multidisciplinary-reading-is-a-must/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6663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DA925-EDAD-4F77-AF8B-F41C8DE8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niches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87086-7075-4262-8981-88D1AA1F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The most common (and guaranteed by the language) example: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Option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en-US" dirty="0"/>
              <a:t> with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/>
              <a:t> being a </a:t>
            </a:r>
            <a:r>
              <a:rPr lang="en-US" dirty="0" err="1"/>
              <a:t>NonNull</a:t>
            </a:r>
            <a:r>
              <a:rPr lang="ru-RU" dirty="0"/>
              <a:t> </a:t>
            </a:r>
            <a:r>
              <a:rPr lang="en-US" dirty="0"/>
              <a:t>type (e.g. </a:t>
            </a:r>
            <a:r>
              <a:rPr lang="en-US" dirty="0">
                <a:solidFill>
                  <a:srgbClr val="0070C0"/>
                </a:solidFill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ru-RU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Same niche may be used for multiple tags:</a:t>
            </a:r>
            <a:endParaRPr lang="ru-RU" dirty="0">
              <a:cs typeface="Courier New" panose="02070309020205020404" pitchFamily="49" charset="0"/>
            </a:endParaRPr>
          </a:p>
          <a:p>
            <a:pPr lvl="1"/>
            <a:r>
              <a:rPr lang="en-US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size_of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::&lt;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&gt;&gt;&gt;&gt;()</a:t>
            </a:r>
            <a:r>
              <a:rPr lang="ru-RU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endParaRPr lang="ru-RU" dirty="0">
              <a:cs typeface="Courier New" panose="020703090202050204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</a:rPr>
              <a:t>Similar optimization possible to lower bits of reference</a:t>
            </a:r>
            <a:r>
              <a:rPr lang="ru-RU" b="0" dirty="0">
                <a:solidFill>
                  <a:srgbClr val="000000"/>
                </a:solidFill>
                <a:effectLst/>
              </a:rPr>
              <a:t> (</a:t>
            </a:r>
            <a:r>
              <a:rPr lang="en-US" b="0" dirty="0">
                <a:solidFill>
                  <a:srgbClr val="000000"/>
                </a:solidFill>
                <a:effectLst/>
              </a:rPr>
              <a:t>or pointer)</a:t>
            </a:r>
            <a:endParaRPr lang="ru-RU" dirty="0">
              <a:solidFill>
                <a:srgbClr val="000000"/>
              </a:solidFill>
            </a:endParaRPr>
          </a:p>
          <a:p>
            <a:pPr lvl="1"/>
            <a:r>
              <a:rPr lang="en-US" b="0" dirty="0">
                <a:solidFill>
                  <a:srgbClr val="000000"/>
                </a:solidFill>
                <a:effectLst/>
              </a:rPr>
              <a:t>Lower bits of aligned pointers are always 0</a:t>
            </a:r>
            <a:endParaRPr lang="ru-RU" dirty="0">
              <a:solidFill>
                <a:srgbClr val="000000"/>
              </a:solidFill>
            </a:endParaRPr>
          </a:p>
          <a:p>
            <a:pPr lvl="1"/>
            <a:r>
              <a:rPr lang="en-US" b="0" dirty="0">
                <a:solidFill>
                  <a:srgbClr val="000000"/>
                </a:solidFill>
                <a:effectLst/>
              </a:rPr>
              <a:t>Can be used as niche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Currently only supported in nightly (-</a:t>
            </a:r>
            <a:r>
              <a:rPr lang="en-US" dirty="0" err="1">
                <a:solidFill>
                  <a:srgbClr val="000000"/>
                </a:solidFill>
              </a:rPr>
              <a:t>Zreference</a:t>
            </a:r>
            <a:r>
              <a:rPr lang="en-US" dirty="0">
                <a:solidFill>
                  <a:srgbClr val="000000"/>
                </a:solidFill>
              </a:rPr>
              <a:t>-niches, </a:t>
            </a:r>
            <a:r>
              <a:rPr lang="en-US" dirty="0">
                <a:solidFill>
                  <a:srgbClr val="000000"/>
                </a:solidFill>
                <a:hlinkClick r:id="rId2"/>
              </a:rPr>
              <a:t>rust #3204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pPr lvl="1"/>
            <a:endParaRPr lang="en-US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3912B-AE0E-4DB0-8A4A-824986F4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230FDB-E287-4D68-B15A-A89B8DCCCB74}"/>
              </a:ext>
            </a:extLst>
          </p:cNvPr>
          <p:cNvSpPr txBox="1"/>
          <p:nvPr/>
        </p:nvSpPr>
        <p:spPr>
          <a:xfrm>
            <a:off x="2434560" y="3060013"/>
            <a:ext cx="2613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Option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&lt;&amp;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</a:rPr>
              <a:t> =  </a:t>
            </a:r>
          </a:p>
        </p:txBody>
      </p:sp>
      <p:sp>
        <p:nvSpPr>
          <p:cNvPr id="6" name="Левая фигурная скобка 6">
            <a:extLst>
              <a:ext uri="{FF2B5EF4-FFF2-40B4-BE49-F238E27FC236}">
                <a16:creationId xmlns:a16="http://schemas.microsoft.com/office/drawing/2014/main" id="{70697599-41EC-4C1E-8740-332DB0A2A00E}"/>
              </a:ext>
            </a:extLst>
          </p:cNvPr>
          <p:cNvSpPr/>
          <p:nvPr/>
        </p:nvSpPr>
        <p:spPr>
          <a:xfrm>
            <a:off x="4869043" y="2843028"/>
            <a:ext cx="144143" cy="884415"/>
          </a:xfrm>
          <a:prstGeom prst="leftBrace">
            <a:avLst>
              <a:gd name="adj1" fmla="val 69287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09828-AB7F-4638-8583-EE1DDB88EC9B}"/>
              </a:ext>
            </a:extLst>
          </p:cNvPr>
          <p:cNvSpPr txBox="1"/>
          <p:nvPr/>
        </p:nvSpPr>
        <p:spPr>
          <a:xfrm>
            <a:off x="4708322" y="2843028"/>
            <a:ext cx="3580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None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0x0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27D30-0ACD-4174-A3BF-55C235C050A0}"/>
              </a:ext>
            </a:extLst>
          </p:cNvPr>
          <p:cNvSpPr txBox="1"/>
          <p:nvPr/>
        </p:nvSpPr>
        <p:spPr>
          <a:xfrm>
            <a:off x="4708322" y="3363364"/>
            <a:ext cx="5970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Some</a:t>
            </a:r>
            <a:r>
              <a:rPr lang="en-US" sz="2000" dirty="0">
                <a:solidFill>
                  <a:schemeClr val="accent1"/>
                </a:solidFill>
              </a:rPr>
              <a:t>(&amp;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addr_of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25451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0BD59-BDCB-4ADD-B6F9-E4B55BC2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74"/>
            <a:ext cx="10515600" cy="1325563"/>
          </a:xfrm>
        </p:spPr>
        <p:txBody>
          <a:bodyPr/>
          <a:lstStyle/>
          <a:p>
            <a:r>
              <a:rPr lang="en-US" dirty="0"/>
              <a:t>C++ status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40A02-F401-47FA-8E3F-B4C7655FD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213"/>
            <a:ext cx="10515600" cy="4415021"/>
          </a:xfrm>
        </p:spPr>
        <p:txBody>
          <a:bodyPr>
            <a:normAutofit/>
          </a:bodyPr>
          <a:lstStyle/>
          <a:p>
            <a:r>
              <a:rPr lang="en-US" dirty="0"/>
              <a:t>std::optional and std::variant do not optimize for niches</a:t>
            </a:r>
          </a:p>
          <a:p>
            <a:pPr lvl="1"/>
            <a:r>
              <a:rPr lang="en-US" dirty="0"/>
              <a:t>Analog of std::optional with niched tags </a:t>
            </a:r>
            <a:r>
              <a:rPr lang="en-US" dirty="0">
                <a:hlinkClick r:id="rId2"/>
              </a:rPr>
              <a:t>can be implemented</a:t>
            </a:r>
            <a:endParaRPr lang="ru-RU" dirty="0"/>
          </a:p>
          <a:p>
            <a:r>
              <a:rPr lang="en-US" dirty="0" err="1"/>
              <a:t>llvm</a:t>
            </a:r>
            <a:r>
              <a:rPr lang="en-US" dirty="0"/>
              <a:t>::</a:t>
            </a:r>
            <a:r>
              <a:rPr lang="en-US" dirty="0" err="1"/>
              <a:t>PointerIntPair</a:t>
            </a:r>
            <a:endParaRPr lang="ru-RU" dirty="0"/>
          </a:p>
          <a:p>
            <a:pPr lvl="1"/>
            <a:r>
              <a:rPr lang="en-US" dirty="0"/>
              <a:t>Uses lower pointer bits to store int value</a:t>
            </a:r>
          </a:p>
          <a:p>
            <a:pPr lvl="1"/>
            <a:r>
              <a:rPr lang="en-US" dirty="0"/>
              <a:t>Similar to -</a:t>
            </a:r>
            <a:r>
              <a:rPr lang="en-US" dirty="0" err="1"/>
              <a:t>Zreference</a:t>
            </a:r>
            <a:r>
              <a:rPr lang="en-US" dirty="0"/>
              <a:t>-niches in Rust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Lock-free</a:t>
            </a:r>
            <a:r>
              <a:rPr lang="ru-RU" dirty="0"/>
              <a:t> </a:t>
            </a:r>
            <a:r>
              <a:rPr lang="en-US" dirty="0"/>
              <a:t>implementations of atomic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e.g.</a:t>
            </a:r>
            <a:r>
              <a:rPr lang="ru-RU" dirty="0"/>
              <a:t> </a:t>
            </a:r>
            <a:r>
              <a:rPr lang="en-US" dirty="0"/>
              <a:t>in</a:t>
            </a:r>
            <a:r>
              <a:rPr lang="ru-RU" dirty="0"/>
              <a:t> </a:t>
            </a:r>
            <a:r>
              <a:rPr lang="en-US" dirty="0"/>
              <a:t>Folly) use free address bits for reference count</a:t>
            </a:r>
          </a:p>
          <a:p>
            <a:pPr lvl="1"/>
            <a:r>
              <a:rPr lang="en-US" dirty="0"/>
              <a:t>Allows for shorter and faster atomic operations</a:t>
            </a:r>
          </a:p>
          <a:p>
            <a:pPr lvl="1"/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47E153-81AE-4945-B7B3-676552490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72" y="5340959"/>
            <a:ext cx="4285387" cy="13112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2E0179-1F89-4986-AC5E-3EBC46119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09" y="3574723"/>
            <a:ext cx="3616754" cy="5192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7A437-7968-4A3E-8F87-6B7C0E5A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978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239412"/>
            <a:ext cx="10515600" cy="1325563"/>
          </a:xfrm>
        </p:spPr>
        <p:txBody>
          <a:bodyPr/>
          <a:lstStyle/>
          <a:p>
            <a:r>
              <a:rPr lang="en-US" dirty="0"/>
              <a:t>Slowdown with disabled struct reorder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D2DAB8-B45F-42E5-9817-D0D5DFE9D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1" y="1428450"/>
            <a:ext cx="6159874" cy="4927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10FCF7-07AB-497A-8D33-1BB235BAF11F}"/>
              </a:ext>
            </a:extLst>
          </p:cNvPr>
          <p:cNvSpPr txBox="1"/>
          <p:nvPr/>
        </p:nvSpPr>
        <p:spPr>
          <a:xfrm>
            <a:off x="8964705" y="1676401"/>
            <a:ext cx="3137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Disabled </a:t>
            </a:r>
            <a:r>
              <a:rPr lang="en-US" sz="2400" dirty="0" err="1"/>
              <a:t>shouldMergeGEPs</a:t>
            </a:r>
            <a:r>
              <a:rPr lang="en-US" sz="2400" dirty="0"/>
              <a:t> and store merging as they were too sensitive to field 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BF463-7907-4C1D-A88C-2FDDDA07000D}"/>
              </a:ext>
            </a:extLst>
          </p:cNvPr>
          <p:cNvSpPr txBox="1"/>
          <p:nvPr/>
        </p:nvSpPr>
        <p:spPr>
          <a:xfrm>
            <a:off x="71717" y="64886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Compiler patch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73935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67C6B-B24F-4F5B-BC3D-DA610602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C8C062-874D-41F1-88BA-84445EF4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Rust does not guarantee order of fields in structs</a:t>
            </a:r>
            <a:endParaRPr lang="ru-RU" dirty="0"/>
          </a:p>
          <a:p>
            <a:pPr lvl="1"/>
            <a:r>
              <a:rPr lang="en-US" dirty="0"/>
              <a:t>Allows more aggressive optimizations</a:t>
            </a:r>
            <a:endParaRPr lang="ru-RU" dirty="0"/>
          </a:p>
          <a:p>
            <a:pPr lvl="1"/>
            <a:r>
              <a:rPr lang="en-US" dirty="0"/>
              <a:t>And care in unsafe code</a:t>
            </a:r>
            <a:endParaRPr lang="ru-RU" dirty="0"/>
          </a:p>
          <a:p>
            <a:r>
              <a:rPr lang="en-US" dirty="0"/>
              <a:t>Compiler may aggressively reorder fields and use them for tags</a:t>
            </a:r>
          </a:p>
          <a:p>
            <a:pPr lvl="1"/>
            <a:r>
              <a:rPr lang="en-US" dirty="0"/>
              <a:t>Analogous optimizations can be done manually in C++</a:t>
            </a:r>
          </a:p>
          <a:p>
            <a:r>
              <a:rPr lang="en-US" dirty="0"/>
              <a:t>Field reordering in itself does not significantly affect performance but can enable or disable other important optimizations</a:t>
            </a:r>
          </a:p>
          <a:p>
            <a:pPr lvl="1"/>
            <a:r>
              <a:rPr lang="en-US" dirty="0"/>
              <a:t>Both in compiler and in processor</a:t>
            </a:r>
            <a:endParaRPr lang="ru-RU" dirty="0"/>
          </a:p>
          <a:p>
            <a:pPr lvl="1"/>
            <a:r>
              <a:rPr lang="en-US" dirty="0"/>
              <a:t>With both positive and negative performance effects</a:t>
            </a:r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CDD16-83C7-4AA3-97CB-94528584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8726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 Lost Art of Structure Packing</a:t>
            </a:r>
            <a:r>
              <a:rPr lang="en-US" dirty="0"/>
              <a:t> (by ESR)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16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checks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F227E-BB3F-417F-927F-816FDDD63561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158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79968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Arithmetic overflows may cause serious system crashes</a:t>
            </a:r>
          </a:p>
          <a:p>
            <a:pPr lvl="1"/>
            <a:r>
              <a:rPr lang="en-US" dirty="0"/>
              <a:t>~1% CVE and</a:t>
            </a:r>
            <a:r>
              <a:rPr lang="ru-RU" dirty="0"/>
              <a:t> 1.5% </a:t>
            </a:r>
            <a:r>
              <a:rPr lang="en-US" dirty="0"/>
              <a:t>KEV in</a:t>
            </a:r>
            <a:r>
              <a:rPr lang="ru-RU" dirty="0"/>
              <a:t> 2024</a:t>
            </a:r>
          </a:p>
          <a:p>
            <a:pPr lvl="1"/>
            <a:r>
              <a:rPr lang="en-US" dirty="0"/>
              <a:t>23 place in </a:t>
            </a:r>
            <a:r>
              <a:rPr lang="en-US" dirty="0" err="1">
                <a:hlinkClick r:id="rId2"/>
              </a:rPr>
              <a:t>Mitre</a:t>
            </a:r>
            <a:r>
              <a:rPr lang="en-US" dirty="0">
                <a:hlinkClick r:id="rId2"/>
              </a:rPr>
              <a:t> CWE Top 25 2024</a:t>
            </a:r>
            <a:r>
              <a:rPr lang="en-US" dirty="0"/>
              <a:t> (8 in</a:t>
            </a:r>
            <a:r>
              <a:rPr lang="ru-RU" dirty="0"/>
              <a:t> </a:t>
            </a:r>
            <a:r>
              <a:rPr lang="en-US" dirty="0">
                <a:hlinkClick r:id="rId3"/>
              </a:rPr>
              <a:t>2019 rating</a:t>
            </a:r>
            <a:r>
              <a:rPr lang="en-US" dirty="0"/>
              <a:t>)</a:t>
            </a:r>
          </a:p>
          <a:p>
            <a:r>
              <a:rPr lang="en-US" dirty="0"/>
              <a:t>Well-known incidents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Therac-25 </a:t>
            </a:r>
            <a:r>
              <a:rPr lang="en-US" dirty="0"/>
              <a:t>radiation therapy machine (1985)</a:t>
            </a:r>
            <a:endParaRPr lang="ru-RU" dirty="0"/>
          </a:p>
          <a:p>
            <a:pPr lvl="1"/>
            <a:r>
              <a:rPr lang="ru-RU" dirty="0"/>
              <a:t>Ariane 5 </a:t>
            </a:r>
            <a:r>
              <a:rPr lang="en-US" dirty="0"/>
              <a:t>catastrophe (1996)</a:t>
            </a:r>
          </a:p>
          <a:p>
            <a:r>
              <a:rPr lang="en-US" dirty="0"/>
              <a:t>History (pre-Rust):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ftrapv</a:t>
            </a:r>
            <a:r>
              <a:rPr lang="ru-RU" dirty="0"/>
              <a:t> </a:t>
            </a:r>
            <a:r>
              <a:rPr lang="en-US" dirty="0"/>
              <a:t>added in 2000 in GCC </a:t>
            </a:r>
            <a:r>
              <a:rPr lang="ru-RU" dirty="0"/>
              <a:t>(</a:t>
            </a:r>
            <a:r>
              <a:rPr lang="en-US" dirty="0">
                <a:hlinkClick r:id="rId4"/>
              </a:rPr>
              <a:t>patch for -</a:t>
            </a:r>
            <a:r>
              <a:rPr lang="en-US" dirty="0" err="1">
                <a:hlinkClick r:id="rId4"/>
              </a:rPr>
              <a:t>ftrapv</a:t>
            </a:r>
            <a:r>
              <a:rPr lang="en-US" dirty="0">
                <a:hlinkClick r:id="rId4"/>
              </a:rPr>
              <a:t> option</a:t>
            </a:r>
            <a:r>
              <a:rPr lang="ru-RU" dirty="0"/>
              <a:t>)</a:t>
            </a:r>
          </a:p>
          <a:p>
            <a:pPr lvl="2"/>
            <a:r>
              <a:rPr lang="en-US" dirty="0"/>
              <a:t>Wasn’t well maintained and rotted quickly </a:t>
            </a:r>
            <a:r>
              <a:rPr lang="ru-RU" dirty="0"/>
              <a:t>(</a:t>
            </a:r>
            <a:r>
              <a:rPr lang="en-US" dirty="0"/>
              <a:t>e.g. </a:t>
            </a:r>
            <a:r>
              <a:rPr lang="en-US" dirty="0">
                <a:hlinkClick r:id="rId5"/>
              </a:rPr>
              <a:t>BZ #35412</a:t>
            </a:r>
            <a:r>
              <a:rPr lang="en-US" dirty="0"/>
              <a:t> opened </a:t>
            </a:r>
            <a:r>
              <a:rPr lang="ru-RU" dirty="0"/>
              <a:t>2008</a:t>
            </a:r>
            <a:r>
              <a:rPr lang="en-US" dirty="0"/>
              <a:t> and still not fixed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John Regehr</a:t>
            </a:r>
            <a:r>
              <a:rPr lang="en-US" dirty="0"/>
              <a:t>’s works on IOC checker</a:t>
            </a:r>
            <a:r>
              <a:rPr lang="ru-RU" dirty="0"/>
              <a:t> </a:t>
            </a:r>
            <a:r>
              <a:rPr lang="en-US" dirty="0"/>
              <a:t>in</a:t>
            </a:r>
            <a:r>
              <a:rPr lang="ru-RU" dirty="0"/>
              <a:t> </a:t>
            </a:r>
            <a:r>
              <a:rPr lang="ru-RU" dirty="0">
                <a:hlinkClick r:id="rId6"/>
              </a:rPr>
              <a:t>2010</a:t>
            </a:r>
            <a:endParaRPr lang="ru-RU" dirty="0"/>
          </a:p>
          <a:p>
            <a:pPr lvl="1"/>
            <a:r>
              <a:rPr lang="ru-RU" dirty="0"/>
              <a:t>UBsan </a:t>
            </a:r>
            <a:r>
              <a:rPr lang="en-US" dirty="0"/>
              <a:t>created in </a:t>
            </a:r>
            <a:r>
              <a:rPr lang="ru-RU" dirty="0"/>
              <a:t>2014</a:t>
            </a:r>
          </a:p>
          <a:p>
            <a:pPr lvl="2"/>
            <a:r>
              <a:rPr lang="en-US" dirty="0"/>
              <a:t>S</a:t>
            </a:r>
            <a:r>
              <a:rPr lang="ru-RU" dirty="0"/>
              <a:t>tate-of-the-art</a:t>
            </a:r>
            <a:r>
              <a:rPr lang="en-US" dirty="0"/>
              <a:t> solution</a:t>
            </a:r>
          </a:p>
          <a:p>
            <a:r>
              <a:rPr lang="en-US" dirty="0"/>
              <a:t>Additional info:</a:t>
            </a:r>
          </a:p>
          <a:p>
            <a:pPr lvl="1"/>
            <a:r>
              <a:rPr lang="en-US" dirty="0">
                <a:hlinkClick r:id="rId7"/>
              </a:rPr>
              <a:t>Hardening: current status and trends</a:t>
            </a:r>
            <a:r>
              <a:rPr lang="en-US" dirty="0"/>
              <a:t> (C++ Zero Cost 2026)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A8122-6D8A-4DA6-8226-D3412DBE54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4094" y="4891274"/>
            <a:ext cx="2909706" cy="132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96766-630C-4DEC-BE4E-73C894214D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8780" y="1189982"/>
            <a:ext cx="2205020" cy="2239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B82B62-37D7-4560-9439-FCF4D8945A73}"/>
              </a:ext>
            </a:extLst>
          </p:cNvPr>
          <p:cNvSpPr txBox="1"/>
          <p:nvPr/>
        </p:nvSpPr>
        <p:spPr>
          <a:xfrm>
            <a:off x="85535" y="6492875"/>
            <a:ext cx="2777185" cy="27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J.R. Armstrong, </a:t>
            </a:r>
            <a:r>
              <a:rPr lang="en-US" sz="1200" dirty="0">
                <a:hlinkClick r:id="rId10"/>
              </a:rPr>
              <a:t>Famous Failures Revisited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357828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8B44-9846-43A7-A173-784CB989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error </a:t>
            </a:r>
            <a:r>
              <a:rPr lang="ru-RU" dirty="0"/>
              <a:t>(</a:t>
            </a:r>
            <a:r>
              <a:rPr lang="en-US" dirty="0"/>
              <a:t>OpenSSH 3.3)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750C9-4C10-4C05-A6C0-DE2E817A3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packet_get_int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// Overflow to zero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response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xmalloc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*)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// ... and cause heap buffer overflow here</a:t>
            </a:r>
            <a:endParaRPr lang="ru-RU" sz="20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response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packet_get_string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NULL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40DB8-9481-45E9-893B-0D224EDA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571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arithmetic checks in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(not very important</a:t>
            </a:r>
            <a:r>
              <a:rPr lang="ru-RU" dirty="0"/>
              <a:t>...) </a:t>
            </a:r>
            <a:r>
              <a:rPr lang="en-US" dirty="0"/>
              <a:t>arithmetic checks enabled by default</a:t>
            </a:r>
          </a:p>
          <a:p>
            <a:pPr lvl="1"/>
            <a:r>
              <a:rPr lang="en-US" dirty="0"/>
              <a:t>Division by zero</a:t>
            </a:r>
            <a:endParaRPr lang="ru-RU" dirty="0"/>
          </a:p>
          <a:p>
            <a:pPr lvl="1"/>
            <a:r>
              <a:rPr lang="en-US" dirty="0"/>
              <a:t>Signed overflow on division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INT_MIN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Float-to-integer saturation</a:t>
            </a:r>
            <a:endParaRPr lang="ru-RU" dirty="0"/>
          </a:p>
          <a:p>
            <a:pPr lvl="2"/>
            <a:r>
              <a:rPr lang="en-US" dirty="0"/>
              <a:t>Can be disabled via -</a:t>
            </a:r>
            <a:r>
              <a:rPr lang="en-US" dirty="0" err="1"/>
              <a:t>Zsaturating</a:t>
            </a:r>
            <a:r>
              <a:rPr lang="en-US" dirty="0"/>
              <a:t>-float-casts=off</a:t>
            </a:r>
          </a:p>
          <a:p>
            <a:r>
              <a:rPr lang="en-US" dirty="0"/>
              <a:t>Integer overflows in </a:t>
            </a:r>
            <a:r>
              <a:rPr lang="en-US" dirty="0" err="1"/>
              <a:t>stdlib</a:t>
            </a:r>
            <a:r>
              <a:rPr lang="en-US" dirty="0"/>
              <a:t> containers</a:t>
            </a:r>
          </a:p>
          <a:p>
            <a:pPr lvl="1"/>
            <a:r>
              <a:rPr lang="en-US" dirty="0"/>
              <a:t>Via assert!, </a:t>
            </a:r>
            <a:r>
              <a:rPr lang="en-US" dirty="0" err="1"/>
              <a:t>checked_add</a:t>
            </a:r>
            <a:r>
              <a:rPr lang="en-US" dirty="0"/>
              <a:t>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793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missing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000"/>
            <a:ext cx="10515600" cy="2199528"/>
          </a:xfrm>
        </p:spPr>
        <p:txBody>
          <a:bodyPr>
            <a:normAutofit/>
          </a:bodyPr>
          <a:lstStyle/>
          <a:p>
            <a:r>
              <a:rPr lang="en-US" dirty="0"/>
              <a:t>For historical reasons some important checks are missing</a:t>
            </a:r>
          </a:p>
          <a:p>
            <a:pPr lvl="1"/>
            <a:r>
              <a:rPr lang="en-US" dirty="0"/>
              <a:t>And can’t even be enabled via flag</a:t>
            </a:r>
          </a:p>
          <a:p>
            <a:r>
              <a:rPr lang="en-US" dirty="0"/>
              <a:t>E.g. overflow check on casing types via </a:t>
            </a:r>
            <a:r>
              <a:rPr lang="en-US" dirty="0">
                <a:solidFill>
                  <a:srgbClr val="C00000"/>
                </a:solidFill>
              </a:rPr>
              <a:t>as</a:t>
            </a:r>
          </a:p>
          <a:p>
            <a:pPr lvl="1"/>
            <a:r>
              <a:rPr lang="en-US" dirty="0"/>
              <a:t>Need to use other APIs like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try_into</a:t>
            </a:r>
            <a:r>
              <a:rPr lang="en-US" dirty="0"/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try_from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8E90D6-CAEB-4AC3-A2B3-B268B59886E9}"/>
              </a:ext>
            </a:extLst>
          </p:cNvPr>
          <p:cNvSpPr txBox="1"/>
          <p:nvPr/>
        </p:nvSpPr>
        <p:spPr>
          <a:xfrm>
            <a:off x="1186190" y="3638663"/>
            <a:ext cx="24739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0x100i32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93891-4A98-401A-B939-7BA8B6FF42DC}"/>
              </a:ext>
            </a:extLst>
          </p:cNvPr>
          <p:cNvSpPr txBox="1"/>
          <p:nvPr/>
        </p:nvSpPr>
        <p:spPr>
          <a:xfrm>
            <a:off x="5774605" y="5032911"/>
            <a:ext cx="52212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./test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thread 'main' panicked at test.rs:5:32: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called `Result::unwrap()` on an `Err` value: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TryFromIntError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(())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825B1-5372-461C-8DD8-D5E01A8524C3}"/>
              </a:ext>
            </a:extLst>
          </p:cNvPr>
          <p:cNvSpPr txBox="1"/>
          <p:nvPr/>
        </p:nvSpPr>
        <p:spPr>
          <a:xfrm>
            <a:off x="5763298" y="3638663"/>
            <a:ext cx="42213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convert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TryFrom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try_from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0x100i32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13D70A-BE70-48C0-A7B0-8AE3EAE23DC2}"/>
              </a:ext>
            </a:extLst>
          </p:cNvPr>
          <p:cNvSpPr txBox="1"/>
          <p:nvPr/>
        </p:nvSpPr>
        <p:spPr>
          <a:xfrm>
            <a:off x="1186190" y="5032911"/>
            <a:ext cx="1941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./test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9021574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overflow checks in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default integer overflows in user code are checked only in debug builds</a:t>
            </a:r>
            <a:endParaRPr lang="ru-RU" dirty="0"/>
          </a:p>
          <a:p>
            <a:r>
              <a:rPr lang="en-US" dirty="0"/>
              <a:t>Two’s complement semantics in</a:t>
            </a:r>
            <a:r>
              <a:rPr lang="ru-RU" dirty="0"/>
              <a:t> </a:t>
            </a:r>
            <a:r>
              <a:rPr lang="en-US" dirty="0"/>
              <a:t>release</a:t>
            </a:r>
            <a:endParaRPr lang="ru-RU" dirty="0"/>
          </a:p>
          <a:p>
            <a:r>
              <a:rPr lang="en-US" dirty="0"/>
              <a:t>Can be enabled in release via -C overflow-checks=on</a:t>
            </a:r>
          </a:p>
          <a:p>
            <a:r>
              <a:rPr lang="en-US" dirty="0"/>
              <a:t>Reason: too large overheads</a:t>
            </a:r>
          </a:p>
          <a:p>
            <a:pPr lvl="1"/>
            <a:r>
              <a:rPr lang="en-US" dirty="0"/>
              <a:t>“Plan is to turn on checking by default </a:t>
            </a:r>
            <a:r>
              <a:rPr lang="en-US" i="1" dirty="0"/>
              <a:t>if</a:t>
            </a:r>
            <a:r>
              <a:rPr lang="en-US" dirty="0"/>
              <a:t> we can get the performance hit low enough and also that it should leave room in the future to move towards universal overflow checking if it becomes feasible” (</a:t>
            </a:r>
            <a:r>
              <a:rPr lang="en-US" dirty="0">
                <a:hlinkClick r:id="rId2"/>
              </a:rPr>
              <a:t>Niko </a:t>
            </a:r>
            <a:r>
              <a:rPr lang="en-US" dirty="0" err="1">
                <a:hlinkClick r:id="rId2"/>
              </a:rPr>
              <a:t>Matsakis</a:t>
            </a:r>
            <a:r>
              <a:rPr lang="en-US" dirty="0"/>
              <a:t>, co-lead of Rust language design team)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8921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33004"/>
            <a:ext cx="5939118" cy="1325563"/>
          </a:xfrm>
        </p:spPr>
        <p:txBody>
          <a:bodyPr/>
          <a:lstStyle/>
          <a:p>
            <a:r>
              <a:rPr lang="en-US" dirty="0"/>
              <a:t>Other overheads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49588" cy="4602069"/>
          </a:xfrm>
        </p:spPr>
        <p:txBody>
          <a:bodyPr>
            <a:normAutofit/>
          </a:bodyPr>
          <a:lstStyle/>
          <a:p>
            <a:r>
              <a:rPr lang="en-US" dirty="0"/>
              <a:t>Overheads for overflow checks:</a:t>
            </a:r>
          </a:p>
          <a:p>
            <a:pPr lvl="1"/>
            <a:r>
              <a:rPr lang="en-US" dirty="0"/>
              <a:t>Compare </a:t>
            </a:r>
            <a:r>
              <a:rPr lang="ru-RU" dirty="0"/>
              <a:t>+ </a:t>
            </a:r>
            <a:r>
              <a:rPr lang="en-US" dirty="0"/>
              <a:t>predictable conditional branch (1-</a:t>
            </a:r>
            <a:r>
              <a:rPr lang="ru-RU" dirty="0"/>
              <a:t>2 </a:t>
            </a:r>
            <a:r>
              <a:rPr lang="en-US" dirty="0"/>
              <a:t>ALU slots </a:t>
            </a:r>
            <a:r>
              <a:rPr lang="ru-RU" dirty="0"/>
              <a:t>+ </a:t>
            </a:r>
            <a:r>
              <a:rPr lang="en-US" dirty="0"/>
              <a:t>I$ pressure)</a:t>
            </a:r>
          </a:p>
          <a:p>
            <a:pPr lvl="1"/>
            <a:r>
              <a:rPr lang="en-US" dirty="0"/>
              <a:t>Hurt other optimizations (vectorizer, etc.)</a:t>
            </a:r>
          </a:p>
          <a:p>
            <a:r>
              <a:rPr lang="en-US" dirty="0"/>
              <a:t>The first (less important) issue could </a:t>
            </a:r>
            <a:r>
              <a:rPr lang="en-US" i="1" dirty="0">
                <a:hlinkClick r:id="rId2"/>
              </a:rPr>
              <a:t>potentially</a:t>
            </a:r>
            <a:r>
              <a:rPr lang="ru-RU" dirty="0"/>
              <a:t> </a:t>
            </a:r>
            <a:r>
              <a:rPr lang="en-US" dirty="0"/>
              <a:t>be fixed with </a:t>
            </a:r>
            <a:r>
              <a:rPr lang="en-US" dirty="0">
                <a:hlinkClick r:id="rId3"/>
              </a:rPr>
              <a:t>hardware support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2B543-B015-49AD-8000-A8D0A41AB3D0}"/>
              </a:ext>
            </a:extLst>
          </p:cNvPr>
          <p:cNvSpPr txBox="1"/>
          <p:nvPr/>
        </p:nvSpPr>
        <p:spPr>
          <a:xfrm>
            <a:off x="6485964" y="603995"/>
            <a:ext cx="48678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A9619-AF4F-4F0A-924D-408AAFCF88E2}"/>
              </a:ext>
            </a:extLst>
          </p:cNvPr>
          <p:cNvSpPr txBox="1"/>
          <p:nvPr/>
        </p:nvSpPr>
        <p:spPr>
          <a:xfrm>
            <a:off x="6338047" y="3079377"/>
            <a:ext cx="53608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... test.rs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.LBB0_5: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 Loop successfully vectorized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movdqu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xmm2,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paddd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xmm0, xmm2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Coverflow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-checks=on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test.rs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.LBB0_3: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 Loop not vectorized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jo      .LBB0_6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.LBB0_3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endParaRPr lang="en-US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131B7-299B-4B95-96D9-595E70699F2C}"/>
              </a:ext>
            </a:extLst>
          </p:cNvPr>
          <p:cNvSpPr txBox="1"/>
          <p:nvPr/>
        </p:nvSpPr>
        <p:spPr>
          <a:xfrm>
            <a:off x="8919881" y="3001966"/>
            <a:ext cx="2339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https://godbolt.org/z/1x49jffv3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2FA5D-FA1E-4D4D-8A67-59F03D663F6B}"/>
              </a:ext>
            </a:extLst>
          </p:cNvPr>
          <p:cNvSpPr txBox="1"/>
          <p:nvPr/>
        </p:nvSpPr>
        <p:spPr>
          <a:xfrm>
            <a:off x="9421906" y="5781363"/>
            <a:ext cx="2339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https://godbolt.org/z/43h1c87M5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5738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586D-148C-4EA3-B4CF-8FC1CB80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Defined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D7FC-BFD0-42F8-BB1D-6DC003D3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27659" cy="4351338"/>
          </a:xfrm>
        </p:spPr>
        <p:txBody>
          <a:bodyPr>
            <a:normAutofit/>
          </a:bodyPr>
          <a:lstStyle/>
          <a:p>
            <a:r>
              <a:rPr lang="en-US" dirty="0"/>
              <a:t>Unlike C/C++ integer overflows are not Undefined Behavior</a:t>
            </a:r>
          </a:p>
          <a:p>
            <a:pPr lvl="1"/>
            <a:r>
              <a:rPr lang="en-US" dirty="0"/>
              <a:t>Panic or Two’s complement</a:t>
            </a:r>
          </a:p>
          <a:p>
            <a:r>
              <a:rPr lang="en-US" dirty="0"/>
              <a:t>This deprives optimizer of some important information</a:t>
            </a:r>
            <a:endParaRPr lang="ru-RU" dirty="0"/>
          </a:p>
          <a:p>
            <a:r>
              <a:rPr lang="en-US" dirty="0"/>
              <a:t>Can reduce precision of some analyses </a:t>
            </a:r>
            <a:r>
              <a:rPr lang="ru-RU" dirty="0"/>
              <a:t>(</a:t>
            </a:r>
            <a:r>
              <a:rPr lang="en-US" dirty="0"/>
              <a:t>especially </a:t>
            </a:r>
            <a:r>
              <a:rPr lang="en-US" dirty="0" err="1"/>
              <a:t>ScalarEvolution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and disable some optimizations in LLVM</a:t>
            </a:r>
          </a:p>
          <a:p>
            <a:pPr lvl="1"/>
            <a:r>
              <a:rPr lang="en-US" dirty="0"/>
              <a:t>See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How undefined signed overflow enables optimizations in GCC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EE7C-4206-4423-BB92-4F37A5CB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892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586D-148C-4EA3-B4CF-8FC1CB80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61" y="-25117"/>
            <a:ext cx="10515600" cy="1325563"/>
          </a:xfrm>
        </p:spPr>
        <p:txBody>
          <a:bodyPr/>
          <a:lstStyle/>
          <a:p>
            <a:r>
              <a:rPr lang="en-US" dirty="0"/>
              <a:t>Defined overflow: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EE7C-4206-4423-BB92-4F37A5CB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17318-6482-4635-B866-055763A9C04D}"/>
              </a:ext>
            </a:extLst>
          </p:cNvPr>
          <p:cNvSpPr txBox="1"/>
          <p:nvPr/>
        </p:nvSpPr>
        <p:spPr>
          <a:xfrm>
            <a:off x="1151965" y="1173897"/>
            <a:ext cx="31802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(;;)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c1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E34ED-2437-4E03-8E59-C8A47EE38109}"/>
              </a:ext>
            </a:extLst>
          </p:cNvPr>
          <p:cNvSpPr txBox="1"/>
          <p:nvPr/>
        </p:nvSpPr>
        <p:spPr>
          <a:xfrm>
            <a:off x="962587" y="3443764"/>
            <a:ext cx="441623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loop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c1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buf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buf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BD1FB-0101-4DE0-AAFD-CC2338E1D882}"/>
              </a:ext>
            </a:extLst>
          </p:cNvPr>
          <p:cNvSpPr txBox="1"/>
          <p:nvPr/>
        </p:nvSpPr>
        <p:spPr>
          <a:xfrm>
            <a:off x="5969372" y="1420118"/>
            <a:ext cx="4708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.LBB0_1: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movzx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latin typeface="Consolas" panose="020B06090202040302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movzx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edi</a:t>
            </a:r>
            <a:r>
              <a:rPr lang="en-US" sz="1600" dirty="0"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latin typeface="Consolas" panose="020B06090202040302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inc</a:t>
            </a:r>
            <a:r>
              <a:rPr lang="en-US" sz="1600" dirty="0"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</a:rPr>
              <a:t>rdx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</a:rPr>
              <a:t>     al, </a:t>
            </a:r>
            <a:r>
              <a:rPr lang="en-US" sz="1600" dirty="0" err="1">
                <a:latin typeface="Consolas" panose="020B0609020204030204" pitchFamily="49" charset="0"/>
              </a:rPr>
              <a:t>dil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je      .LBB0_1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C22D4-0F77-4838-AF60-3869970B01CA}"/>
              </a:ext>
            </a:extLst>
          </p:cNvPr>
          <p:cNvSpPr txBox="1"/>
          <p:nvPr/>
        </p:nvSpPr>
        <p:spPr>
          <a:xfrm>
            <a:off x="8414497" y="2474180"/>
            <a:ext cx="2303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https://godbolt.org/z/Yssq68Gja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17F46-6C5E-4A1B-9A25-A7C7E88C1990}"/>
              </a:ext>
            </a:extLst>
          </p:cNvPr>
          <p:cNvSpPr txBox="1"/>
          <p:nvPr/>
        </p:nvSpPr>
        <p:spPr>
          <a:xfrm>
            <a:off x="8441391" y="5382416"/>
            <a:ext cx="2277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https://godbolt.org/z/c1sMcxfsP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37E4A-D3D9-4F60-959C-823A6F55A3A6}"/>
              </a:ext>
            </a:extLst>
          </p:cNvPr>
          <p:cNvSpPr txBox="1"/>
          <p:nvPr/>
        </p:nvSpPr>
        <p:spPr>
          <a:xfrm>
            <a:off x="5969372" y="3763373"/>
            <a:ext cx="40979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movsxd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edi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movzx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movsxd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esi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movzx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edi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esi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al, cl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je      .LBB0_2</a:t>
            </a:r>
          </a:p>
          <a:p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6215F8-CEE1-42A3-9D44-214A290EF6A6}"/>
              </a:ext>
            </a:extLst>
          </p:cNvPr>
          <p:cNvSpPr txBox="1"/>
          <p:nvPr/>
        </p:nvSpPr>
        <p:spPr>
          <a:xfrm>
            <a:off x="9168370" y="269424"/>
            <a:ext cx="3019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From </a:t>
            </a:r>
            <a:r>
              <a:rPr lang="en-US" sz="2000" dirty="0">
                <a:hlinkClick r:id="rId4"/>
              </a:rPr>
              <a:t>Garbage In, Garbage Out</a:t>
            </a:r>
            <a:r>
              <a:rPr lang="ru-RU" sz="2000" dirty="0"/>
              <a:t> (</a:t>
            </a:r>
            <a:r>
              <a:rPr lang="en-US" sz="2000" dirty="0"/>
              <a:t>Chandler Carruth)</a:t>
            </a:r>
            <a:endParaRPr lang="ru-RU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440FDD-5969-4346-B91E-7AC26A3A1A36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332195" y="2204948"/>
            <a:ext cx="1637177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1A5B0A-5A15-4ED8-BC20-AAB813A6EAF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332195" y="5040645"/>
            <a:ext cx="1637177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1F1894-3B99-4D18-9086-A70125A58A88}"/>
              </a:ext>
            </a:extLst>
          </p:cNvPr>
          <p:cNvSpPr txBox="1"/>
          <p:nvPr/>
        </p:nvSpPr>
        <p:spPr>
          <a:xfrm>
            <a:off x="4439629" y="5298003"/>
            <a:ext cx="16563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Compiler has to assume potential overflow</a:t>
            </a:r>
          </a:p>
        </p:txBody>
      </p:sp>
    </p:spTree>
    <p:extLst>
      <p:ext uri="{BB962C8B-B14F-4D97-AF65-F5344CB8AC3E}">
        <p14:creationId xmlns:p14="http://schemas.microsoft.com/office/powerpoint/2010/main" val="139305334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9C9C-C94F-4497-86B3-1EA3F3AD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inclusive 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1B03-0ACF-41A7-B1BC-3F4C6F975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Loops with included upper bound are less optimized by compiler: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..=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total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Due to potential overflow (when</a:t>
            </a:r>
            <a:r>
              <a:rPr lang="ru-RU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) compiler has to perform additional check: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total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&gt;=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break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Developers can help compiler by converting to exclusive loop: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ru-RU" b="1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Or using </a:t>
            </a:r>
            <a:r>
              <a:rPr lang="en-US" dirty="0">
                <a:hlinkClick r:id="rId2"/>
              </a:rPr>
              <a:t>internal iteration</a:t>
            </a:r>
            <a:r>
              <a:rPr lang="en-US" dirty="0"/>
              <a:t> (.</a:t>
            </a:r>
            <a:r>
              <a:rPr lang="en-US" dirty="0" err="1"/>
              <a:t>for_each</a:t>
            </a:r>
            <a:r>
              <a:rPr lang="en-US" dirty="0"/>
              <a:t>, .fold,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0E41C-F331-4CEA-9719-81BDEB99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6538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optimizations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Integer overflows are not well optimized by compiler</a:t>
            </a:r>
            <a:endParaRPr lang="ru-RU" dirty="0"/>
          </a:p>
          <a:p>
            <a:pPr lvl="1"/>
            <a:r>
              <a:rPr lang="en-US" dirty="0"/>
              <a:t>E.g. </a:t>
            </a:r>
            <a:r>
              <a:rPr lang="en-US" dirty="0" err="1"/>
              <a:t>Pr</a:t>
            </a:r>
            <a:r>
              <a:rPr lang="en-US" i="1" dirty="0" err="1"/>
              <a:t>e</a:t>
            </a:r>
            <a:r>
              <a:rPr lang="en-US" dirty="0" err="1"/>
              <a:t>sburger</a:t>
            </a:r>
            <a:r>
              <a:rPr lang="en-US" dirty="0"/>
              <a:t> arithmetic is decidable but its complexity is O(2^2^N)</a:t>
            </a:r>
          </a:p>
          <a:p>
            <a:r>
              <a:rPr lang="en-US" dirty="0"/>
              <a:t>Only ~30% of arithmetic checks are eliminated when building Rust </a:t>
            </a:r>
            <a:r>
              <a:rPr lang="en-US"/>
              <a:t>compiler (with</a:t>
            </a:r>
            <a:r>
              <a:rPr lang="ru-RU"/>
              <a:t> </a:t>
            </a:r>
            <a:r>
              <a:rPr lang="en-US" dirty="0"/>
              <a:t>-</a:t>
            </a:r>
            <a:r>
              <a:rPr lang="en-US" dirty="0" err="1"/>
              <a:t>Coverflow</a:t>
            </a:r>
            <a:r>
              <a:rPr lang="en-US" dirty="0"/>
              <a:t>-checks=on) </a:t>
            </a:r>
          </a:p>
          <a:p>
            <a:pPr lvl="1"/>
            <a:r>
              <a:rPr lang="en-US" dirty="0"/>
              <a:t>Based on </a:t>
            </a:r>
            <a:r>
              <a:rPr lang="en-US" dirty="0">
                <a:hlinkClick r:id="rId2"/>
              </a:rPr>
              <a:t>analysis of binary code</a:t>
            </a:r>
            <a:endParaRPr lang="en-US" dirty="0"/>
          </a:p>
          <a:p>
            <a:r>
              <a:rPr lang="en-US" dirty="0"/>
              <a:t>This is the main reason for lack of arithmetic checks in release builds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1358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Unsafe APIs:</a:t>
            </a:r>
          </a:p>
          <a:p>
            <a:pPr lvl="1"/>
            <a:r>
              <a:rPr lang="en-US" dirty="0" err="1"/>
              <a:t>unchecked_add</a:t>
            </a:r>
            <a:r>
              <a:rPr lang="en-US" dirty="0"/>
              <a:t>, </a:t>
            </a:r>
            <a:r>
              <a:rPr lang="en-US" dirty="0" err="1"/>
              <a:t>wrapping_add</a:t>
            </a:r>
            <a:r>
              <a:rPr lang="en-US" dirty="0"/>
              <a:t>, </a:t>
            </a:r>
            <a:r>
              <a:rPr lang="en-US" dirty="0" err="1"/>
              <a:t>checked_add</a:t>
            </a:r>
            <a:r>
              <a:rPr lang="en-US" dirty="0"/>
              <a:t>, etc.</a:t>
            </a:r>
          </a:p>
          <a:p>
            <a:pPr lvl="1"/>
            <a:r>
              <a:rPr lang="en-US" dirty="0" err="1"/>
              <a:t>to_int_unchecked</a:t>
            </a:r>
            <a:endParaRPr lang="en-US" dirty="0"/>
          </a:p>
          <a:p>
            <a:pPr lvl="1"/>
            <a:r>
              <a:rPr lang="en-US" dirty="0"/>
              <a:t>std::hint::</a:t>
            </a:r>
            <a:r>
              <a:rPr lang="en-US" dirty="0" err="1"/>
              <a:t>unreachable_unchecked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hint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unreachable_unchecked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</a:p>
          <a:p>
            <a:pPr lvl="1"/>
            <a:r>
              <a:rPr lang="ru-RU" dirty="0"/>
              <a:t>(</a:t>
            </a:r>
            <a:r>
              <a:rPr lang="en-US" dirty="0"/>
              <a:t>checks in </a:t>
            </a:r>
            <a:r>
              <a:rPr lang="en-US" dirty="0" err="1"/>
              <a:t>stdlib</a:t>
            </a:r>
            <a:r>
              <a:rPr lang="en-US" dirty="0"/>
              <a:t> </a:t>
            </a:r>
            <a:r>
              <a:rPr lang="en-US" i="1" dirty="0"/>
              <a:t>can not be disabled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Special </a:t>
            </a:r>
            <a:r>
              <a:rPr lang="en-US" dirty="0" err="1"/>
              <a:t>stdlib</a:t>
            </a:r>
            <a:r>
              <a:rPr lang="en-US" dirty="0"/>
              <a:t> types: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NonZeroU32</a:t>
            </a:r>
            <a:r>
              <a:rPr lang="ru-RU" dirty="0"/>
              <a:t> </a:t>
            </a:r>
            <a:r>
              <a:rPr lang="en-US" dirty="0"/>
              <a:t>to disable divide-by-zero checks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Wrapping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en-US" dirty="0"/>
              <a:t> for overflows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67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Improvements without default checks (division by zero,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9E1B1-A469-40CD-B0CA-F5BE68BBDE90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2B8A1-B38E-4D05-AC59-253B751E3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433" y="1502802"/>
            <a:ext cx="6295137" cy="503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013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Slowdown with integer overflow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B19A4-484A-4EEE-B3FC-AF51CAE2E3DE}"/>
              </a:ext>
            </a:extLst>
          </p:cNvPr>
          <p:cNvSpPr txBox="1"/>
          <p:nvPr/>
        </p:nvSpPr>
        <p:spPr>
          <a:xfrm>
            <a:off x="9346827" y="1810871"/>
            <a:ext cx="2638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Some tests missing due to crashes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+30% checks in </a:t>
            </a:r>
            <a:r>
              <a:rPr lang="en-US" sz="2400" dirty="0" err="1"/>
              <a:t>rustc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348B3-A19C-4254-92EF-16F11829AFA4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004BA-61B5-4004-88C6-D0FCFD919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86" y="1408301"/>
            <a:ext cx="6252296" cy="500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A2C3-CA4C-498D-BB42-CB2FDC36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969"/>
            <a:ext cx="10515600" cy="1325563"/>
          </a:xfrm>
        </p:spPr>
        <p:txBody>
          <a:bodyPr/>
          <a:lstStyle/>
          <a:p>
            <a:r>
              <a:rPr lang="en-US" dirty="0"/>
              <a:t>Slowdown in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3D0B0-04C6-4EA0-8A1D-D0F5D6BD3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A509F-DA50-46A0-858B-5BF264BE3DC7}"/>
              </a:ext>
            </a:extLst>
          </p:cNvPr>
          <p:cNvSpPr txBox="1"/>
          <p:nvPr/>
        </p:nvSpPr>
        <p:spPr>
          <a:xfrm>
            <a:off x="9346827" y="1810871"/>
            <a:ext cx="26389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Some tests missing due to crashes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Even larger overheads in C/C++ with </a:t>
            </a:r>
            <a:r>
              <a:rPr lang="en-US" sz="2400" dirty="0" err="1"/>
              <a:t>UBsan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47AD98-B189-46D1-8871-7BD1D9419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774" y="1081088"/>
            <a:ext cx="6886013" cy="550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955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 overflow is not UB in Rust</a:t>
            </a:r>
          </a:p>
          <a:p>
            <a:pPr lvl="1"/>
            <a:r>
              <a:rPr lang="en-US" dirty="0"/>
              <a:t>Prevents compiler from performing some aggressive optimizations</a:t>
            </a:r>
            <a:endParaRPr lang="ru-RU" dirty="0"/>
          </a:p>
          <a:p>
            <a:r>
              <a:rPr lang="en-US" dirty="0"/>
              <a:t>Rust makes non-obvious choice about default arithmetic checks</a:t>
            </a:r>
          </a:p>
          <a:p>
            <a:pPr lvl="1"/>
            <a:r>
              <a:rPr lang="en-US" dirty="0"/>
              <a:t>Some really important errors like lossy casts are not checked but zero divisions are</a:t>
            </a:r>
          </a:p>
          <a:p>
            <a:pPr lvl="1"/>
            <a:r>
              <a:rPr lang="en-US" dirty="0"/>
              <a:t>Rare but may cause slowdown of ~</a:t>
            </a:r>
            <a:r>
              <a:rPr lang="ru-RU" dirty="0"/>
              <a:t>1%</a:t>
            </a:r>
            <a:endParaRPr lang="en-US" dirty="0"/>
          </a:p>
          <a:p>
            <a:r>
              <a:rPr lang="en-US" dirty="0"/>
              <a:t>Integer overflow checks have very large overhead (up to </a:t>
            </a:r>
            <a:r>
              <a:rPr lang="ru-RU" dirty="0"/>
              <a:t>10%)</a:t>
            </a:r>
            <a:endParaRPr lang="en-US" dirty="0"/>
          </a:p>
          <a:p>
            <a:pPr lvl="1"/>
            <a:r>
              <a:rPr lang="en-US" dirty="0"/>
              <a:t>Same as </a:t>
            </a:r>
            <a:r>
              <a:rPr lang="en-US" dirty="0" err="1"/>
              <a:t>UBsan</a:t>
            </a:r>
            <a:endParaRPr lang="ru-RU" dirty="0"/>
          </a:p>
          <a:p>
            <a:pPr lvl="1"/>
            <a:r>
              <a:rPr lang="en-US" dirty="0"/>
              <a:t>Unlikely to be enabled by default in future</a:t>
            </a:r>
            <a:endParaRPr lang="ru-R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982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RFC 560: Integer Overflow</a:t>
            </a:r>
            <a:r>
              <a:rPr lang="en-US" dirty="0"/>
              <a:t> (also </a:t>
            </a:r>
            <a:r>
              <a:rPr lang="en-US" dirty="0">
                <a:hlinkClick r:id="rId3"/>
              </a:rPr>
              <a:t>discussion</a:t>
            </a:r>
            <a:r>
              <a:rPr lang="ru-RU" dirty="0"/>
              <a:t> </a:t>
            </a:r>
            <a:r>
              <a:rPr lang="en-US" dirty="0"/>
              <a:t>and</a:t>
            </a:r>
            <a:r>
              <a:rPr lang="ru-RU" dirty="0"/>
              <a:t> </a:t>
            </a:r>
            <a:r>
              <a:rPr lang="en-US" dirty="0">
                <a:hlinkClick r:id="rId4"/>
              </a:rPr>
              <a:t>overview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Attempt to enable integer overflow checks in release</a:t>
            </a:r>
          </a:p>
          <a:p>
            <a:r>
              <a:rPr lang="en-US" dirty="0">
                <a:hlinkClick r:id="rId5"/>
              </a:rPr>
              <a:t>Understanding Integer Overflow in C/C++</a:t>
            </a:r>
            <a:endParaRPr lang="en-US" dirty="0"/>
          </a:p>
          <a:p>
            <a:pPr lvl="1"/>
            <a:r>
              <a:rPr lang="en-US" dirty="0"/>
              <a:t>Paper by John </a:t>
            </a:r>
            <a:r>
              <a:rPr lang="en-US" dirty="0" err="1"/>
              <a:t>Regehr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hlinkClick r:id="rId6"/>
              </a:rPr>
              <a:t>How undefined signed overflow enables optimizations in GCC</a:t>
            </a:r>
            <a:endParaRPr lang="ru-RU" dirty="0"/>
          </a:p>
          <a:p>
            <a:pPr lvl="1"/>
            <a:r>
              <a:rPr lang="en-US" dirty="0"/>
              <a:t>Paper about performance benefits of Integer Overflow UB in C/C++</a:t>
            </a:r>
          </a:p>
          <a:p>
            <a:r>
              <a:rPr lang="en-US" dirty="0">
                <a:hlinkClick r:id="rId7"/>
              </a:rPr>
              <a:t>Exploiting Undefined Behavior in C/C++ Programs for Optimization: A Study on the Performance Impact</a:t>
            </a:r>
            <a:endParaRPr lang="en-US" dirty="0"/>
          </a:p>
          <a:p>
            <a:pPr lvl="1"/>
            <a:r>
              <a:rPr lang="en-US" dirty="0"/>
              <a:t>Paper about benefits of UB, including signed overflow, with benchmarks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0265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D8F21-4A4B-4A71-855A-2996E48DF35B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2170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 </a:t>
            </a:r>
            <a:r>
              <a:rPr lang="en-US" dirty="0" err="1"/>
              <a:t>stdlib</a:t>
            </a:r>
            <a:r>
              <a:rPr lang="en-US" dirty="0"/>
              <a:t> has more mandatory checks and in some cases uses more robust (and slow) algorithms compared to STL</a:t>
            </a:r>
          </a:p>
          <a:p>
            <a:pPr lvl="1"/>
            <a:r>
              <a:rPr lang="en-US" dirty="0"/>
              <a:t>Cargo build system greatly simplifies experiments with alternate implementations though</a:t>
            </a:r>
          </a:p>
          <a:p>
            <a:r>
              <a:rPr lang="en-US" dirty="0"/>
              <a:t>On the other hand in other cases it can use faster container and algorithm implementations (compared to STL)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1924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3F-023F-4D05-BEE5-4DB92B54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library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917-3403-4C76-8B8D-AF0E3F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Stdlib</a:t>
            </a:r>
            <a:r>
              <a:rPr lang="en-US" dirty="0"/>
              <a:t> contains a lot of mandatory checks (assert!, </a:t>
            </a:r>
            <a:r>
              <a:rPr lang="en-US" dirty="0" err="1"/>
              <a:t>checked_add</a:t>
            </a:r>
            <a:r>
              <a:rPr lang="en-US" dirty="0"/>
              <a:t>, etc.)</a:t>
            </a:r>
          </a:p>
          <a:p>
            <a:r>
              <a:rPr lang="en-US" dirty="0"/>
              <a:t>Main types of checks:</a:t>
            </a:r>
          </a:p>
          <a:p>
            <a:pPr lvl="1"/>
            <a:r>
              <a:rPr lang="en-US" dirty="0"/>
              <a:t>Correctness of indices in containers (bounds checks, already considered above)</a:t>
            </a:r>
          </a:p>
          <a:p>
            <a:pPr lvl="1"/>
            <a:r>
              <a:rPr lang="en-US" dirty="0"/>
              <a:t>Size overflow checks in containers (capacity overflow)</a:t>
            </a:r>
          </a:p>
          <a:p>
            <a:pPr lvl="1"/>
            <a:r>
              <a:rPr lang="en-US" dirty="0"/>
              <a:t>Successful allocations in containers</a:t>
            </a:r>
            <a:endParaRPr lang="ru-RU" dirty="0"/>
          </a:p>
          <a:p>
            <a:pPr lvl="1"/>
            <a:r>
              <a:rPr lang="en-US" dirty="0"/>
              <a:t>Correctness of indices in UTF-8 container accesses (&amp;str and</a:t>
            </a:r>
            <a:r>
              <a:rPr lang="ru-RU" dirty="0"/>
              <a:t> </a:t>
            </a:r>
            <a:r>
              <a:rPr lang="en-US" dirty="0"/>
              <a:t>String)</a:t>
            </a:r>
          </a:p>
          <a:p>
            <a:pPr lvl="1"/>
            <a:r>
              <a:rPr lang="en-US" dirty="0"/>
              <a:t>API-specific checks </a:t>
            </a:r>
            <a:r>
              <a:rPr lang="ru-RU" dirty="0"/>
              <a:t>(</a:t>
            </a:r>
            <a:r>
              <a:rPr lang="en-US" dirty="0"/>
              <a:t>comparator axioms</a:t>
            </a:r>
            <a:r>
              <a:rPr lang="ru-RU" dirty="0"/>
              <a:t>, </a:t>
            </a:r>
            <a:r>
              <a:rPr lang="en-US" dirty="0"/>
              <a:t>etc.)</a:t>
            </a:r>
          </a:p>
          <a:p>
            <a:r>
              <a:rPr lang="en-US" dirty="0"/>
              <a:t>Similar checks are available in STL</a:t>
            </a:r>
          </a:p>
          <a:p>
            <a:pPr lvl="1"/>
            <a:r>
              <a:rPr lang="en-US" dirty="0"/>
              <a:t>Under _GLIBCXX_ASSERTIONS and</a:t>
            </a:r>
            <a:r>
              <a:rPr lang="ru-RU" dirty="0"/>
              <a:t> </a:t>
            </a:r>
            <a:r>
              <a:rPr lang="en-US" dirty="0"/>
              <a:t>_LIBCPP_HARDENING_MODE (Hardened STL)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679C-D316-424C-BCCE-3EF3346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6706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696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1E6A0-B228-4A06-B70D-E0C74F4243FF}"/>
              </a:ext>
            </a:extLst>
          </p:cNvPr>
          <p:cNvSpPr txBox="1"/>
          <p:nvPr/>
        </p:nvSpPr>
        <p:spPr>
          <a:xfrm>
            <a:off x="352425" y="2836525"/>
            <a:ext cx="5743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length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length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7CB709-CA80-49F9-98B8-8C3E8C5AAA19}"/>
              </a:ext>
            </a:extLst>
          </p:cNvPr>
          <p:cNvCxnSpPr/>
          <p:nvPr/>
        </p:nvCxnSpPr>
        <p:spPr>
          <a:xfrm>
            <a:off x="4848225" y="3571875"/>
            <a:ext cx="104775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7C6EDA-B768-4804-90A8-8792F862459E}"/>
              </a:ext>
            </a:extLst>
          </p:cNvPr>
          <p:cNvSpPr txBox="1"/>
          <p:nvPr/>
        </p:nvSpPr>
        <p:spPr>
          <a:xfrm>
            <a:off x="7627284" y="5558095"/>
            <a:ext cx="2317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https://godbolt.org/z/oa67f1j5z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AABEF-6EAA-4917-BE00-34ACF3AD2608}"/>
              </a:ext>
            </a:extLst>
          </p:cNvPr>
          <p:cNvSpPr txBox="1"/>
          <p:nvPr/>
        </p:nvSpPr>
        <p:spPr>
          <a:xfrm>
            <a:off x="5752259" y="1536174"/>
            <a:ext cx="60674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r15, [4*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r13d, r13d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// Check that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4*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length does not overflow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shr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62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.LBB0_11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// Check that 4*length &lt;=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isize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::max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movabs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9223372036854775804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r15,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ja      .LBB0_11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// Check that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alloc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is successful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call    qword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[rip +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rust_alloc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test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je      .LBB0_11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</p:txBody>
      </p:sp>
    </p:spTree>
    <p:extLst>
      <p:ext uri="{BB962C8B-B14F-4D97-AF65-F5344CB8AC3E}">
        <p14:creationId xmlns:p14="http://schemas.microsoft.com/office/powerpoint/2010/main" val="2416776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629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1E6A0-B228-4A06-B70D-E0C74F4243FF}"/>
              </a:ext>
            </a:extLst>
          </p:cNvPr>
          <p:cNvSpPr txBox="1"/>
          <p:nvPr/>
        </p:nvSpPr>
        <p:spPr>
          <a:xfrm>
            <a:off x="914400" y="1433075"/>
            <a:ext cx="7696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stdin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read_line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"{}"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9232A-C82D-4319-B6B4-0BE2A038BD07}"/>
              </a:ext>
            </a:extLst>
          </p:cNvPr>
          <p:cNvSpPr txBox="1"/>
          <p:nvPr/>
        </p:nvSpPr>
        <p:spPr>
          <a:xfrm>
            <a:off x="923925" y="4132263"/>
            <a:ext cx="107537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$ echo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Привет | ./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test</a:t>
            </a: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Привет</a:t>
            </a:r>
          </a:p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echo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Привет |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iconv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-f UTF-8 -t KOI8-RU | ./test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thread 'main' panicked at test.rs:5:39: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called `Result::unwrap()` on an `Err` value: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Error { kind: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InvalidData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, message: "stream did not contain valid UTF-8" }</a:t>
            </a:r>
          </a:p>
        </p:txBody>
      </p:sp>
    </p:spTree>
    <p:extLst>
      <p:ext uri="{BB962C8B-B14F-4D97-AF65-F5344CB8AC3E}">
        <p14:creationId xmlns:p14="http://schemas.microsoft.com/office/powerpoint/2010/main" val="25997175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3F-023F-4D05-BEE5-4DB92B54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overheads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917-3403-4C76-8B8D-AF0E3F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Default hashing algorithm in </a:t>
            </a:r>
            <a:r>
              <a:rPr lang="en-US" dirty="0" err="1"/>
              <a:t>hashtables</a:t>
            </a:r>
            <a:r>
              <a:rPr lang="en-US" dirty="0"/>
              <a:t> (</a:t>
            </a:r>
            <a:r>
              <a:rPr lang="en-US" dirty="0" err="1"/>
              <a:t>SipHash</a:t>
            </a:r>
            <a:r>
              <a:rPr lang="en-US" dirty="0"/>
              <a:t>) is resilient against DoS attacks bit is slower than analogs in STL</a:t>
            </a:r>
          </a:p>
          <a:p>
            <a:pPr lvl="1"/>
            <a:r>
              <a:rPr lang="en-US" dirty="0"/>
              <a:t>2x slowdown against </a:t>
            </a:r>
            <a:r>
              <a:rPr lang="en-US" dirty="0" err="1"/>
              <a:t>fxhash</a:t>
            </a:r>
            <a:r>
              <a:rPr lang="en-US" dirty="0"/>
              <a:t> in </a:t>
            </a:r>
            <a:r>
              <a:rPr lang="en-US" dirty="0">
                <a:hlinkClick r:id="rId2"/>
              </a:rPr>
              <a:t>simple microbenchmark</a:t>
            </a:r>
            <a:endParaRPr lang="ru-RU" dirty="0"/>
          </a:p>
          <a:p>
            <a:r>
              <a:rPr lang="en-US" dirty="0"/>
              <a:t>Rust IO is unbuffered by default</a:t>
            </a:r>
          </a:p>
          <a:p>
            <a:pPr lvl="1"/>
            <a:r>
              <a:rPr lang="en-US" dirty="0"/>
              <a:t>Without </a:t>
            </a:r>
            <a:r>
              <a:rPr lang="en-US" dirty="0" err="1"/>
              <a:t>BufReader</a:t>
            </a:r>
            <a:r>
              <a:rPr lang="en-US" dirty="0"/>
              <a:t> programs may be 10x slower</a:t>
            </a:r>
          </a:p>
          <a:p>
            <a:r>
              <a:rPr lang="en-US" dirty="0"/>
              <a:t>io::</a:t>
            </a:r>
            <a:r>
              <a:rPr lang="en-US" dirty="0" err="1"/>
              <a:t>stdout</a:t>
            </a:r>
            <a:r>
              <a:rPr lang="en-US" dirty="0"/>
              <a:t>() is line-buffered for non-TTY output (</a:t>
            </a:r>
            <a:r>
              <a:rPr lang="en-US" dirty="0">
                <a:hlinkClick r:id="rId3"/>
              </a:rPr>
              <a:t>rust #60673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may significantly slow down command-line tools (for cases like “./prog &gt; file”)</a:t>
            </a:r>
          </a:p>
          <a:p>
            <a:r>
              <a:rPr lang="en-US" dirty="0"/>
              <a:t>print!/</a:t>
            </a:r>
            <a:r>
              <a:rPr lang="en-US" dirty="0" err="1"/>
              <a:t>println</a:t>
            </a:r>
            <a:r>
              <a:rPr lang="en-US" dirty="0"/>
              <a:t>! macros use locked access to </a:t>
            </a:r>
            <a:r>
              <a:rPr lang="en-US" dirty="0" err="1"/>
              <a:t>stdout</a:t>
            </a:r>
            <a:r>
              <a:rPr lang="en-US" dirty="0"/>
              <a:t> for stable output from parallel threads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679C-D316-424C-BCCE-3EF3346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6321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262"/>
            <a:ext cx="10833847" cy="1325563"/>
          </a:xfrm>
        </p:spPr>
        <p:txBody>
          <a:bodyPr/>
          <a:lstStyle/>
          <a:p>
            <a:r>
              <a:rPr lang="en-US" dirty="0"/>
              <a:t>Improvements with disabled UTF-8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E8F6E-0C71-40CC-A60A-49BAE47149BA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C4C6A-BB65-409D-98E0-88592D14D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01" y="1410203"/>
            <a:ext cx="6410885" cy="5128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4CA93-6659-4A89-9FB5-29E44D9CC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334" y="1221159"/>
            <a:ext cx="6815218" cy="545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2582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262"/>
            <a:ext cx="10833847" cy="1325563"/>
          </a:xfrm>
        </p:spPr>
        <p:txBody>
          <a:bodyPr/>
          <a:lstStyle/>
          <a:p>
            <a:r>
              <a:rPr lang="en-US" dirty="0"/>
              <a:t>Improvements with disabled container overflow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566DE-82E8-48F7-BF31-6946B1A462CE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37653-B766-4317-A850-9C317DE10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022" y="1673710"/>
            <a:ext cx="6222626" cy="497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15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3F-023F-4D05-BEE5-4DB92B54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in standard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917-3403-4C76-8B8D-AF0E3F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Hashtables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 requirement for element reference validity after modification </a:t>
            </a:r>
            <a:r>
              <a:rPr lang="ru-RU" dirty="0"/>
              <a:t>(</a:t>
            </a:r>
            <a:r>
              <a:rPr lang="en-US" dirty="0"/>
              <a:t>as in std::</a:t>
            </a:r>
            <a:r>
              <a:rPr lang="en-US" dirty="0" err="1"/>
              <a:t>unordered_map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Allows to use open-addressing instead of chaining (fewer allocations</a:t>
            </a:r>
            <a:r>
              <a:rPr lang="ru-RU" dirty="0"/>
              <a:t>, </a:t>
            </a:r>
            <a:r>
              <a:rPr lang="en-US" dirty="0"/>
              <a:t>cache-friendly)</a:t>
            </a:r>
          </a:p>
          <a:p>
            <a:r>
              <a:rPr lang="en-US" dirty="0"/>
              <a:t>Search trees use B-tree</a:t>
            </a:r>
            <a:r>
              <a:rPr lang="ru-RU" dirty="0"/>
              <a:t> </a:t>
            </a:r>
            <a:r>
              <a:rPr lang="en-US" dirty="0"/>
              <a:t>(instead of RB-tree as std::map)</a:t>
            </a:r>
          </a:p>
          <a:p>
            <a:pPr lvl="1"/>
            <a:r>
              <a:rPr lang="en-US" dirty="0"/>
              <a:t>Fewer allocations</a:t>
            </a:r>
            <a:r>
              <a:rPr lang="ru-RU" dirty="0"/>
              <a:t>, </a:t>
            </a:r>
            <a:r>
              <a:rPr lang="en-US" dirty="0"/>
              <a:t>cache-friendly</a:t>
            </a:r>
          </a:p>
          <a:p>
            <a:pPr lvl="1"/>
            <a:r>
              <a:rPr lang="en-US" dirty="0"/>
              <a:t>4x speedup on </a:t>
            </a:r>
            <a:r>
              <a:rPr lang="en-US" dirty="0">
                <a:hlinkClick r:id="rId2"/>
              </a:rPr>
              <a:t>simple microbenchmark</a:t>
            </a:r>
            <a:endParaRPr lang="en-US" dirty="0"/>
          </a:p>
          <a:p>
            <a:r>
              <a:rPr lang="en-US" dirty="0"/>
              <a:t>Modern ILP-friendly sorting algorithms (</a:t>
            </a:r>
            <a:r>
              <a:rPr lang="en-US" dirty="0" err="1"/>
              <a:t>ipnsort</a:t>
            </a:r>
            <a:r>
              <a:rPr lang="en-US" dirty="0"/>
              <a:t>, </a:t>
            </a:r>
            <a:r>
              <a:rPr lang="en-US" dirty="0" err="1"/>
              <a:t>driftsort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en-US" dirty="0"/>
              <a:t>Modern STLs are implemented to</a:t>
            </a:r>
            <a:r>
              <a:rPr lang="ru-RU" dirty="0"/>
              <a:t> </a:t>
            </a:r>
            <a:r>
              <a:rPr lang="en-US" dirty="0">
                <a:hlinkClick r:id="rId3"/>
              </a:rPr>
              <a:t>simplify vectorization</a:t>
            </a:r>
            <a:r>
              <a:rPr lang="en-US" dirty="0"/>
              <a:t> when sorting primitive types</a:t>
            </a:r>
          </a:p>
          <a:p>
            <a:pPr lvl="1"/>
            <a:r>
              <a:rPr lang="en-US" dirty="0"/>
              <a:t>65% speedup on </a:t>
            </a:r>
            <a:r>
              <a:rPr lang="en-US" dirty="0">
                <a:hlinkClick r:id="rId4"/>
              </a:rPr>
              <a:t>simple microbenchmark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679C-D316-424C-BCCE-3EF3346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975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 </a:t>
            </a:r>
            <a:r>
              <a:rPr lang="en-US" dirty="0" err="1"/>
              <a:t>stdlib</a:t>
            </a:r>
            <a:r>
              <a:rPr lang="en-US" dirty="0"/>
              <a:t> includes both factors which negatively affect performance and more efficient (over STL) algorithms and containers</a:t>
            </a:r>
          </a:p>
          <a:p>
            <a:r>
              <a:rPr lang="en-US" dirty="0" err="1"/>
              <a:t>Stdlib</a:t>
            </a:r>
            <a:r>
              <a:rPr lang="en-US" dirty="0"/>
              <a:t> issues are not critical due to</a:t>
            </a:r>
            <a:endParaRPr lang="ru-RU" dirty="0"/>
          </a:p>
          <a:p>
            <a:pPr lvl="1"/>
            <a:r>
              <a:rPr lang="en-US" dirty="0"/>
              <a:t>Availability of many alternative implementations</a:t>
            </a:r>
            <a:endParaRPr lang="ru-RU" dirty="0"/>
          </a:p>
          <a:p>
            <a:pPr lvl="1"/>
            <a:r>
              <a:rPr lang="en-US" dirty="0"/>
              <a:t>Ease of integration of external libraries in Cargo ecosystem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3519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Safety vs Performance. A case study of C, C++ and Rust sort implementations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7968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fast-math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A69B3-22A0-43DE-BB2B-83D0563E6D72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Detailed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3611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ACA69-D0A3-4E3C-8669-E408153C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computations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F77BD6-3BB8-4921-9B01-3030E44BB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7212106" cy="4810067"/>
          </a:xfrm>
        </p:spPr>
        <p:txBody>
          <a:bodyPr>
            <a:normAutofit/>
          </a:bodyPr>
          <a:lstStyle/>
          <a:p>
            <a:r>
              <a:rPr lang="ru-RU" dirty="0"/>
              <a:t>IEEE 754</a:t>
            </a:r>
            <a:r>
              <a:rPr lang="en-US" dirty="0"/>
              <a:t> standard</a:t>
            </a:r>
            <a:endParaRPr lang="ru-RU" dirty="0"/>
          </a:p>
          <a:p>
            <a:pPr lvl="1"/>
            <a:r>
              <a:rPr lang="en-US" dirty="0"/>
              <a:t>Types and their binary representation</a:t>
            </a:r>
            <a:endParaRPr lang="ru-RU" dirty="0"/>
          </a:p>
          <a:p>
            <a:pPr lvl="1"/>
            <a:r>
              <a:rPr lang="en-US" dirty="0"/>
              <a:t>Operations on types</a:t>
            </a:r>
            <a:endParaRPr lang="ru-RU" dirty="0"/>
          </a:p>
          <a:p>
            <a:pPr lvl="1"/>
            <a:r>
              <a:rPr lang="en-US" dirty="0"/>
              <a:t>Rounding</a:t>
            </a:r>
            <a:endParaRPr lang="ru-RU" dirty="0"/>
          </a:p>
          <a:p>
            <a:r>
              <a:rPr lang="en-US" dirty="0"/>
              <a:t>Most architectures and languages follow the standard </a:t>
            </a:r>
            <a:r>
              <a:rPr lang="ru-RU" dirty="0"/>
              <a:t>(</a:t>
            </a:r>
            <a:r>
              <a:rPr lang="en-US" dirty="0"/>
              <a:t>mostly</a:t>
            </a:r>
            <a:r>
              <a:rPr lang="ru-RU" dirty="0"/>
              <a:t>)</a:t>
            </a:r>
          </a:p>
          <a:p>
            <a:r>
              <a:rPr lang="en-US" dirty="0"/>
              <a:t>Reasons for discrepancies:</a:t>
            </a:r>
            <a:endParaRPr lang="ru-RU" dirty="0"/>
          </a:p>
          <a:p>
            <a:pPr lvl="1"/>
            <a:r>
              <a:rPr lang="en-US" dirty="0"/>
              <a:t>Architecture specifics</a:t>
            </a:r>
            <a:endParaRPr lang="ru-RU" dirty="0"/>
          </a:p>
          <a:p>
            <a:pPr lvl="1"/>
            <a:r>
              <a:rPr lang="en-US" dirty="0"/>
              <a:t>More opportunities for optimizations</a:t>
            </a:r>
            <a:endParaRPr lang="ru-RU" dirty="0"/>
          </a:p>
          <a:p>
            <a:r>
              <a:rPr lang="en-US" dirty="0"/>
              <a:t>F</a:t>
            </a:r>
            <a:r>
              <a:rPr lang="ru-RU" dirty="0"/>
              <a:t>ast</a:t>
            </a:r>
            <a:r>
              <a:rPr lang="en-US" dirty="0"/>
              <a:t> </a:t>
            </a:r>
            <a:r>
              <a:rPr lang="ru-RU" dirty="0"/>
              <a:t>math – </a:t>
            </a:r>
            <a:r>
              <a:rPr lang="en-US" dirty="0"/>
              <a:t>umbrella term for optimizations that are enabled under relaxed IEEE 754 rules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D72FEE-60CC-4F48-B04B-60F1587788D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566870" y="2481530"/>
            <a:ext cx="4283207" cy="2937289"/>
          </a:xfrm>
          <a:prstGeom prst="rect">
            <a:avLst/>
          </a:prstGeom>
          <a:ln w="0"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DFD15-2A4D-43CF-B823-8661DCC8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0346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F7A0F-557C-4F7A-8993-8C5788C9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fast-math flags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6D31D-3650-4920-BB4C-E2AAEBDE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2560" cy="4351338"/>
          </a:xfrm>
        </p:spPr>
        <p:txBody>
          <a:bodyPr>
            <a:normAutofit/>
          </a:bodyPr>
          <a:lstStyle/>
          <a:p>
            <a:r>
              <a:rPr lang="en-US" dirty="0"/>
              <a:t>Algebraic:</a:t>
            </a:r>
            <a:endParaRPr lang="ru-RU" dirty="0"/>
          </a:p>
          <a:p>
            <a:pPr lvl="1"/>
            <a:r>
              <a:rPr lang="en-US" dirty="0"/>
              <a:t>Associativity</a:t>
            </a:r>
            <a:endParaRPr lang="ru-RU" dirty="0"/>
          </a:p>
          <a:p>
            <a:pPr lvl="1"/>
            <a:r>
              <a:rPr lang="en-US" dirty="0" err="1"/>
              <a:t>Unsignedness</a:t>
            </a:r>
            <a:r>
              <a:rPr lang="en-US" dirty="0"/>
              <a:t> of zero</a:t>
            </a:r>
            <a:endParaRPr lang="ru-RU" dirty="0"/>
          </a:p>
          <a:p>
            <a:pPr lvl="1"/>
            <a:r>
              <a:rPr lang="en-US" dirty="0"/>
              <a:t>Replacing division with multiplication</a:t>
            </a:r>
            <a:endParaRPr lang="ru-RU" dirty="0"/>
          </a:p>
          <a:p>
            <a:pPr lvl="1"/>
            <a:r>
              <a:rPr lang="en-US" dirty="0"/>
              <a:t>Fusion of operations </a:t>
            </a:r>
            <a:r>
              <a:rPr lang="ru-RU" dirty="0"/>
              <a:t>(</a:t>
            </a:r>
            <a:r>
              <a:rPr lang="en-US" dirty="0"/>
              <a:t>e.g. FMA</a:t>
            </a:r>
            <a:r>
              <a:rPr lang="ru-RU" dirty="0"/>
              <a:t>)</a:t>
            </a:r>
          </a:p>
          <a:p>
            <a:r>
              <a:rPr lang="en-US" dirty="0"/>
              <a:t>Disallowing non-standard values: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NaN</a:t>
            </a:r>
            <a:r>
              <a:rPr lang="en-US" dirty="0"/>
              <a:t>, Infinity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D26B-0850-40B9-A53A-DA75385F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682EA-029B-42F0-B931-AEFEF8BA3FE5}"/>
              </a:ext>
            </a:extLst>
          </p:cNvPr>
          <p:cNvSpPr txBox="1"/>
          <p:nvPr/>
        </p:nvSpPr>
        <p:spPr>
          <a:xfrm>
            <a:off x="7617723" y="892805"/>
            <a:ext cx="28755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931DCF-32B9-4C85-AC52-7F16C77E8290}"/>
              </a:ext>
            </a:extLst>
          </p:cNvPr>
          <p:cNvSpPr txBox="1"/>
          <p:nvPr/>
        </p:nvSpPr>
        <p:spPr>
          <a:xfrm>
            <a:off x="7617723" y="1838675"/>
            <a:ext cx="42323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.LCPI0_0: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0x4008000000000000 #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AA5558-4864-4967-95AD-4AD2102865F5}"/>
              </a:ext>
            </a:extLst>
          </p:cNvPr>
          <p:cNvSpPr txBox="1"/>
          <p:nvPr/>
        </p:nvSpPr>
        <p:spPr>
          <a:xfrm>
            <a:off x="7617721" y="4008781"/>
            <a:ext cx="45193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.LCPI0_0: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0x4008000000000000 #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.LCPI0_1: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0x3fd5555555555555 # 1/3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.LCPI0_1]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3BB64B-5999-4A83-A17F-121BAF873744}"/>
              </a:ext>
            </a:extLst>
          </p:cNvPr>
          <p:cNvSpPr txBox="1"/>
          <p:nvPr/>
        </p:nvSpPr>
        <p:spPr>
          <a:xfrm>
            <a:off x="8751254" y="3446317"/>
            <a:ext cx="2252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https://godbolt.org/z/Tqvsv4Tqs</a:t>
            </a:r>
            <a:endParaRPr lang="ru-R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136323-3072-4E3C-8B8A-FFE6335B63C6}"/>
              </a:ext>
            </a:extLst>
          </p:cNvPr>
          <p:cNvSpPr txBox="1"/>
          <p:nvPr/>
        </p:nvSpPr>
        <p:spPr>
          <a:xfrm>
            <a:off x="8536276" y="6065654"/>
            <a:ext cx="2395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freciprocal</a:t>
            </a:r>
            <a:r>
              <a:rPr lang="en-US" sz="1200" dirty="0"/>
              <a:t>-math</a:t>
            </a:r>
          </a:p>
          <a:p>
            <a:pPr algn="ctr"/>
            <a:r>
              <a:rPr lang="en-US" sz="1200" dirty="0">
                <a:hlinkClick r:id="rId3"/>
              </a:rPr>
              <a:t>https://godbolt.org/z/6sn7G4r4P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61897414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43F28-ED6B-4157-B006-E640A4B3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math in other languages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01371-9E42-47E5-A037-9C393952F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Different languages have different approach towards </a:t>
            </a:r>
            <a:r>
              <a:rPr lang="ru-RU" dirty="0"/>
              <a:t>IEEE 754</a:t>
            </a:r>
          </a:p>
          <a:p>
            <a:r>
              <a:rPr lang="ru-RU" dirty="0"/>
              <a:t>C </a:t>
            </a:r>
            <a:r>
              <a:rPr lang="en-US" dirty="0"/>
              <a:t>Standard disallows </a:t>
            </a:r>
            <a:r>
              <a:rPr lang="ru-RU" dirty="0"/>
              <a:t>fast-math </a:t>
            </a:r>
            <a:r>
              <a:rPr lang="en-US" dirty="0"/>
              <a:t>optimizations (in Annex F)</a:t>
            </a:r>
            <a:endParaRPr lang="ru-RU" dirty="0"/>
          </a:p>
          <a:p>
            <a:pPr lvl="1"/>
            <a:r>
              <a:rPr lang="en-US" dirty="0"/>
              <a:t>Usually can be enabled with flags </a:t>
            </a:r>
            <a:r>
              <a:rPr lang="ru-RU" dirty="0"/>
              <a:t>(</a:t>
            </a:r>
            <a:r>
              <a:rPr lang="en-US" dirty="0"/>
              <a:t>e.g. -</a:t>
            </a:r>
            <a:r>
              <a:rPr lang="en-US" dirty="0" err="1"/>
              <a:t>ffast</a:t>
            </a:r>
            <a:r>
              <a:rPr lang="en-US" dirty="0"/>
              <a:t>-math)</a:t>
            </a:r>
          </a:p>
          <a:p>
            <a:pPr lvl="1"/>
            <a:r>
              <a:rPr lang="en-US" dirty="0"/>
              <a:t>Used e.g. in game engines</a:t>
            </a:r>
            <a:endParaRPr lang="ru-RU" dirty="0"/>
          </a:p>
          <a:p>
            <a:r>
              <a:rPr lang="en-US" dirty="0"/>
              <a:t>Same applies for Swift language</a:t>
            </a:r>
          </a:p>
          <a:p>
            <a:r>
              <a:rPr lang="ru-RU" dirty="0"/>
              <a:t>Java </a:t>
            </a:r>
            <a:r>
              <a:rPr lang="en-US" dirty="0"/>
              <a:t>and </a:t>
            </a:r>
            <a:r>
              <a:rPr lang="ru-RU" dirty="0"/>
              <a:t>C# </a:t>
            </a:r>
            <a:r>
              <a:rPr lang="en-US" dirty="0"/>
              <a:t>allow to perform computations with higher precision than resulting type</a:t>
            </a:r>
            <a:endParaRPr lang="ru-RU" dirty="0"/>
          </a:p>
          <a:p>
            <a:r>
              <a:rPr lang="ru-RU" dirty="0"/>
              <a:t>Go </a:t>
            </a:r>
            <a:r>
              <a:rPr lang="en-US" dirty="0"/>
              <a:t>allows fusion of operations</a:t>
            </a:r>
            <a:endParaRPr lang="ru-RU" dirty="0"/>
          </a:p>
          <a:p>
            <a:pPr lvl="1"/>
            <a:r>
              <a:rPr lang="en-US" dirty="0"/>
              <a:t>Only if there are no explicit casts</a:t>
            </a:r>
            <a:endParaRPr lang="ru-RU" dirty="0"/>
          </a:p>
          <a:p>
            <a:r>
              <a:rPr lang="ru-RU" dirty="0"/>
              <a:t>Fortran </a:t>
            </a:r>
            <a:r>
              <a:rPr lang="en-US" dirty="0"/>
              <a:t>allows </a:t>
            </a:r>
            <a:r>
              <a:rPr lang="ru-RU" dirty="0"/>
              <a:t>IEEE 754 </a:t>
            </a:r>
            <a:r>
              <a:rPr lang="en-US" dirty="0"/>
              <a:t>violations to improve performance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D3AD9-BA81-47F5-9675-32802208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4276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99977-D071-4915-9CF3-AD6E90E9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Optimizations:</a:t>
            </a:r>
            <a:r>
              <a:rPr lang="ru-RU" dirty="0"/>
              <a:t> </a:t>
            </a:r>
            <a:r>
              <a:rPr lang="en-US" dirty="0"/>
              <a:t>Vectorization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61A02-0C79-47F4-9757-4FDEF5361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5290" cy="1387358"/>
          </a:xfrm>
        </p:spPr>
        <p:txBody>
          <a:bodyPr>
            <a:normAutofit/>
          </a:bodyPr>
          <a:lstStyle/>
          <a:p>
            <a:r>
              <a:rPr lang="ru-RU" dirty="0"/>
              <a:t>-fassociative-math </a:t>
            </a:r>
            <a:r>
              <a:rPr lang="en-US" dirty="0"/>
              <a:t>and</a:t>
            </a:r>
            <a:r>
              <a:rPr lang="ru-RU" dirty="0"/>
              <a:t> -fno-signed-zeros </a:t>
            </a:r>
            <a:r>
              <a:rPr lang="en-US" dirty="0"/>
              <a:t>allow compiler to reorder loop iterations and vectorize loop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6F5AF-7397-4A72-A8C2-822B85560E6A}"/>
              </a:ext>
            </a:extLst>
          </p:cNvPr>
          <p:cNvSpPr txBox="1"/>
          <p:nvPr/>
        </p:nvSpPr>
        <p:spPr>
          <a:xfrm>
            <a:off x="8313490" y="657189"/>
            <a:ext cx="38785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b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sum256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arr1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arr2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arr1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arr2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9810B-99BD-4581-87EB-F53F228F6164}"/>
              </a:ext>
            </a:extLst>
          </p:cNvPr>
          <p:cNvSpPr txBox="1"/>
          <p:nvPr/>
        </p:nvSpPr>
        <p:spPr>
          <a:xfrm>
            <a:off x="1038837" y="3676300"/>
            <a:ext cx="480829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 Loop NOT vectorized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14C1F-0B50-4DC5-8E7A-E62473D408AA}"/>
              </a:ext>
            </a:extLst>
          </p:cNvPr>
          <p:cNvSpPr txBox="1"/>
          <p:nvPr/>
        </p:nvSpPr>
        <p:spPr>
          <a:xfrm>
            <a:off x="6920916" y="3456707"/>
            <a:ext cx="49495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movups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xmm1,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movups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xmm2,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xmm2, xmm1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xmm2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 Loop vectorized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add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1AE06-1EC2-4740-A681-788C3D46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487D9-6E91-4663-A7AF-394E4724BE18}"/>
              </a:ext>
            </a:extLst>
          </p:cNvPr>
          <p:cNvSpPr txBox="1"/>
          <p:nvPr/>
        </p:nvSpPr>
        <p:spPr>
          <a:xfrm>
            <a:off x="1687416" y="5829858"/>
            <a:ext cx="260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</a:t>
            </a:r>
          </a:p>
          <a:p>
            <a:pPr algn="ctr"/>
            <a:r>
              <a:rPr lang="en-US" sz="1200" dirty="0">
                <a:hlinkClick r:id="rId2"/>
              </a:rPr>
              <a:t>https://godbolt.org/z/v5vvEb1Th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D6282-B11F-4272-84A8-D1466460FE88}"/>
              </a:ext>
            </a:extLst>
          </p:cNvPr>
          <p:cNvSpPr txBox="1"/>
          <p:nvPr/>
        </p:nvSpPr>
        <p:spPr>
          <a:xfrm>
            <a:off x="6542721" y="5829858"/>
            <a:ext cx="532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 -</a:t>
            </a:r>
            <a:r>
              <a:rPr lang="en-US" sz="1200" dirty="0" err="1"/>
              <a:t>fassociative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-signed-zeros</a:t>
            </a:r>
          </a:p>
          <a:p>
            <a:pPr algn="ctr"/>
            <a:r>
              <a:rPr lang="en-US" sz="1200" dirty="0">
                <a:hlinkClick r:id="rId3"/>
              </a:rPr>
              <a:t>https://godbolt.org/z/j6P1ohcTr</a:t>
            </a:r>
            <a:r>
              <a:rPr lang="en-US" sz="1200" dirty="0"/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99377062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D9834-62FB-472C-AFFD-03D26EDF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Optimizations:</a:t>
            </a:r>
            <a:r>
              <a:rPr lang="ru-RU" dirty="0"/>
              <a:t> </a:t>
            </a:r>
            <a:r>
              <a:rPr lang="en-US" dirty="0"/>
              <a:t>Algebraic simplifications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FB168-9DE9-4371-BBC6-BD627EDCA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Fast-math </a:t>
            </a:r>
            <a:r>
              <a:rPr lang="en-US" dirty="0"/>
              <a:t>may allow more simplifications or compile-time evaluation</a:t>
            </a:r>
            <a:endParaRPr lang="ru-RU" dirty="0"/>
          </a:p>
          <a:p>
            <a:r>
              <a:rPr lang="ru-RU" dirty="0"/>
              <a:t>-</a:t>
            </a:r>
            <a:r>
              <a:rPr lang="ru-RU" dirty="0" err="1"/>
              <a:t>fassociative-math</a:t>
            </a:r>
            <a:r>
              <a:rPr lang="ru-RU" dirty="0"/>
              <a:t> + -</a:t>
            </a:r>
            <a:r>
              <a:rPr lang="ru-RU" dirty="0" err="1"/>
              <a:t>fno-signed-zeros</a:t>
            </a:r>
            <a:endParaRPr lang="ru-RU" dirty="0"/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-</a:t>
            </a:r>
            <a:r>
              <a:rPr lang="ru-RU" dirty="0" err="1"/>
              <a:t>fassociative-math</a:t>
            </a:r>
            <a:r>
              <a:rPr lang="ru-RU" dirty="0"/>
              <a:t> + -</a:t>
            </a:r>
            <a:r>
              <a:rPr lang="ru-RU" dirty="0" err="1"/>
              <a:t>fno-signed-zeros</a:t>
            </a:r>
            <a:r>
              <a:rPr lang="ru-RU" dirty="0"/>
              <a:t> + -</a:t>
            </a:r>
            <a:r>
              <a:rPr lang="ru-RU" dirty="0" err="1"/>
              <a:t>freciprocal-math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CE718-61E5-4419-A704-96DA5378C411}"/>
              </a:ext>
            </a:extLst>
          </p:cNvPr>
          <p:cNvSpPr txBox="1"/>
          <p:nvPr/>
        </p:nvSpPr>
        <p:spPr>
          <a:xfrm>
            <a:off x="779739" y="3103061"/>
            <a:ext cx="26488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FB350-F4B5-408A-A0E7-E3BDFFDEA0EA}"/>
              </a:ext>
            </a:extLst>
          </p:cNvPr>
          <p:cNvSpPr txBox="1"/>
          <p:nvPr/>
        </p:nvSpPr>
        <p:spPr>
          <a:xfrm>
            <a:off x="3746208" y="3010727"/>
            <a:ext cx="51557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 # +3.0 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.LCPI0_1] # -3.0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3368B0-B182-42EA-9B1D-E1F3EA0432DD}"/>
              </a:ext>
            </a:extLst>
          </p:cNvPr>
          <p:cNvSpPr txBox="1"/>
          <p:nvPr/>
        </p:nvSpPr>
        <p:spPr>
          <a:xfrm>
            <a:off x="9178472" y="3010727"/>
            <a:ext cx="1269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44B5F-F146-4AED-B5F2-54F90C078C4C}"/>
              </a:ext>
            </a:extLst>
          </p:cNvPr>
          <p:cNvSpPr txBox="1"/>
          <p:nvPr/>
        </p:nvSpPr>
        <p:spPr>
          <a:xfrm>
            <a:off x="779739" y="4945996"/>
            <a:ext cx="26488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B00F6-8F31-4E39-918D-61DB5474BC70}"/>
              </a:ext>
            </a:extLst>
          </p:cNvPr>
          <p:cNvSpPr txBox="1"/>
          <p:nvPr/>
        </p:nvSpPr>
        <p:spPr>
          <a:xfrm>
            <a:off x="3746208" y="4776422"/>
            <a:ext cx="435178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*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/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2EC2A2-EEAF-483E-8755-5EEC21311B64}"/>
              </a:ext>
            </a:extLst>
          </p:cNvPr>
          <p:cNvSpPr txBox="1"/>
          <p:nvPr/>
        </p:nvSpPr>
        <p:spPr>
          <a:xfrm>
            <a:off x="9178472" y="4914921"/>
            <a:ext cx="1346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DB4AC-DC8C-4A4B-B2DE-2DC23525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14DFE-0C4B-49B5-B1D6-D650641F23FB}"/>
              </a:ext>
            </a:extLst>
          </p:cNvPr>
          <p:cNvSpPr txBox="1"/>
          <p:nvPr/>
        </p:nvSpPr>
        <p:spPr>
          <a:xfrm>
            <a:off x="4635879" y="3800462"/>
            <a:ext cx="2419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https://godbolt.org/z/hjzWejv38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3345CD-15FE-47A5-A342-6F2E1A90C644}"/>
              </a:ext>
            </a:extLst>
          </p:cNvPr>
          <p:cNvSpPr txBox="1"/>
          <p:nvPr/>
        </p:nvSpPr>
        <p:spPr>
          <a:xfrm>
            <a:off x="7613475" y="3721545"/>
            <a:ext cx="4166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fassociative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-signed-zeros </a:t>
            </a:r>
          </a:p>
          <a:p>
            <a:pPr algn="ctr"/>
            <a:r>
              <a:rPr lang="en-US" sz="1200" dirty="0">
                <a:hlinkClick r:id="rId3"/>
              </a:rPr>
              <a:t>https://godbolt.org/z/a5GME55MM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534752-A6EA-4166-8873-FF7375BCD8E0}"/>
              </a:ext>
            </a:extLst>
          </p:cNvPr>
          <p:cNvSpPr txBox="1"/>
          <p:nvPr/>
        </p:nvSpPr>
        <p:spPr>
          <a:xfrm>
            <a:off x="4295571" y="5814955"/>
            <a:ext cx="2428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4"/>
              </a:rPr>
              <a:t>https://godbolt.org/z/nancn6j8x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F91A32-2FAD-4A3B-AA10-88D93EADE8C0}"/>
              </a:ext>
            </a:extLst>
          </p:cNvPr>
          <p:cNvSpPr txBox="1"/>
          <p:nvPr/>
        </p:nvSpPr>
        <p:spPr>
          <a:xfrm>
            <a:off x="7427835" y="5767376"/>
            <a:ext cx="4351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fassociative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-signed-zeros -</a:t>
            </a:r>
            <a:r>
              <a:rPr lang="en-US" sz="1200" dirty="0" err="1"/>
              <a:t>freciprocal</a:t>
            </a:r>
            <a:r>
              <a:rPr lang="en-US" sz="1200" dirty="0"/>
              <a:t>-math </a:t>
            </a:r>
          </a:p>
          <a:p>
            <a:pPr algn="ctr"/>
            <a:r>
              <a:rPr lang="en-US" sz="1200" dirty="0">
                <a:hlinkClick r:id="rId5"/>
              </a:rPr>
              <a:t>https://godbolt.org/z/dMeKc8PW9</a:t>
            </a:r>
            <a:r>
              <a:rPr lang="en-US" sz="1200" dirty="0"/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05200563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90146-9A01-4468-9334-F10CD167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Optimizations:</a:t>
            </a:r>
            <a:r>
              <a:rPr lang="ru-RU" dirty="0"/>
              <a:t> </a:t>
            </a:r>
            <a:r>
              <a:rPr lang="en-US" dirty="0"/>
              <a:t>Fused instructions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74AAC-9B29-4EF6-B0DB-AE0A86A3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805719" cy="18403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Some architectures support fusion of floating point instructions</a:t>
            </a:r>
            <a:endParaRPr lang="ru-RU" dirty="0"/>
          </a:p>
          <a:p>
            <a:pPr lvl="1"/>
            <a:r>
              <a:rPr lang="en-US" dirty="0"/>
              <a:t>E.g.</a:t>
            </a:r>
            <a:r>
              <a:rPr lang="ru-RU" dirty="0"/>
              <a:t> Fused Multiply Add </a:t>
            </a:r>
            <a:r>
              <a:rPr lang="en-US" dirty="0"/>
              <a:t>in </a:t>
            </a:r>
            <a:r>
              <a:rPr lang="ru-RU" dirty="0"/>
              <a:t>x86-64</a:t>
            </a:r>
          </a:p>
          <a:p>
            <a:r>
              <a:rPr lang="en-US" dirty="0"/>
              <a:t>Rounding of these instructions may be different from sequence of </a:t>
            </a:r>
            <a:r>
              <a:rPr lang="en-US" dirty="0" err="1"/>
              <a:t>roundings</a:t>
            </a:r>
            <a:r>
              <a:rPr lang="en-US" dirty="0"/>
              <a:t> of their primitive operations</a:t>
            </a:r>
            <a:endParaRPr lang="ru-RU" dirty="0"/>
          </a:p>
          <a:p>
            <a:r>
              <a:rPr lang="en-US" dirty="0"/>
              <a:t>Enabled via </a:t>
            </a:r>
            <a:r>
              <a:rPr lang="ru-RU" dirty="0"/>
              <a:t>-ffpcontract=on </a:t>
            </a:r>
            <a:r>
              <a:rPr lang="en-US" dirty="0"/>
              <a:t>flag</a:t>
            </a:r>
            <a:endParaRPr lang="ru-RU" dirty="0"/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F9249-1E2E-4B96-AEB6-17C8288EAD8F}"/>
              </a:ext>
            </a:extLst>
          </p:cNvPr>
          <p:cNvSpPr txBox="1"/>
          <p:nvPr/>
        </p:nvSpPr>
        <p:spPr>
          <a:xfrm>
            <a:off x="4234692" y="3651241"/>
            <a:ext cx="451486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CE476-CFB8-4342-906B-20BF14BCA69B}"/>
              </a:ext>
            </a:extLst>
          </p:cNvPr>
          <p:cNvSpPr txBox="1"/>
          <p:nvPr/>
        </p:nvSpPr>
        <p:spPr>
          <a:xfrm>
            <a:off x="916498" y="4865115"/>
            <a:ext cx="465058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1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multiply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1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add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101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A0B84-A047-4AE5-92BF-8F75DD54E0ED}"/>
              </a:ext>
            </a:extLst>
          </p:cNvPr>
          <p:cNvSpPr txBox="1"/>
          <p:nvPr/>
        </p:nvSpPr>
        <p:spPr>
          <a:xfrm>
            <a:off x="5644719" y="4862395"/>
            <a:ext cx="620966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vmovsd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xmm2, qword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vfmadd213sd     xmm0, xmm1, xmm2 # fused multiply-add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vmovapd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xmm1, xmm2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101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DA6F-DD14-4F44-8C8B-66F3020A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EEEE66-5E07-4347-BB91-BD704EA6E1F4}"/>
              </a:ext>
            </a:extLst>
          </p:cNvPr>
          <p:cNvSpPr txBox="1"/>
          <p:nvPr/>
        </p:nvSpPr>
        <p:spPr>
          <a:xfrm>
            <a:off x="1836145" y="6410814"/>
            <a:ext cx="2654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</a:t>
            </a:r>
          </a:p>
          <a:p>
            <a:pPr algn="ctr"/>
            <a:r>
              <a:rPr lang="en-US" sz="1200" dirty="0">
                <a:hlinkClick r:id="rId2"/>
              </a:rPr>
              <a:t>https://godbolt.org/z/qTTY4r7Yx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125A26-7131-44C3-BECD-0D34AEA553D7}"/>
              </a:ext>
            </a:extLst>
          </p:cNvPr>
          <p:cNvSpPr txBox="1"/>
          <p:nvPr/>
        </p:nvSpPr>
        <p:spPr>
          <a:xfrm>
            <a:off x="6744026" y="6410814"/>
            <a:ext cx="425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 -</a:t>
            </a:r>
            <a:r>
              <a:rPr lang="en-US" sz="1200" dirty="0" err="1"/>
              <a:t>ffp</a:t>
            </a:r>
            <a:r>
              <a:rPr lang="en-US" sz="1200" dirty="0"/>
              <a:t>-contract=on -march=</a:t>
            </a:r>
            <a:r>
              <a:rPr lang="en-US" sz="1200" dirty="0" err="1"/>
              <a:t>haswell</a:t>
            </a:r>
            <a:r>
              <a:rPr lang="en-US" sz="1200" dirty="0"/>
              <a:t> </a:t>
            </a:r>
          </a:p>
          <a:p>
            <a:pPr algn="ctr"/>
            <a:r>
              <a:rPr lang="en-US" sz="1200" dirty="0">
                <a:hlinkClick r:id="rId3"/>
              </a:rPr>
              <a:t>https://godbolt.org/z/zvPTo9fz4</a:t>
            </a:r>
            <a:r>
              <a:rPr lang="en-US" sz="1200" dirty="0"/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8346673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E3706-717C-4841-B412-04992EDB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Optimizations:</a:t>
            </a:r>
            <a:r>
              <a:rPr lang="ru-RU" dirty="0"/>
              <a:t> </a:t>
            </a:r>
            <a:r>
              <a:rPr lang="en-US" dirty="0"/>
              <a:t>Finite only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CD7BED-F943-4234-9B1D-87D63C82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-ffinite-math-only </a:t>
            </a:r>
            <a:r>
              <a:rPr lang="en-US" dirty="0"/>
              <a:t>enables optimizations that rely on lack of </a:t>
            </a:r>
            <a:r>
              <a:rPr lang="ru-RU" dirty="0"/>
              <a:t>NaN </a:t>
            </a:r>
            <a:r>
              <a:rPr lang="en-US" dirty="0"/>
              <a:t>or </a:t>
            </a:r>
            <a:r>
              <a:rPr lang="ru-RU" dirty="0"/>
              <a:t>Inf </a:t>
            </a:r>
            <a:r>
              <a:rPr lang="en-US" dirty="0"/>
              <a:t>values (and corresponding runtime exceptions)</a:t>
            </a:r>
            <a:endParaRPr lang="ru-RU" dirty="0"/>
          </a:p>
          <a:p>
            <a:r>
              <a:rPr lang="en-US" dirty="0"/>
              <a:t>This allows to</a:t>
            </a:r>
            <a:endParaRPr lang="ru-RU" dirty="0"/>
          </a:p>
          <a:p>
            <a:pPr lvl="1"/>
            <a:r>
              <a:rPr lang="en-US" dirty="0"/>
              <a:t>Remove </a:t>
            </a:r>
            <a:r>
              <a:rPr lang="ru-RU" dirty="0"/>
              <a:t>NaN </a:t>
            </a:r>
            <a:r>
              <a:rPr lang="en-US" dirty="0"/>
              <a:t>and </a:t>
            </a:r>
            <a:r>
              <a:rPr lang="ru-RU" dirty="0"/>
              <a:t>Inf</a:t>
            </a:r>
            <a:r>
              <a:rPr lang="en-US" dirty="0"/>
              <a:t> checks</a:t>
            </a:r>
            <a:endParaRPr lang="ru-RU" dirty="0"/>
          </a:p>
          <a:p>
            <a:pPr lvl="1"/>
            <a:r>
              <a:rPr lang="ru-RU" dirty="0"/>
              <a:t>x == x =&gt; </a:t>
            </a:r>
            <a:r>
              <a:rPr lang="ru-RU" dirty="0" err="1"/>
              <a:t>tru</a:t>
            </a:r>
            <a:r>
              <a:rPr lang="en-US" dirty="0"/>
              <a:t>e</a:t>
            </a:r>
            <a:endParaRPr lang="ru-RU" dirty="0"/>
          </a:p>
          <a:p>
            <a:pPr lvl="1"/>
            <a:r>
              <a:rPr lang="ru-RU" dirty="0"/>
              <a:t>x / x =&gt; 1</a:t>
            </a:r>
            <a:endParaRPr lang="en-US" dirty="0"/>
          </a:p>
          <a:p>
            <a:r>
              <a:rPr lang="en-US" dirty="0"/>
              <a:t>With </a:t>
            </a:r>
            <a:r>
              <a:rPr lang="ru-RU" dirty="0"/>
              <a:t>-fno-signed-zeros:</a:t>
            </a:r>
          </a:p>
          <a:p>
            <a:pPr lvl="1"/>
            <a:r>
              <a:rPr lang="en-US" dirty="0"/>
              <a:t>x</a:t>
            </a:r>
            <a:r>
              <a:rPr lang="ru-RU" dirty="0"/>
              <a:t> – x =&gt; 0</a:t>
            </a:r>
          </a:p>
          <a:p>
            <a:pPr lvl="1"/>
            <a:r>
              <a:rPr lang="ru-RU" dirty="0"/>
              <a:t>0 / x =&gt; 0</a:t>
            </a:r>
          </a:p>
          <a:p>
            <a:pPr lvl="1"/>
            <a:r>
              <a:rPr lang="en-US" dirty="0"/>
              <a:t>x</a:t>
            </a:r>
            <a:r>
              <a:rPr lang="ru-RU" dirty="0"/>
              <a:t> * 0 =&gt;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47CB7-1D3C-40B5-A630-4EF483E4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146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4EE17E-6208-4925-91E2-657258B5CD8E}"/>
              </a:ext>
            </a:extLst>
          </p:cNvPr>
          <p:cNvSpPr txBox="1"/>
          <p:nvPr/>
        </p:nvSpPr>
        <p:spPr>
          <a:xfrm>
            <a:off x="5898774" y="3075794"/>
            <a:ext cx="221259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0BB48B-A69E-4F8E-B8D2-44C9B28C16C0}"/>
              </a:ext>
            </a:extLst>
          </p:cNvPr>
          <p:cNvSpPr txBox="1"/>
          <p:nvPr/>
        </p:nvSpPr>
        <p:spPr>
          <a:xfrm>
            <a:off x="5898774" y="3959864"/>
            <a:ext cx="24474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ucomisd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setnp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al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5C56A-529A-4BD2-8D40-B4A673AA04C7}"/>
              </a:ext>
            </a:extLst>
          </p:cNvPr>
          <p:cNvSpPr txBox="1"/>
          <p:nvPr/>
        </p:nvSpPr>
        <p:spPr>
          <a:xfrm>
            <a:off x="5898774" y="5279617"/>
            <a:ext cx="207837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mov     al, 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FDFF57-87F9-4D97-A0DA-02F2B45F89FB}"/>
              </a:ext>
            </a:extLst>
          </p:cNvPr>
          <p:cNvSpPr txBox="1"/>
          <p:nvPr/>
        </p:nvSpPr>
        <p:spPr>
          <a:xfrm>
            <a:off x="9234447" y="3075793"/>
            <a:ext cx="259849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49DF1C-F45F-4468-8D4D-648CD62BB323}"/>
              </a:ext>
            </a:extLst>
          </p:cNvPr>
          <p:cNvSpPr txBox="1"/>
          <p:nvPr/>
        </p:nvSpPr>
        <p:spPr>
          <a:xfrm>
            <a:off x="9234447" y="3959865"/>
            <a:ext cx="259849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xmm1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AA3AE7-6C19-45DA-8123-51E8798AC11A}"/>
              </a:ext>
            </a:extLst>
          </p:cNvPr>
          <p:cNvSpPr txBox="1"/>
          <p:nvPr/>
        </p:nvSpPr>
        <p:spPr>
          <a:xfrm>
            <a:off x="9234447" y="5279618"/>
            <a:ext cx="250621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0824CD-234C-4C00-A3C1-46B9D78A2F4D}"/>
              </a:ext>
            </a:extLst>
          </p:cNvPr>
          <p:cNvSpPr txBox="1"/>
          <p:nvPr/>
        </p:nvSpPr>
        <p:spPr>
          <a:xfrm>
            <a:off x="5869412" y="4744334"/>
            <a:ext cx="2506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https://godbolt.org/z/v5YEq7hbY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C95D91-B828-4F1B-92F6-A670ED9CA421}"/>
              </a:ext>
            </a:extLst>
          </p:cNvPr>
          <p:cNvSpPr txBox="1"/>
          <p:nvPr/>
        </p:nvSpPr>
        <p:spPr>
          <a:xfrm>
            <a:off x="9325981" y="4744334"/>
            <a:ext cx="2506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3"/>
              </a:rPr>
              <a:t>https://godbolt.org/z/3e8sM1dh9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92067-D70D-4C72-9E1B-E838B225BD39}"/>
              </a:ext>
            </a:extLst>
          </p:cNvPr>
          <p:cNvSpPr txBox="1"/>
          <p:nvPr/>
        </p:nvSpPr>
        <p:spPr>
          <a:xfrm>
            <a:off x="5319188" y="5856364"/>
            <a:ext cx="33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ffinite</a:t>
            </a:r>
            <a:r>
              <a:rPr lang="en-US" sz="1200" dirty="0"/>
              <a:t>-math-only</a:t>
            </a:r>
          </a:p>
          <a:p>
            <a:pPr algn="ctr"/>
            <a:r>
              <a:rPr lang="en-US" sz="1200" dirty="0">
                <a:hlinkClick r:id="rId4"/>
              </a:rPr>
              <a:t>https://godbolt.org/z/TYab9sndr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C5C102-9748-4EFE-B65F-80739ABB6D52}"/>
              </a:ext>
            </a:extLst>
          </p:cNvPr>
          <p:cNvSpPr txBox="1"/>
          <p:nvPr/>
        </p:nvSpPr>
        <p:spPr>
          <a:xfrm>
            <a:off x="8801669" y="5877143"/>
            <a:ext cx="33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ffinite</a:t>
            </a:r>
            <a:r>
              <a:rPr lang="en-US" sz="1200" dirty="0"/>
              <a:t>-math-only -</a:t>
            </a:r>
            <a:r>
              <a:rPr lang="en-US" sz="1200" dirty="0" err="1"/>
              <a:t>fno</a:t>
            </a:r>
            <a:r>
              <a:rPr lang="en-US" sz="1200" dirty="0"/>
              <a:t>-signed-zeros</a:t>
            </a:r>
          </a:p>
          <a:p>
            <a:pPr algn="ctr"/>
            <a:r>
              <a:rPr lang="en-US" sz="1200" dirty="0">
                <a:hlinkClick r:id="rId5"/>
              </a:rPr>
              <a:t>https://godbolt.org/z/zoWrsfr1h</a:t>
            </a:r>
            <a:r>
              <a:rPr lang="en-US" sz="1200" dirty="0"/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09508644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6B8C9-D050-44D1-B40D-72137B0D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-32203"/>
            <a:ext cx="10515600" cy="1325563"/>
          </a:xfrm>
        </p:spPr>
        <p:txBody>
          <a:bodyPr/>
          <a:lstStyle/>
          <a:p>
            <a:r>
              <a:rPr lang="en-US" dirty="0"/>
              <a:t>Optimizations: </a:t>
            </a:r>
            <a:r>
              <a:rPr lang="en-US" dirty="0" err="1"/>
              <a:t>Errno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FF212-302F-46CF-954B-BDB1EC499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188326"/>
            <a:ext cx="10515600" cy="2352091"/>
          </a:xfrm>
        </p:spPr>
        <p:txBody>
          <a:bodyPr>
            <a:normAutofit/>
          </a:bodyPr>
          <a:lstStyle/>
          <a:p>
            <a:r>
              <a:rPr lang="en-US" sz="2400" dirty="0"/>
              <a:t>-</a:t>
            </a:r>
            <a:r>
              <a:rPr lang="en-US" sz="2400" dirty="0" err="1"/>
              <a:t>fno</a:t>
            </a:r>
            <a:r>
              <a:rPr lang="en-US" sz="2400" dirty="0"/>
              <a:t>-math-</a:t>
            </a:r>
            <a:r>
              <a:rPr lang="en-US" sz="2400" dirty="0" err="1"/>
              <a:t>errno</a:t>
            </a:r>
            <a:r>
              <a:rPr lang="en-US" sz="2400" dirty="0"/>
              <a:t> flag allows compiler to ignore </a:t>
            </a:r>
            <a:r>
              <a:rPr lang="en-US" sz="2400" dirty="0" err="1"/>
              <a:t>errno</a:t>
            </a:r>
            <a:r>
              <a:rPr lang="en-US" sz="2400" dirty="0"/>
              <a:t> global variable effects in math functions</a:t>
            </a:r>
          </a:p>
          <a:p>
            <a:r>
              <a:rPr lang="en-US" sz="2400" dirty="0"/>
              <a:t>In particular this enables better </a:t>
            </a:r>
            <a:r>
              <a:rPr lang="en-US" sz="2400" dirty="0" err="1"/>
              <a:t>inlining</a:t>
            </a:r>
            <a:r>
              <a:rPr lang="en-US" sz="2400" dirty="0"/>
              <a:t> and simplification of library functions</a:t>
            </a:r>
            <a:endParaRPr lang="ru-RU" sz="2400" dirty="0"/>
          </a:p>
          <a:p>
            <a:r>
              <a:rPr lang="en-US" sz="2400" dirty="0"/>
              <a:t>In Rust standard math operations are compiled to LLVM </a:t>
            </a:r>
            <a:r>
              <a:rPr lang="en-US" sz="2400" dirty="0" err="1"/>
              <a:t>intrinsics</a:t>
            </a:r>
            <a:r>
              <a:rPr lang="en-US" sz="2400" dirty="0"/>
              <a:t> which do not set </a:t>
            </a:r>
            <a:r>
              <a:rPr lang="en-US" sz="2400" dirty="0" err="1"/>
              <a:t>errno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EF1921-C5E1-4368-8B93-3007242A574E}"/>
              </a:ext>
            </a:extLst>
          </p:cNvPr>
          <p:cNvSpPr txBox="1"/>
          <p:nvPr/>
        </p:nvSpPr>
        <p:spPr>
          <a:xfrm>
            <a:off x="4429122" y="3489112"/>
            <a:ext cx="33337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xorpd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 xmm1,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ucomisd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jb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    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sqrt@PLT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ret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5D6AF7-7BE5-4569-9697-CEB59D778584}"/>
              </a:ext>
            </a:extLst>
          </p:cNvPr>
          <p:cNvSpPr txBox="1"/>
          <p:nvPr/>
        </p:nvSpPr>
        <p:spPr>
          <a:xfrm>
            <a:off x="8170882" y="3489112"/>
            <a:ext cx="36755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ret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60C2C-DCF2-4072-AE07-ED402A48E2B2}"/>
              </a:ext>
            </a:extLst>
          </p:cNvPr>
          <p:cNvSpPr txBox="1"/>
          <p:nvPr/>
        </p:nvSpPr>
        <p:spPr>
          <a:xfrm>
            <a:off x="5554207" y="4824213"/>
            <a:ext cx="1083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  <a:endParaRPr lang="ru-R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DC2D30-8677-4DA0-AA44-E7F49F824A53}"/>
              </a:ext>
            </a:extLst>
          </p:cNvPr>
          <p:cNvSpPr txBox="1"/>
          <p:nvPr/>
        </p:nvSpPr>
        <p:spPr>
          <a:xfrm>
            <a:off x="8791661" y="4825360"/>
            <a:ext cx="2197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-math-</a:t>
            </a:r>
            <a:r>
              <a:rPr lang="en-US" sz="1200" dirty="0" err="1"/>
              <a:t>errno</a:t>
            </a:r>
            <a:endParaRPr lang="ru-RU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8D7BA7-BBBE-472C-A9DA-0216DBB92A93}"/>
              </a:ext>
            </a:extLst>
          </p:cNvPr>
          <p:cNvSpPr txBox="1"/>
          <p:nvPr/>
        </p:nvSpPr>
        <p:spPr>
          <a:xfrm>
            <a:off x="838200" y="5344129"/>
            <a:ext cx="36755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pub </a:t>
            </a:r>
            <a:r>
              <a:rPr lang="en-US" sz="1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2F08A6-71E4-4144-B17E-9CFA8EED3615}"/>
              </a:ext>
            </a:extLst>
          </p:cNvPr>
          <p:cNvSpPr txBox="1"/>
          <p:nvPr/>
        </p:nvSpPr>
        <p:spPr>
          <a:xfrm>
            <a:off x="4429124" y="5344129"/>
            <a:ext cx="38316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81C4F-6C5C-49AF-992D-B06DB6EA55C7}"/>
              </a:ext>
            </a:extLst>
          </p:cNvPr>
          <p:cNvSpPr txBox="1"/>
          <p:nvPr/>
        </p:nvSpPr>
        <p:spPr>
          <a:xfrm>
            <a:off x="838196" y="3489112"/>
            <a:ext cx="33337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506710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E3270-ABF2-44E4-8E10-A82FDCFD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fast-math:</a:t>
            </a:r>
            <a:r>
              <a:rPr lang="ru-RU" dirty="0"/>
              <a:t> </a:t>
            </a:r>
            <a:r>
              <a:rPr lang="en-US" dirty="0"/>
              <a:t>Checks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0A5FB-358D-4DC4-BD27-36F77C5C0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Usage of </a:t>
            </a:r>
            <a:r>
              <a:rPr lang="ru-RU" dirty="0"/>
              <a:t>Inf </a:t>
            </a:r>
            <a:r>
              <a:rPr lang="en-US" dirty="0"/>
              <a:t>or </a:t>
            </a:r>
            <a:r>
              <a:rPr lang="ru-RU" dirty="0"/>
              <a:t>NaN </a:t>
            </a:r>
            <a:r>
              <a:rPr lang="en-US" dirty="0"/>
              <a:t>with </a:t>
            </a:r>
            <a:r>
              <a:rPr lang="ru-RU" dirty="0"/>
              <a:t>-ffinite-math-only </a:t>
            </a:r>
            <a:r>
              <a:rPr lang="en-US" dirty="0"/>
              <a:t>is </a:t>
            </a:r>
            <a:r>
              <a:rPr lang="ru-RU" dirty="0"/>
              <a:t>UB</a:t>
            </a:r>
          </a:p>
          <a:p>
            <a:r>
              <a:rPr lang="en-US" dirty="0"/>
              <a:t>Explicit checks for such values will be removed by compiler</a:t>
            </a:r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D071A-B244-42A7-AB61-B467229CF366}"/>
              </a:ext>
            </a:extLst>
          </p:cNvPr>
          <p:cNvSpPr txBox="1"/>
          <p:nvPr/>
        </p:nvSpPr>
        <p:spPr>
          <a:xfrm>
            <a:off x="4652394" y="3932881"/>
            <a:ext cx="24139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ucomiss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setp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al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19348-F5D5-4A35-886F-EF58F443C517}"/>
              </a:ext>
            </a:extLst>
          </p:cNvPr>
          <p:cNvSpPr txBox="1"/>
          <p:nvPr/>
        </p:nvSpPr>
        <p:spPr>
          <a:xfrm>
            <a:off x="8738532" y="3932881"/>
            <a:ext cx="24139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2568A-F30B-4B4E-9874-2510A3E2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3EB3BD-5F1B-45C4-8BF0-7EC9697A41CE}"/>
              </a:ext>
            </a:extLst>
          </p:cNvPr>
          <p:cNvSpPr txBox="1"/>
          <p:nvPr/>
        </p:nvSpPr>
        <p:spPr>
          <a:xfrm>
            <a:off x="1050539" y="4001294"/>
            <a:ext cx="24139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isnan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0B82D-F98E-4F1D-8579-AB53A9C82E70}"/>
              </a:ext>
            </a:extLst>
          </p:cNvPr>
          <p:cNvSpPr txBox="1"/>
          <p:nvPr/>
        </p:nvSpPr>
        <p:spPr>
          <a:xfrm>
            <a:off x="4399239" y="5127931"/>
            <a:ext cx="252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https://godbolt.org/z/MPPoc5oea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D324E8-C8F7-4DEF-903D-34C79F347DE7}"/>
              </a:ext>
            </a:extLst>
          </p:cNvPr>
          <p:cNvSpPr txBox="1"/>
          <p:nvPr/>
        </p:nvSpPr>
        <p:spPr>
          <a:xfrm>
            <a:off x="7856203" y="5127930"/>
            <a:ext cx="33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ffinite</a:t>
            </a:r>
            <a:r>
              <a:rPr lang="en-US" sz="1200" dirty="0"/>
              <a:t>-math-only</a:t>
            </a:r>
          </a:p>
          <a:p>
            <a:pPr algn="ctr"/>
            <a:r>
              <a:rPr lang="en-US" sz="1200" dirty="0">
                <a:hlinkClick r:id="rId3"/>
              </a:rPr>
              <a:t>https://godbolt.org/z/nv33ffaqx</a:t>
            </a:r>
            <a:r>
              <a:rPr lang="en-US" sz="1200" dirty="0"/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67329344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767-F1F1-444D-BE14-F9361F9D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fast-math:</a:t>
            </a:r>
            <a:r>
              <a:rPr lang="ru-RU" dirty="0"/>
              <a:t> </a:t>
            </a:r>
            <a:r>
              <a:rPr lang="en-US" dirty="0"/>
              <a:t>Rounding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0D89A5-AB52-4606-AA47-FC70E5569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algorithms use special order of computations to reduce rounding error</a:t>
            </a:r>
            <a:endParaRPr lang="ru-RU" dirty="0"/>
          </a:p>
          <a:p>
            <a:r>
              <a:rPr lang="en-US" dirty="0"/>
              <a:t>With </a:t>
            </a:r>
            <a:r>
              <a:rPr lang="ru-RU" dirty="0"/>
              <a:t>-fassociative-math</a:t>
            </a:r>
            <a:r>
              <a:rPr lang="en-US" dirty="0"/>
              <a:t> compiler may ignore this order and </a:t>
            </a:r>
            <a:r>
              <a:rPr lang="ru-RU" dirty="0"/>
              <a:t>“</a:t>
            </a:r>
            <a:r>
              <a:rPr lang="en-US" dirty="0"/>
              <a:t>optimize</a:t>
            </a:r>
            <a:r>
              <a:rPr lang="ru-RU" dirty="0"/>
              <a:t>” </a:t>
            </a:r>
            <a:r>
              <a:rPr lang="en-US" dirty="0"/>
              <a:t>these algorithms as if there is no rounding</a:t>
            </a:r>
            <a:endParaRPr lang="ru-RU" dirty="0"/>
          </a:p>
          <a:p>
            <a:r>
              <a:rPr lang="en-US" dirty="0"/>
              <a:t>E.g. Kahan algorithm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08C45-F611-4BC0-8933-C86598D3607C}"/>
              </a:ext>
            </a:extLst>
          </p:cNvPr>
          <p:cNvSpPr txBox="1"/>
          <p:nvPr/>
        </p:nvSpPr>
        <p:spPr>
          <a:xfrm>
            <a:off x="859173" y="4338546"/>
            <a:ext cx="316055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7C7A0-97E4-449E-9C5D-17FB32756990}"/>
              </a:ext>
            </a:extLst>
          </p:cNvPr>
          <p:cNvSpPr txBox="1"/>
          <p:nvPr/>
        </p:nvSpPr>
        <p:spPr>
          <a:xfrm>
            <a:off x="8896566" y="4122963"/>
            <a:ext cx="295921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sum_kahan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C19F9-03D7-4954-A7F3-4491F2C5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F8ACF-7BA0-40A6-A848-BFDD1AAA96C3}"/>
              </a:ext>
            </a:extLst>
          </p:cNvPr>
          <p:cNvSpPr txBox="1"/>
          <p:nvPr/>
        </p:nvSpPr>
        <p:spPr>
          <a:xfrm>
            <a:off x="4793611" y="4122963"/>
            <a:ext cx="337866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sum_kahan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xmm0,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.LBB0_1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8F462-D699-41AF-871A-8A6A386834DF}"/>
              </a:ext>
            </a:extLst>
          </p:cNvPr>
          <p:cNvSpPr txBox="1"/>
          <p:nvPr/>
        </p:nvSpPr>
        <p:spPr>
          <a:xfrm>
            <a:off x="4183658" y="6214359"/>
            <a:ext cx="435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  <a:r>
              <a:rPr lang="ru-RU" sz="1200" dirty="0"/>
              <a:t> </a:t>
            </a:r>
            <a:r>
              <a:rPr lang="en-US" sz="1200" dirty="0"/>
              <a:t>-</a:t>
            </a:r>
            <a:r>
              <a:rPr lang="en-US" sz="1200" dirty="0" err="1"/>
              <a:t>ffast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-unroll-loops -</a:t>
            </a:r>
            <a:r>
              <a:rPr lang="en-US" sz="1200" dirty="0" err="1"/>
              <a:t>fno</a:t>
            </a:r>
            <a:r>
              <a:rPr lang="en-US" sz="1200" dirty="0"/>
              <a:t>-vectorize</a:t>
            </a:r>
          </a:p>
          <a:p>
            <a:pPr algn="ctr"/>
            <a:r>
              <a:rPr lang="en-US" sz="1200" dirty="0">
                <a:hlinkClick r:id="rId2"/>
              </a:rPr>
              <a:t>https://godbolt.org/z/rYebWsfco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35217382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B7337-8609-465A-BEB9-ABD904AD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approach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31CD8-B1E0-4D6C-80F8-763B791F8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 (Body)"/>
              </a:rPr>
              <a:t>Developers of Rust rejected to enable opportunities for global fast-math optimizations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  <a:latin typeface="Calibri (Body)"/>
              </a:rPr>
              <a:t>Due to potentially unsafe usage of these optimizations by users (especially in project dependencies)</a:t>
            </a:r>
          </a:p>
          <a:p>
            <a:endParaRPr lang="ru-RU" dirty="0">
              <a:latin typeface="Calibri 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0C81D-7AEE-4A4B-BC75-A60742093FB1}"/>
              </a:ext>
            </a:extLst>
          </p:cNvPr>
          <p:cNvSpPr txBox="1"/>
          <p:nvPr/>
        </p:nvSpPr>
        <p:spPr>
          <a:xfrm>
            <a:off x="1784860" y="4160846"/>
            <a:ext cx="8353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“Everything about this flag fundamentally clashes with the idea of robust, compositional system design. It was a terrible mistake to ever add it to C compilers, and Rust should not repeat that mistake. Rust should instead explore alternative, less fragile ways of exposing those semantics.” (Ralf Jung, </a:t>
            </a:r>
            <a:r>
              <a:rPr lang="en-US" dirty="0">
                <a:hlinkClick r:id="rId2"/>
              </a:rPr>
              <a:t>rust #21690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418B9-E011-4ACB-926D-71D6681A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8348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9D9B6-C96B-4D7F-8B0B-6DAF21DD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en-US" dirty="0" err="1"/>
              <a:t>Intrinsics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6F7E1-D109-4CAD-BA2F-3A2E49CD6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2422"/>
          </a:xfrm>
        </p:spPr>
        <p:txBody>
          <a:bodyPr>
            <a:normAutofit/>
          </a:bodyPr>
          <a:lstStyle/>
          <a:p>
            <a:r>
              <a:rPr lang="en-US" dirty="0"/>
              <a:t>Rust provides dedicated </a:t>
            </a:r>
            <a:r>
              <a:rPr lang="en-US" dirty="0" err="1"/>
              <a:t>intrinsics</a:t>
            </a:r>
            <a:r>
              <a:rPr lang="en-US" dirty="0"/>
              <a:t> for enabling fast-math optimizations locally</a:t>
            </a:r>
            <a:endParaRPr lang="ru-RU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intrinsics</a:t>
            </a:r>
            <a:r>
              <a:rPr lang="en-US" dirty="0"/>
              <a:t>::f{op}_fast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intrinsics</a:t>
            </a:r>
            <a:r>
              <a:rPr lang="en-US" dirty="0"/>
              <a:t>::f{op}_algebraic</a:t>
            </a:r>
          </a:p>
          <a:p>
            <a:pPr lvl="1"/>
            <a:r>
              <a:rPr lang="en-US" dirty="0"/>
              <a:t>f(16/32/64)::algebraic_{op}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Currently require nightly (unstable) compiler build</a:t>
            </a:r>
            <a:endParaRPr lang="ru-RU" dirty="0"/>
          </a:p>
          <a:p>
            <a:pPr lvl="1"/>
            <a:r>
              <a:rPr lang="en-US" dirty="0"/>
              <a:t>Currently there are </a:t>
            </a:r>
            <a:r>
              <a:rPr lang="en-US" dirty="0">
                <a:hlinkClick r:id="rId2"/>
              </a:rPr>
              <a:t>no wrapper types</a:t>
            </a:r>
            <a:r>
              <a:rPr lang="ru-RU" dirty="0"/>
              <a:t> </a:t>
            </a:r>
            <a:r>
              <a:rPr lang="en-US" dirty="0"/>
              <a:t>which hide usage of </a:t>
            </a:r>
            <a:r>
              <a:rPr lang="en-US" dirty="0" err="1"/>
              <a:t>intrinsics</a:t>
            </a:r>
            <a:endParaRPr lang="ru-RU" dirty="0"/>
          </a:p>
          <a:p>
            <a:pPr lvl="2"/>
            <a:r>
              <a:rPr lang="en-US" dirty="0"/>
              <a:t>Authors of math libraries have to implement two versions of code</a:t>
            </a:r>
            <a:r>
              <a:rPr lang="ru-RU" dirty="0"/>
              <a:t> </a:t>
            </a:r>
            <a:r>
              <a:rPr lang="en-US" dirty="0"/>
              <a:t>(fast-math and normal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BE34-2E5E-4605-8148-D9EE32EE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6559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AD777-E85A-4318-A630-B28BFE886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0" y="921608"/>
            <a:ext cx="10452847" cy="55748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AAFFB-63EE-4302-A3DE-8AE9ACC4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3" y="-127934"/>
            <a:ext cx="10515600" cy="1325563"/>
          </a:xfrm>
        </p:spPr>
        <p:txBody>
          <a:bodyPr/>
          <a:lstStyle/>
          <a:p>
            <a:r>
              <a:rPr lang="en-US" dirty="0"/>
              <a:t>Performance with</a:t>
            </a:r>
            <a:r>
              <a:rPr lang="ru-RU" dirty="0"/>
              <a:t> </a:t>
            </a:r>
            <a:r>
              <a:rPr lang="en-US" dirty="0"/>
              <a:t>fast-math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D02E0-272E-44F8-93EE-C57180504248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Compiler branch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33E2C-B8F3-48A6-8F02-A47D0AA28ED2}"/>
              </a:ext>
            </a:extLst>
          </p:cNvPr>
          <p:cNvSpPr txBox="1"/>
          <p:nvPr/>
        </p:nvSpPr>
        <p:spPr>
          <a:xfrm>
            <a:off x="2451286" y="6492261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Compiler branch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83CBC-4EEA-4DC8-ADE5-EE92BC220BAA}"/>
              </a:ext>
            </a:extLst>
          </p:cNvPr>
          <p:cNvSpPr txBox="1"/>
          <p:nvPr/>
        </p:nvSpPr>
        <p:spPr>
          <a:xfrm>
            <a:off x="3856166" y="4559790"/>
            <a:ext cx="219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Issues in </a:t>
            </a:r>
            <a:r>
              <a:rPr lang="en-US" dirty="0" err="1"/>
              <a:t>autovectorizer</a:t>
            </a:r>
            <a:endParaRPr lang="ru-RU" dirty="0"/>
          </a:p>
        </p:txBody>
      </p:sp>
      <p:cxnSp>
        <p:nvCxnSpPr>
          <p:cNvPr id="9" name="Прямая со стрелкой 5">
            <a:extLst>
              <a:ext uri="{FF2B5EF4-FFF2-40B4-BE49-F238E27FC236}">
                <a16:creationId xmlns:a16="http://schemas.microsoft.com/office/drawing/2014/main" id="{C0846188-649E-4FEA-95E0-4CE30859AD3F}"/>
              </a:ext>
            </a:extLst>
          </p:cNvPr>
          <p:cNvCxnSpPr>
            <a:cxnSpLocks/>
          </p:cNvCxnSpPr>
          <p:nvPr/>
        </p:nvCxnSpPr>
        <p:spPr>
          <a:xfrm flipH="1">
            <a:off x="2891790" y="4882955"/>
            <a:ext cx="1160257" cy="402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6">
            <a:extLst>
              <a:ext uri="{FF2B5EF4-FFF2-40B4-BE49-F238E27FC236}">
                <a16:creationId xmlns:a16="http://schemas.microsoft.com/office/drawing/2014/main" id="{0304FF6F-07FD-4111-9A25-21D60217C443}"/>
              </a:ext>
            </a:extLst>
          </p:cNvPr>
          <p:cNvCxnSpPr>
            <a:cxnSpLocks/>
          </p:cNvCxnSpPr>
          <p:nvPr/>
        </p:nvCxnSpPr>
        <p:spPr>
          <a:xfrm>
            <a:off x="5755341" y="4882955"/>
            <a:ext cx="1246094" cy="402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DD61-30FD-4C6A-99BE-0779B8D3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2254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</a:t>
            </a:r>
            <a:r>
              <a:rPr lang="ru-RU" dirty="0"/>
              <a:t> </a:t>
            </a:r>
            <a:r>
              <a:rPr lang="en-US" dirty="0"/>
              <a:t>does not provide a way to enable fast-math optimizations globally</a:t>
            </a:r>
            <a:endParaRPr lang="ru-RU" dirty="0"/>
          </a:p>
          <a:p>
            <a:r>
              <a:rPr lang="en-US" dirty="0"/>
              <a:t>Can be enabled for particular operations via </a:t>
            </a:r>
            <a:r>
              <a:rPr lang="en-US" dirty="0" err="1"/>
              <a:t>intrinsics</a:t>
            </a:r>
            <a:endParaRPr lang="ru-RU" dirty="0"/>
          </a:p>
          <a:p>
            <a:pPr lvl="1"/>
            <a:r>
              <a:rPr lang="en-US" dirty="0"/>
              <a:t>Currently only in nightly toolchain</a:t>
            </a:r>
            <a:endParaRPr lang="ru-RU" dirty="0"/>
          </a:p>
          <a:p>
            <a:r>
              <a:rPr lang="en-US" dirty="0"/>
              <a:t>Fast-math may both improve and degrade performance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839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Optimizations enabled by -</a:t>
            </a:r>
            <a:r>
              <a:rPr lang="en-US" dirty="0" err="1">
                <a:hlinkClick r:id="rId2"/>
              </a:rPr>
              <a:t>ffast</a:t>
            </a:r>
            <a:r>
              <a:rPr lang="en-US" dirty="0">
                <a:hlinkClick r:id="rId2"/>
              </a:rPr>
              <a:t>-math</a:t>
            </a:r>
            <a:r>
              <a:rPr lang="en-US" dirty="0"/>
              <a:t> (</a:t>
            </a:r>
            <a:r>
              <a:rPr lang="en-US" dirty="0" err="1"/>
              <a:t>Krister</a:t>
            </a:r>
            <a:r>
              <a:rPr lang="en-US" dirty="0"/>
              <a:t> </a:t>
            </a:r>
            <a:r>
              <a:rPr lang="en-US" dirty="0" err="1"/>
              <a:t>Walfridsson</a:t>
            </a:r>
            <a:r>
              <a:rPr lang="en-US" dirty="0"/>
              <a:t>, GCC)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Towards Useful Fast-Math</a:t>
            </a:r>
            <a:r>
              <a:rPr lang="en-US" dirty="0"/>
              <a:t> (LLVM Dev Meeting 2024)</a:t>
            </a:r>
            <a:endParaRPr lang="en-US" dirty="0">
              <a:hlinkClick r:id="rId4"/>
            </a:endParaRPr>
          </a:p>
          <a:p>
            <a:r>
              <a:rPr lang="en-US" dirty="0">
                <a:hlinkClick r:id="rId4"/>
              </a:rPr>
              <a:t>Beware of fast-math</a:t>
            </a:r>
            <a:endParaRPr lang="en-US" dirty="0"/>
          </a:p>
          <a:p>
            <a:r>
              <a:rPr lang="en-US" dirty="0">
                <a:hlinkClick r:id="rId5"/>
              </a:rPr>
              <a:t>P3715R0: Tightening floating-point semantics for C++</a:t>
            </a:r>
            <a:endParaRPr lang="en-US" dirty="0"/>
          </a:p>
          <a:p>
            <a:r>
              <a:rPr lang="en-US" dirty="0">
                <a:hlinkClick r:id="rId6"/>
              </a:rPr>
              <a:t>Taming Floating-Point Sums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340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5113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70DB-3C9A-48F2-8509-324EDEBE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0"/>
            <a:ext cx="10515600" cy="1325563"/>
          </a:xfrm>
        </p:spPr>
        <p:txBody>
          <a:bodyPr/>
          <a:lstStyle/>
          <a:p>
            <a:r>
              <a:rPr lang="en-US" dirty="0"/>
              <a:t>Speedup with disabling (most) Rust checks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D4754-DAF3-4E9D-9901-0D8F2F73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DD279-E2DF-496F-B6DF-186FC9B6574D}"/>
              </a:ext>
            </a:extLst>
          </p:cNvPr>
          <p:cNvSpPr txBox="1"/>
          <p:nvPr/>
        </p:nvSpPr>
        <p:spPr>
          <a:xfrm>
            <a:off x="9108141" y="1204885"/>
            <a:ext cx="25325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Disabled bounds and arithmetic checks</a:t>
            </a:r>
            <a:r>
              <a:rPr lang="ru-RU" dirty="0"/>
              <a:t>, </a:t>
            </a:r>
            <a:r>
              <a:rPr lang="en-US" dirty="0"/>
              <a:t>overflow checks in </a:t>
            </a:r>
            <a:r>
              <a:rPr lang="en-US" dirty="0" err="1"/>
              <a:t>stdlib</a:t>
            </a:r>
            <a:r>
              <a:rPr lang="en-US" dirty="0"/>
              <a:t> containers, UTF-8 string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counting overheads for redundant initializations (expecting &gt;= 1%)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8AB6A-C8AB-46FD-AE36-196F57572CB1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1B6B4-48A6-4E20-9ABE-93BC6F233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279" y="1178018"/>
            <a:ext cx="6701117" cy="536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3794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70DB-3C9A-48F2-8509-324EDEBE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0"/>
            <a:ext cx="10515600" cy="1325563"/>
          </a:xfrm>
        </p:spPr>
        <p:txBody>
          <a:bodyPr/>
          <a:lstStyle/>
          <a:p>
            <a:r>
              <a:rPr lang="en-US" dirty="0"/>
              <a:t>Slowdown in Hardened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D4754-DAF3-4E9D-9901-0D8F2F73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DD279-E2DF-496F-B6DF-186FC9B6574D}"/>
              </a:ext>
            </a:extLst>
          </p:cNvPr>
          <p:cNvSpPr txBox="1"/>
          <p:nvPr/>
        </p:nvSpPr>
        <p:spPr>
          <a:xfrm>
            <a:off x="7978588" y="1223838"/>
            <a:ext cx="39853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Enabled hardening: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-D_FORTIFY_SOURCE=3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fsanitize</a:t>
            </a:r>
            <a:r>
              <a:rPr lang="en-US" dirty="0"/>
              <a:t>=</a:t>
            </a:r>
            <a:r>
              <a:rPr lang="en-US" dirty="0" err="1"/>
              <a:t>bounds,object</a:t>
            </a:r>
            <a:r>
              <a:rPr lang="en-US" dirty="0"/>
              <a:t>-size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Hardened STL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(initialization not enabled to match Rust)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Rust majority of benchmarks </a:t>
            </a:r>
            <a:r>
              <a:rPr lang="en-US" b="1" dirty="0"/>
              <a:t>have not been tuned </a:t>
            </a:r>
            <a:r>
              <a:rPr lang="en-US" dirty="0"/>
              <a:t>for Hardened C++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8AB6A-C8AB-46FD-AE36-196F57572CB1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Compiler branch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EBBCC8-8384-45B1-A2DF-34438043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62" y="1223838"/>
            <a:ext cx="6509497" cy="520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0902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AA3E-F2DB-44FA-A971-57C185B7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en-US" dirty="0"/>
              <a:t>Distribution of overheads in benchmarks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9E90-A0BD-4666-95A4-BA9E074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C796F-08A4-403B-9E12-8EE1E7303288}"/>
              </a:ext>
            </a:extLst>
          </p:cNvPr>
          <p:cNvSpPr txBox="1"/>
          <p:nvPr/>
        </p:nvSpPr>
        <p:spPr>
          <a:xfrm>
            <a:off x="233081" y="6191981"/>
            <a:ext cx="285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Plotting script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4BEB78-6E1E-450C-A65F-DC336C02FEF0}"/>
              </a:ext>
            </a:extLst>
          </p:cNvPr>
          <p:cNvSpPr txBox="1"/>
          <p:nvPr/>
        </p:nvSpPr>
        <p:spPr>
          <a:xfrm>
            <a:off x="7620000" y="1838670"/>
            <a:ext cx="36486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 of all benches in each project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tests with different parameters were averaged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</a:t>
            </a:r>
            <a:r>
              <a:rPr lang="en-US" b="1" dirty="0"/>
              <a:t>biased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Scenarios which are covered by many benches dominate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Expecting at least +1% mean due to forced initialization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F02226-4560-4CE0-9568-4FEC8BED2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96" y="1490766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8998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AA3E-F2DB-44FA-A971-57C185B7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en-US" dirty="0"/>
              <a:t>Distribution of overheads in benchmarks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9E90-A0BD-4666-95A4-BA9E074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A2BE0-209A-4034-8A73-0174BD764AD6}"/>
              </a:ext>
            </a:extLst>
          </p:cNvPr>
          <p:cNvSpPr txBox="1"/>
          <p:nvPr/>
        </p:nvSpPr>
        <p:spPr>
          <a:xfrm>
            <a:off x="7593106" y="2115671"/>
            <a:ext cx="36486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graph is a pure illustration and does not prove anything!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 of all benches in all projects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tests with different parameters were averaged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</a:t>
            </a:r>
            <a:r>
              <a:rPr lang="en-US" b="1" dirty="0"/>
              <a:t>biased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Projects with larger numbers of benches dominate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Scenarios which are covered by many benches dominate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Expecting at least +1% mean due to forced initialization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4F78E-8190-4AD5-9720-6DCFC8E56EBE}"/>
              </a:ext>
            </a:extLst>
          </p:cNvPr>
          <p:cNvSpPr txBox="1"/>
          <p:nvPr/>
        </p:nvSpPr>
        <p:spPr>
          <a:xfrm>
            <a:off x="233081" y="6191981"/>
            <a:ext cx="285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Plotting script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3F5EF5-82D2-4576-AD50-4D3339F54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9" y="1234435"/>
            <a:ext cx="6203576" cy="46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353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696195-B1AD-49B5-B50A-58D024521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71" y="1241689"/>
            <a:ext cx="6217023" cy="4662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CDE44-F350-483E-8164-C901DC08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29" y="206068"/>
            <a:ext cx="10515600" cy="1325563"/>
          </a:xfrm>
        </p:spPr>
        <p:txBody>
          <a:bodyPr/>
          <a:lstStyle/>
          <a:p>
            <a:r>
              <a:rPr lang="en-US" dirty="0"/>
              <a:t>Distribution of overheads in Hardened C++ benchmarks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81C1D-D665-481B-82E8-04F48100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F0A19-A089-4119-89C3-78EA5E50992F}"/>
              </a:ext>
            </a:extLst>
          </p:cNvPr>
          <p:cNvSpPr txBox="1"/>
          <p:nvPr/>
        </p:nvSpPr>
        <p:spPr>
          <a:xfrm>
            <a:off x="7915836" y="1726413"/>
            <a:ext cx="36486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graph is a pure illustration and does not prove anything!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Much fewer benchmarks than for 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Rust majority of benchmarks </a:t>
            </a:r>
            <a:r>
              <a:rPr lang="en-US" b="1" dirty="0"/>
              <a:t>have not been tuned </a:t>
            </a:r>
            <a:r>
              <a:rPr lang="en-US" dirty="0"/>
              <a:t>for Hardened C++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ED8B5-106E-4B36-A58C-38D624265C63}"/>
              </a:ext>
            </a:extLst>
          </p:cNvPr>
          <p:cNvSpPr txBox="1"/>
          <p:nvPr/>
        </p:nvSpPr>
        <p:spPr>
          <a:xfrm>
            <a:off x="286870" y="6169580"/>
            <a:ext cx="285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Plotting 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088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1833-38B4-4063-9B93-C4DE4D1C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03CD-37F1-47EE-8BB4-41E78788B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Rust community keeps balance between safety and performance:</a:t>
            </a:r>
            <a:endParaRPr lang="ru-RU" dirty="0"/>
          </a:p>
          <a:p>
            <a:pPr lvl="1"/>
            <a:r>
              <a:rPr lang="en-US" dirty="0"/>
              <a:t>Main focus is on memory safety guarantees</a:t>
            </a:r>
          </a:p>
          <a:p>
            <a:pPr lvl="1"/>
            <a:r>
              <a:rPr lang="en-US" dirty="0"/>
              <a:t>Other checks are enabled if they do not hurt performance</a:t>
            </a:r>
            <a:endParaRPr lang="ru-RU" dirty="0"/>
          </a:p>
          <a:p>
            <a:pPr lvl="1"/>
            <a:r>
              <a:rPr lang="en-US" dirty="0"/>
              <a:t>For example integer overflow errors are disabled by default</a:t>
            </a:r>
            <a:endParaRPr lang="ru-RU" dirty="0"/>
          </a:p>
          <a:p>
            <a:r>
              <a:rPr lang="en-US" dirty="0"/>
              <a:t>Overhead of runtimes checks depends on the project</a:t>
            </a:r>
          </a:p>
          <a:p>
            <a:pPr lvl="1"/>
            <a:r>
              <a:rPr lang="en-US" dirty="0"/>
              <a:t>Usually under 5% on average (P95 11%) and comparable to Hardened C++</a:t>
            </a:r>
          </a:p>
          <a:p>
            <a:r>
              <a:rPr lang="en-US" dirty="0"/>
              <a:t>Language features which affect performance the most:</a:t>
            </a:r>
          </a:p>
          <a:p>
            <a:pPr lvl="1"/>
            <a:r>
              <a:rPr lang="en-US" dirty="0"/>
              <a:t>Bounds checks</a:t>
            </a:r>
            <a:r>
              <a:rPr lang="ru-RU" dirty="0"/>
              <a:t>, </a:t>
            </a:r>
            <a:r>
              <a:rPr lang="en-US" dirty="0"/>
              <a:t>mandatory initialization, lack of </a:t>
            </a:r>
            <a:r>
              <a:rPr lang="en-US" dirty="0" err="1"/>
              <a:t>inplace</a:t>
            </a:r>
            <a:r>
              <a:rPr lang="en-US" dirty="0"/>
              <a:t> initialization</a:t>
            </a:r>
          </a:p>
          <a:p>
            <a:r>
              <a:rPr lang="en-US" dirty="0"/>
              <a:t>These checks will most likely be further optimized in future versions of Rust and</a:t>
            </a:r>
            <a:r>
              <a:rPr lang="ru-RU" dirty="0"/>
              <a:t> </a:t>
            </a:r>
            <a:r>
              <a:rPr lang="en-US" dirty="0"/>
              <a:t>LLVM</a:t>
            </a:r>
          </a:p>
          <a:p>
            <a:r>
              <a:rPr lang="en-US" dirty="0"/>
              <a:t>But their negative effects will never be completely avoided (at least in current language version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So they will always require workarounds (e.g. unsafe code) to reach optimal performance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46ACA-D854-4F0B-A214-36D1A17F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161</a:t>
            </a:fld>
            <a:endParaRPr lang="en-US"/>
          </a:p>
        </p:txBody>
      </p:sp>
      <p:pic>
        <p:nvPicPr>
          <p:cNvPr id="5" name="Picture 2" descr="Weigh,plus,minus,horizontal,plus minus - free image from needpix.com">
            <a:extLst>
              <a:ext uri="{FF2B5EF4-FFF2-40B4-BE49-F238E27FC236}">
                <a16:creationId xmlns:a16="http://schemas.microsoft.com/office/drawing/2014/main" id="{C4B2448B-74D2-4264-9164-539013A58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858" y="693784"/>
            <a:ext cx="1631857" cy="163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DA7BCA-A186-499C-AA6B-6060F19679C4}"/>
              </a:ext>
            </a:extLst>
          </p:cNvPr>
          <p:cNvSpPr txBox="1"/>
          <p:nvPr/>
        </p:nvSpPr>
        <p:spPr>
          <a:xfrm>
            <a:off x="125507" y="6492875"/>
            <a:ext cx="746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3dman_eu, </a:t>
            </a:r>
            <a:r>
              <a:rPr lang="en-US" sz="1000" dirty="0">
                <a:hlinkClick r:id="rId3"/>
              </a:rPr>
              <a:t>https://www.needpix.com/photo/1171460/weigh-plus-minus-horizontal-plus-minus-balance-sheet-cost-calculation-course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715075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71F1-62A6-4ACF-B7FD-0872B6C3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didn’t talk about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CD66-23D4-45F1-8540-9C549942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hlinkClick r:id="rId2"/>
              </a:rPr>
              <a:t>Codegen</a:t>
            </a:r>
            <a:r>
              <a:rPr lang="en-US" dirty="0">
                <a:hlinkClick r:id="rId2"/>
              </a:rPr>
              <a:t> units</a:t>
            </a:r>
            <a:endParaRPr lang="en-US" dirty="0"/>
          </a:p>
          <a:p>
            <a:pPr lvl="1"/>
            <a:r>
              <a:rPr lang="en-US" dirty="0"/>
              <a:t>Similar to unity builds in C/C++</a:t>
            </a:r>
          </a:p>
          <a:p>
            <a:r>
              <a:rPr lang="en-US" dirty="0">
                <a:hlinkClick r:id="rId3"/>
              </a:rPr>
              <a:t>Implementation of panics (exceptions)</a:t>
            </a:r>
            <a:endParaRPr lang="en-US" dirty="0"/>
          </a:p>
          <a:p>
            <a:pPr lvl="1"/>
            <a:r>
              <a:rPr lang="en-US" dirty="0"/>
              <a:t>Similar to C++ exceptions</a:t>
            </a:r>
          </a:p>
          <a:p>
            <a:r>
              <a:rPr lang="en-US" dirty="0">
                <a:hlinkClick r:id="rId4"/>
              </a:rPr>
              <a:t>GC-sections by default</a:t>
            </a:r>
            <a:endParaRPr lang="en-US" dirty="0"/>
          </a:p>
          <a:p>
            <a:r>
              <a:rPr lang="en-US" dirty="0">
                <a:hlinkClick r:id="rId5"/>
              </a:rPr>
              <a:t>ABI features</a:t>
            </a:r>
            <a:endParaRPr lang="en-US" dirty="0"/>
          </a:p>
          <a:p>
            <a:r>
              <a:rPr lang="en-US" dirty="0">
                <a:hlinkClick r:id="rId6"/>
              </a:rPr>
              <a:t>Disabled PLT</a:t>
            </a:r>
            <a:endParaRPr lang="en-US" dirty="0"/>
          </a:p>
          <a:p>
            <a:r>
              <a:rPr lang="en-US" dirty="0">
                <a:hlinkClick r:id="rId7"/>
              </a:rPr>
              <a:t>Implementation of virtual methods</a:t>
            </a:r>
            <a:endParaRPr lang="en-US" dirty="0"/>
          </a:p>
          <a:p>
            <a:r>
              <a:rPr lang="en-US" dirty="0">
                <a:hlinkClick r:id="rId8"/>
              </a:rPr>
              <a:t>Stack Clashing checks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7B5CF-53DC-4874-8867-5767E738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162</a:t>
            </a:fld>
            <a:endParaRPr lang="en-US"/>
          </a:p>
        </p:txBody>
      </p:sp>
      <p:pic>
        <p:nvPicPr>
          <p:cNvPr id="6" name="Picture 2" descr="Timeglass - Free Vector Download | VectorPortal">
            <a:extLst>
              <a:ext uri="{FF2B5EF4-FFF2-40B4-BE49-F238E27FC236}">
                <a16:creationId xmlns:a16="http://schemas.microsoft.com/office/drawing/2014/main" id="{EA8C541E-3ADE-4440-83FE-38C38F298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776" y="136525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F94E2B-AA9C-4927-8EEC-0580373B0D02}"/>
              </a:ext>
            </a:extLst>
          </p:cNvPr>
          <p:cNvSpPr txBox="1"/>
          <p:nvPr/>
        </p:nvSpPr>
        <p:spPr>
          <a:xfrm>
            <a:off x="116541" y="6475254"/>
            <a:ext cx="5773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10"/>
              </a:rPr>
              <a:t>https://vectorportal.com/vector/timeglass/34811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4833074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AAD5-05CA-4363-BFB9-CB5D39DA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214B99-B012-4B2B-B47E-E2ADAA7A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E3F34F-1B24-4516-8F24-1FA6E78CA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665" y="1218566"/>
            <a:ext cx="3424088" cy="34335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B5DB87-52D1-4501-A1E1-B395BC2105A5}"/>
              </a:ext>
            </a:extLst>
          </p:cNvPr>
          <p:cNvSpPr txBox="1"/>
          <p:nvPr/>
        </p:nvSpPr>
        <p:spPr>
          <a:xfrm>
            <a:off x="7306665" y="4652139"/>
            <a:ext cx="3245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Latest version of this presentation: </a:t>
            </a:r>
            <a:r>
              <a:rPr lang="en-US" dirty="0">
                <a:hlinkClick r:id="rId3"/>
              </a:rPr>
              <a:t>https://github.com/yugr/rust-slides/blob/main/EN.pdf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D2361-C921-4AED-B25A-6EBAFEF1260B}"/>
              </a:ext>
            </a:extLst>
          </p:cNvPr>
          <p:cNvSpPr txBox="1"/>
          <p:nvPr/>
        </p:nvSpPr>
        <p:spPr>
          <a:xfrm>
            <a:off x="995081" y="1576696"/>
            <a:ext cx="613271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Many thanks to our kind reviewers: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Vadim </a:t>
            </a:r>
            <a:r>
              <a:rPr lang="en-US" sz="2400" dirty="0" err="1"/>
              <a:t>Petrochenkov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https://github.com/petrochenkov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Alexander </a:t>
            </a:r>
            <a:r>
              <a:rPr lang="en-US" sz="2400" dirty="0" err="1"/>
              <a:t>Chichigin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https://github.com/Gabriel-Fallen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Jakub </a:t>
            </a:r>
            <a:r>
              <a:rPr lang="en-US" sz="2400" dirty="0" err="1"/>
              <a:t>Beránek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https://github.com/kobzol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Alexander </a:t>
            </a:r>
            <a:r>
              <a:rPr lang="en-US" sz="2400" dirty="0" err="1"/>
              <a:t>Monakov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7"/>
              </a:rPr>
              <a:t>https://github.com/amonakov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8"/>
              </a:rPr>
              <a:t>https://codeberg.org/amonakov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 </a:t>
            </a:r>
            <a:r>
              <a:rPr lang="en-US" sz="2400" dirty="0" err="1"/>
              <a:t>Vognsen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9"/>
              </a:rPr>
              <a:t>https://mastodon.social/@pervognsen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29875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557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136B-B365-46F5-825E-7A991891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 of this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F354-0DC2-4803-89E3-1ABEE8FE4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collected and analyzed over </a:t>
            </a:r>
            <a:r>
              <a:rPr lang="ru-RU" dirty="0"/>
              <a:t>350 </a:t>
            </a:r>
            <a:r>
              <a:rPr lang="en-US" dirty="0"/>
              <a:t>papers</a:t>
            </a:r>
            <a:r>
              <a:rPr lang="ru-RU" dirty="0"/>
              <a:t>, </a:t>
            </a:r>
            <a:r>
              <a:rPr lang="en-US" dirty="0"/>
              <a:t>blogposts and discussions about the topic (see </a:t>
            </a:r>
            <a:r>
              <a:rPr lang="en-US" dirty="0">
                <a:hlinkClick r:id="rId2"/>
              </a:rPr>
              <a:t>materials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Overall time spent on preparation </a:t>
            </a:r>
            <a:r>
              <a:rPr lang="ru-RU" dirty="0"/>
              <a:t>(</a:t>
            </a:r>
            <a:r>
              <a:rPr lang="en-US" dirty="0"/>
              <a:t>Apr </a:t>
            </a:r>
            <a:r>
              <a:rPr lang="ru-RU" dirty="0"/>
              <a:t>2026)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&gt; 3 man-months</a:t>
            </a:r>
          </a:p>
          <a:p>
            <a:r>
              <a:rPr lang="en-US" dirty="0"/>
              <a:t>Analysis was conducted for</a:t>
            </a:r>
          </a:p>
          <a:p>
            <a:pPr lvl="1"/>
            <a:r>
              <a:rPr lang="en-US" dirty="0"/>
              <a:t>Rust 1.87.0 (May </a:t>
            </a:r>
            <a:r>
              <a:rPr lang="ru-RU" dirty="0"/>
              <a:t>2025)</a:t>
            </a:r>
            <a:endParaRPr lang="en-US" dirty="0"/>
          </a:p>
          <a:p>
            <a:pPr lvl="1"/>
            <a:r>
              <a:rPr lang="en-US" dirty="0"/>
              <a:t>Clang llvmorg-20.1.7 (June </a:t>
            </a:r>
            <a:r>
              <a:rPr lang="ru-RU" dirty="0"/>
              <a:t>2025)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4E76B-4928-4306-BECE-744C1528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7520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Used standard Criterion benchmarks in each project (cargo bench)</a:t>
            </a:r>
            <a:r>
              <a:rPr lang="ru-RU" dirty="0"/>
              <a:t>, </a:t>
            </a:r>
            <a:r>
              <a:rPr lang="en-US" dirty="0"/>
              <a:t>averaged with geomean</a:t>
            </a:r>
            <a:endParaRPr lang="ru-RU" dirty="0"/>
          </a:p>
          <a:p>
            <a:pPr lvl="1"/>
            <a:r>
              <a:rPr lang="en-US" dirty="0"/>
              <a:t>Some especially slow tests in </a:t>
            </a:r>
            <a:r>
              <a:rPr lang="en-US" dirty="0" err="1"/>
              <a:t>oxipng</a:t>
            </a:r>
            <a:r>
              <a:rPr lang="en-US" dirty="0"/>
              <a:t> were disabled</a:t>
            </a:r>
          </a:p>
          <a:p>
            <a:pPr lvl="1"/>
            <a:r>
              <a:rPr lang="en-US" dirty="0"/>
              <a:t>To counteract system noise we took minimum of average from several runs</a:t>
            </a:r>
          </a:p>
          <a:p>
            <a:pPr lvl="1"/>
            <a:r>
              <a:rPr lang="en-US" dirty="0"/>
              <a:t>Note that 1% geomean may mean that</a:t>
            </a:r>
            <a:endParaRPr lang="ru-RU" dirty="0"/>
          </a:p>
          <a:p>
            <a:pPr lvl="2"/>
            <a:r>
              <a:rPr lang="en-US" dirty="0"/>
              <a:t>All tests in project slowed down by </a:t>
            </a:r>
            <a:r>
              <a:rPr lang="ru-RU" dirty="0"/>
              <a:t>1</a:t>
            </a:r>
            <a:r>
              <a:rPr lang="en-US" dirty="0"/>
              <a:t>%</a:t>
            </a:r>
            <a:endParaRPr lang="ru-RU" dirty="0"/>
          </a:p>
          <a:p>
            <a:pPr lvl="2"/>
            <a:r>
              <a:rPr lang="en-US" dirty="0"/>
              <a:t>10% of tests slowed down by </a:t>
            </a:r>
            <a:r>
              <a:rPr lang="ru-RU" dirty="0"/>
              <a:t>10</a:t>
            </a:r>
            <a:r>
              <a:rPr lang="en-US" dirty="0"/>
              <a:t>% (more likely)</a:t>
            </a:r>
          </a:p>
          <a:p>
            <a:pPr lvl="1"/>
            <a:r>
              <a:rPr lang="en-US" dirty="0"/>
              <a:t>Some tests could slow down (or speedup) by more than 10%</a:t>
            </a:r>
          </a:p>
          <a:p>
            <a:r>
              <a:rPr lang="en-US" dirty="0"/>
              <a:t>Geomeans are not ideal</a:t>
            </a:r>
          </a:p>
          <a:p>
            <a:pPr lvl="1"/>
            <a:r>
              <a:rPr lang="en-US" dirty="0"/>
              <a:t>Biased by scenarios with more benches</a:t>
            </a:r>
          </a:p>
          <a:p>
            <a:r>
              <a:rPr lang="en-US" dirty="0"/>
              <a:t>Further details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902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Used Clang llvmorg-20.1.7</a:t>
            </a:r>
          </a:p>
          <a:p>
            <a:r>
              <a:rPr lang="en-US" dirty="0" err="1"/>
              <a:t>Llvm</a:t>
            </a:r>
            <a:r>
              <a:rPr lang="en-US" dirty="0"/>
              <a:t>-bench (</a:t>
            </a:r>
            <a:r>
              <a:rPr lang="en-US" dirty="0">
                <a:hlinkClick r:id="rId2"/>
              </a:rPr>
              <a:t>benchmarks/cpp/</a:t>
            </a:r>
            <a:r>
              <a:rPr lang="en-US" dirty="0" err="1">
                <a:hlinkClick r:id="rId2"/>
              </a:rPr>
              <a:t>llvm</a:t>
            </a:r>
            <a:r>
              <a:rPr lang="en-US" dirty="0">
                <a:hlinkClick r:id="rId2"/>
              </a:rPr>
              <a:t>-bench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Measured median time of -O2 compilation of CGBuiltin.cpp (the largest and slowest-to-compile file in LLVM) with Clang</a:t>
            </a:r>
          </a:p>
          <a:p>
            <a:pPr lvl="1"/>
            <a:r>
              <a:rPr lang="en-US" dirty="0"/>
              <a:t>Tested Clang was built with itself</a:t>
            </a:r>
          </a:p>
          <a:p>
            <a:r>
              <a:rPr lang="en-US" dirty="0" err="1"/>
              <a:t>Ffmpeg</a:t>
            </a:r>
            <a:r>
              <a:rPr lang="en-US" dirty="0"/>
              <a:t>-bench (</a:t>
            </a:r>
            <a:r>
              <a:rPr lang="en-US" dirty="0">
                <a:hlinkClick r:id="rId3"/>
              </a:rPr>
              <a:t>benchmarks/</a:t>
            </a:r>
            <a:r>
              <a:rPr lang="en-US" dirty="0" err="1">
                <a:hlinkClick r:id="rId3"/>
              </a:rPr>
              <a:t>cpp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ffmpeg</a:t>
            </a:r>
            <a:r>
              <a:rPr lang="en-US" dirty="0">
                <a:hlinkClick r:id="rId3"/>
              </a:rPr>
              <a:t>-bench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Based on </a:t>
            </a:r>
            <a:r>
              <a:rPr lang="en-US" dirty="0">
                <a:hlinkClick r:id="rId4"/>
              </a:rPr>
              <a:t>Stack Smashing Protection and Its Performance Impact</a:t>
            </a:r>
            <a:endParaRPr lang="en-US" dirty="0"/>
          </a:p>
          <a:p>
            <a:pPr lvl="1"/>
            <a:r>
              <a:rPr lang="en-US" dirty="0"/>
              <a:t>Measured median time to convert FLV to MP4</a:t>
            </a:r>
          </a:p>
          <a:p>
            <a:r>
              <a:rPr lang="en-US" dirty="0" err="1"/>
              <a:t>Phoronix</a:t>
            </a:r>
            <a:r>
              <a:rPr lang="en-US" dirty="0"/>
              <a:t> Test Suite (</a:t>
            </a:r>
            <a:r>
              <a:rPr lang="en-US" dirty="0">
                <a:hlinkClick r:id="rId5"/>
              </a:rPr>
              <a:t>benchmarks/cpp/PTS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Popular benchmark suite from </a:t>
            </a:r>
            <a:r>
              <a:rPr lang="en-US" dirty="0">
                <a:hlinkClick r:id="rId6"/>
              </a:rPr>
              <a:t>phoronix-test-suite.com</a:t>
            </a:r>
            <a:endParaRPr lang="en-US" dirty="0"/>
          </a:p>
          <a:p>
            <a:pPr lvl="1"/>
            <a:r>
              <a:rPr lang="en-US" dirty="0"/>
              <a:t>Measured </a:t>
            </a:r>
            <a:r>
              <a:rPr lang="en-US" dirty="0" err="1"/>
              <a:t>botan</a:t>
            </a:r>
            <a:r>
              <a:rPr lang="en-US" dirty="0"/>
              <a:t>, bullet, </a:t>
            </a:r>
            <a:r>
              <a:rPr lang="en-US" dirty="0" err="1"/>
              <a:t>coremark</a:t>
            </a:r>
            <a:r>
              <a:rPr lang="en-US" dirty="0"/>
              <a:t>, c-ray, dav1d, </a:t>
            </a:r>
            <a:r>
              <a:rPr lang="en-US" dirty="0" err="1"/>
              <a:t>gcrypt</a:t>
            </a:r>
            <a:r>
              <a:rPr lang="en-US" dirty="0"/>
              <a:t>, </a:t>
            </a:r>
            <a:r>
              <a:rPr lang="en-US" dirty="0" err="1"/>
              <a:t>gmpbench</a:t>
            </a:r>
            <a:r>
              <a:rPr lang="en-US" dirty="0"/>
              <a:t>, </a:t>
            </a:r>
            <a:r>
              <a:rPr lang="en-US" dirty="0" err="1"/>
              <a:t>luajit</a:t>
            </a:r>
            <a:r>
              <a:rPr lang="en-US" dirty="0"/>
              <a:t>, </a:t>
            </a:r>
            <a:r>
              <a:rPr lang="en-US" dirty="0" err="1"/>
              <a:t>nginx</a:t>
            </a:r>
            <a:r>
              <a:rPr lang="en-US" dirty="0"/>
              <a:t>, </a:t>
            </a:r>
            <a:r>
              <a:rPr lang="en-US" dirty="0" err="1"/>
              <a:t>opencv</a:t>
            </a:r>
            <a:r>
              <a:rPr lang="en-US" dirty="0"/>
              <a:t>, </a:t>
            </a:r>
            <a:r>
              <a:rPr lang="en-US" dirty="0" err="1"/>
              <a:t>openssl</a:t>
            </a:r>
            <a:r>
              <a:rPr lang="en-US" dirty="0"/>
              <a:t>, </a:t>
            </a:r>
            <a:r>
              <a:rPr lang="en-US" dirty="0" err="1"/>
              <a:t>polybench</a:t>
            </a:r>
            <a:r>
              <a:rPr lang="en-US" dirty="0"/>
              <a:t>-c, </a:t>
            </a:r>
            <a:r>
              <a:rPr lang="en-US" dirty="0" err="1"/>
              <a:t>povray</a:t>
            </a:r>
            <a:r>
              <a:rPr lang="en-US" dirty="0"/>
              <a:t>, </a:t>
            </a:r>
            <a:r>
              <a:rPr lang="en-US" dirty="0" err="1"/>
              <a:t>rocksdb</a:t>
            </a:r>
            <a:r>
              <a:rPr lang="en-US" dirty="0"/>
              <a:t>, </a:t>
            </a:r>
            <a:r>
              <a:rPr lang="en-US" dirty="0" err="1"/>
              <a:t>simdjson</a:t>
            </a:r>
            <a:r>
              <a:rPr lang="en-US" dirty="0"/>
              <a:t>, </a:t>
            </a:r>
            <a:r>
              <a:rPr lang="en-US" dirty="0" err="1"/>
              <a:t>vpxenc</a:t>
            </a:r>
            <a:r>
              <a:rPr lang="en-US" dirty="0"/>
              <a:t>, x265 (see</a:t>
            </a:r>
            <a:r>
              <a:rPr lang="ru-RU" dirty="0"/>
              <a:t> </a:t>
            </a:r>
            <a:r>
              <a:rPr lang="en-US" dirty="0">
                <a:hlinkClick r:id="rId7"/>
              </a:rPr>
              <a:t>#55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Used median time of benchmark</a:t>
            </a:r>
            <a:endParaRPr lang="ru-RU" dirty="0"/>
          </a:p>
          <a:p>
            <a:pPr lvl="1"/>
            <a:r>
              <a:rPr lang="en-US" dirty="0"/>
              <a:t>Ignored tests with </a:t>
            </a:r>
            <a:r>
              <a:rPr lang="en-US" dirty="0" err="1"/>
              <a:t>Stdev</a:t>
            </a:r>
            <a:r>
              <a:rPr lang="en-US" dirty="0"/>
              <a:t> &gt; 0.5%</a:t>
            </a:r>
            <a:r>
              <a:rPr lang="ru-RU" dirty="0"/>
              <a:t> </a:t>
            </a:r>
            <a:r>
              <a:rPr lang="en-US" dirty="0"/>
              <a:t>or changes &lt; 1%</a:t>
            </a:r>
            <a:endParaRPr lang="ru-RU" dirty="0"/>
          </a:p>
          <a:p>
            <a:r>
              <a:rPr lang="en-US" dirty="0"/>
              <a:t>To counteract system noise we took minimum of average from several runs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1472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1025-3987-40D3-AB36-1F964AC4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7E195-2D89-40B0-84F4-14ACEA9DC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benchmarks (except no-static) were run on </a:t>
            </a:r>
            <a:r>
              <a:rPr lang="ru-RU" dirty="0"/>
              <a:t>Intel Xeon E-2236</a:t>
            </a:r>
            <a:endParaRPr lang="en-US" dirty="0"/>
          </a:p>
          <a:p>
            <a:pPr lvl="1"/>
            <a:r>
              <a:rPr lang="en-US" dirty="0"/>
              <a:t>With fixed </a:t>
            </a:r>
            <a:r>
              <a:rPr lang="ru-RU" dirty="0"/>
              <a:t>2 GHz</a:t>
            </a:r>
            <a:r>
              <a:rPr lang="en-US" dirty="0"/>
              <a:t> frequency</a:t>
            </a:r>
          </a:p>
          <a:p>
            <a:pPr lvl="1"/>
            <a:r>
              <a:rPr lang="en-US" dirty="0"/>
              <a:t>With Ubuntu 24.04 OS</a:t>
            </a:r>
          </a:p>
          <a:p>
            <a:r>
              <a:rPr lang="en-US" dirty="0"/>
              <a:t>Servers have been set up according to</a:t>
            </a:r>
            <a:r>
              <a:rPr lang="ru-RU" dirty="0"/>
              <a:t> </a:t>
            </a:r>
            <a:r>
              <a:rPr lang="en-US" dirty="0" err="1">
                <a:hlinkClick r:id="rId2"/>
              </a:rPr>
              <a:t>uInit</a:t>
            </a:r>
            <a:r>
              <a:rPr lang="en-US" dirty="0">
                <a:hlinkClick r:id="rId2"/>
              </a:rPr>
              <a:t> methodology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06350-54E9-44B9-BB4E-563A479D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3729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2CED-06E0-4945-B954-B71ECA6C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32FD0-943A-4D42-94F4-8E534E567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(</a:t>
            </a:r>
            <a:r>
              <a:rPr lang="en-US" dirty="0" err="1"/>
              <a:t>Yugr</a:t>
            </a:r>
            <a:r>
              <a:rPr lang="en-US" dirty="0"/>
              <a:t>) Benchmark </a:t>
            </a:r>
            <a:r>
              <a:rPr lang="en-US" dirty="0" err="1"/>
              <a:t>meilisearch</a:t>
            </a:r>
            <a:endParaRPr lang="en-US" dirty="0"/>
          </a:p>
          <a:p>
            <a:r>
              <a:rPr lang="en-US" dirty="0"/>
              <a:t>(Zak) Fast-math: update analysis (P3715, -</a:t>
            </a:r>
            <a:r>
              <a:rPr lang="en-US" dirty="0" err="1"/>
              <a:t>fno</a:t>
            </a:r>
            <a:r>
              <a:rPr lang="en-US" dirty="0"/>
              <a:t>-math-</a:t>
            </a:r>
            <a:r>
              <a:rPr lang="en-US" dirty="0" err="1"/>
              <a:t>errno</a:t>
            </a:r>
            <a:r>
              <a:rPr lang="en-US" dirty="0"/>
              <a:t> and -</a:t>
            </a:r>
            <a:r>
              <a:rPr lang="en-US" dirty="0" err="1"/>
              <a:t>fno</a:t>
            </a:r>
            <a:r>
              <a:rPr lang="en-US" dirty="0"/>
              <a:t>-trapping-math)</a:t>
            </a:r>
          </a:p>
          <a:p>
            <a:r>
              <a:rPr lang="en-US" dirty="0"/>
              <a:t>(Zak) Struct reorder: fill analysis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FC05-DC86-4D82-B3D8-5A738801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45792</TotalTime>
  <Words>13893</Words>
  <Application>Microsoft Office PowerPoint</Application>
  <PresentationFormat>Widescreen</PresentationFormat>
  <Paragraphs>2066</Paragraphs>
  <Slides>169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77" baseType="lpstr">
      <vt:lpstr>Arial</vt:lpstr>
      <vt:lpstr>Calibri</vt:lpstr>
      <vt:lpstr>Calibri (Body)</vt:lpstr>
      <vt:lpstr>Calibri Light</vt:lpstr>
      <vt:lpstr>Consolas</vt:lpstr>
      <vt:lpstr>Courier New</vt:lpstr>
      <vt:lpstr>Wingdings</vt:lpstr>
      <vt:lpstr>Office Theme</vt:lpstr>
      <vt:lpstr>Performance of Rust language</vt:lpstr>
      <vt:lpstr>About us</vt:lpstr>
      <vt:lpstr>Rust language features</vt:lpstr>
      <vt:lpstr>Rust performance: Disadvantages</vt:lpstr>
      <vt:lpstr>Rust performance: Advantages</vt:lpstr>
      <vt:lpstr>Goals of this talk</vt:lpstr>
      <vt:lpstr>Opinion of language creators</vt:lpstr>
      <vt:lpstr>Overhead analysis</vt:lpstr>
      <vt:lpstr>Benchmarks</vt:lpstr>
      <vt:lpstr>Rust and C++</vt:lpstr>
      <vt:lpstr>Not covered: Other language aspects</vt:lpstr>
      <vt:lpstr>Not covered: Parallel programming</vt:lpstr>
      <vt:lpstr>Not covered: Unsafe code</vt:lpstr>
      <vt:lpstr>Not covered: Non-idiomatic code</vt:lpstr>
      <vt:lpstr>Bounds checks</vt:lpstr>
      <vt:lpstr>Buffer overflows</vt:lpstr>
      <vt:lpstr>Prevalence of buffer overflow vulnerabilities</vt:lpstr>
      <vt:lpstr>Memory safety in Rust</vt:lpstr>
      <vt:lpstr>Overheads</vt:lpstr>
      <vt:lpstr>Compiler optimizations</vt:lpstr>
      <vt:lpstr>Successful optimization</vt:lpstr>
      <vt:lpstr>Unsuccessful optimization</vt:lpstr>
      <vt:lpstr>Problem with optimizer: delayed panics</vt:lpstr>
      <vt:lpstr>Workarounds: Overview</vt:lpstr>
      <vt:lpstr>Workarounds</vt:lpstr>
      <vt:lpstr>Workarounds</vt:lpstr>
      <vt:lpstr>Workarounds: Unsafe-code</vt:lpstr>
      <vt:lpstr>Workarounds: Bounded types</vt:lpstr>
      <vt:lpstr>Workarounds</vt:lpstr>
      <vt:lpstr>Workarounds: Manual asserts</vt:lpstr>
      <vt:lpstr>Workarounds: Reslicing</vt:lpstr>
      <vt:lpstr>Workarounds: Reslicing</vt:lpstr>
      <vt:lpstr>Workarounds: Limiting iteration range</vt:lpstr>
      <vt:lpstr>Workarounds: Iterators</vt:lpstr>
      <vt:lpstr>Disadvantages of iterators</vt:lpstr>
      <vt:lpstr>Workarounds: Order of accesses</vt:lpstr>
      <vt:lpstr>Workarounds: SIMD</vt:lpstr>
      <vt:lpstr>Workarounds</vt:lpstr>
      <vt:lpstr>Workarounds: Arithmetic instead of checks</vt:lpstr>
      <vt:lpstr>Workarounds: Arithmetic instead of checks</vt:lpstr>
      <vt:lpstr>Prevalence</vt:lpstr>
      <vt:lpstr>Performance improvement after disabling bounds checks</vt:lpstr>
      <vt:lpstr>Hardened C/C++</vt:lpstr>
      <vt:lpstr>Rust vs. Hardened C++</vt:lpstr>
      <vt:lpstr>Overheads in Hardened C++</vt:lpstr>
      <vt:lpstr>Conclusions</vt:lpstr>
      <vt:lpstr>Recommended readings</vt:lpstr>
      <vt:lpstr>Aliasing rules</vt:lpstr>
      <vt:lpstr>Pointer aliasing</vt:lpstr>
      <vt:lpstr>Why aliasing is important?</vt:lpstr>
      <vt:lpstr>Alias analysis theory</vt:lpstr>
      <vt:lpstr>Aliasing in Rust</vt:lpstr>
      <vt:lpstr>Limitations</vt:lpstr>
      <vt:lpstr>Limitations</vt:lpstr>
      <vt:lpstr>Limitations</vt:lpstr>
      <vt:lpstr>Efficiency of Rust aliasing rules</vt:lpstr>
      <vt:lpstr>Performance degradation after disabling aliasing rules</vt:lpstr>
      <vt:lpstr>Situation in C/C++</vt:lpstr>
      <vt:lpstr>Conclusions</vt:lpstr>
      <vt:lpstr>Recommended readings</vt:lpstr>
      <vt:lpstr>Mandatory initialization</vt:lpstr>
      <vt:lpstr>Mandatory initialization</vt:lpstr>
      <vt:lpstr>Example</vt:lpstr>
      <vt:lpstr>Rust approach</vt:lpstr>
      <vt:lpstr>Other languages</vt:lpstr>
      <vt:lpstr>Issue with mandatory initializations</vt:lpstr>
      <vt:lpstr>Prevalence of redundant initializations</vt:lpstr>
      <vt:lpstr>Overheads in benchmarks</vt:lpstr>
      <vt:lpstr>Example overheads in Rust programs</vt:lpstr>
      <vt:lpstr>Overheads with forced stack initialization for C++</vt:lpstr>
      <vt:lpstr>Overheads with forced stack+heap initialization for C++</vt:lpstr>
      <vt:lpstr>Compiler optimizations</vt:lpstr>
      <vt:lpstr>Workarounds</vt:lpstr>
      <vt:lpstr>Workarounds: Standard types</vt:lpstr>
      <vt:lpstr>Workarounds: Vectors</vt:lpstr>
      <vt:lpstr>Workarounds: IO</vt:lpstr>
      <vt:lpstr>Conclusions</vt:lpstr>
      <vt:lpstr>Recommended readings</vt:lpstr>
      <vt:lpstr>Symbol localization</vt:lpstr>
      <vt:lpstr>Symbol localization</vt:lpstr>
      <vt:lpstr>Localization in Rust</vt:lpstr>
      <vt:lpstr>Compiler optimizations</vt:lpstr>
      <vt:lpstr>Linker optimizations</vt:lpstr>
      <vt:lpstr>Example</vt:lpstr>
      <vt:lpstr>Comparison to C/C++</vt:lpstr>
      <vt:lpstr>Prevalence</vt:lpstr>
      <vt:lpstr>Slowdown with disabled localization</vt:lpstr>
      <vt:lpstr>Conclusions</vt:lpstr>
      <vt:lpstr>Recommended readings</vt:lpstr>
      <vt:lpstr>No inplace-initialization</vt:lpstr>
      <vt:lpstr>Overview</vt:lpstr>
      <vt:lpstr>Why placement new is needed?</vt:lpstr>
      <vt:lpstr>Why placement new is needed?</vt:lpstr>
      <vt:lpstr>Compiler optimizations</vt:lpstr>
      <vt:lpstr>Issues with move/copy elision</vt:lpstr>
      <vt:lpstr>Workarounds</vt:lpstr>
      <vt:lpstr>Conclusions</vt:lpstr>
      <vt:lpstr>Recommended readings</vt:lpstr>
      <vt:lpstr>Structure optimizations</vt:lpstr>
      <vt:lpstr>Alignment of structure fields</vt:lpstr>
      <vt:lpstr>Structures in Rust</vt:lpstr>
      <vt:lpstr>Layout optimizations</vt:lpstr>
      <vt:lpstr>C++ status</vt:lpstr>
      <vt:lpstr>Internals of Rust enums</vt:lpstr>
      <vt:lpstr>Niches</vt:lpstr>
      <vt:lpstr>Examples of niches</vt:lpstr>
      <vt:lpstr>C++ status</vt:lpstr>
      <vt:lpstr>Slowdown with disabled struct reorder</vt:lpstr>
      <vt:lpstr>Conclusions</vt:lpstr>
      <vt:lpstr>Recommended readings</vt:lpstr>
      <vt:lpstr>Arithmetic checks</vt:lpstr>
      <vt:lpstr>Overview</vt:lpstr>
      <vt:lpstr>Example error (OpenSSH 3.3)</vt:lpstr>
      <vt:lpstr>Default arithmetic checks in Rust</vt:lpstr>
      <vt:lpstr>Important missing checks</vt:lpstr>
      <vt:lpstr>Integer overflow checks in Rust</vt:lpstr>
      <vt:lpstr>Other overheads</vt:lpstr>
      <vt:lpstr>Defined overflow</vt:lpstr>
      <vt:lpstr>Defined overflow: Example</vt:lpstr>
      <vt:lpstr>Problem with inclusive ranges</vt:lpstr>
      <vt:lpstr>Compiler optimizations</vt:lpstr>
      <vt:lpstr>Workarounds</vt:lpstr>
      <vt:lpstr>Improvements without default checks (division by zero, etc.)</vt:lpstr>
      <vt:lpstr>Slowdown with integer overflow checks</vt:lpstr>
      <vt:lpstr>Slowdown in C++</vt:lpstr>
      <vt:lpstr>Conclusions</vt:lpstr>
      <vt:lpstr>Recommended readings</vt:lpstr>
      <vt:lpstr>Standard library</vt:lpstr>
      <vt:lpstr>Overview</vt:lpstr>
      <vt:lpstr>Standard library checks</vt:lpstr>
      <vt:lpstr>Example</vt:lpstr>
      <vt:lpstr>Example</vt:lpstr>
      <vt:lpstr>Other overheads</vt:lpstr>
      <vt:lpstr>Improvements with disabled UTF-8 checks</vt:lpstr>
      <vt:lpstr>Improvements with disabled container overflow checks</vt:lpstr>
      <vt:lpstr>Optimizations in standard library</vt:lpstr>
      <vt:lpstr>Conclusions</vt:lpstr>
      <vt:lpstr>Recommended readings</vt:lpstr>
      <vt:lpstr>Lack of fast-math</vt:lpstr>
      <vt:lpstr>Floating point computations</vt:lpstr>
      <vt:lpstr>Types of fast-math flags</vt:lpstr>
      <vt:lpstr>Fast math in other languages</vt:lpstr>
      <vt:lpstr>Optimizations: Vectorization</vt:lpstr>
      <vt:lpstr>Optimizations: Algebraic simplifications</vt:lpstr>
      <vt:lpstr>Optimizations: Fused instructions</vt:lpstr>
      <vt:lpstr>Optimizations: Finite only</vt:lpstr>
      <vt:lpstr>Optimizations: Errno</vt:lpstr>
      <vt:lpstr>Issues with fast-math: Checks</vt:lpstr>
      <vt:lpstr>Issues with fast-math: Rounding</vt:lpstr>
      <vt:lpstr>Rust approach</vt:lpstr>
      <vt:lpstr>Workarounds: Intrinsics</vt:lpstr>
      <vt:lpstr>Performance with fast-math</vt:lpstr>
      <vt:lpstr>Conclusions</vt:lpstr>
      <vt:lpstr>Recommended readings</vt:lpstr>
      <vt:lpstr>Conclusions</vt:lpstr>
      <vt:lpstr>Speedup with disabling (most) Rust checks</vt:lpstr>
      <vt:lpstr>Slowdown in Hardened C++</vt:lpstr>
      <vt:lpstr>Distribution of overheads in benchmarks</vt:lpstr>
      <vt:lpstr>Distribution of overheads in benchmarks</vt:lpstr>
      <vt:lpstr>Distribution of overheads in Hardened C++ benchmarks</vt:lpstr>
      <vt:lpstr>Conclusions</vt:lpstr>
      <vt:lpstr>What we didn’t talk about ...</vt:lpstr>
      <vt:lpstr>The End</vt:lpstr>
      <vt:lpstr>Appendix</vt:lpstr>
      <vt:lpstr>Preparation of this talk</vt:lpstr>
      <vt:lpstr>Rust benchmarks</vt:lpstr>
      <vt:lpstr>C++ benchmarks</vt:lpstr>
      <vt:lpstr>Hardware</vt:lpstr>
      <vt:lpstr>TODO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Производительность языка Rust</dc:title>
  <dc:creator>Asus</dc:creator>
  <cp:lastModifiedBy>Asus</cp:lastModifiedBy>
  <cp:revision>1012</cp:revision>
  <dcterms:created xsi:type="dcterms:W3CDTF">2026-01-25T07:50:40Z</dcterms:created>
  <dcterms:modified xsi:type="dcterms:W3CDTF">2026-05-14T20:23:35Z</dcterms:modified>
</cp:coreProperties>
</file>