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1"/>
  </p:notesMasterIdLst>
  <p:sldIdLst>
    <p:sldId id="256" r:id="rId2"/>
    <p:sldId id="290" r:id="rId3"/>
    <p:sldId id="302" r:id="rId4"/>
    <p:sldId id="291" r:id="rId5"/>
    <p:sldId id="292" r:id="rId6"/>
    <p:sldId id="261" r:id="rId7"/>
    <p:sldId id="260" r:id="rId8"/>
    <p:sldId id="300" r:id="rId9"/>
    <p:sldId id="298" r:id="rId10"/>
    <p:sldId id="259" r:id="rId11"/>
    <p:sldId id="257" r:id="rId12"/>
    <p:sldId id="264" r:id="rId13"/>
    <p:sldId id="480" r:id="rId14"/>
    <p:sldId id="301" r:id="rId15"/>
    <p:sldId id="269" r:id="rId16"/>
    <p:sldId id="271" r:id="rId17"/>
    <p:sldId id="272" r:id="rId18"/>
    <p:sldId id="270" r:id="rId19"/>
    <p:sldId id="276" r:id="rId20"/>
    <p:sldId id="273" r:id="rId21"/>
    <p:sldId id="278" r:id="rId22"/>
    <p:sldId id="279" r:id="rId23"/>
    <p:sldId id="288" r:id="rId24"/>
    <p:sldId id="282" r:id="rId25"/>
    <p:sldId id="304" r:id="rId26"/>
    <p:sldId id="305" r:id="rId27"/>
    <p:sldId id="294" r:id="rId28"/>
    <p:sldId id="287" r:id="rId29"/>
    <p:sldId id="306" r:id="rId30"/>
    <p:sldId id="283" r:id="rId31"/>
    <p:sldId id="284" r:id="rId32"/>
    <p:sldId id="297" r:id="rId33"/>
    <p:sldId id="470" r:id="rId34"/>
    <p:sldId id="274" r:id="rId35"/>
    <p:sldId id="296" r:id="rId36"/>
    <p:sldId id="286" r:id="rId37"/>
    <p:sldId id="472" r:id="rId38"/>
    <p:sldId id="307" r:id="rId39"/>
    <p:sldId id="285" r:id="rId40"/>
    <p:sldId id="295" r:id="rId41"/>
    <p:sldId id="281" r:id="rId42"/>
    <p:sldId id="280" r:id="rId43"/>
    <p:sldId id="293" r:id="rId44"/>
    <p:sldId id="303" r:id="rId45"/>
    <p:sldId id="299" r:id="rId46"/>
    <p:sldId id="277" r:id="rId47"/>
    <p:sldId id="275" r:id="rId48"/>
    <p:sldId id="308" r:id="rId49"/>
    <p:sldId id="309" r:id="rId50"/>
    <p:sldId id="311" r:id="rId51"/>
    <p:sldId id="312" r:id="rId52"/>
    <p:sldId id="314" r:id="rId53"/>
    <p:sldId id="315" r:id="rId54"/>
    <p:sldId id="316" r:id="rId55"/>
    <p:sldId id="321" r:id="rId56"/>
    <p:sldId id="317" r:id="rId57"/>
    <p:sldId id="318" r:id="rId58"/>
    <p:sldId id="322" r:id="rId59"/>
    <p:sldId id="319" r:id="rId60"/>
    <p:sldId id="320" r:id="rId61"/>
    <p:sldId id="329" r:id="rId62"/>
    <p:sldId id="330" r:id="rId63"/>
    <p:sldId id="357" r:id="rId64"/>
    <p:sldId id="359" r:id="rId65"/>
    <p:sldId id="368" r:id="rId66"/>
    <p:sldId id="454" r:id="rId67"/>
    <p:sldId id="360" r:id="rId68"/>
    <p:sldId id="369" r:id="rId69"/>
    <p:sldId id="367" r:id="rId70"/>
    <p:sldId id="362" r:id="rId71"/>
    <p:sldId id="471" r:id="rId72"/>
    <p:sldId id="361" r:id="rId73"/>
    <p:sldId id="365" r:id="rId74"/>
    <p:sldId id="371" r:id="rId75"/>
    <p:sldId id="372" r:id="rId76"/>
    <p:sldId id="373" r:id="rId77"/>
    <p:sldId id="363" r:id="rId78"/>
    <p:sldId id="364" r:id="rId79"/>
    <p:sldId id="335" r:id="rId80"/>
    <p:sldId id="336" r:id="rId81"/>
    <p:sldId id="380" r:id="rId82"/>
    <p:sldId id="376" r:id="rId83"/>
    <p:sldId id="418" r:id="rId84"/>
    <p:sldId id="417" r:id="rId85"/>
    <p:sldId id="416" r:id="rId86"/>
    <p:sldId id="378" r:id="rId87"/>
    <p:sldId id="375" r:id="rId88"/>
    <p:sldId id="419" r:id="rId89"/>
    <p:sldId id="377" r:id="rId90"/>
    <p:sldId id="331" r:id="rId91"/>
    <p:sldId id="381" r:id="rId92"/>
    <p:sldId id="422" r:id="rId93"/>
    <p:sldId id="421" r:id="rId94"/>
    <p:sldId id="384" r:id="rId95"/>
    <p:sldId id="423" r:id="rId96"/>
    <p:sldId id="385" r:id="rId97"/>
    <p:sldId id="386" r:id="rId98"/>
    <p:sldId id="387" r:id="rId99"/>
    <p:sldId id="327" r:id="rId100"/>
    <p:sldId id="461" r:id="rId101"/>
    <p:sldId id="462" r:id="rId102"/>
    <p:sldId id="463" r:id="rId103"/>
    <p:sldId id="464" r:id="rId104"/>
    <p:sldId id="455" r:id="rId105"/>
    <p:sldId id="456" r:id="rId106"/>
    <p:sldId id="485" r:id="rId107"/>
    <p:sldId id="458" r:id="rId108"/>
    <p:sldId id="390" r:id="rId109"/>
    <p:sldId id="466" r:id="rId110"/>
    <p:sldId id="394" r:id="rId111"/>
    <p:sldId id="323" r:id="rId112"/>
    <p:sldId id="395" r:id="rId113"/>
    <p:sldId id="424" r:id="rId114"/>
    <p:sldId id="425" r:id="rId115"/>
    <p:sldId id="427" r:id="rId116"/>
    <p:sldId id="426" r:id="rId117"/>
    <p:sldId id="397" r:id="rId118"/>
    <p:sldId id="431" r:id="rId119"/>
    <p:sldId id="482" r:id="rId120"/>
    <p:sldId id="432" r:id="rId121"/>
    <p:sldId id="398" r:id="rId122"/>
    <p:sldId id="399" r:id="rId123"/>
    <p:sldId id="428" r:id="rId124"/>
    <p:sldId id="430" r:id="rId125"/>
    <p:sldId id="435" r:id="rId126"/>
    <p:sldId id="400" r:id="rId127"/>
    <p:sldId id="401" r:id="rId128"/>
    <p:sldId id="333" r:id="rId129"/>
    <p:sldId id="402" r:id="rId130"/>
    <p:sldId id="437" r:id="rId131"/>
    <p:sldId id="439" r:id="rId132"/>
    <p:sldId id="403" r:id="rId133"/>
    <p:sldId id="438" r:id="rId134"/>
    <p:sldId id="404" r:id="rId135"/>
    <p:sldId id="436" r:id="rId136"/>
    <p:sldId id="440" r:id="rId137"/>
    <p:sldId id="407" r:id="rId138"/>
    <p:sldId id="408" r:id="rId139"/>
    <p:sldId id="325" r:id="rId140"/>
    <p:sldId id="441" r:id="rId141"/>
    <p:sldId id="258" r:id="rId142"/>
    <p:sldId id="442" r:id="rId143"/>
    <p:sldId id="443" r:id="rId144"/>
    <p:sldId id="444" r:id="rId145"/>
    <p:sldId id="262" r:id="rId146"/>
    <p:sldId id="445" r:id="rId147"/>
    <p:sldId id="483" r:id="rId148"/>
    <p:sldId id="446" r:id="rId149"/>
    <p:sldId id="447" r:id="rId150"/>
    <p:sldId id="448" r:id="rId151"/>
    <p:sldId id="450" r:id="rId152"/>
    <p:sldId id="451" r:id="rId153"/>
    <p:sldId id="414" r:id="rId154"/>
    <p:sldId id="415" r:id="rId155"/>
    <p:sldId id="268" r:id="rId156"/>
    <p:sldId id="452" r:id="rId157"/>
    <p:sldId id="474" r:id="rId158"/>
    <p:sldId id="469" r:id="rId159"/>
    <p:sldId id="468" r:id="rId160"/>
    <p:sldId id="473" r:id="rId161"/>
    <p:sldId id="267" r:id="rId162"/>
    <p:sldId id="337" r:id="rId163"/>
    <p:sldId id="265" r:id="rId164"/>
    <p:sldId id="484" r:id="rId165"/>
    <p:sldId id="266" r:id="rId166"/>
    <p:sldId id="433" r:id="rId167"/>
    <p:sldId id="289" r:id="rId168"/>
    <p:sldId id="453" r:id="rId169"/>
    <p:sldId id="434" r:id="rId1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6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commentAuthors" Target="comment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76068-F81C-4E93-8398-C6F4BAF68747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0068E-63B5-4F5C-A960-A599937A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2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E5FC-277C-4CAD-8299-2A1F3533C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51917-1CD0-4C4F-B6F8-EDD141075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0735D-453A-4979-A48F-F4D0283C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B0FF-E0F1-4E8A-8A80-1AE4A02D525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53E63-E716-4A70-80EE-F5D08530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5264A-48A8-4832-AFBC-A98A977A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2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08AB-8E00-453F-B352-3D4BF4CD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86CCA-090D-42AC-95D0-4A04B8DD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0767-1E2C-4CE9-A7DC-F97C8AA7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B891-7549-4FEF-BB93-C8F4560E6858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A7A9-15BA-41A5-9E8D-464CA240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6C41-C57E-4D22-9E8A-B4FB1888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0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47FC-A2E6-420E-9B59-3BD664A2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CADF5-6117-4830-A0ED-B9214B7B2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8A07-8724-4A76-817E-DAD6845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4EF-020E-4D61-B849-AE267234961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FBE2-BE11-43B4-821D-6EBB6491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DAF3-7F32-4359-97BE-E97E1A52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C7AD-6C55-4FA5-B045-C3B387DD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8E50-A7BE-4476-B401-14799C61F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AC909-EA98-4CF7-931E-854479F6B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0FC90-720E-47B7-8AF1-F92A0890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A2FB-4A9A-4802-AF63-A42E47650129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A7FFA-E072-4518-851B-2AC8F813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1C09B-9E0E-4CE2-90DF-307143EC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8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535F-842C-4F23-94E0-D3BD9BF6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C99D-AC1C-4886-A961-263B09A33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17F1D-3F85-4E5D-9C10-EE928CF1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38AFC-11E6-4169-8C73-52D31C17A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43A94-C9A1-4B9C-A69F-C4BCF9FC2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BB971-C87E-4C02-9CE9-D2785BB8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20B7-4C09-4C92-B496-18058FB87184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8A222-A574-4837-BA0A-8911E66B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41E22-045C-464D-B7C8-6E216DA3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AE55-6268-4ADF-844B-5E502B89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E728E-F367-464B-91DA-EFBAA73E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6287-81E9-473B-A819-AEA8E86EE26C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CC1EE-28A4-4B2C-A320-76B3BBEA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0D340-12B3-491D-8109-3DB22F26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D3078-7340-4053-9402-D6DF4AEE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644AB-4AA2-43A3-AAA5-830457917282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75A91-28A5-42A7-AF1E-B64FEEC7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F9872-B8CB-4781-8789-C6311349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9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9F0-8616-4EE0-95D5-4BF5615C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6002-0DD0-4B9C-A340-4F291CE3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6570-670B-47CC-8226-19CC37709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BBF32-9C51-41BF-95D4-6E9ED7AA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A8E6C-0438-4679-92A5-5A9CADC2567F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0060C-3C2F-452D-8457-84E4653A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A2BB-BCC2-4E42-B0C9-E4DDDED8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2F1D-787D-4BE5-8171-B436584C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B29C1-8B7F-40D2-9630-6128753A8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3B68-26F2-45F0-9C67-0FFEC81CF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52746-0DA2-4B3D-B9C0-DDEE786D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6F5E-6D1A-4C1F-8150-BE8506DFA26A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5FE50-E84D-43DA-928F-88A9F66F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DC1E-2353-4199-9203-76CB1154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5571-E35E-459B-AB0E-ABB1A218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9B00-4968-450F-A957-AEEE313AE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0B35-DD4B-4C24-B56F-349C3952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6981-8249-4C56-8DC5-1FB82CDBC92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2B01C-1E74-4462-B53E-CA87E193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8D4E-F669-4128-A76B-EC6BABF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04F65-30C7-4474-9D6C-AA02759D5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6F7F-D879-4D6B-AAA7-0CC635C10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21E3-40B2-4393-AA83-84C40AAD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27AC-B3AE-44B8-A9F1-C4AFF168C7C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B2D8-4285-4D57-B10C-C55FD083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F8DD-1382-42FE-A53C-77FD024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2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301CD-62E3-4539-B56F-577FB878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51756-F4E4-459B-8A5F-C11840935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3741-CB30-4536-A2AB-CC3EF7F20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484C3-8CAF-4711-AC1B-1F736FC985E7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0981E-93FF-4B93-B078-3CB92BD8B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B726-E1AE-4669-B602-C21096B6E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3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z-inform" TargetMode="External"/><Relationship Id="rId4" Type="http://schemas.openxmlformats.org/officeDocument/2006/relationships/hyperlink" Target="https://github.com/yugr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iki.c2.com/?SufficientlySmartCompil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ru/photo/87059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rust-lang.org/t/what-kind-of-performance-rust-is-trying-to-achieve/1674/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baseline" TargetMode="External"/><Relationship Id="rId2" Type="http://schemas.openxmlformats.org/officeDocument/2006/relationships/hyperlink" Target="https://github.com/yugr/rust-privat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Olympic_types_of_sport_with_icons.png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G4BJ23BFBE&amp;t=72s" TargetMode="External"/><Relationship Id="rId2" Type="http://schemas.openxmlformats.org/officeDocument/2006/relationships/hyperlink" Target="https://www.youtube.com/watch?v=3fchvdSPpZ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dHBSxDsVl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book/ch16-00-concurrency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book/ch20-00-advanced-features.html" TargetMode="External"/><Relationship Id="rId2" Type="http://schemas.openxmlformats.org/officeDocument/2006/relationships/hyperlink" Target="https://doc.rust-lang.org/nomicon/meet-safe-and-unsaf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ickr.com/photos/cazatoma/8746664127" TargetMode="Externa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ust/comments/kpqmrh/comment/gi3u2ki" TargetMode="External"/><Relationship Id="rId2" Type="http://schemas.openxmlformats.org/officeDocument/2006/relationships/hyperlink" Target="https://www.reddit.com/r/rust/comments/9jsqyg/comment/e6ufwc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bounds-checks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5958324/free-public-domain-cc0-phot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s://www.microsoft.com/en-us/msrc/blog/2019/07/a-proactive-approach-to-more-secure-code" TargetMode="External"/><Relationship Id="rId7" Type="http://schemas.openxmlformats.org/officeDocument/2006/relationships/hyperlink" Target="https://security.googleblog.com/2024/11/retrofitting-spatial-safety-to-hundreds.html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sites/default/files/feeds/known_exploited_vulnerabilities.json" TargetMode="External"/><Relationship Id="rId5" Type="http://schemas.openxmlformats.org/officeDocument/2006/relationships/hyperlink" Target="https://github.com/CVEProject/cvelistV5/tree/main/cves/2024" TargetMode="External"/><Relationship Id="rId4" Type="http://schemas.openxmlformats.org/officeDocument/2006/relationships/hyperlink" Target="https://www.chromium.org/Home/chromium-security/memory-safety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s/safety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bounds-checks/btb.md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klad/bounds-check-cost/blob/master/src/main.r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aY744zdf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176s9nEfE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yale.edu/homes/abhishek/gupta-isca23.pdf" TargetMode="External"/><Relationship Id="rId2" Type="http://schemas.openxmlformats.org/officeDocument/2006/relationships/hyperlink" Target="https://github.com/rust-lang/rfcs/blob/master/text/0560-integer-overflow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st-lang/rust/issues/5075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ckwilcox.com/blog/autovec/" TargetMode="External"/><Relationship Id="rId2" Type="http://schemas.openxmlformats.org/officeDocument/2006/relationships/hyperlink" Target="https://github.com/fschutt/fastblur/pull/3/chang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harr.org/matt/blog/2018/04/18/ispc-origins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injurysource.com/preventing-slip-and-fall-injuries-at-work/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st-lang/rust/pull/36072/files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102303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age-rs/jpeg-decoder/pull/167/file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github.com/dropbox/rust-brotli/blob/238c9c539b446d7d980e0a50795752c45dd3359e/src/enc/static_dict.rs#L12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xels.com/photo/close-up-of-a-person-cutting-bread-19359855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morysafety.org/blog/rav1d-performance-optimization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TzEPaaEs" TargetMode="External"/><Relationship Id="rId2" Type="http://schemas.openxmlformats.org/officeDocument/2006/relationships/hyperlink" Target="https://godbolt.org/z/P8de874c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e69173xv" TargetMode="External"/><Relationship Id="rId2" Type="http://schemas.openxmlformats.org/officeDocument/2006/relationships/hyperlink" Target="https://godbolt.org/z/P8de874c1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06539" TargetMode="External"/><Relationship Id="rId2" Type="http://schemas.openxmlformats.org/officeDocument/2006/relationships/hyperlink" Target="https://www.reddit.com/r/rust/comments/yaft60/zerocost_iterator_abstractionsnot_so_zeroco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ublicdomainpictures.net/en/view-image.php?image=235675&amp;picture=man-carrying-stack-of-boxes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users.rust-lang.org/t/are-iterators-even-efficient/36050/2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G3bfGEhnG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in-osowski/cmov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cons/bounds-checks/count-loops" TargetMode="External"/><Relationship Id="rId2" Type="http://schemas.openxmlformats.org/officeDocument/2006/relationships/hyperlink" Target="https://github.com/yugr/rust-slides/blob/main/features/cons/bounds-checks/count-pan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ugr/rust-private/tree/yugr/disable-bounds-checks/2" TargetMode="External"/><Relationship Id="rId4" Type="http://schemas.openxmlformats.org/officeDocument/2006/relationships/hyperlink" Target="https://github.com/yugr/rust-slides/blob/main/features/cons/bounds-checks/analysis.md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yugr/rust-private/tree/yugr/disable-bounds-checks/2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urse.llvm.org/t/rfc-c-buffer-hardening/65734" TargetMode="External"/><Relationship Id="rId7" Type="http://schemas.openxmlformats.org/officeDocument/2006/relationships/image" Target="../media/image20.jpg"/><Relationship Id="rId2" Type="http://schemas.openxmlformats.org/officeDocument/2006/relationships/hyperlink" Target="https://github.com/yugr/rust-slides/tree/main/features/cons/bounds-checks/bounds-t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nl.no/Mount_Everest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s://www.youtube.com/watch?v=v9FY3AiSfHE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MG5vdefK" TargetMode="External"/><Relationship Id="rId2" Type="http://schemas.openxmlformats.org/officeDocument/2006/relationships/hyperlink" Target="https://godbolt.org/z/jGT6adEYM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50759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dlerc.blog/posts/2024/11/story-time-bounds-checking" TargetMode="External"/><Relationship Id="rId2" Type="http://schemas.openxmlformats.org/officeDocument/2006/relationships/hyperlink" Target="https://shnatsel.medium.com/how-to-avoid-bounds-checks-in-rust-without-unsafe-f65e618b4c1e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alias" TargetMode="Externa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rcules_slaying_the_Hydra.gi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nqdax4vEP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161494.161501" TargetMode="External"/><Relationship Id="rId2" Type="http://schemas.openxmlformats.org/officeDocument/2006/relationships/hyperlink" Target="https://dl.acm.org/doi/10.1145/99583.995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605573.3605644" TargetMode="External"/><Relationship Id="rId5" Type="http://schemas.openxmlformats.org/officeDocument/2006/relationships/hyperlink" Target="https://dl.acm.org/doi/10.5555/645989.674312" TargetMode="External"/><Relationship Id="rId4" Type="http://schemas.openxmlformats.org/officeDocument/2006/relationships/hyperlink" Target="https://www.microsoft.com/en-us/research/wp-content/uploads/2016/02/tr-2001-38.pdf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6WoTzoo5v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6515" TargetMode="External"/><Relationship Id="rId2" Type="http://schemas.openxmlformats.org/officeDocument/2006/relationships/hyperlink" Target="http://llvm.org/docs/LangRef.html#noalias-and-alias-scope-meta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WjY9rxex7" TargetMode="External"/><Relationship Id="rId4" Type="http://schemas.openxmlformats.org/officeDocument/2006/relationships/hyperlink" Target="https://github.com/rust-lang/rust/commit/71f5cfb21f3fd2f1740bced061c66ff112fec259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force-aliasing/2" TargetMode="External"/><Relationship Id="rId2" Type="http://schemas.openxmlformats.org/officeDocument/2006/relationships/hyperlink" Target="https://github.com/yugr/rust-slides/blob/main/features/pros/alias/analysis.md#preval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ugr/rust-private/tree/yugr/force-aliasing/2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161494.161501" TargetMode="External"/><Relationship Id="rId7" Type="http://schemas.openxmlformats.org/officeDocument/2006/relationships/hyperlink" Target="https://github.com/travisdowns/uarch-bench/wiki/Memory-Disambiguation-on-Skylake" TargetMode="External"/><Relationship Id="rId2" Type="http://schemas.openxmlformats.org/officeDocument/2006/relationships/hyperlink" Target="https://dl.acm.org/doi/10.1145/99583.9959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605573.3605644" TargetMode="External"/><Relationship Id="rId5" Type="http://schemas.openxmlformats.org/officeDocument/2006/relationships/hyperlink" Target="https://dl.acm.org/doi/10.5555/645989.674312" TargetMode="External"/><Relationship Id="rId4" Type="http://schemas.openxmlformats.org/officeDocument/2006/relationships/hyperlink" Target="https://www.microsoft.com/en-us/research/wp-content/uploads/2016/02/tr-2001-38.pdf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init" TargetMode="Externa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std.org/jtc1/sc22/wg21/docs/papers/2023/p2723r1.html#real-world" TargetMode="External"/><Relationship Id="rId2" Type="http://schemas.openxmlformats.org/officeDocument/2006/relationships/hyperlink" Target="https://github.com/microsoft/MSRC-Security-Research/blob/master/presentations/2019_09_CppCon/CppCon2019%20-%20Killing%20Uninitialized%20Memor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exels.com/photo/vintage-water-tap-dripping-in-black-and-white-29725026/" TargetMode="External"/><Relationship Id="rId4" Type="http://schemas.openxmlformats.org/officeDocument/2006/relationships/image" Target="../media/image26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kyouko-taiga.github.io/swift-thoughts/tutorial/chapter-1" TargetMode="External"/><Relationship Id="rId2" Type="http://schemas.openxmlformats.org/officeDocument/2006/relationships/hyperlink" Target="https://ericlippert.com/2012/03/05/why-are-local-variables-definitely-assigned-in-unreachable-statemen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-std.org/jtc1/sc22/wg21/docs/papers/2024/p2795r5.html" TargetMode="External"/><Relationship Id="rId5" Type="http://schemas.openxmlformats.org/officeDocument/2006/relationships/hyperlink" Target="https://medium.com/@AlexanderObregon/how-javas-default-values-for-variables-work-9256ce8ed620" TargetMode="External"/><Relationship Id="rId4" Type="http://schemas.openxmlformats.org/officeDocument/2006/relationships/hyperlink" Target="https://go.dev/ref/spec#The_zero_value" TargetMode="Externa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valgrind/tree/yugr/deadwrites/3" TargetMode="External"/><Relationship Id="rId2" Type="http://schemas.openxmlformats.org/officeDocument/2006/relationships/hyperlink" Target="https://github.com/yugr/rust-slides/tree/main/features/cons/init/count-stores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kio-rs/tokio/pull/1744#issuecomment-554543881" TargetMode="External"/><Relationship Id="rId2" Type="http://schemas.openxmlformats.org/officeDocument/2006/relationships/hyperlink" Target="https://github.com/rust-lang/rust/pull/2695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hadravid.github.io/posts/2025-05-rav1d-faster/" TargetMode="External"/><Relationship Id="rId5" Type="http://schemas.openxmlformats.org/officeDocument/2006/relationships/hyperlink" Target="https://github.com/rust-lang/rfcs/pull/837#issuecomment-75497481" TargetMode="External"/><Relationship Id="rId4" Type="http://schemas.openxmlformats.org/officeDocument/2006/relationships/hyperlink" Target="https://github.com/shadow/shadow/issues/1643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std/ptr/macro.addr_of_mut.html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QWjF8NvqAU" TargetMode="External"/><Relationship Id="rId2" Type="http://schemas.openxmlformats.org/officeDocument/2006/relationships/hyperlink" Target="https://github.com/microsoft/MSRC-Security-Research/blob/master/presentations/2019_09_CppCon/CppCon2019%20-%20Killing%20Uninitialized%20Memory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pen-std.org/jtc1/sc22/wg21/docs/papers/2024/p2795r5.html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static" TargetMode="Externa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reviews.llvm.org/D23980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CppRussia/blob/master/2024/RU.pdf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M7Tchx49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ocs/CodingStandards.html#id59" TargetMode="External"/><Relationship Id="rId2" Type="http://schemas.openxmlformats.org/officeDocument/2006/relationships/hyperlink" Target="https://google.github.io/styleguide/cppguide.html#Internal_Link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gr/llvm-project/commits/yugr/internal-private/2" TargetMode="External"/><Relationship Id="rId5" Type="http://schemas.openxmlformats.org/officeDocument/2006/relationships/hyperlink" Target="https://chromium.googlesource.com/chromium/src/+/main/styleguide/c++/c++.md#unnamed-namespaces" TargetMode="External"/><Relationship Id="rId4" Type="http://schemas.openxmlformats.org/officeDocument/2006/relationships/hyperlink" Target="https://isocpp.github.io/CppCoreGuidelines/CppCoreGuidelines#rs-unnamed2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Localizer" TargetMode="External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archive.org/web/20240309202636/https:/embeddedgurus.com/stack-overflow/2008/12/efficient-c-tips-5-make-local-functions-static/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pros/copy-elision" TargetMode="External"/><Relationship Id="rId2" Type="http://schemas.openxmlformats.org/officeDocument/2006/relationships/hyperlink" Target="https://github.com/yugr/rust-slides/tree/main/features/cons/placement-new" TargetMode="Externa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pp-ru/ideas/issues/256" TargetMode="External"/><Relationship Id="rId2" Type="http://schemas.openxmlformats.org/officeDocument/2006/relationships/hyperlink" Target="https://assets.ctfassets.net/oxjq45e8ilak/2eGPH36FWGYOPN2dgTom47/eb317b89aab933d9f28a367a7dcb1083/Roman_Rusyayev_Anton_Polukhin_Nastoyashcheye_i_budushcheye_copy_elision_2020_06_28_15_51_5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slides/tree/main/features/pros/copy-elision" TargetMode="Externa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rust-lang.github.io/rust-project-goals/2025h2/in-place-initialization.html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rust-lang.github.io/rust-project-goals/2025h2/mir-move-elimination.html" TargetMode="External"/><Relationship Id="rId2" Type="http://schemas.openxmlformats.org/officeDocument/2006/relationships/hyperlink" Target="https://rust-lang.github.io/rust-project-goals/2025h2/in-place-initialization.html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.ctfassets.net/oxjq45e8ilak/2eGPH36FWGYOPN2dgTom47/eb317b89aab933d9f28a367a7dcb1083/Roman_Rusyayev_Anton_Polukhin_Nastoyashcheye_i_budushcheye_copy_elision_2020_06_28_15_51_59.pdf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niche" TargetMode="Externa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katecpp.github.io/struct-members-order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70118259@N00/3173642531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GMoejn7rd" TargetMode="External"/><Relationship Id="rId4" Type="http://schemas.openxmlformats.org/officeDocument/2006/relationships/hyperlink" Target="https://godbolt.org/z/MxYh7bv34" TargetMode="Externa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dbolt.org/z/n8a1x9nWr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nowmediagroup.tv/blog/10-must-read-books-why-multidisciplinary-reading-is-a-must/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fcs/pull/3204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github.com/Sedeniono/tiny-optional?tab=readme-ov-file#use-case-1-wasting-no-memo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struct-reorder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tb.org/esr/structure-packing/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arithmetic-checks" TargetMode="Externa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cwe.mitre.org/top25/archive/2019/2019_cwe_top25.html" TargetMode="External"/><Relationship Id="rId7" Type="http://schemas.openxmlformats.org/officeDocument/2006/relationships/hyperlink" Target="https://www.youtube.com/watch?v=v9FY3AiSfHE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regehr.org/archives/1559" TargetMode="External"/><Relationship Id="rId5" Type="http://schemas.openxmlformats.org/officeDocument/2006/relationships/hyperlink" Target="https://gcc.gnu.org/bugzilla/show_bug.cgi?id=35412" TargetMode="External"/><Relationship Id="rId10" Type="http://schemas.openxmlformats.org/officeDocument/2006/relationships/hyperlink" Target="https://www.researchgate.net/publication/336109913_Famous_Failures_Revisited_A_Focus_on_System_Integration" TargetMode="External"/><Relationship Id="rId4" Type="http://schemas.openxmlformats.org/officeDocument/2006/relationships/hyperlink" Target="https://gcc.gnu.org/legacy-ml/gcc-patches/2000-10/msg00607.html" TargetMode="External"/><Relationship Id="rId9" Type="http://schemas.openxmlformats.org/officeDocument/2006/relationships/image" Target="../media/image38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fcs/pull/560#issuecomment-69403142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://danluu.com/integer-overflow/" TargetMode="External"/><Relationship Id="rId2" Type="http://schemas.openxmlformats.org/officeDocument/2006/relationships/hyperlink" Target="https://news.ycombinator.com/item?id=876626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43h1c87M5" TargetMode="External"/><Relationship Id="rId4" Type="http://schemas.openxmlformats.org/officeDocument/2006/relationships/hyperlink" Target="https://godbolt.org/z/1x49jffv3" TargetMode="Externa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kristerw.blogspot.com/2016/02/how-undefined-signed-overflow-enables.html?m=1" TargetMode="Externa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c1sMcxfsP" TargetMode="External"/><Relationship Id="rId2" Type="http://schemas.openxmlformats.org/officeDocument/2006/relationships/hyperlink" Target="https://godbolt.org/z/Yssq68Gj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yG1OZ69H_-o?t=2358" TargetMode="Externa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rust/comments/15tvuio/comment/jwnumm3/?utm_source=share&amp;utm_medium=web3x&amp;utm_name=web3xcss&amp;utm_term=1&amp;utm_content=share_button" TargetMode="Externa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arithmetic-checks/analysis.md#optimizations" TargetMode="Externa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github.com/yugr/rust-private/tree/yugr/no-overflow-checks/2" TargetMode="Externa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ithub.com/yugr/rust-private/tree/yugr/force-overflow-checks/2" TargetMode="Externa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fcs/pull/560" TargetMode="External"/><Relationship Id="rId7" Type="http://schemas.openxmlformats.org/officeDocument/2006/relationships/hyperlink" Target="https://web.ist.utl.pt/nuno.lopes/pubs/ub-pldi25.pdf" TargetMode="External"/><Relationship Id="rId2" Type="http://schemas.openxmlformats.org/officeDocument/2006/relationships/hyperlink" Target="https://github.com/rust-lang/rfcs/blob/master/text/0560-integer-overflow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risterw.blogspot.com/2016/02/how-undefined-signed-overflow-enables.html?m=1" TargetMode="External"/><Relationship Id="rId5" Type="http://schemas.openxmlformats.org/officeDocument/2006/relationships/hyperlink" Target="https://users.cs.utah.edu/~regehr/papers/overflow12.pdf" TargetMode="External"/><Relationship Id="rId4" Type="http://schemas.openxmlformats.org/officeDocument/2006/relationships/hyperlink" Target="https://huonw.github.io/blog/2016/04/myths-and-legends-about-integer-overflow-in-rust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cons/stdlib" TargetMode="External"/><Relationship Id="rId2" Type="http://schemas.openxmlformats.org/officeDocument/2006/relationships/hyperlink" Target="https://github.com/yugr/rust-slides/tree/main/features/pros/stdlib" TargetMode="Externa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oa67f1j5z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60673" TargetMode="External"/><Relationship Id="rId2" Type="http://schemas.openxmlformats.org/officeDocument/2006/relationships/hyperlink" Target="https://github.com/yugr/rust-slides/tree/main/features/pros/stdlib/hash-benchmark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yugr/rust-private/tree/yugr/stdlib/no-char-checks/2" TargetMode="Externa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github.com/yugr/rust-private/tree/yugr/stdlib/no-overflow-checks/2" TargetMode="Externa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vm/llvm-project/blob/2ae4b92a1cf01b7d09f70ccc919eca2b5d02b080/libcxx/include/__algorithm/sort.h#L375" TargetMode="External"/><Relationship Id="rId2" Type="http://schemas.openxmlformats.org/officeDocument/2006/relationships/hyperlink" Target="https://github.com/yugr/rust-slides/tree/main/features/pros/stdlib/tree-benchmar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slides/tree/main/features/pros/stdlib/sort-benchmark" TargetMode="Externa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ultapher/sort-research-rs/blob/main/writeup/sort_safety/text.md" TargetMode="Externa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fastmath" TargetMode="External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6sn7G4r4P" TargetMode="External"/><Relationship Id="rId2" Type="http://schemas.openxmlformats.org/officeDocument/2006/relationships/hyperlink" Target="https://godbolt.org/z/Tqvsv4Tqs" TargetMode="Externa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6P1ohcTr" TargetMode="External"/><Relationship Id="rId2" Type="http://schemas.openxmlformats.org/officeDocument/2006/relationships/hyperlink" Target="https://godbolt.org/z/v5vvEb1Th" TargetMode="Externa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a5GME55MM" TargetMode="External"/><Relationship Id="rId2" Type="http://schemas.openxmlformats.org/officeDocument/2006/relationships/hyperlink" Target="https://godbolt.org/z/hjzWejv3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dMeKc8PW9" TargetMode="External"/><Relationship Id="rId4" Type="http://schemas.openxmlformats.org/officeDocument/2006/relationships/hyperlink" Target="https://godbolt.org/z/nancn6j8x" TargetMode="Externa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vPTo9fz4" TargetMode="External"/><Relationship Id="rId2" Type="http://schemas.openxmlformats.org/officeDocument/2006/relationships/hyperlink" Target="https://godbolt.org/z/qTTY4r7Yx" TargetMode="Externa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e8sM1dh9" TargetMode="External"/><Relationship Id="rId2" Type="http://schemas.openxmlformats.org/officeDocument/2006/relationships/hyperlink" Target="https://godbolt.org/z/v5YEq7hb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dbolt.org/z/zoWrsfr1h" TargetMode="External"/><Relationship Id="rId4" Type="http://schemas.openxmlformats.org/officeDocument/2006/relationships/hyperlink" Target="https://godbolt.org/z/TYab9sndr" TargetMode="Externa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v33ffaqx" TargetMode="External"/><Relationship Id="rId2" Type="http://schemas.openxmlformats.org/officeDocument/2006/relationships/hyperlink" Target="https://godbolt.org/z/MPPoc5oea" TargetMode="Externa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rYebWsfco" TargetMode="Externa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21690#issuecomment-2664787927" TargetMode="Externa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nals.rust-lang.org/t/suggestion-ffastmath-intrinsics-in-stable/14447" TargetMode="Externa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algebraic-math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private/tree/zakhar/fast-math" TargetMode="Externa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evmtg/2024-10/slides/techtalk/Kaylor-Towards-Useful-Fast-Math.pdf" TargetMode="External"/><Relationship Id="rId2" Type="http://schemas.openxmlformats.org/officeDocument/2006/relationships/hyperlink" Target="https://kristerw.github.io/2021/10/19/fast-mat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lp.net/blog/taming-float-sums/" TargetMode="External"/><Relationship Id="rId5" Type="http://schemas.openxmlformats.org/officeDocument/2006/relationships/hyperlink" Target="https://www.open-std.org/jtc1/sc22/wg21/docs/papers/2025/p3715r0.html" TargetMode="External"/><Relationship Id="rId4" Type="http://schemas.openxmlformats.org/officeDocument/2006/relationships/hyperlink" Target="https://simonbyrne.github.io/notes/fastmath/" TargetMode="Externa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github.com/yugr/rust-private/tree/yugr/disable-all-checks/1" TargetMode="Externa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github.com/yugr/rust-private/tree/yugr/disable-all-checks/1" TargetMode="Externa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github.com/yugr/rust-slides/blob/main/benchmarks/rust/histogram.py" TargetMode="Externa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github.com/yugr/rust-slides/blob/main/benchmarks/rust/histogram.py" TargetMode="Externa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blob/main/benchmarks/cpp/histogram.py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edpix.com/photo/1171460/weigh-plus-minus-horizontal-plus-minus-balance-sheet-cost-calculation-course" TargetMode="Externa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ugr/rust-slides/tree/main/features/cons/probestack" TargetMode="External"/><Relationship Id="rId3" Type="http://schemas.openxmlformats.org/officeDocument/2006/relationships/hyperlink" Target="https://github.com/yugr/rust-slides/tree/main/features/cons/panics" TargetMode="External"/><Relationship Id="rId7" Type="http://schemas.openxmlformats.org/officeDocument/2006/relationships/hyperlink" Target="https://github.com/yugr/rust-slides/tree/main/features/pros/vtable" TargetMode="External"/><Relationship Id="rId2" Type="http://schemas.openxmlformats.org/officeDocument/2006/relationships/hyperlink" Target="https://github.com/yugr/rust-slides/tree/main/features/cons/cg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gr/rust-slides/tree/main/features/pros/noplt" TargetMode="External"/><Relationship Id="rId5" Type="http://schemas.openxmlformats.org/officeDocument/2006/relationships/hyperlink" Target="https://github.com/yugr/rust-slides/tree/main/features/pros/abi" TargetMode="External"/><Relationship Id="rId10" Type="http://schemas.openxmlformats.org/officeDocument/2006/relationships/hyperlink" Target="https://vectorportal.com/vector/timeglass/34811" TargetMode="External"/><Relationship Id="rId4" Type="http://schemas.openxmlformats.org/officeDocument/2006/relationships/hyperlink" Target="https://github.com/yugr/rust-slides/tree/main/features/pros/gc-sections" TargetMode="External"/><Relationship Id="rId9" Type="http://schemas.openxmlformats.org/officeDocument/2006/relationships/image" Target="../media/image52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berg.org/amonakov" TargetMode="External"/><Relationship Id="rId3" Type="http://schemas.openxmlformats.org/officeDocument/2006/relationships/hyperlink" Target="https://github.com/yugr/rust-slides/blob/main/RU.pdf" TargetMode="External"/><Relationship Id="rId7" Type="http://schemas.openxmlformats.org/officeDocument/2006/relationships/hyperlink" Target="https://github.com/amonakov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obzol" TargetMode="External"/><Relationship Id="rId5" Type="http://schemas.openxmlformats.org/officeDocument/2006/relationships/hyperlink" Target="https://github.com/Gabriel-Fallen" TargetMode="External"/><Relationship Id="rId4" Type="http://schemas.openxmlformats.org/officeDocument/2006/relationships/hyperlink" Target="https://github.com/petrochenkov" TargetMode="External"/><Relationship Id="rId9" Type="http://schemas.openxmlformats.org/officeDocument/2006/relationships/hyperlink" Target="https://mastodon.social/@pervognsen" TargetMode="Externa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materials" TargetMode="Externa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benchmarks" TargetMode="Externa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benchmarks/cpp/ffmpeg-bench" TargetMode="External"/><Relationship Id="rId7" Type="http://schemas.openxmlformats.org/officeDocument/2006/relationships/hyperlink" Target="https://github.com/yugr/rust-slides/issues/55" TargetMode="External"/><Relationship Id="rId2" Type="http://schemas.openxmlformats.org/officeDocument/2006/relationships/hyperlink" Target="https://github.com/yugr/rust-slides/tree/main/benchmarks/cpp/llvm-be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horonix-test-suite.com/" TargetMode="External"/><Relationship Id="rId5" Type="http://schemas.openxmlformats.org/officeDocument/2006/relationships/hyperlink" Target="https://github.com/yugr/rust-slides/tree/main/benchmarks/cpp/PTS" TargetMode="External"/><Relationship Id="rId4" Type="http://schemas.openxmlformats.org/officeDocument/2006/relationships/hyperlink" Target="https://zatoichi-engineer.github.io/2017/10/04/stack-smashing-protection.html#performance-cost" TargetMode="Externa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uInit" TargetMode="Externa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9DE8-A7DE-48D8-AF7F-E86E2218F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Производительность языка </a:t>
            </a:r>
            <a:r>
              <a:rPr lang="en-US" dirty="0"/>
              <a:t>Rust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4F02A-C8D6-4179-9140-FD2C99812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May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EBCA2-4DAF-414F-A5EE-354B3D2F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8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2AED-D104-474B-84D9-AD556117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 авторах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A289D-91F9-4067-9253-842C67CA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57" y="4138566"/>
            <a:ext cx="1448991" cy="1862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333A7-8B6B-47B6-9EDF-04148C3CF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753" y="2218765"/>
            <a:ext cx="1524000" cy="152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46AA54-D228-4271-8F18-9F5F75E411D1}"/>
              </a:ext>
            </a:extLst>
          </p:cNvPr>
          <p:cNvSpPr txBox="1"/>
          <p:nvPr/>
        </p:nvSpPr>
        <p:spPr>
          <a:xfrm>
            <a:off x="3753968" y="2103602"/>
            <a:ext cx="6331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Юрий Грибов</a:t>
            </a:r>
            <a:r>
              <a:rPr lang="en-US" dirty="0"/>
              <a:t> (</a:t>
            </a:r>
            <a:r>
              <a:rPr lang="en-US" dirty="0" err="1"/>
              <a:t>yugr</a:t>
            </a:r>
            <a:r>
              <a:rPr lang="en-US" dirty="0"/>
              <a:t>, </a:t>
            </a:r>
            <a:r>
              <a:rPr lang="en-US" dirty="0" err="1"/>
              <a:t>the_real_yugr</a:t>
            </a:r>
            <a:r>
              <a:rPr lang="en-US" dirty="0"/>
              <a:t>), </a:t>
            </a:r>
            <a:r>
              <a:rPr lang="en-US" dirty="0">
                <a:hlinkClick r:id="rId4"/>
              </a:rPr>
              <a:t>https://github.com/yugr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Разработчик и фанат системного ПО (компиляторов, рантаймов, инструментов верификации и т. п.)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Руководитель компиляторной команды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89DAC-DC40-432C-8CDA-AB74CC849162}"/>
              </a:ext>
            </a:extLst>
          </p:cNvPr>
          <p:cNvSpPr txBox="1"/>
          <p:nvPr/>
        </p:nvSpPr>
        <p:spPr>
          <a:xfrm>
            <a:off x="3753969" y="4607980"/>
            <a:ext cx="5829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Захар Акимов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https://github.com/z-inform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Разработчик </a:t>
            </a:r>
            <a:r>
              <a:rPr lang="en-US" dirty="0"/>
              <a:t>general-purpose </a:t>
            </a:r>
            <a:r>
              <a:rPr lang="ru-RU" dirty="0"/>
              <a:t>и </a:t>
            </a:r>
            <a:r>
              <a:rPr lang="en-US" dirty="0"/>
              <a:t>AI </a:t>
            </a:r>
            <a:r>
              <a:rPr lang="ru-RU" dirty="0"/>
              <a:t>компиляторов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Эксперт по </a:t>
            </a:r>
            <a:r>
              <a:rPr lang="en-US" dirty="0"/>
              <a:t>ML in compilers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0FFBF9-CAA1-499A-A684-513B1BA1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DF9-DDF2-48F4-A881-B36DF3BB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языка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DEBD-4BE7-4CB8-9B39-EE3FE39F0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Язык для высокопроизводительного системного программирования</a:t>
            </a:r>
            <a:endParaRPr lang="en-US" dirty="0"/>
          </a:p>
          <a:p>
            <a:pPr lvl="1"/>
            <a:r>
              <a:rPr lang="en-US" dirty="0"/>
              <a:t>Zero cost/overhead abstractions: don’t pay for what you don’t use + no (or minimal) runtime overhead (</a:t>
            </a:r>
            <a:r>
              <a:rPr lang="ru-RU" dirty="0"/>
              <a:t>итераторы, </a:t>
            </a:r>
            <a:r>
              <a:rPr lang="en-US" dirty="0"/>
              <a:t>closures, traits, etc.)</a:t>
            </a:r>
          </a:p>
          <a:p>
            <a:pPr lvl="1"/>
            <a:r>
              <a:rPr lang="ru-RU" dirty="0"/>
              <a:t>Возможность низкоуровневого тюнинга </a:t>
            </a:r>
            <a:r>
              <a:rPr lang="en-US" dirty="0"/>
              <a:t>(SIMD, inline assembler, </a:t>
            </a:r>
            <a:r>
              <a:rPr lang="ru-RU" dirty="0"/>
              <a:t>компиляторные интринсики типа </a:t>
            </a:r>
            <a:r>
              <a:rPr lang="en-US" dirty="0"/>
              <a:t>__</a:t>
            </a:r>
            <a:r>
              <a:rPr lang="en-US" dirty="0" err="1"/>
              <a:t>builtin_expect</a:t>
            </a:r>
            <a:r>
              <a:rPr lang="en-US" dirty="0"/>
              <a:t>, etc.)</a:t>
            </a:r>
          </a:p>
          <a:p>
            <a:r>
              <a:rPr lang="ru-RU" dirty="0"/>
              <a:t>Поддерживает современные парадигмы программирования</a:t>
            </a:r>
          </a:p>
          <a:p>
            <a:pPr lvl="1"/>
            <a:r>
              <a:rPr lang="ru-RU" dirty="0"/>
              <a:t>Процедурное, функциональное и объектно-ориентированное программирование</a:t>
            </a:r>
            <a:endParaRPr lang="en-US" dirty="0"/>
          </a:p>
          <a:p>
            <a:pPr lvl="1"/>
            <a:r>
              <a:rPr lang="ru-RU" dirty="0"/>
              <a:t>Статический и динамический полиморфизм</a:t>
            </a:r>
            <a:endParaRPr lang="en-US" dirty="0"/>
          </a:p>
          <a:p>
            <a:pPr lvl="1"/>
            <a:r>
              <a:rPr lang="ru-RU" dirty="0"/>
              <a:t>Метапрограммирование</a:t>
            </a:r>
            <a:endParaRPr lang="en-US" dirty="0"/>
          </a:p>
          <a:p>
            <a:r>
              <a:rPr lang="ru-RU" dirty="0"/>
              <a:t>Язык сокращает количество видов </a:t>
            </a:r>
            <a:r>
              <a:rPr lang="en-US" dirty="0"/>
              <a:t>UB </a:t>
            </a:r>
            <a:r>
              <a:rPr lang="ru-RU" dirty="0"/>
              <a:t>за счёт более строгих правил и динамических проверок</a:t>
            </a:r>
            <a:endParaRPr lang="en-US" dirty="0"/>
          </a:p>
          <a:p>
            <a:pPr lvl="1"/>
            <a:r>
              <a:rPr lang="ru-RU" dirty="0"/>
              <a:t>Особенно </a:t>
            </a:r>
            <a:r>
              <a:rPr lang="en-US" dirty="0"/>
              <a:t>memory safety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CE1C-BF6B-4832-8357-487E09E6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7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</a:t>
            </a:r>
            <a:r>
              <a:rPr lang="en-US" dirty="0"/>
              <a:t>Rust: </a:t>
            </a:r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Проверки в рантайме</a:t>
            </a:r>
          </a:p>
          <a:p>
            <a:r>
              <a:rPr lang="ru-RU" dirty="0"/>
              <a:t>Обязательная инициализация</a:t>
            </a:r>
            <a:endParaRPr lang="en-US" dirty="0"/>
          </a:p>
          <a:p>
            <a:r>
              <a:rPr lang="ru-RU" dirty="0"/>
              <a:t>Целочисленные переполнения являются </a:t>
            </a:r>
            <a:r>
              <a:rPr lang="en-US" dirty="0"/>
              <a:t>defined behavior</a:t>
            </a:r>
            <a:endParaRPr lang="ru-RU" dirty="0"/>
          </a:p>
          <a:p>
            <a:r>
              <a:rPr lang="ru-RU" dirty="0"/>
              <a:t>Компромиссы между производительностью и надёжностью в стандартной библиотеке</a:t>
            </a:r>
            <a:endParaRPr lang="en-US" dirty="0"/>
          </a:p>
          <a:p>
            <a:r>
              <a:rPr lang="ru-RU" dirty="0"/>
              <a:t>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Plus, Minus icon - Free Download PNG ...">
            <a:extLst>
              <a:ext uri="{FF2B5EF4-FFF2-40B4-BE49-F238E27FC236}">
                <a16:creationId xmlns:a16="http://schemas.microsoft.com/office/drawing/2014/main" id="{8C9F0949-E7A9-496D-813D-A4916C2DC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4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</a:t>
            </a:r>
            <a:r>
              <a:rPr lang="en-US" dirty="0"/>
              <a:t>Rust: </a:t>
            </a:r>
            <a:r>
              <a:rPr lang="ru-RU" dirty="0"/>
              <a:t>Плюсы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11E3-E455-4924-AA1C-701D4788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Больше возможностей для </a:t>
            </a:r>
            <a:r>
              <a:rPr lang="en-US" dirty="0"/>
              <a:t>alias analysis</a:t>
            </a:r>
          </a:p>
          <a:p>
            <a:pPr lvl="1"/>
            <a:r>
              <a:rPr lang="ru-RU" dirty="0"/>
              <a:t>По сути </a:t>
            </a:r>
            <a:r>
              <a:rPr lang="en-US" dirty="0"/>
              <a:t>restrict-by-default</a:t>
            </a:r>
          </a:p>
          <a:p>
            <a:r>
              <a:rPr lang="ru-RU" dirty="0"/>
              <a:t>Агрессивные оптимизации структур</a:t>
            </a:r>
            <a:endParaRPr lang="en-US" dirty="0"/>
          </a:p>
          <a:p>
            <a:pPr lvl="1"/>
            <a:r>
              <a:rPr lang="ru-RU" dirty="0"/>
              <a:t>Оптимизация порядка полей и </a:t>
            </a:r>
            <a:r>
              <a:rPr lang="en-US" dirty="0"/>
              <a:t>niche optimizations</a:t>
            </a:r>
          </a:p>
          <a:p>
            <a:r>
              <a:rPr lang="ru-RU" dirty="0"/>
              <a:t>Более эффективные стандартные контейнеры</a:t>
            </a:r>
            <a:endParaRPr lang="en-US" dirty="0"/>
          </a:p>
          <a:p>
            <a:r>
              <a:rPr lang="en-US" dirty="0"/>
              <a:t>...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2" descr="Plus, Minus icon - Free Download PNG ...">
            <a:extLst>
              <a:ext uri="{FF2B5EF4-FFF2-40B4-BE49-F238E27FC236}">
                <a16:creationId xmlns:a16="http://schemas.microsoft.com/office/drawing/2014/main" id="{B22C295E-DA79-4A3D-A8BB-57324B71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1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E1C6-BA6C-4297-9FD0-C1E66B4C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доклада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1C00-33DC-4488-AAE1-C01FE5C39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Насколько </a:t>
            </a:r>
            <a:r>
              <a:rPr lang="en-US" dirty="0"/>
              <a:t>“</a:t>
            </a:r>
            <a:r>
              <a:rPr lang="ru-RU" dirty="0"/>
              <a:t>дороги</a:t>
            </a:r>
            <a:r>
              <a:rPr lang="en-US" dirty="0"/>
              <a:t>”</a:t>
            </a:r>
            <a:r>
              <a:rPr lang="ru-RU" dirty="0"/>
              <a:t> проверки</a:t>
            </a:r>
            <a:r>
              <a:rPr lang="en-US" dirty="0"/>
              <a:t> Rust </a:t>
            </a:r>
            <a:r>
              <a:rPr lang="ru-RU" dirty="0"/>
              <a:t>на практике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В сравнении с </a:t>
            </a:r>
            <a:r>
              <a:rPr lang="en-US" dirty="0"/>
              <a:t>Rust </a:t>
            </a:r>
            <a:r>
              <a:rPr lang="ru-RU" dirty="0"/>
              <a:t>без проверок и </a:t>
            </a:r>
            <a:r>
              <a:rPr lang="en-US" dirty="0"/>
              <a:t>C/C++</a:t>
            </a:r>
          </a:p>
          <a:p>
            <a:pPr lvl="1"/>
            <a:r>
              <a:rPr lang="ru-RU" dirty="0"/>
              <a:t>Каковы непосредственные </a:t>
            </a:r>
            <a:r>
              <a:rPr lang="en-US" dirty="0"/>
              <a:t>(</a:t>
            </a:r>
            <a:r>
              <a:rPr lang="ru-RU" dirty="0"/>
              <a:t>лишние инструкции</a:t>
            </a:r>
            <a:r>
              <a:rPr lang="en-US" dirty="0"/>
              <a:t>) </a:t>
            </a:r>
            <a:r>
              <a:rPr lang="ru-RU" dirty="0"/>
              <a:t>и вторичные (влияние на другие оптимизации</a:t>
            </a:r>
            <a:r>
              <a:rPr lang="en-US" dirty="0"/>
              <a:t>, </a:t>
            </a:r>
            <a:r>
              <a:rPr lang="ru-RU" dirty="0"/>
              <a:t>давление на </a:t>
            </a:r>
            <a:r>
              <a:rPr lang="en-US" dirty="0"/>
              <a:t>I$/BTB)</a:t>
            </a:r>
            <a:r>
              <a:rPr lang="ru-RU" dirty="0"/>
              <a:t> последствия проверок</a:t>
            </a:r>
            <a:endParaRPr lang="en-US" dirty="0"/>
          </a:p>
          <a:p>
            <a:r>
              <a:rPr lang="ru-RU" dirty="0"/>
              <a:t>Способен ли</a:t>
            </a:r>
            <a:r>
              <a:rPr lang="en-US" dirty="0"/>
              <a:t> </a:t>
            </a:r>
            <a:r>
              <a:rPr lang="ru-RU" dirty="0"/>
              <a:t>от них избавиться </a:t>
            </a:r>
            <a:r>
              <a:rPr lang="en-US" dirty="0">
                <a:hlinkClick r:id="rId2"/>
              </a:rPr>
              <a:t>Sufficiently Smart</a:t>
            </a:r>
            <a:r>
              <a:rPr lang="en-US" dirty="0"/>
              <a:t> (Heroic) Compiler © ?</a:t>
            </a:r>
          </a:p>
          <a:p>
            <a:r>
              <a:rPr lang="ru-RU" dirty="0"/>
              <a:t>И если нет, то как с ними может справиться программист</a:t>
            </a:r>
            <a:r>
              <a:rPr lang="en-US" dirty="0"/>
              <a:t>?</a:t>
            </a:r>
          </a:p>
          <a:p>
            <a:r>
              <a:rPr lang="ru-RU" dirty="0"/>
              <a:t>Есть ли какие-то особенности языка которые наоборот помогают компилятору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4" name="Picture 4" descr="картинки : доска, колесо, игра, отдых, Красный, цвет, Цель, круг,  соревнование, стрела, Симметрия, Выстрел, центр, Игры, Победитель,  Прицеливаться, дартс, Успех, Гол, достижение, Точность, удар, Точный,  Дартборд, Индивидуальные виды спорта, Внутренние ...">
            <a:extLst>
              <a:ext uri="{FF2B5EF4-FFF2-40B4-BE49-F238E27FC236}">
                <a16:creationId xmlns:a16="http://schemas.microsoft.com/office/drawing/2014/main" id="{4A68C681-A33E-4B88-B5AE-F5006C0F4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324" y="681037"/>
            <a:ext cx="2125476" cy="141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6A656-DDAE-439A-B4C1-7E9D7E507316}"/>
              </a:ext>
            </a:extLst>
          </p:cNvPr>
          <p:cNvSpPr txBox="1"/>
          <p:nvPr/>
        </p:nvSpPr>
        <p:spPr>
          <a:xfrm>
            <a:off x="9022556" y="2091882"/>
            <a:ext cx="2537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https://pxhere.com/ru/photo/870592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4C16-16CD-4CD8-934B-798A6C4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8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42C0-E7EA-4553-A526-BBFA4F2C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Мнение создателей языка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9FAB-0F7A-4F38-BA82-1168FFF7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Steven </a:t>
            </a:r>
            <a:r>
              <a:rPr lang="en-US" dirty="0" err="1">
                <a:hlinkClick r:id="rId2"/>
              </a:rPr>
              <a:t>Klabnik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"Generally Rust is the same order of magnitude as C. Sometimes faster, sometimes slower”</a:t>
            </a:r>
          </a:p>
          <a:p>
            <a:pPr lvl="1"/>
            <a:r>
              <a:rPr lang="en-US" dirty="0"/>
              <a:t>“Rust prioritizes memory safety above all else. But speed is a close second"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07E8-7692-4A0F-985F-E2A82E37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61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6CC3-E58F-4B6F-B5D5-594EBF70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накладных расходов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797A-519E-433F-A038-B1E37653A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оценить накладные расходы от проверок</a:t>
            </a:r>
            <a:r>
              <a:rPr lang="en-US" dirty="0"/>
              <a:t>?</a:t>
            </a:r>
          </a:p>
          <a:p>
            <a:r>
              <a:rPr lang="ru-RU" dirty="0"/>
              <a:t>В компиляторе </a:t>
            </a:r>
            <a:r>
              <a:rPr lang="en-US" dirty="0"/>
              <a:t>Rust </a:t>
            </a:r>
            <a:r>
              <a:rPr lang="ru-RU" dirty="0"/>
              <a:t>нет флагов для отключения проверок</a:t>
            </a:r>
            <a:r>
              <a:rPr lang="en-US" dirty="0"/>
              <a:t> </a:t>
            </a:r>
            <a:r>
              <a:rPr lang="ru-RU" dirty="0"/>
              <a:t>безопасности</a:t>
            </a:r>
            <a:endParaRPr lang="en-US" dirty="0"/>
          </a:p>
          <a:p>
            <a:r>
              <a:rPr lang="ru-RU" dirty="0"/>
              <a:t>Мы сравним обычный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ru-RU" dirty="0">
                <a:hlinkClick r:id="rId2"/>
              </a:rPr>
              <a:t>пропатченный </a:t>
            </a:r>
            <a:r>
              <a:rPr lang="en-US" dirty="0">
                <a:hlinkClick r:id="rId2"/>
              </a:rPr>
              <a:t>Rust</a:t>
            </a:r>
            <a:r>
              <a:rPr lang="ru-RU" dirty="0"/>
              <a:t> с отключенными проверками</a:t>
            </a:r>
          </a:p>
          <a:p>
            <a:pPr lvl="1"/>
            <a:r>
              <a:rPr lang="ru-RU" dirty="0"/>
              <a:t>Репозиторий с модифицированными версиями компилятора</a:t>
            </a:r>
            <a:r>
              <a:rPr lang="en-US" dirty="0"/>
              <a:t>: </a:t>
            </a:r>
            <a:r>
              <a:rPr lang="en-US" dirty="0" err="1">
                <a:hlinkClick r:id="rId2"/>
              </a:rPr>
              <a:t>yugr</a:t>
            </a:r>
            <a:r>
              <a:rPr lang="en-US" dirty="0">
                <a:hlinkClick r:id="rId2"/>
              </a:rPr>
              <a:t>/rust-private</a:t>
            </a:r>
            <a:endParaRPr lang="en-US" dirty="0"/>
          </a:p>
          <a:p>
            <a:pPr lvl="1"/>
            <a:r>
              <a:rPr lang="ru-RU" dirty="0"/>
              <a:t>Базовая ветка</a:t>
            </a:r>
            <a:r>
              <a:rPr lang="en-US" dirty="0"/>
              <a:t> </a:t>
            </a:r>
            <a:r>
              <a:rPr lang="en-US" dirty="0" err="1">
                <a:hlinkClick r:id="rId3"/>
              </a:rPr>
              <a:t>yugr</a:t>
            </a:r>
            <a:r>
              <a:rPr lang="en-US" dirty="0">
                <a:hlinkClick r:id="rId3"/>
              </a:rPr>
              <a:t>/baseline</a:t>
            </a:r>
            <a:r>
              <a:rPr lang="en-US" dirty="0"/>
              <a:t> </a:t>
            </a:r>
            <a:r>
              <a:rPr lang="ru-RU" dirty="0"/>
              <a:t>основана на теге 1.87.0</a:t>
            </a:r>
            <a:endParaRPr lang="en-US" dirty="0"/>
          </a:p>
          <a:p>
            <a:pPr lvl="2"/>
            <a:r>
              <a:rPr lang="ru-RU" dirty="0"/>
              <a:t>Для стабильности измерений отключена рандомизация хэштаблиц и усилено выравнивание функций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71CC-A3F9-40EE-84C9-50E37290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Набор бенчмарков компилятора </a:t>
            </a:r>
            <a:r>
              <a:rPr lang="en-US" dirty="0"/>
              <a:t>Rust</a:t>
            </a:r>
          </a:p>
          <a:p>
            <a:r>
              <a:rPr lang="ru-RU" dirty="0"/>
              <a:t>Внутренние бенчмарки крупных </a:t>
            </a:r>
            <a:r>
              <a:rPr lang="en-US" dirty="0"/>
              <a:t>open-source </a:t>
            </a:r>
            <a:r>
              <a:rPr lang="ru-RU" dirty="0"/>
              <a:t>проектов из разных областей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Gamedev</a:t>
            </a:r>
            <a:r>
              <a:rPr lang="en-US" dirty="0"/>
              <a:t> (Bevy, </a:t>
            </a:r>
            <a:r>
              <a:rPr lang="en-US" dirty="0" err="1"/>
              <a:t>Veloren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Базы данных (</a:t>
            </a:r>
            <a:r>
              <a:rPr lang="en-US" dirty="0" err="1"/>
              <a:t>SpacetimeDB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Работа с текстом (</a:t>
            </a:r>
            <a:r>
              <a:rPr lang="en-US" dirty="0"/>
              <a:t>Zed, Ruff, regex)</a:t>
            </a:r>
          </a:p>
          <a:p>
            <a:pPr lvl="1"/>
            <a:r>
              <a:rPr lang="ru-RU" dirty="0"/>
              <a:t>Кодеки (</a:t>
            </a:r>
            <a:r>
              <a:rPr lang="en-US" dirty="0"/>
              <a:t>rav1e, </a:t>
            </a:r>
            <a:r>
              <a:rPr lang="en-US" dirty="0" err="1"/>
              <a:t>oxipng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Линейная алгебра (</a:t>
            </a:r>
            <a:r>
              <a:rPr lang="en-US" dirty="0" err="1"/>
              <a:t>nalgebra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Асинхронный </a:t>
            </a:r>
            <a:r>
              <a:rPr lang="en-US" dirty="0"/>
              <a:t>runtime (</a:t>
            </a:r>
            <a:r>
              <a:rPr lang="en-US" dirty="0" err="1"/>
              <a:t>tokio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Пакетные менеджеры (</a:t>
            </a:r>
            <a:r>
              <a:rPr lang="en-US" dirty="0" err="1"/>
              <a:t>uv</a:t>
            </a:r>
            <a:r>
              <a:rPr lang="en-US" dirty="0"/>
              <a:t>)</a:t>
            </a:r>
          </a:p>
          <a:p>
            <a:r>
              <a:rPr lang="ru-RU" dirty="0"/>
              <a:t>Многие бенчмарки уже были сильно оптимизированы (с помощью </a:t>
            </a:r>
            <a:r>
              <a:rPr lang="en-US" dirty="0"/>
              <a:t>unsafe </a:t>
            </a:r>
            <a:r>
              <a:rPr lang="ru-RU" dirty="0"/>
              <a:t>и т.п.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B9215-684B-422E-BF43-E085A4E8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760" y="230188"/>
            <a:ext cx="1186299" cy="1034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99817E-8198-424B-8FDE-922FCD436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501" y="1098328"/>
            <a:ext cx="1373079" cy="1055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19AF1-BE18-4F6F-A1A7-D353C7AF2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0634" y="276942"/>
            <a:ext cx="1372332" cy="9095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0C78D-BACB-4827-9263-B24852D31F1A}"/>
              </a:ext>
            </a:extLst>
          </p:cNvPr>
          <p:cNvSpPr txBox="1"/>
          <p:nvPr/>
        </p:nvSpPr>
        <p:spPr>
          <a:xfrm>
            <a:off x="358588" y="6472518"/>
            <a:ext cx="4912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Akovin</a:t>
            </a:r>
            <a:r>
              <a:rPr lang="en-US" sz="1000" dirty="0"/>
              <a:t>, </a:t>
            </a:r>
            <a:r>
              <a:rPr lang="en-US" sz="1000" dirty="0">
                <a:hlinkClick r:id="rId5"/>
              </a:rPr>
              <a:t>https://commons.wikimedia.org/wiki/File:Olympic_types_of_sport_with_icons.png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563CF2-F5C8-43E6-8F80-3FD46303B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760" y="203294"/>
            <a:ext cx="1186299" cy="103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911C-23AD-443C-B7FD-0F654BDF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5F66-0EBD-4E83-947D-0A757A89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близки по выразительным возможностям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Поддержка нескольких парадигм программирования (процедурной, ООП и функциональной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Статический и динамический полиморфизм</a:t>
            </a:r>
            <a:endParaRPr lang="en-US" dirty="0"/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Область применения языков совпадает</a:t>
            </a:r>
            <a:r>
              <a:rPr lang="en-US" dirty="0"/>
              <a:t> – </a:t>
            </a:r>
            <a:r>
              <a:rPr lang="ru-RU" dirty="0"/>
              <a:t>высокопроизводительное</a:t>
            </a:r>
            <a:r>
              <a:rPr lang="en-US" dirty="0"/>
              <a:t> </a:t>
            </a:r>
            <a:r>
              <a:rPr lang="ru-RU" dirty="0"/>
              <a:t>системное программирование</a:t>
            </a:r>
          </a:p>
          <a:p>
            <a:pPr lvl="1"/>
            <a:r>
              <a:rPr lang="en-US" dirty="0"/>
              <a:t>Zero cost/overhead abstractions</a:t>
            </a:r>
          </a:p>
          <a:p>
            <a:pPr lvl="1"/>
            <a:r>
              <a:rPr lang="ru-RU" dirty="0"/>
              <a:t>Возможность низкоуровневого тюнинга</a:t>
            </a:r>
            <a:endParaRPr lang="en-US" dirty="0"/>
          </a:p>
          <a:p>
            <a:r>
              <a:rPr lang="ru-RU" dirty="0"/>
              <a:t>Те же </a:t>
            </a:r>
            <a:r>
              <a:rPr lang="en-US" dirty="0"/>
              <a:t>backend</a:t>
            </a:r>
            <a:r>
              <a:rPr lang="ru-RU" dirty="0"/>
              <a:t>-оптимизаторы</a:t>
            </a:r>
            <a:r>
              <a:rPr lang="en-US" dirty="0"/>
              <a:t> (LLVM, GCC)</a:t>
            </a:r>
            <a:r>
              <a:rPr lang="ru-RU" dirty="0"/>
              <a:t> и технологии оптимизации </a:t>
            </a:r>
            <a:r>
              <a:rPr lang="en-US" dirty="0"/>
              <a:t>(PGO, LTO, etc.)</a:t>
            </a:r>
          </a:p>
          <a:p>
            <a:r>
              <a:rPr lang="ru-RU" dirty="0"/>
              <a:t>В </a:t>
            </a:r>
            <a:r>
              <a:rPr lang="en-US" dirty="0"/>
              <a:t>“</a:t>
            </a:r>
            <a:r>
              <a:rPr lang="ru-RU" dirty="0"/>
              <a:t>безопасном</a:t>
            </a:r>
            <a:r>
              <a:rPr lang="en-US" dirty="0"/>
              <a:t>”</a:t>
            </a:r>
            <a:r>
              <a:rPr lang="ru-RU" dirty="0"/>
              <a:t> диалекте </a:t>
            </a:r>
            <a:r>
              <a:rPr lang="en-US" dirty="0"/>
              <a:t>C++ (Hardened C/C++)</a:t>
            </a:r>
            <a:r>
              <a:rPr lang="ru-RU" dirty="0"/>
              <a:t> есть аналогичные рантайм-проверки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30" name="Picture 6" descr="The Rust Programming Language · GitHub">
            <a:extLst>
              <a:ext uri="{FF2B5EF4-FFF2-40B4-BE49-F238E27FC236}">
                <a16:creationId xmlns:a16="http://schemas.microsoft.com/office/drawing/2014/main" id="{C357BCBA-5866-464D-8B81-242F5507A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99" y="196944"/>
            <a:ext cx="1454524" cy="145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SO C++ Standards Committee · GitHub">
            <a:extLst>
              <a:ext uri="{FF2B5EF4-FFF2-40B4-BE49-F238E27FC236}">
                <a16:creationId xmlns:a16="http://schemas.microsoft.com/office/drawing/2014/main" id="{50AAB90A-3D91-4D78-9E8F-C0E2C21F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634" y="157723"/>
            <a:ext cx="1532965" cy="15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4D1C0-E095-441E-8355-BD7F640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 </a:t>
            </a:r>
            <a:r>
              <a:rPr lang="ru-RU" dirty="0"/>
              <a:t>Другие</a:t>
            </a:r>
            <a:r>
              <a:rPr lang="en-US" dirty="0"/>
              <a:t> </a:t>
            </a:r>
            <a:r>
              <a:rPr lang="ru-RU" dirty="0"/>
              <a:t>аспекты языков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Эргономичность, выразительность (в частности </a:t>
            </a:r>
            <a:r>
              <a:rPr lang="en-US" dirty="0"/>
              <a:t>self-referential data structures), </a:t>
            </a:r>
            <a:r>
              <a:rPr lang="ru-RU" dirty="0"/>
              <a:t>безопасность</a:t>
            </a:r>
            <a:r>
              <a:rPr lang="en-US" dirty="0"/>
              <a:t>, etc.</a:t>
            </a:r>
          </a:p>
          <a:p>
            <a:r>
              <a:rPr lang="ru-RU" dirty="0"/>
              <a:t>На эти темы есть множество других докладов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hlinkClick r:id="rId2"/>
              </a:rPr>
              <a:t>Rust Features that I Want in C++</a:t>
            </a:r>
            <a:r>
              <a:rPr lang="en-US" dirty="0"/>
              <a:t> (David </a:t>
            </a:r>
            <a:r>
              <a:rPr lang="en-US" dirty="0" err="1"/>
              <a:t>Sankel</a:t>
            </a:r>
            <a:r>
              <a:rPr lang="en-US" dirty="0"/>
              <a:t>, </a:t>
            </a:r>
            <a:r>
              <a:rPr lang="en-US" dirty="0" err="1"/>
              <a:t>CppNow</a:t>
            </a:r>
            <a:r>
              <a:rPr lang="en-US" dirty="0"/>
              <a:t> 2022)</a:t>
            </a:r>
          </a:p>
          <a:p>
            <a:pPr lvl="1"/>
            <a:r>
              <a:rPr lang="en-US" dirty="0">
                <a:hlinkClick r:id="rId3"/>
              </a:rPr>
              <a:t>The existential threat against C++ and where to go from here</a:t>
            </a:r>
            <a:r>
              <a:rPr lang="en-US" dirty="0"/>
              <a:t> (Helge Penne, NDC 2024)</a:t>
            </a:r>
          </a:p>
          <a:p>
            <a:pPr lvl="1"/>
            <a:r>
              <a:rPr lang="en-US" dirty="0">
                <a:hlinkClick r:id="rId4"/>
              </a:rPr>
              <a:t>Rust vs C++ with Steve </a:t>
            </a:r>
            <a:r>
              <a:rPr lang="en-US" dirty="0" err="1">
                <a:hlinkClick r:id="rId4"/>
              </a:rPr>
              <a:t>Klabnik</a:t>
            </a:r>
            <a:r>
              <a:rPr lang="en-US" dirty="0">
                <a:hlinkClick r:id="rId4"/>
              </a:rPr>
              <a:t> and Herb Sutter</a:t>
            </a:r>
            <a:r>
              <a:rPr lang="en-US" dirty="0"/>
              <a:t> (SW Engineering Daily podcast)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DE4E-3F66-482F-8319-FC2323B1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</a:t>
            </a:r>
            <a:r>
              <a:rPr lang="ru-RU" dirty="0"/>
              <a:t> Параллельный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Одним из преимуществ </a:t>
            </a:r>
            <a:r>
              <a:rPr lang="en-US" dirty="0"/>
              <a:t>Rust </a:t>
            </a:r>
            <a:r>
              <a:rPr lang="ru-RU" dirty="0"/>
              <a:t>считается простота написания корректного параллельного кода</a:t>
            </a:r>
          </a:p>
          <a:p>
            <a:pPr lvl="1"/>
            <a:r>
              <a:rPr lang="en-US" dirty="0">
                <a:hlinkClick r:id="rId2"/>
              </a:rPr>
              <a:t>Fearless Concurrency with Rust</a:t>
            </a:r>
            <a:endParaRPr lang="en-US" dirty="0"/>
          </a:p>
          <a:p>
            <a:r>
              <a:rPr lang="ru-RU" dirty="0"/>
              <a:t>Тема требует отдельного рассмотрения и глубокой экспертизы</a:t>
            </a:r>
            <a:endParaRPr lang="en-US" dirty="0"/>
          </a:p>
          <a:p>
            <a:pPr lvl="1"/>
            <a:r>
              <a:rPr lang="en-US" dirty="0"/>
              <a:t>C++ Russia 2027 anyone?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6743A-098C-4F11-94CF-4B18B395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0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 </a:t>
            </a:r>
            <a:r>
              <a:rPr lang="ru-RU" dirty="0"/>
              <a:t>Небезопасный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Язык </a:t>
            </a:r>
            <a:r>
              <a:rPr lang="en-US" dirty="0"/>
              <a:t>Rust </a:t>
            </a:r>
            <a:r>
              <a:rPr lang="ru-RU" dirty="0"/>
              <a:t>состоит из двух частей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Безопасный код</a:t>
            </a:r>
            <a:r>
              <a:rPr lang="en-US" dirty="0"/>
              <a:t> (</a:t>
            </a:r>
            <a:r>
              <a:rPr lang="ru-RU" dirty="0"/>
              <a:t>б</a:t>
            </a:r>
            <a:r>
              <a:rPr lang="ru-RU" i="1" dirty="0"/>
              <a:t>о</a:t>
            </a:r>
            <a:r>
              <a:rPr lang="ru-RU" dirty="0"/>
              <a:t>льшая часть кода на </a:t>
            </a:r>
            <a:r>
              <a:rPr lang="en-US" dirty="0"/>
              <a:t>Rust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Небезопасный код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“Things the Rust authors will implore you not to do” (</a:t>
            </a:r>
            <a:r>
              <a:rPr lang="en-US" dirty="0" err="1">
                <a:hlinkClick r:id="rId2"/>
              </a:rPr>
              <a:t>Rustonomicon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“Aspects of the language you may not use every day and useful in very specific situations”</a:t>
            </a:r>
            <a:r>
              <a:rPr lang="ru-RU" dirty="0"/>
              <a:t> (</a:t>
            </a:r>
            <a:r>
              <a:rPr lang="en-US" dirty="0">
                <a:hlinkClick r:id="rId3"/>
              </a:rPr>
              <a:t>Rust Book</a:t>
            </a:r>
            <a:r>
              <a:rPr lang="en-US" dirty="0"/>
              <a:t>)</a:t>
            </a:r>
          </a:p>
          <a:p>
            <a:pPr lvl="2"/>
            <a:r>
              <a:rPr lang="ru-RU" dirty="0"/>
              <a:t>В основном предназначен для оптимизации горячих участков кода</a:t>
            </a:r>
          </a:p>
          <a:p>
            <a:pPr lvl="2"/>
            <a:r>
              <a:rPr lang="ru-RU" dirty="0"/>
              <a:t>Используется для тюнинга в реальных проектах (в том числе и рассматриваемых нами бенчмарках)</a:t>
            </a:r>
          </a:p>
          <a:p>
            <a:r>
              <a:rPr lang="ru-RU" dirty="0"/>
              <a:t>В этом докладе мы фокусируемся на оптимизациях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i="1" dirty="0"/>
              <a:t>безопасного </a:t>
            </a:r>
            <a:r>
              <a:rPr lang="ru-RU" dirty="0"/>
              <a:t>кода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А также без </a:t>
            </a:r>
            <a:r>
              <a:rPr lang="en-US" dirty="0"/>
              <a:t>third-party </a:t>
            </a:r>
            <a:r>
              <a:rPr lang="ru-RU" dirty="0"/>
              <a:t>библиотек, </a:t>
            </a:r>
            <a:r>
              <a:rPr lang="en-US" dirty="0"/>
              <a:t>SIMD </a:t>
            </a:r>
            <a:r>
              <a:rPr lang="ru-RU" dirty="0"/>
              <a:t>и компиляторных интринсиков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Небезопасные конструкции лишают язык его основного преимущества</a:t>
            </a:r>
            <a:endParaRPr lang="en-US" dirty="0"/>
          </a:p>
          <a:p>
            <a:pPr lvl="1"/>
            <a:r>
              <a:rPr lang="ru-RU" dirty="0"/>
              <a:t>Небезопасные оптимизации хорошо известны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(</a:t>
            </a:r>
            <a:r>
              <a:rPr lang="ru-RU" dirty="0"/>
              <a:t>как правило</a:t>
            </a:r>
            <a:r>
              <a:rPr lang="en-US" dirty="0"/>
              <a:t>)</a:t>
            </a:r>
            <a:r>
              <a:rPr lang="ru-RU" dirty="0"/>
              <a:t> очевидны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6FB7-552D-4B96-8474-6ED8850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UNSAFE | Luckily this didn't apply to ...">
            <a:extLst>
              <a:ext uri="{FF2B5EF4-FFF2-40B4-BE49-F238E27FC236}">
                <a16:creationId xmlns:a16="http://schemas.microsoft.com/office/drawing/2014/main" id="{5A965522-F052-4988-A3ED-ECF63B926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756" y="1219756"/>
            <a:ext cx="2304769" cy="153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E4B53E-C0D2-4F5D-9055-F420B68E7B39}"/>
              </a:ext>
            </a:extLst>
          </p:cNvPr>
          <p:cNvSpPr txBox="1"/>
          <p:nvPr/>
        </p:nvSpPr>
        <p:spPr>
          <a:xfrm>
            <a:off x="116541" y="6502213"/>
            <a:ext cx="4034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Tricia J, </a:t>
            </a:r>
            <a:r>
              <a:rPr lang="en-US" sz="1000" dirty="0">
                <a:hlinkClick r:id="rId5"/>
              </a:rPr>
              <a:t>https://www.flickr.com/photos/cazatoma/8746664127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2550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 </a:t>
            </a:r>
            <a:r>
              <a:rPr lang="ru-RU" dirty="0"/>
              <a:t>Неидиоматичный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Nikita Popov</a:t>
            </a:r>
            <a:r>
              <a:rPr lang="en-US" dirty="0"/>
              <a:t>, lead-</a:t>
            </a:r>
            <a:r>
              <a:rPr lang="ru-RU" dirty="0"/>
              <a:t>мэйнтэйнер </a:t>
            </a:r>
            <a:r>
              <a:rPr lang="en-US" dirty="0"/>
              <a:t>LLVM:</a:t>
            </a:r>
          </a:p>
          <a:p>
            <a:pPr lvl="1"/>
            <a:r>
              <a:rPr lang="en-US" dirty="0"/>
              <a:t>“Languages like C, C++ and Rust are by-design on equal footing“</a:t>
            </a:r>
          </a:p>
          <a:p>
            <a:pPr lvl="1"/>
            <a:r>
              <a:rPr lang="en-US" dirty="0"/>
              <a:t>“You can only compare how easy it is to write performant code or how performant idiomatic code is”</a:t>
            </a:r>
          </a:p>
          <a:p>
            <a:r>
              <a:rPr lang="en-US" dirty="0">
                <a:hlinkClick r:id="rId3"/>
              </a:rPr>
              <a:t>Scott McMurray</a:t>
            </a:r>
            <a:r>
              <a:rPr lang="en-US" dirty="0"/>
              <a:t>, Rust compiler team:</a:t>
            </a:r>
          </a:p>
          <a:p>
            <a:pPr lvl="1"/>
            <a:r>
              <a:rPr lang="en-US" dirty="0"/>
              <a:t>“Clang and </a:t>
            </a:r>
            <a:r>
              <a:rPr lang="en-US" dirty="0" err="1"/>
              <a:t>rustc</a:t>
            </a:r>
            <a:r>
              <a:rPr lang="en-US" dirty="0"/>
              <a:t> are both producing LLVM IR and running mostly the same LLVM optimization passes”</a:t>
            </a:r>
          </a:p>
          <a:p>
            <a:pPr lvl="1"/>
            <a:r>
              <a:rPr lang="en-US" dirty="0"/>
              <a:t>“Given enough work they can always produce essentially the same thing, making the comparisons pointless”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6FB7-552D-4B96-8474-6ED8850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3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checks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82A08-3A38-4F73-B5C3-E3424FE51B7C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6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3228-3760-4226-AC20-B5B4E86E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Переполнения буфера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A251B-AFAB-4D1F-860A-F2E607F34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3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Morris Worm (1988)</a:t>
            </a:r>
          </a:p>
          <a:p>
            <a:r>
              <a:rPr lang="ru-RU" dirty="0"/>
              <a:t>Запись чрезмерно большого объёма данных в переменную программы</a:t>
            </a:r>
            <a:endParaRPr lang="en-US" dirty="0"/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local_buf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sprintf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“Message from user: %s”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received_data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Переполнение стека (</a:t>
            </a:r>
            <a:r>
              <a:rPr lang="en-US" dirty="0"/>
              <a:t>stack overflow)</a:t>
            </a:r>
            <a:endParaRPr lang="ru-RU" dirty="0"/>
          </a:p>
          <a:p>
            <a:pPr lvl="1"/>
            <a:r>
              <a:rPr lang="ru-RU" dirty="0"/>
              <a:t>Атаки </a:t>
            </a:r>
            <a:r>
              <a:rPr lang="en-US" dirty="0"/>
              <a:t>Stack Smashing, Return-to-libc, Return-Oriented Programming</a:t>
            </a:r>
          </a:p>
          <a:p>
            <a:pPr lvl="1"/>
            <a:r>
              <a:rPr lang="ru-RU" dirty="0"/>
              <a:t>Наиболее стандартизованный и технологичный вид атак</a:t>
            </a:r>
            <a:endParaRPr lang="en-US" dirty="0"/>
          </a:p>
          <a:p>
            <a:r>
              <a:rPr lang="ru-RU" dirty="0"/>
              <a:t>Переполнение кучи </a:t>
            </a:r>
            <a:r>
              <a:rPr lang="en-US" dirty="0"/>
              <a:t>(heap overflow)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7203C-7930-4B98-B51C-7530BB7B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344" y="1502896"/>
            <a:ext cx="2841526" cy="4262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D0371-EB56-4B28-A2BA-F24A998EABC4}"/>
              </a:ext>
            </a:extLst>
          </p:cNvPr>
          <p:cNvSpPr txBox="1"/>
          <p:nvPr/>
        </p:nvSpPr>
        <p:spPr>
          <a:xfrm>
            <a:off x="8964705" y="5765186"/>
            <a:ext cx="275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https://www.rawpixel.com/image/5958324/free-public-domain-cc0-photo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2FB3-0ABE-4551-B64E-9996F34C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3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58F6-C4AB-4F64-B829-BC366562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32402" cy="1325563"/>
          </a:xfrm>
        </p:spPr>
        <p:txBody>
          <a:bodyPr/>
          <a:lstStyle/>
          <a:p>
            <a:r>
              <a:rPr lang="ru-RU" dirty="0"/>
              <a:t>Распространённость </a:t>
            </a:r>
            <a:r>
              <a:rPr lang="en-US" dirty="0"/>
              <a:t>buffer overflow </a:t>
            </a:r>
            <a:r>
              <a:rPr lang="ru-RU" dirty="0"/>
              <a:t>уязвимостей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9631-53E8-4D6D-A000-E7F004BC0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Лидирующие позиции в рейтинге наиболее опасных уязвимостей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Mitre CWE Top 25 2024</a:t>
            </a:r>
            <a:r>
              <a:rPr lang="en-US" dirty="0"/>
              <a:t> (</a:t>
            </a:r>
            <a:r>
              <a:rPr lang="ru-RU" dirty="0"/>
              <a:t>места 2, 6, 20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70% уязвимостей в продуктах </a:t>
            </a:r>
            <a:r>
              <a:rPr lang="en-US" dirty="0">
                <a:hlinkClick r:id="rId3"/>
              </a:rPr>
              <a:t>Microsoft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hlinkClick r:id="rId4"/>
              </a:rPr>
              <a:t>Chromium</a:t>
            </a:r>
            <a:r>
              <a:rPr lang="en-US" dirty="0"/>
              <a:t> </a:t>
            </a:r>
            <a:r>
              <a:rPr lang="ru-RU" dirty="0"/>
              <a:t>вызваны ошибками</a:t>
            </a:r>
            <a:r>
              <a:rPr lang="en-US" dirty="0"/>
              <a:t> </a:t>
            </a:r>
            <a:r>
              <a:rPr lang="ru-RU" dirty="0"/>
              <a:t>памяти</a:t>
            </a:r>
            <a:endParaRPr lang="en-US" dirty="0"/>
          </a:p>
          <a:p>
            <a:r>
              <a:rPr lang="ru-RU" dirty="0"/>
              <a:t>До 80% ошибок памяти связано с </a:t>
            </a:r>
            <a:r>
              <a:rPr lang="en-US" dirty="0"/>
              <a:t>buffer overflow</a:t>
            </a:r>
          </a:p>
          <a:p>
            <a:pPr lvl="1"/>
            <a:r>
              <a:rPr lang="en-US" dirty="0"/>
              <a:t>80% </a:t>
            </a:r>
            <a:r>
              <a:rPr lang="en-US" dirty="0">
                <a:hlinkClick r:id="rId5"/>
              </a:rPr>
              <a:t>CVE</a:t>
            </a:r>
            <a:r>
              <a:rPr lang="ru-RU" dirty="0"/>
              <a:t> и </a:t>
            </a:r>
            <a:r>
              <a:rPr lang="en-US" dirty="0"/>
              <a:t>46% </a:t>
            </a:r>
            <a:r>
              <a:rPr lang="en-US" dirty="0">
                <a:hlinkClick r:id="rId6"/>
              </a:rPr>
              <a:t>KEV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2024</a:t>
            </a:r>
            <a:endParaRPr lang="ru-RU" dirty="0"/>
          </a:p>
          <a:p>
            <a:pPr lvl="1"/>
            <a:r>
              <a:rPr lang="en-US" dirty="0"/>
              <a:t>40% </a:t>
            </a:r>
            <a:r>
              <a:rPr lang="ru-RU" dirty="0"/>
              <a:t>атак </a:t>
            </a:r>
            <a:r>
              <a:rPr lang="en-US" dirty="0"/>
              <a:t>(</a:t>
            </a:r>
            <a:r>
              <a:rPr lang="en-US" dirty="0">
                <a:hlinkClick r:id="rId7"/>
              </a:rPr>
              <a:t>Google Project Zero</a:t>
            </a:r>
            <a:r>
              <a:rPr lang="en-US" dirty="0"/>
              <a:t>, 2024)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3CDCD-FB7A-4AC6-9448-79BD07580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496" y="620417"/>
            <a:ext cx="2601445" cy="758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23C0-A182-4343-A2FF-947681E8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6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safety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8506" cy="4351338"/>
          </a:xfrm>
        </p:spPr>
        <p:txBody>
          <a:bodyPr>
            <a:normAutofit/>
          </a:bodyPr>
          <a:lstStyle/>
          <a:p>
            <a:r>
              <a:rPr lang="ru-RU" dirty="0"/>
              <a:t>Фронтенд генерирует проверки стандартных</a:t>
            </a:r>
            <a:r>
              <a:rPr lang="en-US" dirty="0"/>
              <a:t> </a:t>
            </a:r>
            <a:r>
              <a:rPr lang="ru-RU" dirty="0"/>
              <a:t>индексных доступов</a:t>
            </a:r>
            <a:endParaRPr lang="en-US" dirty="0"/>
          </a:p>
          <a:p>
            <a:pPr lvl="1"/>
            <a:r>
              <a:rPr lang="ru-RU" dirty="0"/>
              <a:t>Массивы, </a:t>
            </a:r>
            <a:r>
              <a:rPr lang="en-US" dirty="0"/>
              <a:t>slices, </a:t>
            </a:r>
            <a:r>
              <a:rPr lang="ru-RU" dirty="0"/>
              <a:t>контейнеры</a:t>
            </a:r>
            <a:r>
              <a:rPr lang="en-US" dirty="0"/>
              <a:t>, etc.</a:t>
            </a:r>
          </a:p>
          <a:p>
            <a:pPr lvl="1"/>
            <a:r>
              <a:rPr lang="ru-RU" dirty="0"/>
              <a:t>Проверки могут быть удалены</a:t>
            </a:r>
            <a:r>
              <a:rPr lang="en-US" dirty="0"/>
              <a:t> </a:t>
            </a:r>
            <a:r>
              <a:rPr lang="ru-RU" dirty="0"/>
              <a:t>если оптимизатор может доказать безопасность</a:t>
            </a:r>
          </a:p>
          <a:p>
            <a:r>
              <a:rPr lang="ru-RU" dirty="0"/>
              <a:t>Также используются более безопасные алгоритмы в стандартной библиотеке</a:t>
            </a:r>
          </a:p>
          <a:p>
            <a:pPr lvl="1"/>
            <a:r>
              <a:rPr lang="ru-RU" dirty="0"/>
              <a:t>Например сортировка не упадёт при использовании некорректного компаратора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18</a:t>
            </a:fld>
            <a:endParaRPr lang="en-US"/>
          </a:p>
        </p:txBody>
      </p:sp>
      <p:pic>
        <p:nvPicPr>
          <p:cNvPr id="1026" name="Picture 2" descr="Free of Charge Creative Commons Highway ...">
            <a:extLst>
              <a:ext uri="{FF2B5EF4-FFF2-40B4-BE49-F238E27FC236}">
                <a16:creationId xmlns:a16="http://schemas.microsoft.com/office/drawing/2014/main" id="{DFF4F3E3-1531-47A6-87F0-6293E7F1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301" y="998537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AAC322-23CA-4758-97D2-23003B3C6047}"/>
              </a:ext>
            </a:extLst>
          </p:cNvPr>
          <p:cNvSpPr txBox="1"/>
          <p:nvPr/>
        </p:nvSpPr>
        <p:spPr>
          <a:xfrm>
            <a:off x="72558" y="6492875"/>
            <a:ext cx="4122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Nick </a:t>
            </a:r>
            <a:r>
              <a:rPr lang="en-US" sz="1200" dirty="0" err="1"/>
              <a:t>Youngson</a:t>
            </a:r>
            <a:r>
              <a:rPr lang="en-US" sz="1200" dirty="0"/>
              <a:t>, </a:t>
            </a:r>
            <a:r>
              <a:rPr lang="en-US" sz="1000" dirty="0">
                <a:hlinkClick r:id="rId3"/>
              </a:rPr>
              <a:t>https://www.picpedia.org/highway-signs/s/safety.html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440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Выполнение сравнения и условного перехода (</a:t>
            </a:r>
            <a:r>
              <a:rPr lang="en-US" dirty="0"/>
              <a:t>1-2</a:t>
            </a:r>
            <a:r>
              <a:rPr lang="ru-RU" dirty="0"/>
              <a:t> </a:t>
            </a:r>
            <a:r>
              <a:rPr lang="en-US" dirty="0"/>
              <a:t>ALU </a:t>
            </a:r>
            <a:r>
              <a:rPr lang="ru-RU" dirty="0"/>
              <a:t>слота</a:t>
            </a:r>
            <a:r>
              <a:rPr lang="en-US" dirty="0"/>
              <a:t>)</a:t>
            </a:r>
          </a:p>
          <a:p>
            <a:r>
              <a:rPr lang="ru-RU" dirty="0"/>
              <a:t>Дополнительный регистр для хранения длины</a:t>
            </a:r>
            <a:r>
              <a:rPr lang="en-US" dirty="0"/>
              <a:t> </a:t>
            </a:r>
            <a:r>
              <a:rPr lang="ru-RU" dirty="0"/>
              <a:t>для сравнения</a:t>
            </a:r>
          </a:p>
          <a:p>
            <a:r>
              <a:rPr lang="ru-RU" dirty="0"/>
              <a:t>Давление на </a:t>
            </a:r>
            <a:r>
              <a:rPr lang="en-US" dirty="0"/>
              <a:t>I$ (</a:t>
            </a:r>
            <a:r>
              <a:rPr lang="ru-RU" dirty="0"/>
              <a:t>промахи в кэш) из-за кода проверки и обработчика паники</a:t>
            </a:r>
            <a:endParaRPr lang="en-US" dirty="0"/>
          </a:p>
          <a:p>
            <a:pPr lvl="1"/>
            <a:r>
              <a:rPr lang="ru-RU" dirty="0"/>
              <a:t>Давление на </a:t>
            </a:r>
            <a:r>
              <a:rPr lang="en-US" dirty="0"/>
              <a:t>branch predictor </a:t>
            </a:r>
            <a:r>
              <a:rPr lang="ru-RU" dirty="0"/>
              <a:t>для </a:t>
            </a:r>
            <a:r>
              <a:rPr lang="en-US" dirty="0"/>
              <a:t>never-taken </a:t>
            </a:r>
            <a:r>
              <a:rPr lang="ru-RU" dirty="0"/>
              <a:t>переходов </a:t>
            </a:r>
            <a:r>
              <a:rPr lang="ru-RU" dirty="0">
                <a:hlinkClick r:id="rId2"/>
              </a:rPr>
              <a:t>практически отсутствует</a:t>
            </a:r>
            <a:endParaRPr lang="en-US" dirty="0"/>
          </a:p>
          <a:p>
            <a:r>
              <a:rPr lang="ru-RU" dirty="0"/>
              <a:t>Отключение других оптимизаций</a:t>
            </a:r>
          </a:p>
          <a:p>
            <a:pPr lvl="1"/>
            <a:r>
              <a:rPr lang="ru-RU" dirty="0"/>
              <a:t>Прежде всего векторизатора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89D59-DF34-4EB4-AFE1-AD82CBDD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9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 многих случаях компилятор способен</a:t>
            </a:r>
            <a:endParaRPr lang="en-US" dirty="0"/>
          </a:p>
          <a:p>
            <a:pPr lvl="1"/>
            <a:r>
              <a:rPr lang="ru-RU" dirty="0"/>
              <a:t>Гарантировать корректность доступа и удалить проверки</a:t>
            </a:r>
            <a:endParaRPr lang="en-US" dirty="0"/>
          </a:p>
          <a:p>
            <a:pPr lvl="1"/>
            <a:r>
              <a:rPr lang="ru-RU" dirty="0"/>
              <a:t>Или вынести проверки из цикла</a:t>
            </a:r>
            <a:r>
              <a:rPr lang="en-US" dirty="0"/>
              <a:t> (O(N) -&gt; O(1))</a:t>
            </a:r>
            <a:endParaRPr lang="ru-RU" dirty="0"/>
          </a:p>
          <a:p>
            <a:r>
              <a:rPr lang="ru-RU" dirty="0"/>
              <a:t>Эти оптимизации делаются на уровне </a:t>
            </a:r>
            <a:r>
              <a:rPr lang="en-US" dirty="0"/>
              <a:t>LLVM</a:t>
            </a:r>
            <a:endParaRPr lang="ru-RU" dirty="0"/>
          </a:p>
          <a:p>
            <a:pPr lvl="1"/>
            <a:r>
              <a:rPr lang="en-US" dirty="0" err="1"/>
              <a:t>InstCombine</a:t>
            </a:r>
            <a:r>
              <a:rPr lang="en-US" dirty="0"/>
              <a:t>, </a:t>
            </a:r>
            <a:r>
              <a:rPr lang="en-US" dirty="0" err="1"/>
              <a:t>SimpleLoopUnswitch</a:t>
            </a:r>
            <a:r>
              <a:rPr lang="en-US" dirty="0"/>
              <a:t>, </a:t>
            </a:r>
            <a:r>
              <a:rPr lang="en-US" dirty="0" err="1"/>
              <a:t>LoopVectorize</a:t>
            </a:r>
            <a:r>
              <a:rPr lang="en-US" dirty="0"/>
              <a:t>, etc.</a:t>
            </a:r>
            <a:endParaRPr lang="ru-RU" dirty="0"/>
          </a:p>
          <a:p>
            <a:pPr lvl="1"/>
            <a:r>
              <a:rPr lang="ru-RU" dirty="0"/>
              <a:t>Также должны оптимизировать </a:t>
            </a:r>
            <a:r>
              <a:rPr lang="en-US" dirty="0"/>
              <a:t>Hardened C/C++</a:t>
            </a:r>
            <a:endParaRPr lang="ru-RU" dirty="0"/>
          </a:p>
          <a:p>
            <a:r>
              <a:rPr lang="ru-RU" dirty="0"/>
              <a:t>Оптимизатор был сильно улучшен и многие проблемы прошлых лет успешно оптимизируются в текущей версии </a:t>
            </a:r>
            <a:r>
              <a:rPr lang="en-US" dirty="0"/>
              <a:t>Rust</a:t>
            </a:r>
          </a:p>
          <a:p>
            <a:pPr lvl="1"/>
            <a:r>
              <a:rPr lang="ru-RU" dirty="0"/>
              <a:t>Например известные </a:t>
            </a:r>
            <a:r>
              <a:rPr lang="ru-RU" dirty="0">
                <a:hlinkClick r:id="rId2"/>
              </a:rPr>
              <a:t>примеры Алекса Кладова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matklad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798F-61E8-43F0-99D0-7F2722AC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9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ru-RU" dirty="0"/>
              <a:t>Успешная оптимизация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552700"/>
            <a:ext cx="5372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*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5695950" y="1583204"/>
            <a:ext cx="6362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cfi_startproc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test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je      .LBB0_1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// n == 0 =&gt;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вернуть 0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jbe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//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b.len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() &lt; n =&gt;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паника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.LBB0_4: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//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Цикл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(без проверок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imul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r9,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r8d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/>
          <p:nvPr/>
        </p:nvCxnSpPr>
        <p:spPr>
          <a:xfrm>
            <a:off x="4533900" y="3608294"/>
            <a:ext cx="1162050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6858000" y="441306"/>
            <a:ext cx="4295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6">
                    <a:lumMod val="75000"/>
                  </a:schemeClr>
                </a:solidFill>
              </a:rPr>
              <a:t>Все проверки вынесены в пролог функции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898BD-7095-4992-AD77-E69F33A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9255B-6A1E-485E-8959-39F53293253E}"/>
              </a:ext>
            </a:extLst>
          </p:cNvPr>
          <p:cNvSpPr txBox="1"/>
          <p:nvPr/>
        </p:nvSpPr>
        <p:spPr>
          <a:xfrm>
            <a:off x="412377" y="5288340"/>
            <a:ext cx="2196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Использовались флаги </a:t>
            </a:r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-vectorize-loops</a:t>
            </a:r>
          </a:p>
          <a:p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</a:t>
            </a:r>
            <a:r>
              <a:rPr lang="en-US" sz="1600" dirty="0" err="1"/>
              <a:t>slp</a:t>
            </a:r>
            <a:endParaRPr lang="en-US" sz="1600" dirty="0"/>
          </a:p>
          <a:p>
            <a:r>
              <a:rPr lang="en-US" sz="1600" dirty="0"/>
              <a:t>-</a:t>
            </a:r>
            <a:r>
              <a:rPr lang="en-US" sz="1600" dirty="0" err="1"/>
              <a:t>Cllvm-args</a:t>
            </a:r>
            <a:r>
              <a:rPr lang="en-US" sz="1600" dirty="0"/>
              <a:t>=-unroll-allow-remainder=0</a:t>
            </a:r>
          </a:p>
          <a:p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A83A6-B8EA-46F8-B274-1760FC1F9542}"/>
              </a:ext>
            </a:extLst>
          </p:cNvPr>
          <p:cNvSpPr txBox="1"/>
          <p:nvPr/>
        </p:nvSpPr>
        <p:spPr>
          <a:xfrm>
            <a:off x="2277034" y="4334686"/>
            <a:ext cx="2279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https://godbolt.org/z/aY744zdfe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ru-RU" dirty="0"/>
              <a:t>Неуспешная оптимизация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321867"/>
            <a:ext cx="61245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6372227" y="1575077"/>
            <a:ext cx="57301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bar: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        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Цикл (с проверками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[r8 - 3]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[r8 - 2]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[r8 - 1]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r8,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+ 4*r8 - 12]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+ 4*r8 - 4]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r8,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dec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>
            <a:cxnSpLocks/>
          </p:cNvCxnSpPr>
          <p:nvPr/>
        </p:nvCxnSpPr>
        <p:spPr>
          <a:xfrm>
            <a:off x="4657725" y="3028950"/>
            <a:ext cx="1714502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7600950" y="450831"/>
            <a:ext cx="3543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</a:rPr>
              <a:t>Проверки остались в цикле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02D13-9D9A-44F9-8A97-68CB22C4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3258B0-F19B-46FF-91E0-922932662ECC}"/>
              </a:ext>
            </a:extLst>
          </p:cNvPr>
          <p:cNvSpPr txBox="1"/>
          <p:nvPr/>
        </p:nvSpPr>
        <p:spPr>
          <a:xfrm>
            <a:off x="412377" y="5288340"/>
            <a:ext cx="2196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Использовались флаги </a:t>
            </a:r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-vectorize-loops</a:t>
            </a:r>
          </a:p>
          <a:p>
            <a:r>
              <a:rPr lang="en-US" sz="1600" dirty="0"/>
              <a:t>-</a:t>
            </a:r>
            <a:r>
              <a:rPr lang="en-US" sz="1600" dirty="0" err="1"/>
              <a:t>Cno</a:t>
            </a:r>
            <a:r>
              <a:rPr lang="en-US" sz="1600" dirty="0"/>
              <a:t>-vectorize-</a:t>
            </a:r>
            <a:r>
              <a:rPr lang="en-US" sz="1600" dirty="0" err="1"/>
              <a:t>slp</a:t>
            </a:r>
            <a:endParaRPr lang="en-US" sz="1600" dirty="0"/>
          </a:p>
          <a:p>
            <a:r>
              <a:rPr lang="en-US" sz="1600" dirty="0"/>
              <a:t>-</a:t>
            </a:r>
            <a:r>
              <a:rPr lang="en-US" sz="1600" dirty="0" err="1"/>
              <a:t>Cllvm-args</a:t>
            </a:r>
            <a:r>
              <a:rPr lang="en-US" sz="1600" dirty="0"/>
              <a:t>=-unroll-allow-remainder=0</a:t>
            </a: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5B419-BFEB-4B27-9FFF-9C5BF27C85A8}"/>
              </a:ext>
            </a:extLst>
          </p:cNvPr>
          <p:cNvSpPr txBox="1"/>
          <p:nvPr/>
        </p:nvSpPr>
        <p:spPr>
          <a:xfrm>
            <a:off x="2608730" y="4633749"/>
            <a:ext cx="228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https://godbolt.org/z/176s9nEfE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4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8A69-5176-40F0-9B29-D7B094A6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в оптимизаторе</a:t>
            </a:r>
            <a:r>
              <a:rPr lang="en-US" dirty="0"/>
              <a:t>: delayed panics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1BDF0-7505-4227-A913-B34846002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</a:t>
            </a:r>
            <a:r>
              <a:rPr lang="en-US" dirty="0">
                <a:hlinkClick r:id="rId2"/>
              </a:rPr>
              <a:t>Rust RFC 560</a:t>
            </a:r>
            <a:r>
              <a:rPr lang="en-US" dirty="0"/>
              <a:t> </a:t>
            </a:r>
            <a:r>
              <a:rPr lang="ru-RU" dirty="0"/>
              <a:t>было предложено разрешить компилятору комбинировать вместе связанные проверки</a:t>
            </a:r>
            <a:endParaRPr lang="en-US" dirty="0"/>
          </a:p>
          <a:p>
            <a:pPr lvl="1"/>
            <a:r>
              <a:rPr lang="ru-RU" dirty="0"/>
              <a:t>Если это полезно для оптимизации</a:t>
            </a:r>
            <a:endParaRPr lang="en-US" dirty="0"/>
          </a:p>
          <a:p>
            <a:pPr lvl="1"/>
            <a:r>
              <a:rPr lang="ru-RU" dirty="0"/>
              <a:t>И поведение программы не изменится (с точностью до сообщения об ошибке)</a:t>
            </a:r>
          </a:p>
          <a:p>
            <a:r>
              <a:rPr lang="ru-RU" dirty="0"/>
              <a:t>Похоже на классическую концепцию </a:t>
            </a:r>
            <a:r>
              <a:rPr lang="en-US" dirty="0">
                <a:hlinkClick r:id="rId3"/>
              </a:rPr>
              <a:t>Imprecise Exceptions</a:t>
            </a:r>
            <a:endParaRPr lang="ru-RU" dirty="0"/>
          </a:p>
          <a:p>
            <a:r>
              <a:rPr lang="ru-RU" dirty="0"/>
              <a:t>Решение о допустимости подобных оптимизаций пока не принято и в случае индексных проверок эта оптимизация сейчас не делается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rust #50759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ABA71-A5DA-45F0-91B1-A1EA5CD211F1}"/>
              </a:ext>
            </a:extLst>
          </p:cNvPr>
          <p:cNvSpPr txBox="1"/>
          <p:nvPr/>
        </p:nvSpPr>
        <p:spPr>
          <a:xfrm>
            <a:off x="6296025" y="2381250"/>
            <a:ext cx="57054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::{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Result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&lt;(),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Error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"/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</a:t>
            </a:r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Каждый доступ проверяется отдельно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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// </a:t>
            </a:r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(достаточно было бы проверить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h[15])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"/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/test"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(())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4CA2-53AD-47F3-AB2F-63BF5CF4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7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Общие соображения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25024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циклах используйте слайсы, а не контейнеры</a:t>
            </a:r>
            <a:r>
              <a:rPr lang="en-US" dirty="0"/>
              <a:t> </a:t>
            </a:r>
            <a:r>
              <a:rPr lang="ru-RU" dirty="0"/>
              <a:t>типа </a:t>
            </a:r>
            <a:r>
              <a:rPr lang="en-US" dirty="0" err="1"/>
              <a:t>Vec</a:t>
            </a:r>
            <a:endParaRPr lang="en-US" dirty="0"/>
          </a:p>
          <a:p>
            <a:pPr lvl="1"/>
            <a:r>
              <a:rPr lang="ru-RU" dirty="0"/>
              <a:t>Это упрощает работу </a:t>
            </a:r>
            <a:r>
              <a:rPr lang="en-US" dirty="0"/>
              <a:t>alias analysis</a:t>
            </a:r>
          </a:p>
          <a:p>
            <a:pPr lvl="1"/>
            <a:r>
              <a:rPr lang="ru-RU" dirty="0"/>
              <a:t>Пример</a:t>
            </a:r>
            <a:r>
              <a:rPr lang="en-US" dirty="0"/>
              <a:t>: </a:t>
            </a:r>
            <a:r>
              <a:rPr lang="en-US" dirty="0" err="1">
                <a:hlinkClick r:id="rId2"/>
              </a:rPr>
              <a:t>fschutt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fastblur</a:t>
            </a:r>
            <a:r>
              <a:rPr lang="en-US" dirty="0">
                <a:hlinkClick r:id="rId2"/>
              </a:rPr>
              <a:t> #3</a:t>
            </a:r>
            <a:endParaRPr lang="ru-RU" dirty="0"/>
          </a:p>
          <a:p>
            <a:r>
              <a:rPr lang="ru-RU" dirty="0"/>
              <a:t>Избегайте сложной индексной арифметики</a:t>
            </a:r>
          </a:p>
          <a:p>
            <a:pPr lvl="1"/>
            <a:r>
              <a:rPr lang="ru-RU" dirty="0"/>
              <a:t>На практике всё что сложнее прибавления константы или сложения двух индексных переменных</a:t>
            </a:r>
            <a:endParaRPr lang="en-US" dirty="0"/>
          </a:p>
          <a:p>
            <a:pPr lvl="1"/>
            <a:r>
              <a:rPr lang="ru-RU" dirty="0"/>
              <a:t>Даже аффинные операции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Taking Advantage of Auto-Vectorization in Rust</a:t>
            </a:r>
            <a:endParaRPr lang="en-US" dirty="0"/>
          </a:p>
          <a:p>
            <a:r>
              <a:rPr lang="ru-RU" dirty="0"/>
              <a:t>В нетривиальных случаях не полагайтесь на оптимизатор</a:t>
            </a:r>
          </a:p>
          <a:p>
            <a:pPr lvl="1"/>
            <a:r>
              <a:rPr lang="ru-RU" dirty="0"/>
              <a:t>Его возможности могут </a:t>
            </a:r>
            <a:r>
              <a:rPr lang="en-US" dirty="0"/>
              <a:t>(</a:t>
            </a:r>
            <a:r>
              <a:rPr lang="ru-RU" dirty="0"/>
              <a:t>немонотонно) меняться в разных версиях компилятора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“Auto-vectorization is not a programming model”</a:t>
            </a:r>
            <a:endParaRPr lang="en-US" dirty="0"/>
          </a:p>
          <a:p>
            <a:r>
              <a:rPr lang="ru-RU" dirty="0"/>
              <a:t>Эти же советы актуальны и для </a:t>
            </a:r>
            <a:r>
              <a:rPr lang="en-US" dirty="0"/>
              <a:t>Hardened C/C++!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38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проверок</a:t>
            </a:r>
          </a:p>
          <a:p>
            <a:r>
              <a:rPr lang="ru-RU" dirty="0"/>
              <a:t>Сокращение числа проверок</a:t>
            </a:r>
          </a:p>
          <a:p>
            <a:r>
              <a:rPr lang="ru-RU" dirty="0"/>
              <a:t>Снижение стоимости проверок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76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Удаление проверок</a:t>
            </a:r>
          </a:p>
          <a:p>
            <a:r>
              <a:rPr lang="ru-RU" dirty="0"/>
              <a:t>Сокращение числа проверок</a:t>
            </a:r>
          </a:p>
          <a:p>
            <a:r>
              <a:rPr lang="ru-RU" dirty="0"/>
              <a:t>Снижение стоимости проверок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US" dirty="0"/>
              <a:t>Workarounds: Unsafe-</a:t>
            </a:r>
            <a:r>
              <a:rPr lang="ru-RU" dirty="0"/>
              <a:t>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63794"/>
            <a:ext cx="5159189" cy="46672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Наиболее простое и надёжное решение</a:t>
            </a:r>
            <a:endParaRPr lang="en-US" dirty="0"/>
          </a:p>
          <a:p>
            <a:r>
              <a:rPr lang="ru-RU" dirty="0"/>
              <a:t>Используется внутри контейнеров и итераторов стандартной библиотеки</a:t>
            </a:r>
          </a:p>
          <a:p>
            <a:r>
              <a:rPr lang="ru-RU" dirty="0"/>
              <a:t>Несколько вариантов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Использование указателей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ru-RU" dirty="0"/>
              <a:t>Методы без проверок типа </a:t>
            </a:r>
            <a:r>
              <a:rPr lang="en-US" dirty="0" err="1"/>
              <a:t>get_unchecked</a:t>
            </a:r>
            <a:endParaRPr lang="ru-RU" dirty="0"/>
          </a:p>
          <a:p>
            <a:pPr lvl="1"/>
            <a:r>
              <a:rPr lang="ru-RU" dirty="0"/>
              <a:t>Хинты для компилятора </a:t>
            </a:r>
            <a:r>
              <a:rPr lang="en-US" dirty="0"/>
              <a:t>std::hint::</a:t>
            </a:r>
            <a:r>
              <a:rPr lang="en-US" dirty="0" err="1"/>
              <a:t>unreachable_unchecked</a:t>
            </a:r>
            <a:r>
              <a:rPr lang="en-US" dirty="0"/>
              <a:t>, std::hint::</a:t>
            </a:r>
            <a:r>
              <a:rPr lang="en-US" dirty="0" err="1"/>
              <a:t>assert_unchecked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27</a:t>
            </a:fld>
            <a:endParaRPr lang="en-US"/>
          </a:p>
        </p:txBody>
      </p:sp>
      <p:pic>
        <p:nvPicPr>
          <p:cNvPr id="1026" name="Picture 2" descr="Workplace Slip and Fall Injuries ...">
            <a:extLst>
              <a:ext uri="{FF2B5EF4-FFF2-40B4-BE49-F238E27FC236}">
                <a16:creationId xmlns:a16="http://schemas.microsoft.com/office/drawing/2014/main" id="{CEB4329D-9F8A-4FC8-860E-74780273F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668" y="692243"/>
            <a:ext cx="2572084" cy="171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4C7DB7-4D9C-4446-B8D2-DADFCFE70D5B}"/>
              </a:ext>
            </a:extLst>
          </p:cNvPr>
          <p:cNvSpPr txBox="1"/>
          <p:nvPr/>
        </p:nvSpPr>
        <p:spPr>
          <a:xfrm>
            <a:off x="126067" y="6538912"/>
            <a:ext cx="4961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https://workinjurysource.com/preventing-slip-and-fall-injuries-at-work/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2252C-FD4D-41BC-BAFB-601561B38954}"/>
              </a:ext>
            </a:extLst>
          </p:cNvPr>
          <p:cNvSpPr txBox="1"/>
          <p:nvPr/>
        </p:nvSpPr>
        <p:spPr>
          <a:xfrm>
            <a:off x="6194612" y="3128469"/>
            <a:ext cx="5844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(&amp;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mut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    // fill the hole again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get_unchecked_mut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elt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unwrap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EE57A-A8AD-4B97-AFC3-51DA2886E8BF}"/>
              </a:ext>
            </a:extLst>
          </p:cNvPr>
          <p:cNvSpPr txBox="1"/>
          <p:nvPr/>
        </p:nvSpPr>
        <p:spPr>
          <a:xfrm>
            <a:off x="8157882" y="5453122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rust #36072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65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Использование ограниченных типов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Ограниченность индекса можно выразить с помощью типов</a:t>
            </a:r>
            <a:endParaRPr lang="en-US" dirty="0"/>
          </a:p>
          <a:p>
            <a:pPr lvl="1"/>
            <a:r>
              <a:rPr lang="en-US" dirty="0"/>
              <a:t>Enums </a:t>
            </a:r>
            <a:r>
              <a:rPr lang="ru-RU" dirty="0"/>
              <a:t>или</a:t>
            </a:r>
            <a:r>
              <a:rPr lang="en-US" dirty="0"/>
              <a:t> bool</a:t>
            </a:r>
            <a:endParaRPr lang="ru-RU" dirty="0"/>
          </a:p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rust #102303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21037-A4FB-4FE5-B054-B3B80FA9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0C7A5-B707-4671-B60C-3F0EBC6D0FE5}"/>
              </a:ext>
            </a:extLst>
          </p:cNvPr>
          <p:cNvSpPr txBox="1"/>
          <p:nvPr/>
        </p:nvSpPr>
        <p:spPr>
          <a:xfrm>
            <a:off x="1515037" y="3561853"/>
            <a:ext cx="411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EA6E3-BA9C-4E18-B1E2-F510BF225B2A}"/>
              </a:ext>
            </a:extLst>
          </p:cNvPr>
          <p:cNvSpPr txBox="1"/>
          <p:nvPr/>
        </p:nvSpPr>
        <p:spPr>
          <a:xfrm>
            <a:off x="6562165" y="3007856"/>
            <a:ext cx="4661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40343E-836E-44F2-9807-AC0BA9EC2CA6}"/>
              </a:ext>
            </a:extLst>
          </p:cNvPr>
          <p:cNvCxnSpPr>
            <a:cxnSpLocks/>
          </p:cNvCxnSpPr>
          <p:nvPr/>
        </p:nvCxnSpPr>
        <p:spPr>
          <a:xfrm>
            <a:off x="5504329" y="4027547"/>
            <a:ext cx="95025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2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проверок</a:t>
            </a:r>
          </a:p>
          <a:p>
            <a:r>
              <a:rPr lang="ru-RU" b="1" dirty="0"/>
              <a:t>Сокращение числа проверок</a:t>
            </a:r>
          </a:p>
          <a:p>
            <a:r>
              <a:rPr lang="ru-RU" dirty="0"/>
              <a:t>Снижение стоимости проверок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46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Ручные </a:t>
            </a:r>
            <a:r>
              <a:rPr lang="en-US" dirty="0"/>
              <a:t>asserts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257674" cy="4351338"/>
          </a:xfrm>
        </p:spPr>
        <p:txBody>
          <a:bodyPr/>
          <a:lstStyle/>
          <a:p>
            <a:r>
              <a:rPr lang="ru-RU" dirty="0"/>
              <a:t>Позволяет сделать однократную проверку вместо нескольких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6B16-1212-4376-A65E-F12C7092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263B8-37FC-43FD-B6FD-F932921DBB2A}"/>
              </a:ext>
            </a:extLst>
          </p:cNvPr>
          <p:cNvSpPr txBox="1"/>
          <p:nvPr/>
        </p:nvSpPr>
        <p:spPr>
          <a:xfrm>
            <a:off x="5638799" y="1652648"/>
            <a:ext cx="625736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optimizer hint to eliminate bounds checks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within loops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assert!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 ==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temp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Wrapping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columns</a:t>
            </a:r>
          </a:p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..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 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24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56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latin typeface="Consolas" panose="020B0609020204030204" pitchFamily="49" charset="0"/>
              </a:rPr>
              <a:t>...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1600C-E969-4CA6-8D7B-9402E59C4C28}"/>
              </a:ext>
            </a:extLst>
          </p:cNvPr>
          <p:cNvSpPr txBox="1"/>
          <p:nvPr/>
        </p:nvSpPr>
        <p:spPr>
          <a:xfrm>
            <a:off x="7243482" y="5861793"/>
            <a:ext cx="247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jpeg-decoder #167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7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74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Reslicing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1670220"/>
            <a:ext cx="9359152" cy="4351338"/>
          </a:xfrm>
        </p:spPr>
        <p:txBody>
          <a:bodyPr/>
          <a:lstStyle/>
          <a:p>
            <a:r>
              <a:rPr lang="en-US" dirty="0" err="1"/>
              <a:t>Reslicing</a:t>
            </a:r>
            <a:r>
              <a:rPr lang="en-US" dirty="0"/>
              <a:t>, </a:t>
            </a:r>
            <a:r>
              <a:rPr lang="en-US" dirty="0" err="1"/>
              <a:t>preslicing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</a:t>
            </a:r>
            <a:r>
              <a:rPr lang="en-US" dirty="0" err="1"/>
              <a:t>subslicing</a:t>
            </a:r>
            <a:endParaRPr lang="en-US" dirty="0"/>
          </a:p>
          <a:p>
            <a:r>
              <a:rPr lang="ru-RU" dirty="0"/>
              <a:t>Раннее конструирование слайсов заданного размера</a:t>
            </a:r>
          </a:p>
          <a:p>
            <a:r>
              <a:rPr lang="ru-RU" dirty="0"/>
              <a:t>Заставляет компилятор сделать </a:t>
            </a:r>
            <a:r>
              <a:rPr lang="ru-RU" i="1" dirty="0"/>
              <a:t>однократную</a:t>
            </a:r>
            <a:r>
              <a:rPr lang="ru-RU" dirty="0"/>
              <a:t> проверку при создании слайса</a:t>
            </a:r>
          </a:p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en-US" dirty="0" err="1">
                <a:hlinkClick r:id="rId2"/>
              </a:rPr>
              <a:t>dropbox</a:t>
            </a:r>
            <a:r>
              <a:rPr lang="en-US" dirty="0">
                <a:hlinkClick r:id="rId2"/>
              </a:rPr>
              <a:t>/rust-</a:t>
            </a:r>
            <a:r>
              <a:rPr lang="en-US" dirty="0" err="1">
                <a:hlinkClick r:id="rId2"/>
              </a:rPr>
              <a:t>brotli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B7-C8EA-441E-8F63-270268E6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6DAD1-F248-4F20-9B4B-28B23AEB8A89}"/>
              </a:ext>
            </a:extLst>
          </p:cNvPr>
          <p:cNvSpPr txBox="1"/>
          <p:nvPr/>
        </p:nvSpPr>
        <p:spPr>
          <a:xfrm>
            <a:off x="1792941" y="4578528"/>
            <a:ext cx="3415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1E30-2489-4165-8BC1-219E7DEF5264}"/>
              </a:ext>
            </a:extLst>
          </p:cNvPr>
          <p:cNvSpPr txBox="1"/>
          <p:nvPr/>
        </p:nvSpPr>
        <p:spPr>
          <a:xfrm>
            <a:off x="6678705" y="4440028"/>
            <a:ext cx="4814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5ADCE-2203-4C13-ADA4-1EF86D614D3B}"/>
              </a:ext>
            </a:extLst>
          </p:cNvPr>
          <p:cNvCxnSpPr>
            <a:cxnSpLocks/>
          </p:cNvCxnSpPr>
          <p:nvPr/>
        </p:nvCxnSpPr>
        <p:spPr>
          <a:xfrm>
            <a:off x="5074022" y="5040193"/>
            <a:ext cx="1470211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utting Bread · Free Stock Photo">
            <a:extLst>
              <a:ext uri="{FF2B5EF4-FFF2-40B4-BE49-F238E27FC236}">
                <a16:creationId xmlns:a16="http://schemas.microsoft.com/office/drawing/2014/main" id="{4438CDEF-541A-4046-AD12-F968D1C29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841" y="571500"/>
            <a:ext cx="1600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5367D0-F9C7-40F5-A7AD-097C92D05612}"/>
              </a:ext>
            </a:extLst>
          </p:cNvPr>
          <p:cNvSpPr txBox="1"/>
          <p:nvPr/>
        </p:nvSpPr>
        <p:spPr>
          <a:xfrm>
            <a:off x="304799" y="6437805"/>
            <a:ext cx="4769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Lalada</a:t>
            </a:r>
            <a:r>
              <a:rPr lang="en-US" sz="1000" dirty="0"/>
              <a:t>, </a:t>
            </a:r>
            <a:r>
              <a:rPr lang="en-US" sz="1000" dirty="0">
                <a:hlinkClick r:id="rId4"/>
              </a:rPr>
              <a:t>https://www.pexels.com/photo/close-up-of-a-person-cutting-bread-19359855/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0266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74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Reslicing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1670220"/>
            <a:ext cx="10515600" cy="4351338"/>
          </a:xfrm>
        </p:spPr>
        <p:txBody>
          <a:bodyPr/>
          <a:lstStyle/>
          <a:p>
            <a:r>
              <a:rPr lang="ru-RU" dirty="0"/>
              <a:t>Выделение смещённых слайсов лучше делать в два шага</a:t>
            </a:r>
            <a:endParaRPr lang="en-US" dirty="0"/>
          </a:p>
          <a:p>
            <a:r>
              <a:rPr lang="ru-RU" dirty="0"/>
              <a:t>Это позволит компилятору не задумываться о возможном переполнении</a:t>
            </a:r>
          </a:p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Optimizing rav1d, an AV1 Decoder in Rust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B7-C8EA-441E-8F63-270268E6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6DAD1-F248-4F20-9B4B-28B23AEB8A89}"/>
              </a:ext>
            </a:extLst>
          </p:cNvPr>
          <p:cNvSpPr txBox="1"/>
          <p:nvPr/>
        </p:nvSpPr>
        <p:spPr>
          <a:xfrm>
            <a:off x="2223247" y="4818448"/>
            <a:ext cx="242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1E30-2489-4165-8BC1-219E7DEF5264}"/>
              </a:ext>
            </a:extLst>
          </p:cNvPr>
          <p:cNvSpPr txBox="1"/>
          <p:nvPr/>
        </p:nvSpPr>
        <p:spPr>
          <a:xfrm>
            <a:off x="6678706" y="4818448"/>
            <a:ext cx="255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..][..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5ADCE-2203-4C13-ADA4-1EF86D614D3B}"/>
              </a:ext>
            </a:extLst>
          </p:cNvPr>
          <p:cNvCxnSpPr>
            <a:cxnSpLocks/>
          </p:cNvCxnSpPr>
          <p:nvPr/>
        </p:nvCxnSpPr>
        <p:spPr>
          <a:xfrm>
            <a:off x="4554071" y="5003114"/>
            <a:ext cx="203498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254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1742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Ограничение диапазона итерации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21" y="1430504"/>
            <a:ext cx="10515600" cy="4351338"/>
          </a:xfrm>
        </p:spPr>
        <p:txBody>
          <a:bodyPr/>
          <a:lstStyle/>
          <a:p>
            <a:r>
              <a:rPr lang="ru-RU" dirty="0"/>
              <a:t>При итерации над несколькими контейнерами лучше явно использовать общий безопасный диапазон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B7BFE-91DA-46BA-8B3C-34378BA5A315}"/>
              </a:ext>
            </a:extLst>
          </p:cNvPr>
          <p:cNvSpPr txBox="1"/>
          <p:nvPr/>
        </p:nvSpPr>
        <p:spPr>
          <a:xfrm>
            <a:off x="590550" y="2462412"/>
            <a:ext cx="56102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.LBB1_2: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je  .LBB1_5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r8d,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r8d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r8,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.LBB1_2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E2C2E-9B74-474D-AFB5-D5E2C7E249A7}"/>
              </a:ext>
            </a:extLst>
          </p:cNvPr>
          <p:cNvSpPr txBox="1"/>
          <p:nvPr/>
        </p:nvSpPr>
        <p:spPr>
          <a:xfrm>
            <a:off x="6438899" y="2462412"/>
            <a:ext cx="5610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 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9FCC8A-C543-48AD-A891-0C45B08E8ACE}"/>
              </a:ext>
            </a:extLst>
          </p:cNvPr>
          <p:cNvCxnSpPr/>
          <p:nvPr/>
        </p:nvCxnSpPr>
        <p:spPr>
          <a:xfrm>
            <a:off x="4544266" y="3429000"/>
            <a:ext cx="173102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34C00F-DD08-4F66-B9D0-1F2036F4B2B4}"/>
              </a:ext>
            </a:extLst>
          </p:cNvPr>
          <p:cNvSpPr txBox="1"/>
          <p:nvPr/>
        </p:nvSpPr>
        <p:spPr>
          <a:xfrm>
            <a:off x="3218607" y="6132459"/>
            <a:ext cx="6208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Компиляция с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Cno</a:t>
            </a:r>
            <a:r>
              <a:rPr lang="en-US" dirty="0"/>
              <a:t>-vectorize-loops -</a:t>
            </a:r>
            <a:r>
              <a:rPr lang="en-US" dirty="0" err="1"/>
              <a:t>Cllvm-args</a:t>
            </a:r>
            <a:r>
              <a:rPr lang="en-US" dirty="0"/>
              <a:t>=-unroll-allow-remainder=0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BC644-E4F4-49A5-9CD8-13D8FF07C338}"/>
              </a:ext>
            </a:extLst>
          </p:cNvPr>
          <p:cNvSpPr txBox="1"/>
          <p:nvPr/>
        </p:nvSpPr>
        <p:spPr>
          <a:xfrm>
            <a:off x="2715743" y="3818073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https://godbolt.org/z/P8de874c1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59350-C1E2-4094-83E5-ABC64473E47D}"/>
              </a:ext>
            </a:extLst>
          </p:cNvPr>
          <p:cNvSpPr txBox="1"/>
          <p:nvPr/>
        </p:nvSpPr>
        <p:spPr>
          <a:xfrm>
            <a:off x="9317691" y="3818074"/>
            <a:ext cx="228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https://godbolt.org/z/6TzEPaaEs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415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-52846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Итераторы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21" y="1253331"/>
            <a:ext cx="10515600" cy="4351338"/>
          </a:xfrm>
        </p:spPr>
        <p:txBody>
          <a:bodyPr/>
          <a:lstStyle/>
          <a:p>
            <a:r>
              <a:rPr lang="ru-RU" dirty="0"/>
              <a:t>Многие итераторы используют информацию о размере контейнера для сокращения числа проверок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B7BFE-91DA-46BA-8B3C-34378BA5A315}"/>
              </a:ext>
            </a:extLst>
          </p:cNvPr>
          <p:cNvSpPr txBox="1"/>
          <p:nvPr/>
        </p:nvSpPr>
        <p:spPr>
          <a:xfrm>
            <a:off x="590550" y="2462412"/>
            <a:ext cx="56102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.LBB1_2: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je  .LBB1_5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r8d,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r8d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r8,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.LBB1_2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E2C2E-9B74-474D-AFB5-D5E2C7E249A7}"/>
              </a:ext>
            </a:extLst>
          </p:cNvPr>
          <p:cNvSpPr txBox="1"/>
          <p:nvPr/>
        </p:nvSpPr>
        <p:spPr>
          <a:xfrm>
            <a:off x="6438899" y="2462412"/>
            <a:ext cx="56102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This also works:</a:t>
            </a:r>
          </a:p>
          <a:p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 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(x, y) in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x.iter_mut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().zip(y)</a:t>
            </a:r>
            <a:endParaRPr lang="nn-NO" sz="16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iter_mut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zip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for_each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(|(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)|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1168A-7769-43E2-B0CF-D1BBCB3F70CD}"/>
              </a:ext>
            </a:extLst>
          </p:cNvPr>
          <p:cNvSpPr txBox="1"/>
          <p:nvPr/>
        </p:nvSpPr>
        <p:spPr>
          <a:xfrm>
            <a:off x="3542741" y="6066334"/>
            <a:ext cx="609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Компиляция с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Cno</a:t>
            </a:r>
            <a:r>
              <a:rPr lang="en-US" dirty="0"/>
              <a:t>-vectorize-loops -</a:t>
            </a:r>
            <a:r>
              <a:rPr lang="en-US" dirty="0" err="1"/>
              <a:t>Cllvm-args</a:t>
            </a:r>
            <a:r>
              <a:rPr lang="en-US" dirty="0"/>
              <a:t>=-unroll-allow-remainder=0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9FCC8A-C543-48AD-A891-0C45B08E8ACE}"/>
              </a:ext>
            </a:extLst>
          </p:cNvPr>
          <p:cNvCxnSpPr/>
          <p:nvPr/>
        </p:nvCxnSpPr>
        <p:spPr>
          <a:xfrm>
            <a:off x="4364971" y="3849221"/>
            <a:ext cx="173102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A7C7EB-25AB-4CD2-AECC-73C1201ADEB9}"/>
              </a:ext>
            </a:extLst>
          </p:cNvPr>
          <p:cNvSpPr txBox="1"/>
          <p:nvPr/>
        </p:nvSpPr>
        <p:spPr>
          <a:xfrm>
            <a:off x="2734234" y="4078714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https://godbolt.org/z/P8de874c1</a:t>
            </a:r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4EDD2-F851-4B95-93DE-9EE7335643DE}"/>
              </a:ext>
            </a:extLst>
          </p:cNvPr>
          <p:cNvSpPr txBox="1"/>
          <p:nvPr/>
        </p:nvSpPr>
        <p:spPr>
          <a:xfrm>
            <a:off x="9317691" y="4032072"/>
            <a:ext cx="2283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https://godbolt.org/z/je69173xv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77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итераторов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“Miracle of zero cost abstraction has a limit" (</a:t>
            </a:r>
            <a:r>
              <a:rPr lang="en-US" dirty="0" err="1">
                <a:hlinkClick r:id="rId2"/>
              </a:rPr>
              <a:t>fridsun</a:t>
            </a:r>
            <a:r>
              <a:rPr lang="en-US" dirty="0">
                <a:hlinkClick r:id="rId2"/>
              </a:rPr>
              <a:t> at Reddit</a:t>
            </a:r>
            <a:r>
              <a:rPr lang="en-US" dirty="0"/>
              <a:t>)</a:t>
            </a:r>
          </a:p>
          <a:p>
            <a:r>
              <a:rPr lang="ru-RU" dirty="0"/>
              <a:t>Сильное разбухание и замедление </a:t>
            </a:r>
            <a:r>
              <a:rPr lang="en-US" dirty="0"/>
              <a:t>debug-</a:t>
            </a:r>
            <a:r>
              <a:rPr lang="ru-RU" dirty="0"/>
              <a:t>кода</a:t>
            </a:r>
          </a:p>
          <a:p>
            <a:r>
              <a:rPr lang="ru-RU" dirty="0"/>
              <a:t>Компилятор может не заинлайнить длинные цепочки итераторов</a:t>
            </a:r>
            <a:endParaRPr lang="en-US" dirty="0"/>
          </a:p>
          <a:p>
            <a:r>
              <a:rPr lang="ru-RU" dirty="0"/>
              <a:t>Лямбды в итераторах принимают ссылки на элементы, что может вызывать проблемы с </a:t>
            </a:r>
            <a:r>
              <a:rPr lang="en-US" dirty="0"/>
              <a:t>LLVM alias analysis (</a:t>
            </a:r>
            <a:r>
              <a:rPr lang="en-US" dirty="0">
                <a:hlinkClick r:id="rId3"/>
              </a:rPr>
              <a:t>rust #106539</a:t>
            </a:r>
            <a:r>
              <a:rPr lang="en-US" dirty="0"/>
              <a:t>)</a:t>
            </a:r>
          </a:p>
          <a:p>
            <a:r>
              <a:rPr lang="en-US" dirty="0"/>
              <a:t>Chained-</a:t>
            </a:r>
            <a:r>
              <a:rPr lang="ru-RU" dirty="0"/>
              <a:t>итераторы </a:t>
            </a:r>
            <a:r>
              <a:rPr lang="en-US" dirty="0"/>
              <a:t>(chain, </a:t>
            </a:r>
            <a:r>
              <a:rPr lang="en-US" dirty="0" err="1"/>
              <a:t>flat_map</a:t>
            </a:r>
            <a:r>
              <a:rPr lang="en-US" dirty="0"/>
              <a:t>, flatten, ..=, etc.) </a:t>
            </a:r>
            <a:r>
              <a:rPr lang="ru-RU" dirty="0"/>
              <a:t>генерируют неэффективный код при использовании в </a:t>
            </a:r>
            <a:r>
              <a:rPr lang="en-US" dirty="0"/>
              <a:t>for-</a:t>
            </a:r>
            <a:r>
              <a:rPr lang="ru-RU" dirty="0"/>
              <a:t>циклах</a:t>
            </a:r>
            <a:r>
              <a:rPr lang="en-US" dirty="0"/>
              <a:t> (“external iteration”)</a:t>
            </a:r>
          </a:p>
          <a:p>
            <a:pPr lvl="1"/>
            <a:r>
              <a:rPr lang="ru-RU" dirty="0"/>
              <a:t>Рекомендуется их применять только с </a:t>
            </a:r>
            <a:r>
              <a:rPr lang="en-US" dirty="0"/>
              <a:t>.</a:t>
            </a:r>
            <a:r>
              <a:rPr lang="en-US" dirty="0" err="1"/>
              <a:t>for_each</a:t>
            </a:r>
            <a:r>
              <a:rPr lang="en-US" dirty="0"/>
              <a:t>, .fold, .find </a:t>
            </a:r>
            <a:r>
              <a:rPr lang="ru-RU" dirty="0"/>
              <a:t>и т.п.</a:t>
            </a:r>
            <a:r>
              <a:rPr lang="en-US" dirty="0"/>
              <a:t> (“internal iteration”)</a:t>
            </a:r>
          </a:p>
          <a:p>
            <a:pPr lvl="1"/>
            <a:r>
              <a:rPr lang="en-US" dirty="0">
                <a:hlinkClick r:id="rId4"/>
              </a:rPr>
              <a:t>Are iterators even efficient?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3A2B5-ADF5-4F66-B7B4-1768A7DEB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044" y="136525"/>
            <a:ext cx="1551077" cy="2146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5A248-A7E3-4B51-BE78-048D867B4BD7}"/>
              </a:ext>
            </a:extLst>
          </p:cNvPr>
          <p:cNvSpPr txBox="1"/>
          <p:nvPr/>
        </p:nvSpPr>
        <p:spPr>
          <a:xfrm>
            <a:off x="89647" y="6525750"/>
            <a:ext cx="7723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Karen Arnolds,  </a:t>
            </a:r>
            <a:r>
              <a:rPr lang="en-US" sz="1050" dirty="0">
                <a:hlinkClick r:id="rId6"/>
              </a:rPr>
              <a:t>https://www.publicdomainpictures.net/en/view-image.php?image=235675&amp;picture=man-carrying-stack-of-boxes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11974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Порядок индексации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Данные лучше читать начиная с самого дальнего элемента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B8119-A71B-4196-9F69-50A30CF3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BEDC-3560-41BC-A87B-A4C01CBBD275}"/>
              </a:ext>
            </a:extLst>
          </p:cNvPr>
          <p:cNvSpPr txBox="1"/>
          <p:nvPr/>
        </p:nvSpPr>
        <p:spPr>
          <a:xfrm>
            <a:off x="1770810" y="3865211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E8A0-B351-458D-B80E-C6C6BA59616B}"/>
              </a:ext>
            </a:extLst>
          </p:cNvPr>
          <p:cNvSpPr txBox="1"/>
          <p:nvPr/>
        </p:nvSpPr>
        <p:spPr>
          <a:xfrm>
            <a:off x="5802404" y="3865211"/>
            <a:ext cx="4814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panic!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34A6FD-F773-473D-B838-505BE68B38C3}"/>
              </a:ext>
            </a:extLst>
          </p:cNvPr>
          <p:cNvCxnSpPr>
            <a:cxnSpLocks/>
          </p:cNvCxnSpPr>
          <p:nvPr/>
        </p:nvCxnSpPr>
        <p:spPr>
          <a:xfrm>
            <a:off x="3832129" y="4326876"/>
            <a:ext cx="18089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E70D08-C41F-44D8-944D-A6EACEFF7AD3}"/>
              </a:ext>
            </a:extLst>
          </p:cNvPr>
          <p:cNvSpPr txBox="1"/>
          <p:nvPr/>
        </p:nvSpPr>
        <p:spPr>
          <a:xfrm>
            <a:off x="1847010" y="2491038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4DCE8-7CF5-4B3F-88B8-F862D533D6CC}"/>
              </a:ext>
            </a:extLst>
          </p:cNvPr>
          <p:cNvSpPr txBox="1"/>
          <p:nvPr/>
        </p:nvSpPr>
        <p:spPr>
          <a:xfrm>
            <a:off x="5878604" y="2491038"/>
            <a:ext cx="4814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B0B5AC-A6F3-4E77-A8D3-3B6E2549A5B1}"/>
              </a:ext>
            </a:extLst>
          </p:cNvPr>
          <p:cNvCxnSpPr>
            <a:cxnSpLocks/>
          </p:cNvCxnSpPr>
          <p:nvPr/>
        </p:nvCxnSpPr>
        <p:spPr>
          <a:xfrm>
            <a:off x="3908329" y="2952703"/>
            <a:ext cx="18089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E9DF11-9887-446B-9DB1-53A9622B5451}"/>
              </a:ext>
            </a:extLst>
          </p:cNvPr>
          <p:cNvSpPr txBox="1"/>
          <p:nvPr/>
        </p:nvSpPr>
        <p:spPr>
          <a:xfrm>
            <a:off x="4616543" y="3382124"/>
            <a:ext cx="199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или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3AF22-7068-4E39-8CD3-6F599F19D7B7}"/>
              </a:ext>
            </a:extLst>
          </p:cNvPr>
          <p:cNvSpPr txBox="1"/>
          <p:nvPr/>
        </p:nvSpPr>
        <p:spPr>
          <a:xfrm>
            <a:off x="1770810" y="5246148"/>
            <a:ext cx="222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ECB6E-537D-40D1-8741-9D88326B750A}"/>
              </a:ext>
            </a:extLst>
          </p:cNvPr>
          <p:cNvSpPr txBox="1"/>
          <p:nvPr/>
        </p:nvSpPr>
        <p:spPr>
          <a:xfrm>
            <a:off x="5878604" y="5384647"/>
            <a:ext cx="458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.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try_into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6B773E-79DE-4418-94D8-2914A6870A28}"/>
              </a:ext>
            </a:extLst>
          </p:cNvPr>
          <p:cNvCxnSpPr>
            <a:cxnSpLocks/>
          </p:cNvCxnSpPr>
          <p:nvPr/>
        </p:nvCxnSpPr>
        <p:spPr>
          <a:xfrm>
            <a:off x="3832129" y="5707813"/>
            <a:ext cx="18851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65CA47-5813-48FA-BDA9-C36E47050D87}"/>
              </a:ext>
            </a:extLst>
          </p:cNvPr>
          <p:cNvSpPr txBox="1"/>
          <p:nvPr/>
        </p:nvSpPr>
        <p:spPr>
          <a:xfrm>
            <a:off x="4616542" y="4729008"/>
            <a:ext cx="199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или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6547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6EEA-6F6B-4C5F-9E7A-750C7B18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Ручная векторизация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035D7-C742-4A8A-9C05-63E0DDA7C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5096436" cy="4667250"/>
          </a:xfrm>
        </p:spPr>
        <p:txBody>
          <a:bodyPr>
            <a:normAutofit/>
          </a:bodyPr>
          <a:lstStyle/>
          <a:p>
            <a:r>
              <a:rPr lang="ru-RU" dirty="0"/>
              <a:t>Программист может вручную переписать код с использованием векторов</a:t>
            </a:r>
          </a:p>
          <a:p>
            <a:r>
              <a:rPr lang="ru-RU" dirty="0"/>
              <a:t>Стандартная библиотека предоставляет</a:t>
            </a:r>
            <a:endParaRPr lang="en-US" dirty="0"/>
          </a:p>
          <a:p>
            <a:pPr lvl="1"/>
            <a:r>
              <a:rPr lang="ru-RU" dirty="0"/>
              <a:t>Платформо-независимый слой </a:t>
            </a:r>
            <a:r>
              <a:rPr lang="en-US" dirty="0"/>
              <a:t>std::</a:t>
            </a:r>
            <a:r>
              <a:rPr lang="en-US" dirty="0" err="1"/>
              <a:t>simd</a:t>
            </a:r>
            <a:r>
              <a:rPr lang="en-US" dirty="0"/>
              <a:t> (nightly only)</a:t>
            </a:r>
          </a:p>
          <a:p>
            <a:pPr lvl="1"/>
            <a:r>
              <a:rPr lang="ru-RU" dirty="0"/>
              <a:t>Платформенные интринсики </a:t>
            </a:r>
            <a:r>
              <a:rPr lang="en-US" dirty="0"/>
              <a:t>std::arch (unsafe)</a:t>
            </a:r>
          </a:p>
          <a:p>
            <a:r>
              <a:rPr lang="ru-RU" dirty="0"/>
              <a:t>Также есть масса </a:t>
            </a:r>
            <a:r>
              <a:rPr lang="en-US" dirty="0"/>
              <a:t>third-party </a:t>
            </a:r>
            <a:r>
              <a:rPr lang="ru-RU" dirty="0"/>
              <a:t>библиотек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C8E5-117D-45C1-9BD0-9A1FF100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D8B08-B980-40FF-8D0F-994332D1C274}"/>
              </a:ext>
            </a:extLst>
          </p:cNvPr>
          <p:cNvSpPr txBox="1"/>
          <p:nvPr/>
        </p:nvSpPr>
        <p:spPr>
          <a:xfrm>
            <a:off x="6096000" y="1689100"/>
            <a:ext cx="61766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sum_simd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]) -&gt;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i32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6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fr-FR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fr-FR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fr-FR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AVX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i32x8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splat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chunks_exact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i32x8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from_slice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chunks_exact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LANES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remainder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reduce_sum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tail_acc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3CFEC-ED59-4760-804E-3CCD6A84F79F}"/>
              </a:ext>
            </a:extLst>
          </p:cNvPr>
          <p:cNvSpPr txBox="1"/>
          <p:nvPr/>
        </p:nvSpPr>
        <p:spPr>
          <a:xfrm>
            <a:off x="7523630" y="5890249"/>
            <a:ext cx="2382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https://godbolt.org/z/G3bfGEhnG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40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D6EA-1C59-43CC-8810-5B283458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FF8B-C407-4E86-96E3-82D2F2658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проверок</a:t>
            </a:r>
          </a:p>
          <a:p>
            <a:r>
              <a:rPr lang="ru-RU" dirty="0"/>
              <a:t>Сокращение числа проверок</a:t>
            </a:r>
          </a:p>
          <a:p>
            <a:r>
              <a:rPr lang="ru-RU" b="1" dirty="0"/>
              <a:t>Снижение стоимости проверок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6E446-0599-48D4-9A5E-339849B1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39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6550"/>
            <a:ext cx="11039475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Арифметика вместо проверок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4" y="1825625"/>
            <a:ext cx="6167717" cy="4351338"/>
          </a:xfrm>
        </p:spPr>
        <p:txBody>
          <a:bodyPr>
            <a:normAutofit/>
          </a:bodyPr>
          <a:lstStyle/>
          <a:p>
            <a:r>
              <a:rPr lang="ru-RU" dirty="0"/>
              <a:t>Проверки можно заменить на инструкцию </a:t>
            </a:r>
            <a:r>
              <a:rPr lang="en-US" dirty="0"/>
              <a:t>conditional move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sums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-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sums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dirty="0"/>
              <a:t>CMOV </a:t>
            </a:r>
            <a:r>
              <a:rPr lang="ru-RU" dirty="0"/>
              <a:t>может быть как быстрее, так и медленнее чем бранч</a:t>
            </a:r>
            <a:endParaRPr lang="en-US" dirty="0"/>
          </a:p>
          <a:p>
            <a:r>
              <a:rPr lang="ru-RU" dirty="0"/>
              <a:t>Недостаток</a:t>
            </a:r>
            <a:r>
              <a:rPr lang="en-US" dirty="0"/>
              <a:t>: </a:t>
            </a:r>
            <a:r>
              <a:rPr lang="ru-RU" dirty="0"/>
              <a:t>ошибка не будет обнаружена и программа продолжит работу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9A12-EF7C-4450-AE2D-CE7ED7E0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39</a:t>
            </a:fld>
            <a:endParaRPr lang="en-US"/>
          </a:p>
        </p:txBody>
      </p:sp>
      <p:pic>
        <p:nvPicPr>
          <p:cNvPr id="2050" name="Picture 2" descr="Results">
            <a:extLst>
              <a:ext uri="{FF2B5EF4-FFF2-40B4-BE49-F238E27FC236}">
                <a16:creationId xmlns:a16="http://schemas.microsoft.com/office/drawing/2014/main" id="{5E59DCBA-B43B-4A10-9328-351393A1B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456" y="1503653"/>
            <a:ext cx="5537479" cy="417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8E407-712C-4D31-9C44-720F3D788CEA}"/>
              </a:ext>
            </a:extLst>
          </p:cNvPr>
          <p:cNvSpPr txBox="1"/>
          <p:nvPr/>
        </p:nvSpPr>
        <p:spPr>
          <a:xfrm>
            <a:off x="7639049" y="5618567"/>
            <a:ext cx="4238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https://github.com/marcin-osowski/cmov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78864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6550"/>
            <a:ext cx="11039475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Арифметика вместо проверок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3750" cy="4351338"/>
          </a:xfrm>
        </p:spPr>
        <p:txBody>
          <a:bodyPr>
            <a:normAutofit/>
          </a:bodyPr>
          <a:lstStyle/>
          <a:p>
            <a:r>
              <a:rPr lang="ru-RU" dirty="0"/>
              <a:t>Проверки можно заменить на маскирование если длина является </a:t>
            </a:r>
            <a:r>
              <a:rPr lang="en-US" dirty="0"/>
              <a:t>2</a:t>
            </a:r>
            <a:r>
              <a:rPr lang="en-US" baseline="30000" dirty="0"/>
              <a:t>N </a:t>
            </a:r>
            <a:r>
              <a:rPr lang="en-US" dirty="0"/>
              <a:t>(</a:t>
            </a:r>
            <a:r>
              <a:rPr lang="ru-RU" dirty="0"/>
              <a:t>или может быть дополнена до </a:t>
            </a: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next_power_of_two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u64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...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table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LOOKUP_TABLE_SIZE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</a:t>
            </a:r>
          </a:p>
          <a:p>
            <a:r>
              <a:rPr lang="en-US" dirty="0"/>
              <a:t>AND </a:t>
            </a:r>
            <a:r>
              <a:rPr lang="ru-RU" i="1" dirty="0"/>
              <a:t>как правило</a:t>
            </a:r>
            <a:r>
              <a:rPr lang="ru-RU" dirty="0"/>
              <a:t> может выполняться на б</a:t>
            </a:r>
            <a:r>
              <a:rPr lang="ru-RU" i="1" dirty="0"/>
              <a:t>о</a:t>
            </a:r>
            <a:r>
              <a:rPr lang="ru-RU" dirty="0"/>
              <a:t>льшем числе </a:t>
            </a:r>
            <a:r>
              <a:rPr lang="en-US" dirty="0"/>
              <a:t>ALU</a:t>
            </a:r>
          </a:p>
          <a:p>
            <a:r>
              <a:rPr lang="ru-RU" dirty="0"/>
              <a:t>К сожалению на данный момент оптимизация применима только для массивов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9A12-EF7C-4450-AE2D-CE7ED7E0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07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9CB7-FD0B-494B-882C-251D3FA6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7CA2-B317-41A7-AD6D-0FDE43C3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20</a:t>
            </a:r>
            <a:r>
              <a:rPr lang="en-US" dirty="0"/>
              <a:t>% </a:t>
            </a:r>
            <a:r>
              <a:rPr lang="ru-RU" dirty="0"/>
              <a:t>проверок в коде компилятора </a:t>
            </a:r>
            <a:r>
              <a:rPr lang="en-US" dirty="0"/>
              <a:t>Rust – </a:t>
            </a:r>
            <a:r>
              <a:rPr lang="ru-RU" dirty="0"/>
              <a:t>проверки индексов</a:t>
            </a:r>
            <a:endParaRPr lang="en-US" dirty="0"/>
          </a:p>
          <a:p>
            <a:pPr lvl="1"/>
            <a:r>
              <a:rPr lang="ru-RU" dirty="0"/>
              <a:t>Данные получены на основе </a:t>
            </a:r>
            <a:r>
              <a:rPr lang="ru-RU" dirty="0">
                <a:hlinkClick r:id="rId2"/>
              </a:rPr>
              <a:t>анализа бинарного кода</a:t>
            </a:r>
            <a:endParaRPr lang="en-US" dirty="0"/>
          </a:p>
          <a:p>
            <a:r>
              <a:rPr lang="ru-RU" dirty="0"/>
              <a:t>Среди циклов с проверками 80% содержат только индексные проверки</a:t>
            </a:r>
            <a:endParaRPr lang="en-US" dirty="0"/>
          </a:p>
          <a:p>
            <a:pPr lvl="1"/>
            <a:r>
              <a:rPr lang="ru-RU" dirty="0"/>
              <a:t>Эти проверки мешают их векторизации</a:t>
            </a:r>
            <a:endParaRPr lang="en-US" dirty="0"/>
          </a:p>
          <a:p>
            <a:pPr lvl="1"/>
            <a:r>
              <a:rPr lang="ru-RU" dirty="0"/>
              <a:t>Данные получены с помощью </a:t>
            </a:r>
            <a:r>
              <a:rPr lang="en-US" dirty="0">
                <a:hlinkClick r:id="rId3"/>
              </a:rPr>
              <a:t>LLVM </a:t>
            </a:r>
            <a:r>
              <a:rPr lang="ru-RU" dirty="0">
                <a:hlinkClick r:id="rId3"/>
              </a:rPr>
              <a:t>плагина</a:t>
            </a:r>
            <a:endParaRPr lang="en-US" dirty="0"/>
          </a:p>
          <a:p>
            <a:pPr lvl="1"/>
            <a:r>
              <a:rPr lang="ru-RU" dirty="0"/>
              <a:t>Проанализированы </a:t>
            </a:r>
            <a:r>
              <a:rPr lang="en-US" dirty="0" err="1"/>
              <a:t>rustc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oxipng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F2BE2-C94D-4A7D-82D4-E183CCC7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6F58C-85CE-411B-A2B5-2DD9CF595705}"/>
              </a:ext>
            </a:extLst>
          </p:cNvPr>
          <p:cNvSpPr txBox="1"/>
          <p:nvPr/>
        </p:nvSpPr>
        <p:spPr>
          <a:xfrm>
            <a:off x="322729" y="606929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Методика анализа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751A1-5216-46AD-9396-C6EFECB58D83}"/>
              </a:ext>
            </a:extLst>
          </p:cNvPr>
          <p:cNvSpPr txBox="1"/>
          <p:nvPr/>
        </p:nvSpPr>
        <p:spPr>
          <a:xfrm>
            <a:off x="322729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/>
              </a:rPr>
              <a:t>Ветка компилятора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04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7" y="298767"/>
            <a:ext cx="10601325" cy="1325563"/>
          </a:xfrm>
        </p:spPr>
        <p:txBody>
          <a:bodyPr/>
          <a:lstStyle/>
          <a:p>
            <a:r>
              <a:rPr lang="ru-RU" dirty="0"/>
              <a:t>Рост производительности при отключении проверок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F21CD-C45A-4346-AB95-864AEDA812A2}"/>
              </a:ext>
            </a:extLst>
          </p:cNvPr>
          <p:cNvSpPr txBox="1"/>
          <p:nvPr/>
        </p:nvSpPr>
        <p:spPr>
          <a:xfrm>
            <a:off x="9242612" y="1694329"/>
            <a:ext cx="25370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Отключалась инструментация в пользовательском коде и проверки в стандартной библиотеке</a:t>
            </a:r>
            <a:r>
              <a:rPr lang="en-US" sz="2000" dirty="0"/>
              <a:t> (</a:t>
            </a:r>
            <a:r>
              <a:rPr lang="ru-RU" sz="2000" dirty="0"/>
              <a:t>контейнеры, </a:t>
            </a:r>
            <a:r>
              <a:rPr lang="en-US" sz="2000" dirty="0"/>
              <a:t>slices, strings, etc.)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3F570-D9EA-4609-BAA6-AE13DF9F0605}"/>
              </a:ext>
            </a:extLst>
          </p:cNvPr>
          <p:cNvSpPr txBox="1"/>
          <p:nvPr/>
        </p:nvSpPr>
        <p:spPr>
          <a:xfrm>
            <a:off x="161359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DDC5B-CFDC-4265-90E7-B183067F6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480" y="1694329"/>
            <a:ext cx="6163234" cy="4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98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Hardened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5371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</a:t>
            </a:r>
            <a:r>
              <a:rPr lang="en-US" dirty="0"/>
              <a:t>C/C++</a:t>
            </a:r>
            <a:r>
              <a:rPr lang="ru-RU" dirty="0"/>
              <a:t> доступны ограниченные решения</a:t>
            </a:r>
            <a:r>
              <a:rPr lang="en-US" dirty="0"/>
              <a:t> </a:t>
            </a:r>
            <a:r>
              <a:rPr lang="ru-RU" dirty="0"/>
              <a:t>для обеспечения </a:t>
            </a:r>
            <a:r>
              <a:rPr lang="en-US" dirty="0"/>
              <a:t>memory safety:</a:t>
            </a:r>
          </a:p>
          <a:p>
            <a:pPr lvl="1"/>
            <a:r>
              <a:rPr lang="en-US" dirty="0" err="1"/>
              <a:t>StackProtector</a:t>
            </a:r>
            <a:endParaRPr lang="en-US" dirty="0"/>
          </a:p>
          <a:p>
            <a:pPr lvl="1"/>
            <a:r>
              <a:rPr lang="en-US" dirty="0"/>
              <a:t>_FORTIFY_SOURCE</a:t>
            </a:r>
          </a:p>
          <a:p>
            <a:pPr lvl="1"/>
            <a:r>
              <a:rPr lang="en-US" dirty="0"/>
              <a:t>Hardened STL (C++ only)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=bounds, -</a:t>
            </a:r>
            <a:r>
              <a:rPr lang="en-US" dirty="0" err="1"/>
              <a:t>fsanitize</a:t>
            </a:r>
            <a:r>
              <a:rPr lang="en-US" dirty="0"/>
              <a:t>=object-size</a:t>
            </a:r>
          </a:p>
          <a:p>
            <a:r>
              <a:rPr lang="ru-RU" dirty="0"/>
              <a:t>Полную проверку корректности индексов сделать невозможно из-за отсутствия информации о диапазонах для </a:t>
            </a:r>
            <a:r>
              <a:rPr lang="en-US" dirty="0"/>
              <a:t>raw pointers</a:t>
            </a:r>
          </a:p>
          <a:p>
            <a:pPr lvl="1"/>
            <a:r>
              <a:rPr lang="ru-RU" dirty="0"/>
              <a:t>Например только </a:t>
            </a:r>
            <a:r>
              <a:rPr lang="en-US" dirty="0"/>
              <a:t>20% </a:t>
            </a:r>
            <a:r>
              <a:rPr lang="ru-RU" dirty="0"/>
              <a:t>нетривиальных обращений в память в коде </a:t>
            </a:r>
            <a:r>
              <a:rPr lang="en-US" dirty="0"/>
              <a:t>Clang </a:t>
            </a:r>
            <a:r>
              <a:rPr lang="ru-RU" dirty="0">
                <a:hlinkClick r:id="rId2"/>
              </a:rPr>
              <a:t>могут быть проверены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C++ Safe Buffers</a:t>
            </a:r>
            <a:r>
              <a:rPr lang="en-US" dirty="0"/>
              <a:t> </a:t>
            </a:r>
            <a:r>
              <a:rPr lang="ru-RU" dirty="0"/>
              <a:t>может быть решением, но требует нетривиальной модификации кода</a:t>
            </a:r>
            <a:endParaRPr lang="en-US" dirty="0"/>
          </a:p>
          <a:p>
            <a:r>
              <a:rPr lang="ru-RU" dirty="0"/>
              <a:t>Дополнительная информация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4"/>
              </a:rPr>
              <a:t>Hardening:</a:t>
            </a:r>
            <a:r>
              <a:rPr lang="ru-RU" dirty="0">
                <a:hlinkClick r:id="rId4"/>
              </a:rPr>
              <a:t> текущий статус и перспективы развития</a:t>
            </a:r>
            <a:r>
              <a:rPr lang="en-US" dirty="0"/>
              <a:t> (C++ Zero Cost 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7B85E-6835-48C8-AACE-DE0DD7539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987" y="4522342"/>
            <a:ext cx="2909706" cy="1325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BA17D-B545-4702-BC29-CA69AE6B51EB}"/>
              </a:ext>
            </a:extLst>
          </p:cNvPr>
          <p:cNvSpPr txBox="1"/>
          <p:nvPr/>
        </p:nvSpPr>
        <p:spPr>
          <a:xfrm>
            <a:off x="8526669" y="2673525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Mario </a:t>
            </a:r>
            <a:r>
              <a:rPr lang="en-US" sz="1200" dirty="0" err="1"/>
              <a:t>Simoes</a:t>
            </a:r>
            <a:r>
              <a:rPr lang="en-US" sz="1200" dirty="0"/>
              <a:t>, </a:t>
            </a:r>
            <a:r>
              <a:rPr lang="en-US" sz="1200" dirty="0">
                <a:hlinkClick r:id="rId6"/>
              </a:rPr>
              <a:t>https://snl.no/Mount_Everest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996D1D-0526-4FCA-A822-1B54E240E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279" y="1541337"/>
            <a:ext cx="3409123" cy="19176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4FA10-C08A-4CE1-A8CC-1627ADCD3558}"/>
              </a:ext>
            </a:extLst>
          </p:cNvPr>
          <p:cNvSpPr txBox="1"/>
          <p:nvPr/>
        </p:nvSpPr>
        <p:spPr>
          <a:xfrm>
            <a:off x="207422" y="6444476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Mario </a:t>
            </a:r>
            <a:r>
              <a:rPr lang="en-US" sz="1200" dirty="0" err="1"/>
              <a:t>Simoes</a:t>
            </a:r>
            <a:r>
              <a:rPr lang="en-US" sz="1200" dirty="0"/>
              <a:t>, </a:t>
            </a:r>
            <a:r>
              <a:rPr lang="en-US" sz="1200" dirty="0">
                <a:hlinkClick r:id="rId6"/>
              </a:rPr>
              <a:t>https://snl.no/Mount_Everest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4532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667F-7E65-4945-9C86-FC727D86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en-US" dirty="0"/>
              <a:t>Rust vs. 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38B40-E73D-4831-98FC-82B140FC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2D04A-CD20-4500-B9A8-DF659194233B}"/>
              </a:ext>
            </a:extLst>
          </p:cNvPr>
          <p:cNvSpPr txBox="1"/>
          <p:nvPr/>
        </p:nvSpPr>
        <p:spPr>
          <a:xfrm>
            <a:off x="755557" y="1665222"/>
            <a:ext cx="5477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28931-BF3D-4195-A053-6645D66107C2}"/>
              </a:ext>
            </a:extLst>
          </p:cNvPr>
          <p:cNvSpPr txBox="1"/>
          <p:nvPr/>
        </p:nvSpPr>
        <p:spPr>
          <a:xfrm>
            <a:off x="653300" y="3687474"/>
            <a:ext cx="5701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[rip + .Lanon.1]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qword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[rip +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panic_bounds_check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EB74-0FB1-4CDE-AF7A-39D1C28E9653}"/>
              </a:ext>
            </a:extLst>
          </p:cNvPr>
          <p:cNvSpPr txBox="1"/>
          <p:nvPr/>
        </p:nvSpPr>
        <p:spPr>
          <a:xfrm>
            <a:off x="7112654" y="1456606"/>
            <a:ext cx="4717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extern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“C”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AE810-34E6-44E1-84D4-118A24EC6A8D}"/>
              </a:ext>
            </a:extLst>
          </p:cNvPr>
          <p:cNvSpPr txBox="1"/>
          <p:nvPr/>
        </p:nvSpPr>
        <p:spPr>
          <a:xfrm>
            <a:off x="6869767" y="3687474"/>
            <a:ext cx="52034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.LFB821: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jnb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.L3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rdi+rdx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*4]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foo.cold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.L3: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std::__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glibcxx_assert_fail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616352-E2D8-44CE-8806-F476359342EC}"/>
              </a:ext>
            </a:extLst>
          </p:cNvPr>
          <p:cNvCxnSpPr>
            <a:cxnSpLocks/>
          </p:cNvCxnSpPr>
          <p:nvPr/>
        </p:nvCxnSpPr>
        <p:spPr>
          <a:xfrm>
            <a:off x="3357139" y="2533824"/>
            <a:ext cx="143" cy="115365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183EF0-70AF-490C-A4A7-C14BB0F0FF7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9471491" y="2533824"/>
            <a:ext cx="1" cy="107242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4B2563-ED3A-45BD-A8CF-8F399FA1E8BA}"/>
              </a:ext>
            </a:extLst>
          </p:cNvPr>
          <p:cNvSpPr txBox="1"/>
          <p:nvPr/>
        </p:nvSpPr>
        <p:spPr>
          <a:xfrm>
            <a:off x="755557" y="2852101"/>
            <a:ext cx="238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rustc</a:t>
            </a:r>
            <a:r>
              <a:rPr lang="en-US" dirty="0"/>
              <a:t> -O -</a:t>
            </a:r>
            <a:r>
              <a:rPr lang="en-US" dirty="0" err="1"/>
              <a:t>Cpanic</a:t>
            </a:r>
            <a:r>
              <a:rPr lang="en-US" dirty="0"/>
              <a:t>=abort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BAA50-F0D7-4F6B-895B-0282FF760CC7}"/>
              </a:ext>
            </a:extLst>
          </p:cNvPr>
          <p:cNvSpPr txBox="1"/>
          <p:nvPr/>
        </p:nvSpPr>
        <p:spPr>
          <a:xfrm>
            <a:off x="6081712" y="2882423"/>
            <a:ext cx="34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gcc</a:t>
            </a:r>
            <a:r>
              <a:rPr lang="en-US" dirty="0"/>
              <a:t> -O2 -D_GLIBCXX_ASSERTIONS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0633ED-92F4-40BA-90D9-69EF34BC93BC}"/>
              </a:ext>
            </a:extLst>
          </p:cNvPr>
          <p:cNvSpPr txBox="1"/>
          <p:nvPr/>
        </p:nvSpPr>
        <p:spPr>
          <a:xfrm>
            <a:off x="3504077" y="2694583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https://godbolt.org/z/jGT6adEYM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B6F90-1C26-4DF2-926F-8DFB98E3A341}"/>
              </a:ext>
            </a:extLst>
          </p:cNvPr>
          <p:cNvSpPr txBox="1"/>
          <p:nvPr/>
        </p:nvSpPr>
        <p:spPr>
          <a:xfrm>
            <a:off x="9738180" y="2692049"/>
            <a:ext cx="2283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https://godbolt.org/z/6MG5vdefK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07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 в</a:t>
            </a:r>
            <a:r>
              <a:rPr lang="en-US" dirty="0"/>
              <a:t> Hardened C++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7220D-4E35-4BDC-A197-DF7B37AA60B2}"/>
              </a:ext>
            </a:extLst>
          </p:cNvPr>
          <p:cNvSpPr txBox="1"/>
          <p:nvPr/>
        </p:nvSpPr>
        <p:spPr>
          <a:xfrm>
            <a:off x="838200" y="5338583"/>
            <a:ext cx="3895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Неожиданные улучшения производительности связаны с аномалиями оптимизатора </a:t>
            </a:r>
            <a:r>
              <a:rPr lang="en-US" sz="1600" dirty="0"/>
              <a:t>(</a:t>
            </a:r>
            <a:r>
              <a:rPr lang="ru-RU" sz="1600" dirty="0"/>
              <a:t>неудачной векторизацией</a:t>
            </a:r>
            <a:r>
              <a:rPr lang="en-US" sz="1600" dirty="0"/>
              <a:t>, </a:t>
            </a:r>
            <a:r>
              <a:rPr lang="ru-RU" sz="1600" dirty="0"/>
              <a:t>отменой инлайнинга</a:t>
            </a:r>
            <a:r>
              <a:rPr lang="en-US" sz="1600" dirty="0"/>
              <a:t>, etc.)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97F92-AD9A-4C58-A5D2-40ACEAD5E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37" y="1928625"/>
            <a:ext cx="11473704" cy="30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23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DE64-8D87-4928-98EF-5C314A18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0330-319B-4265-9CB4-93175ABC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Проверки индексов в </a:t>
            </a:r>
            <a:r>
              <a:rPr lang="en-US" dirty="0"/>
              <a:t>Rust </a:t>
            </a:r>
            <a:r>
              <a:rPr lang="ru-RU" dirty="0"/>
              <a:t>применяются более агрессивно чем в </a:t>
            </a:r>
            <a:r>
              <a:rPr lang="en-US" dirty="0"/>
              <a:t>Hardened C/C++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Hardened C/C++</a:t>
            </a:r>
            <a:r>
              <a:rPr lang="ru-RU" dirty="0"/>
              <a:t> можно проверить в 5 раз меньше доступов чем в </a:t>
            </a:r>
            <a:r>
              <a:rPr lang="en-US" dirty="0"/>
              <a:t>Rust</a:t>
            </a:r>
            <a:endParaRPr lang="ru-RU" dirty="0"/>
          </a:p>
          <a:p>
            <a:r>
              <a:rPr lang="ru-RU" dirty="0"/>
              <a:t>Накладные расходы в среднем могут достигать 3-4%</a:t>
            </a:r>
            <a:r>
              <a:rPr lang="en-US" dirty="0"/>
              <a:t> (</a:t>
            </a:r>
            <a:r>
              <a:rPr lang="ru-RU" dirty="0"/>
              <a:t>и сравнимы с </a:t>
            </a:r>
            <a:r>
              <a:rPr lang="en-US" dirty="0"/>
              <a:t>Hardened C/C++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Но отдельные тесты могут замедляться на десятки процентов </a:t>
            </a:r>
            <a:r>
              <a:rPr lang="en-US" dirty="0"/>
              <a:t>(</a:t>
            </a:r>
            <a:r>
              <a:rPr lang="ru-RU" dirty="0"/>
              <a:t>как впрочем и в </a:t>
            </a:r>
            <a:r>
              <a:rPr lang="en-US" dirty="0"/>
              <a:t>Hardened C/C++)</a:t>
            </a:r>
          </a:p>
          <a:p>
            <a:r>
              <a:rPr lang="ru-RU" dirty="0"/>
              <a:t>Существует множество способов избежания проверок в критических частях кода</a:t>
            </a:r>
            <a:endParaRPr lang="en-US" dirty="0"/>
          </a:p>
          <a:p>
            <a:pPr lvl="1"/>
            <a:r>
              <a:rPr lang="ru-RU" dirty="0"/>
              <a:t>Некоторые из них будут не нужны если решат проблему с </a:t>
            </a:r>
            <a:r>
              <a:rPr lang="en-US" dirty="0"/>
              <a:t>delayed panics (</a:t>
            </a:r>
            <a:r>
              <a:rPr lang="en-US" dirty="0">
                <a:hlinkClick r:id="rId2"/>
              </a:rPr>
              <a:t>rust #50759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CD42-7D07-42C8-AE40-84900801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1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B0DE-4C05-402A-8637-FC6BA69E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DFC6-7019-40AC-8B90-DDCFB759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How to avoid bounds checks in Rust without unsafe</a:t>
            </a:r>
            <a:r>
              <a:rPr lang="en-US" dirty="0"/>
              <a:t> (Sergey Davidoff aka </a:t>
            </a:r>
            <a:r>
              <a:rPr lang="en-US" dirty="0" err="1"/>
              <a:t>Shnatsel</a:t>
            </a:r>
            <a:r>
              <a:rPr lang="en-US" dirty="0"/>
              <a:t>, Rust Secure WG lead)</a:t>
            </a:r>
          </a:p>
          <a:p>
            <a:pPr lvl="1"/>
            <a:r>
              <a:rPr lang="en-US" dirty="0"/>
              <a:t>“</a:t>
            </a:r>
            <a:r>
              <a:rPr lang="ru-RU" dirty="0"/>
              <a:t>Библия</a:t>
            </a:r>
            <a:r>
              <a:rPr lang="en-US" dirty="0"/>
              <a:t>” </a:t>
            </a:r>
            <a:r>
              <a:rPr lang="ru-RU" dirty="0"/>
              <a:t>борьбы с индексными проверками</a:t>
            </a:r>
            <a:endParaRPr lang="en-US" dirty="0"/>
          </a:p>
          <a:p>
            <a:r>
              <a:rPr lang="en-US" dirty="0">
                <a:hlinkClick r:id="rId3"/>
              </a:rPr>
              <a:t>Story-time: C++, bounds checking, performance, and compilers</a:t>
            </a:r>
            <a:r>
              <a:rPr lang="en-US" dirty="0"/>
              <a:t> (Chandler Carruth, SW foundations &amp; PLs technical lead, </a:t>
            </a:r>
            <a:r>
              <a:rPr lang="ru-RU" dirty="0"/>
              <a:t>создатель языка </a:t>
            </a:r>
            <a:r>
              <a:rPr lang="en-US" dirty="0"/>
              <a:t>Carbon)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441FE-F429-4B2E-9ABE-586760B0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58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алиасинга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8F657-411A-41C1-A3CC-2B166A30385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84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9249-37A4-4BB2-8505-8B46470D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Алиасинг указателей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8151-D0CD-491B-946E-15212099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Универсальная концепция в языках программирования</a:t>
            </a:r>
          </a:p>
          <a:p>
            <a:r>
              <a:rPr lang="ru-RU" dirty="0"/>
              <a:t>Могут ли два разных указателя (ссылки) в программе адресовать одну и ту же память</a:t>
            </a:r>
            <a:r>
              <a:rPr lang="en-US" dirty="0"/>
              <a:t>?</a:t>
            </a:r>
          </a:p>
          <a:p>
            <a:r>
              <a:rPr lang="ru-RU" dirty="0"/>
              <a:t>В разных языках приняты различные подходы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Никакие два указателя в программе не могут ссылаться на одни и те же данные</a:t>
            </a:r>
            <a:r>
              <a:rPr lang="en-US" dirty="0"/>
              <a:t> (</a:t>
            </a:r>
            <a:r>
              <a:rPr lang="ru-RU" dirty="0"/>
              <a:t>например </a:t>
            </a:r>
            <a:r>
              <a:rPr lang="en-US" dirty="0"/>
              <a:t>Fortran 77)</a:t>
            </a:r>
            <a:endParaRPr lang="ru-RU" dirty="0"/>
          </a:p>
          <a:p>
            <a:pPr lvl="1"/>
            <a:r>
              <a:rPr lang="ru-RU" dirty="0"/>
              <a:t>Любые указатели могут ссылаться на одни и те же данные</a:t>
            </a:r>
            <a:r>
              <a:rPr lang="en-US" dirty="0"/>
              <a:t> (</a:t>
            </a:r>
            <a:r>
              <a:rPr lang="ru-RU" dirty="0"/>
              <a:t>например ранние версии языка </a:t>
            </a:r>
            <a:r>
              <a:rPr lang="en-US" dirty="0"/>
              <a:t>C)</a:t>
            </a:r>
          </a:p>
          <a:p>
            <a:pPr lvl="1"/>
            <a:r>
              <a:rPr lang="ru-RU" dirty="0"/>
              <a:t>Промежуточные варианты</a:t>
            </a:r>
            <a:endParaRPr lang="en-US" dirty="0"/>
          </a:p>
          <a:p>
            <a:pPr lvl="2"/>
            <a:r>
              <a:rPr lang="ru-RU" dirty="0"/>
              <a:t>Например </a:t>
            </a:r>
            <a:r>
              <a:rPr lang="en-US" dirty="0"/>
              <a:t>strict (type-based) aliasing </a:t>
            </a:r>
            <a:r>
              <a:rPr lang="ru-RU" dirty="0"/>
              <a:t>в </a:t>
            </a:r>
            <a:r>
              <a:rPr lang="en-US" dirty="0"/>
              <a:t>C89 </a:t>
            </a:r>
            <a:r>
              <a:rPr lang="ru-RU" dirty="0"/>
              <a:t>и </a:t>
            </a:r>
            <a:r>
              <a:rPr lang="en-US" dirty="0"/>
              <a:t>restrict-</a:t>
            </a:r>
            <a:r>
              <a:rPr lang="ru-RU" dirty="0"/>
              <a:t>аннотации в </a:t>
            </a:r>
            <a:r>
              <a:rPr lang="en-US" dirty="0"/>
              <a:t>C99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3C7B-340C-4F20-A332-387A60C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D102F08-DA68-4877-824F-980D7FCEB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331" y="253066"/>
            <a:ext cx="2144093" cy="205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0F79E9-3A3A-43C4-ACAD-C6FF9EB32138}"/>
              </a:ext>
            </a:extLst>
          </p:cNvPr>
          <p:cNvSpPr txBox="1"/>
          <p:nvPr/>
        </p:nvSpPr>
        <p:spPr>
          <a:xfrm>
            <a:off x="62753" y="6504641"/>
            <a:ext cx="465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https://commons.wikimedia.org/wiki/File:Hercules_slaying_the_Hydra.gif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1637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C768-9F03-45EB-A999-97F2D406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-169352"/>
            <a:ext cx="10515600" cy="1325563"/>
          </a:xfrm>
        </p:spPr>
        <p:txBody>
          <a:bodyPr/>
          <a:lstStyle/>
          <a:p>
            <a:r>
              <a:rPr lang="ru-RU" dirty="0"/>
              <a:t>Почему важен алиасинг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C3962-3A46-46BC-8044-5E039A931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132234"/>
            <a:ext cx="10515600" cy="28083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Неограниченный алиасинг удобен для программиста, но снижает возможности компилятора</a:t>
            </a:r>
          </a:p>
          <a:p>
            <a:r>
              <a:rPr lang="ru-RU" dirty="0"/>
              <a:t>Отсутствие алиасинга даёт больше возможностей многим оптимизациям</a:t>
            </a:r>
            <a:endParaRPr lang="en-US" dirty="0"/>
          </a:p>
          <a:p>
            <a:pPr lvl="1"/>
            <a:r>
              <a:rPr lang="ru-RU" dirty="0"/>
              <a:t>Векторизация,</a:t>
            </a:r>
            <a:r>
              <a:rPr lang="en-US" dirty="0"/>
              <a:t> CSE,</a:t>
            </a:r>
            <a:r>
              <a:rPr lang="ru-RU" dirty="0"/>
              <a:t> </a:t>
            </a:r>
            <a:r>
              <a:rPr lang="en-US" dirty="0"/>
              <a:t>GVN, LICM, DSE, etc.</a:t>
            </a:r>
            <a:endParaRPr lang="ru-RU" dirty="0"/>
          </a:p>
          <a:p>
            <a:pPr lvl="1"/>
            <a:r>
              <a:rPr lang="ru-RU" dirty="0"/>
              <a:t>И даже используется в процессоре </a:t>
            </a:r>
            <a:r>
              <a:rPr lang="en-US" dirty="0"/>
              <a:t>(</a:t>
            </a:r>
            <a:r>
              <a:rPr lang="ru-RU" dirty="0"/>
              <a:t>для спекулятивного выноса загрузок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Поэтому важнейшим компонентом любого компилятора является модуль </a:t>
            </a:r>
            <a:r>
              <a:rPr lang="en-US" dirty="0"/>
              <a:t>Alias Analysis</a:t>
            </a:r>
          </a:p>
          <a:p>
            <a:pPr lvl="1"/>
            <a:r>
              <a:rPr lang="ru-RU" dirty="0"/>
              <a:t>Идентификация указателей, которые могут </a:t>
            </a:r>
            <a:r>
              <a:rPr lang="en-US" dirty="0"/>
              <a:t>(</a:t>
            </a:r>
            <a:r>
              <a:rPr lang="ru-RU" dirty="0"/>
              <a:t>или не могут</a:t>
            </a:r>
            <a:r>
              <a:rPr lang="en-US" dirty="0"/>
              <a:t>)</a:t>
            </a:r>
            <a:r>
              <a:rPr lang="ru-RU" dirty="0"/>
              <a:t> алиаситься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5358-E7B4-4749-8C2C-BDF37FD6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919BF-2F2B-48A8-B857-3EA8DF45FE04}"/>
              </a:ext>
            </a:extLst>
          </p:cNvPr>
          <p:cNvSpPr txBox="1"/>
          <p:nvPr/>
        </p:nvSpPr>
        <p:spPr>
          <a:xfrm>
            <a:off x="932891" y="4011097"/>
            <a:ext cx="57346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8A4CB-0DAE-4DAE-946E-E76B353C378B}"/>
              </a:ext>
            </a:extLst>
          </p:cNvPr>
          <p:cNvSpPr txBox="1"/>
          <p:nvPr/>
        </p:nvSpPr>
        <p:spPr>
          <a:xfrm>
            <a:off x="7495054" y="4011098"/>
            <a:ext cx="38587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FB4DB9-17BE-4C11-AEBD-F99F3E786F9F}"/>
              </a:ext>
            </a:extLst>
          </p:cNvPr>
          <p:cNvCxnSpPr>
            <a:cxnSpLocks/>
          </p:cNvCxnSpPr>
          <p:nvPr/>
        </p:nvCxnSpPr>
        <p:spPr>
          <a:xfrm>
            <a:off x="6363541" y="5242203"/>
            <a:ext cx="827553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8803B9-A0B4-4693-B88F-39CFD5DFD6D2}"/>
              </a:ext>
            </a:extLst>
          </p:cNvPr>
          <p:cNvSpPr txBox="1"/>
          <p:nvPr/>
        </p:nvSpPr>
        <p:spPr>
          <a:xfrm>
            <a:off x="4446494" y="5826979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https://godbolt.org/z/nqdax4vEP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859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6F3F-7D8F-44CD-9745-A9F855E4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Теория алиасинга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D20E-A837-448A-B03C-F32932D8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Точный внутрипроцедурный</a:t>
            </a:r>
            <a:r>
              <a:rPr lang="en-US" dirty="0"/>
              <a:t> alias analysis</a:t>
            </a:r>
          </a:p>
          <a:p>
            <a:pPr lvl="1"/>
            <a:r>
              <a:rPr lang="en-US" dirty="0"/>
              <a:t>NP-</a:t>
            </a:r>
            <a:r>
              <a:rPr lang="ru-RU" dirty="0"/>
              <a:t>полон в отсутствие динамических</a:t>
            </a:r>
            <a:r>
              <a:rPr lang="en-US" dirty="0"/>
              <a:t> </a:t>
            </a:r>
            <a:r>
              <a:rPr lang="ru-RU" dirty="0"/>
              <a:t>аллокаций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Pointer-induced aliasing</a:t>
            </a:r>
            <a:r>
              <a:rPr lang="en-US" dirty="0"/>
              <a:t>, 1991)</a:t>
            </a:r>
            <a:endParaRPr lang="ru-RU" dirty="0"/>
          </a:p>
          <a:p>
            <a:pPr lvl="1"/>
            <a:r>
              <a:rPr lang="ru-RU" dirty="0"/>
              <a:t>Неразрешим иначе </a:t>
            </a:r>
            <a:r>
              <a:rPr lang="en-US" dirty="0"/>
              <a:t>(</a:t>
            </a:r>
            <a:r>
              <a:rPr lang="en-US" dirty="0">
                <a:hlinkClick r:id="rId3"/>
              </a:rPr>
              <a:t>Undecidability of static analysis</a:t>
            </a:r>
            <a:r>
              <a:rPr lang="en-US" dirty="0"/>
              <a:t>, 1992)</a:t>
            </a:r>
          </a:p>
          <a:p>
            <a:r>
              <a:rPr lang="ru-RU" dirty="0"/>
              <a:t>В реальных программах алиасинг встречается очень редко</a:t>
            </a:r>
            <a:endParaRPr lang="en-US" dirty="0"/>
          </a:p>
          <a:p>
            <a:pPr lvl="1"/>
            <a:r>
              <a:rPr lang="en-US" dirty="0"/>
              <a:t>98% </a:t>
            </a:r>
            <a:r>
              <a:rPr lang="ru-RU" dirty="0"/>
              <a:t>указателей в бенчмарках </a:t>
            </a:r>
            <a:r>
              <a:rPr lang="en-US" dirty="0"/>
              <a:t>SPEC </a:t>
            </a:r>
            <a:r>
              <a:rPr lang="ru-RU" dirty="0"/>
              <a:t>ссылаются только на один объект</a:t>
            </a:r>
          </a:p>
          <a:p>
            <a:pPr lvl="2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r>
              <a:rPr lang="ru-RU" dirty="0"/>
              <a:t>Существующие </a:t>
            </a:r>
            <a:r>
              <a:rPr lang="en-US" dirty="0"/>
              <a:t>Alias Analysis </a:t>
            </a:r>
            <a:r>
              <a:rPr lang="ru-RU" dirty="0"/>
              <a:t>консервативно переоценивают алиасинг в </a:t>
            </a:r>
            <a:r>
              <a:rPr lang="en-US" dirty="0"/>
              <a:t>1.5-20 </a:t>
            </a:r>
            <a:r>
              <a:rPr lang="ru-RU" dirty="0"/>
              <a:t>раз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pPr lvl="1"/>
            <a:r>
              <a:rPr lang="en-US" dirty="0">
                <a:hlinkClick r:id="rId5"/>
              </a:rPr>
              <a:t>Speculative Alias Analysis for Executable Code</a:t>
            </a:r>
            <a:r>
              <a:rPr lang="en-US" dirty="0"/>
              <a:t> (Fernandez et al., 2002)</a:t>
            </a:r>
          </a:p>
          <a:p>
            <a:pPr lvl="1"/>
            <a:r>
              <a:rPr lang="en-US" dirty="0">
                <a:hlinkClick r:id="rId6"/>
              </a:rPr>
              <a:t>ORAQL — Optimistic Responses to Alias Queries in LLVM</a:t>
            </a:r>
            <a:r>
              <a:rPr lang="en-US" dirty="0"/>
              <a:t> (</a:t>
            </a:r>
            <a:r>
              <a:rPr lang="en-US" dirty="0" err="1"/>
              <a:t>Doerfert</a:t>
            </a:r>
            <a:r>
              <a:rPr lang="en-US" dirty="0"/>
              <a:t> et al., 2023)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FD291-5D9C-42B9-BE79-497DD737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6CA-4CAD-4640-858E-8B9921A8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Алиасинг 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46FD-E26A-49FC-83BD-BEB328B1D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945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Ограничения </a:t>
            </a:r>
            <a:r>
              <a:rPr lang="en-US" dirty="0"/>
              <a:t>Borrow checker </a:t>
            </a:r>
            <a:r>
              <a:rPr lang="ru-RU" dirty="0"/>
              <a:t>на работу со ссылками упрощают </a:t>
            </a:r>
            <a:r>
              <a:rPr lang="en-US" dirty="0"/>
              <a:t>alias analysis:</a:t>
            </a:r>
          </a:p>
          <a:p>
            <a:pPr lvl="1"/>
            <a:r>
              <a:rPr lang="en-US" dirty="0"/>
              <a:t>Mutable-</a:t>
            </a:r>
            <a:r>
              <a:rPr lang="ru-RU" dirty="0"/>
              <a:t>ссылка не может алиаситься ни с какими другими </a:t>
            </a:r>
            <a:r>
              <a:rPr lang="en-US" dirty="0"/>
              <a:t>(mutable </a:t>
            </a:r>
            <a:r>
              <a:rPr lang="ru-RU" dirty="0"/>
              <a:t>или </a:t>
            </a:r>
            <a:r>
              <a:rPr lang="en-US" dirty="0"/>
              <a:t>shared) </a:t>
            </a:r>
            <a:r>
              <a:rPr lang="ru-RU" dirty="0"/>
              <a:t>ссылками</a:t>
            </a:r>
            <a:endParaRPr lang="en-US" dirty="0"/>
          </a:p>
          <a:p>
            <a:pPr lvl="1"/>
            <a:r>
              <a:rPr lang="en-US" dirty="0"/>
              <a:t>Mutable-</a:t>
            </a:r>
            <a:r>
              <a:rPr lang="ru-RU" dirty="0"/>
              <a:t>ссылка, пока она существует, является единственным указателем на объект</a:t>
            </a:r>
            <a:endParaRPr lang="en-US" dirty="0"/>
          </a:p>
          <a:p>
            <a:pPr lvl="1"/>
            <a:r>
              <a:rPr lang="ru-RU" dirty="0"/>
              <a:t>Объект</a:t>
            </a:r>
            <a:r>
              <a:rPr lang="en-US" dirty="0"/>
              <a:t>,</a:t>
            </a:r>
            <a:r>
              <a:rPr lang="ru-RU" dirty="0"/>
              <a:t> адресуемый </a:t>
            </a:r>
            <a:r>
              <a:rPr lang="en-US" dirty="0"/>
              <a:t>shared</a:t>
            </a:r>
            <a:r>
              <a:rPr lang="ru-RU" dirty="0"/>
              <a:t>-ссылкой, не может быть изменён пока она существует</a:t>
            </a:r>
            <a:endParaRPr lang="en-US" dirty="0"/>
          </a:p>
          <a:p>
            <a:r>
              <a:rPr lang="ru-RU" dirty="0"/>
              <a:t>На практике это позволяет добиться функциональности, сходной с </a:t>
            </a:r>
            <a:r>
              <a:rPr lang="en-US" dirty="0"/>
              <a:t>restrict </a:t>
            </a:r>
            <a:r>
              <a:rPr lang="ru-RU" dirty="0"/>
              <a:t>в </a:t>
            </a:r>
            <a:r>
              <a:rPr lang="en-US" dirty="0"/>
              <a:t>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9A51-24D0-4249-B45E-3C9FD8CB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B1B2A-90AD-47D1-B022-CD1DC8848EE0}"/>
              </a:ext>
            </a:extLst>
          </p:cNvPr>
          <p:cNvSpPr txBox="1"/>
          <p:nvPr/>
        </p:nvSpPr>
        <p:spPr>
          <a:xfrm>
            <a:off x="8096250" y="531158"/>
            <a:ext cx="3848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7A8BE-4CF2-4035-85AD-C171F66B7089}"/>
              </a:ext>
            </a:extLst>
          </p:cNvPr>
          <p:cNvSpPr txBox="1"/>
          <p:nvPr/>
        </p:nvSpPr>
        <p:spPr>
          <a:xfrm>
            <a:off x="8143875" y="2458323"/>
            <a:ext cx="375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define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@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2D2BA5-26C1-413B-A740-4FA11A811EDE}"/>
              </a:ext>
            </a:extLst>
          </p:cNvPr>
          <p:cNvSpPr txBox="1"/>
          <p:nvPr/>
        </p:nvSpPr>
        <p:spPr>
          <a:xfrm>
            <a:off x="8043862" y="4545836"/>
            <a:ext cx="39528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C44FEE-6129-4111-A78D-C8596E1E8FD0}"/>
              </a:ext>
            </a:extLst>
          </p:cNvPr>
          <p:cNvCxnSpPr>
            <a:cxnSpLocks/>
          </p:cNvCxnSpPr>
          <p:nvPr/>
        </p:nvCxnSpPr>
        <p:spPr>
          <a:xfrm>
            <a:off x="10020299" y="1690688"/>
            <a:ext cx="0" cy="54884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92B5B5-5B91-48C9-A745-75F3DE3C7AB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020299" y="4025153"/>
            <a:ext cx="1" cy="52068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931A95-3CAA-4C38-9D65-B43E305B4AC3}"/>
              </a:ext>
            </a:extLst>
          </p:cNvPr>
          <p:cNvSpPr txBox="1"/>
          <p:nvPr/>
        </p:nvSpPr>
        <p:spPr>
          <a:xfrm>
            <a:off x="8551769" y="6033184"/>
            <a:ext cx="2357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https://godbolt.org/z/6WoTzoo5v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13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3DC2-01D3-472B-9151-936A2935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0A3D-FF36-4404-AB04-9D1125AC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9475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Информация об указателях</a:t>
            </a:r>
            <a:r>
              <a:rPr lang="en-US" dirty="0"/>
              <a:t> </a:t>
            </a:r>
            <a:r>
              <a:rPr lang="ru-RU" dirty="0"/>
              <a:t>предоставляется</a:t>
            </a:r>
            <a:r>
              <a:rPr lang="en-US" dirty="0"/>
              <a:t> </a:t>
            </a:r>
            <a:r>
              <a:rPr lang="ru-RU" dirty="0"/>
              <a:t>с помощью атрибута </a:t>
            </a:r>
            <a:r>
              <a:rPr lang="en-US" dirty="0" err="1"/>
              <a:t>noalias</a:t>
            </a:r>
            <a:r>
              <a:rPr lang="en-US" dirty="0"/>
              <a:t> </a:t>
            </a:r>
            <a:r>
              <a:rPr lang="ru-RU" dirty="0"/>
              <a:t>у аргументов функций</a:t>
            </a:r>
            <a:endParaRPr lang="en-US" dirty="0"/>
          </a:p>
          <a:p>
            <a:pPr lvl="1"/>
            <a:r>
              <a:rPr lang="ru-RU" dirty="0"/>
              <a:t>Ссылки, возникающие </a:t>
            </a:r>
            <a:r>
              <a:rPr lang="ru-RU" i="1" dirty="0"/>
              <a:t>внутри</a:t>
            </a:r>
            <a:r>
              <a:rPr lang="ru-RU" dirty="0"/>
              <a:t> функций, никак не помечаются и с точки зрения </a:t>
            </a:r>
            <a:r>
              <a:rPr lang="en-US" dirty="0"/>
              <a:t>LLVM </a:t>
            </a:r>
            <a:r>
              <a:rPr lang="ru-RU" dirty="0"/>
              <a:t>могут алиаситься</a:t>
            </a:r>
            <a:endParaRPr lang="en-US" dirty="0"/>
          </a:p>
          <a:p>
            <a:r>
              <a:rPr lang="ru-RU" dirty="0"/>
              <a:t>Решение возможно с помощью </a:t>
            </a:r>
            <a:r>
              <a:rPr lang="en-US" dirty="0" err="1">
                <a:hlinkClick r:id="rId2"/>
              </a:rPr>
              <a:t>alias.scope</a:t>
            </a:r>
            <a:r>
              <a:rPr lang="en-US" dirty="0">
                <a:hlinkClick r:id="rId2"/>
              </a:rPr>
              <a:t> metadata</a:t>
            </a:r>
            <a:r>
              <a:rPr lang="ru-RU" dirty="0"/>
              <a:t>, но пока не реализовано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#16515</a:t>
            </a:r>
            <a:r>
              <a:rPr lang="en-US" dirty="0"/>
              <a:t>)</a:t>
            </a:r>
          </a:p>
          <a:p>
            <a:r>
              <a:rPr lang="en-US" dirty="0"/>
              <a:t>Workaround: </a:t>
            </a:r>
            <a:r>
              <a:rPr lang="ru-RU" dirty="0"/>
              <a:t>создание </a:t>
            </a:r>
            <a:r>
              <a:rPr lang="en-US" dirty="0"/>
              <a:t>dummy</a:t>
            </a:r>
            <a:r>
              <a:rPr lang="ru-RU" dirty="0"/>
              <a:t>-функции для генерации </a:t>
            </a:r>
            <a:r>
              <a:rPr lang="en-US" dirty="0" err="1"/>
              <a:t>noalias</a:t>
            </a:r>
            <a:r>
              <a:rPr lang="en-US" dirty="0"/>
              <a:t>-</a:t>
            </a:r>
            <a:r>
              <a:rPr lang="ru-RU" dirty="0"/>
              <a:t>аннотаций</a:t>
            </a:r>
            <a:endParaRPr lang="en-US" dirty="0"/>
          </a:p>
          <a:p>
            <a:pPr lvl="1"/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>
                <a:hlinkClick r:id="rId4"/>
              </a:rPr>
              <a:t>rustc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F96B0-A3A2-4B7E-900F-9044BAC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6C026-28A1-4716-BF50-E1E56117FCB9}"/>
              </a:ext>
            </a:extLst>
          </p:cNvPr>
          <p:cNvSpPr txBox="1"/>
          <p:nvPr/>
        </p:nvSpPr>
        <p:spPr>
          <a:xfrm>
            <a:off x="8286751" y="1470676"/>
            <a:ext cx="3714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C1C39-8C7A-4F24-8DAD-1C6E0122F876}"/>
              </a:ext>
            </a:extLst>
          </p:cNvPr>
          <p:cNvSpPr txBox="1"/>
          <p:nvPr/>
        </p:nvSpPr>
        <p:spPr>
          <a:xfrm>
            <a:off x="8139956" y="4084380"/>
            <a:ext cx="3861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0DEE58-15BC-44E0-92D1-8A19F2D02A2E}"/>
              </a:ext>
            </a:extLst>
          </p:cNvPr>
          <p:cNvCxnSpPr>
            <a:cxnSpLocks/>
          </p:cNvCxnSpPr>
          <p:nvPr/>
        </p:nvCxnSpPr>
        <p:spPr>
          <a:xfrm>
            <a:off x="10153091" y="3429000"/>
            <a:ext cx="0" cy="52539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C5326E-E308-424C-8E96-64532B8C3CB5}"/>
              </a:ext>
            </a:extLst>
          </p:cNvPr>
          <p:cNvSpPr txBox="1"/>
          <p:nvPr/>
        </p:nvSpPr>
        <p:spPr>
          <a:xfrm>
            <a:off x="8426264" y="5734258"/>
            <a:ext cx="2277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https://godbolt.org/z/WjY9rxex7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48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0DFE-523B-4E6C-B58A-2D327C5F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1C8B-47E1-4580-A0CB-850D105F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4351338"/>
          </a:xfrm>
        </p:spPr>
        <p:txBody>
          <a:bodyPr/>
          <a:lstStyle/>
          <a:p>
            <a:r>
              <a:rPr lang="ru-RU" dirty="0"/>
              <a:t>Частный случай указанной выше проблемы – алиасинг ссылок на элементы структур данных</a:t>
            </a:r>
          </a:p>
          <a:p>
            <a:r>
              <a:rPr lang="ru-RU" dirty="0"/>
              <a:t>Например при передаче в функцию двух векторов компилятор не сможет определить что их буферы не алиасятся</a:t>
            </a:r>
          </a:p>
          <a:p>
            <a:r>
              <a:rPr lang="en-US" dirty="0"/>
              <a:t>Workaround: </a:t>
            </a:r>
            <a:r>
              <a:rPr lang="ru-RU" dirty="0"/>
              <a:t>передавать в функции </a:t>
            </a:r>
            <a:r>
              <a:rPr lang="en-US" dirty="0"/>
              <a:t>raw slices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84024-4D76-4236-8B68-69F588C7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4D926-8409-43D2-81FA-C4C3B3F158C7}"/>
              </a:ext>
            </a:extLst>
          </p:cNvPr>
          <p:cNvSpPr txBox="1"/>
          <p:nvPr/>
        </p:nvSpPr>
        <p:spPr>
          <a:xfrm>
            <a:off x="8029574" y="1170970"/>
            <a:ext cx="40290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3A6FB-3CC4-41EE-8F5D-7DB26EFAD93E}"/>
              </a:ext>
            </a:extLst>
          </p:cNvPr>
          <p:cNvSpPr txBox="1"/>
          <p:nvPr/>
        </p:nvSpPr>
        <p:spPr>
          <a:xfrm>
            <a:off x="8029574" y="3782913"/>
            <a:ext cx="36290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06FB62-C6E5-4AEF-BBA7-53DC3E244B09}"/>
              </a:ext>
            </a:extLst>
          </p:cNvPr>
          <p:cNvCxnSpPr>
            <a:cxnSpLocks/>
          </p:cNvCxnSpPr>
          <p:nvPr/>
        </p:nvCxnSpPr>
        <p:spPr>
          <a:xfrm flipH="1">
            <a:off x="9844086" y="3084612"/>
            <a:ext cx="1" cy="53828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546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259C-7A36-4765-BA29-59802A6C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ADD1-7E79-46BE-8E20-8739895F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Правила алиасинга распространяются только на ссылки</a:t>
            </a:r>
          </a:p>
          <a:p>
            <a:r>
              <a:rPr lang="ru-RU" dirty="0"/>
              <a:t>Указатели в </a:t>
            </a:r>
            <a:r>
              <a:rPr lang="en-US" dirty="0"/>
              <a:t>Rust </a:t>
            </a:r>
            <a:r>
              <a:rPr lang="ru-RU" dirty="0"/>
              <a:t>будут алиаситься</a:t>
            </a:r>
          </a:p>
          <a:p>
            <a:pPr lvl="1"/>
            <a:r>
              <a:rPr lang="ru-RU" dirty="0"/>
              <a:t>Причём сильнее чем в </a:t>
            </a:r>
            <a:r>
              <a:rPr lang="en-US" dirty="0"/>
              <a:t>C/C++ </a:t>
            </a:r>
            <a:r>
              <a:rPr lang="ru-RU" dirty="0"/>
              <a:t>из-за отсутствия </a:t>
            </a:r>
            <a:r>
              <a:rPr lang="en-US" dirty="0"/>
              <a:t>strict aliasing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975B-B888-4AD8-89D6-1DA0B022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941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CB7C-7BB2-497D-AB38-7DDF8E09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правил</a:t>
            </a:r>
            <a:r>
              <a:rPr lang="en-US" dirty="0"/>
              <a:t> </a:t>
            </a:r>
            <a:r>
              <a:rPr lang="ru-RU" dirty="0"/>
              <a:t>алиасинга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0ADC-B477-493E-9705-8D57080C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AB8DB-3BE3-47E9-AAD9-0331EBFD79D5}"/>
              </a:ext>
            </a:extLst>
          </p:cNvPr>
          <p:cNvSpPr txBox="1"/>
          <p:nvPr/>
        </p:nvSpPr>
        <p:spPr>
          <a:xfrm>
            <a:off x="84604" y="6492875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Методика анализа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5875B-D97C-4E55-905D-4FD2A00A6F20}"/>
              </a:ext>
            </a:extLst>
          </p:cNvPr>
          <p:cNvSpPr txBox="1"/>
          <p:nvPr/>
        </p:nvSpPr>
        <p:spPr>
          <a:xfrm>
            <a:off x="2124355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40907-6395-4836-80B1-734F50EA6DEA}"/>
              </a:ext>
            </a:extLst>
          </p:cNvPr>
          <p:cNvSpPr txBox="1"/>
          <p:nvPr/>
        </p:nvSpPr>
        <p:spPr>
          <a:xfrm>
            <a:off x="9820275" y="2098577"/>
            <a:ext cx="2105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Точность алиас-анализа – число пар указателей, для которых анализ смог дать чёткий ответ (</a:t>
            </a:r>
            <a:r>
              <a:rPr lang="en-US" dirty="0" err="1"/>
              <a:t>MustAlias</a:t>
            </a:r>
            <a:r>
              <a:rPr lang="en-US" dirty="0"/>
              <a:t> / </a:t>
            </a:r>
            <a:r>
              <a:rPr lang="en-US" dirty="0" err="1"/>
              <a:t>NoAlias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1DB5B-563D-41B9-AA77-FFB932CEFCE8}"/>
              </a:ext>
            </a:extLst>
          </p:cNvPr>
          <p:cNvSpPr txBox="1"/>
          <p:nvPr/>
        </p:nvSpPr>
        <p:spPr>
          <a:xfrm>
            <a:off x="1419224" y="5604986"/>
            <a:ext cx="802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Ухудшение точности </a:t>
            </a:r>
            <a:r>
              <a:rPr lang="en-US" dirty="0"/>
              <a:t>Alias Analysis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при отключении правил алиасинга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C23DA-EBCC-4DC2-981A-BCC01BA8E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" y="1690688"/>
            <a:ext cx="8915961" cy="37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947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8189-755D-4F0A-9D27-F53B2B44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Ухудшение производительности при отключении правил алиасинга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9745-C71B-42E8-BD21-92D92B16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6B715-1AB6-43D0-9F84-6601124BD71A}"/>
              </a:ext>
            </a:extLst>
          </p:cNvPr>
          <p:cNvSpPr txBox="1"/>
          <p:nvPr/>
        </p:nvSpPr>
        <p:spPr>
          <a:xfrm>
            <a:off x="137834" y="635214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0D923-F33B-4526-8296-358DFC769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2" y="1865294"/>
            <a:ext cx="6070226" cy="485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03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6931-75D5-4C29-87E7-EF84BBBA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Ситуация в </a:t>
            </a:r>
            <a:r>
              <a:rPr lang="en-US" dirty="0"/>
              <a:t>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2B529-8127-4DB6-B0F8-4A65E7AF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58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E62116B-97D2-4483-BA73-26F94E41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01117" cy="2638799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u-RU" dirty="0"/>
              <a:t> и </a:t>
            </a:r>
            <a:r>
              <a:rPr lang="en-US" dirty="0"/>
              <a:t>C++ </a:t>
            </a:r>
            <a:r>
              <a:rPr lang="ru-RU" dirty="0"/>
              <a:t>запрещают алиасинг указателей на разные типы</a:t>
            </a:r>
          </a:p>
          <a:p>
            <a:pPr lvl="1"/>
            <a:r>
              <a:rPr lang="ru-RU" dirty="0"/>
              <a:t>Кроме </a:t>
            </a:r>
            <a:r>
              <a:rPr lang="en-US" dirty="0"/>
              <a:t>char *, signed/unsigned, scalar/vector </a:t>
            </a:r>
            <a:r>
              <a:rPr lang="ru-RU" dirty="0"/>
              <a:t>и т.п.</a:t>
            </a:r>
            <a:endParaRPr lang="en-US" dirty="0"/>
          </a:p>
          <a:p>
            <a:r>
              <a:rPr lang="ru-RU" dirty="0"/>
              <a:t>Но многие проекты игнорируют это правило с помощью </a:t>
            </a:r>
            <a:r>
              <a:rPr lang="en-US" dirty="0"/>
              <a:t>-</a:t>
            </a:r>
            <a:r>
              <a:rPr lang="en-US" dirty="0" err="1"/>
              <a:t>fno</a:t>
            </a:r>
            <a:r>
              <a:rPr lang="en-US" dirty="0"/>
              <a:t>-strict-aliasing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5D04F7-A9CE-490A-AB86-751055BC91FF}"/>
              </a:ext>
            </a:extLst>
          </p:cNvPr>
          <p:cNvSpPr txBox="1">
            <a:spLocks/>
          </p:cNvSpPr>
          <p:nvPr/>
        </p:nvSpPr>
        <p:spPr>
          <a:xfrm>
            <a:off x="838200" y="4387850"/>
            <a:ext cx="10014268" cy="187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предоставляют возможность явного запрета алиасинга программистом с помощью ключевого слова </a:t>
            </a:r>
            <a:r>
              <a:rPr lang="en-US" dirty="0"/>
              <a:t>restrict</a:t>
            </a:r>
          </a:p>
          <a:p>
            <a:pPr lvl="1"/>
            <a:r>
              <a:rPr lang="ru-RU" dirty="0"/>
              <a:t>На практике эта функциональность используется редко (в </a:t>
            </a:r>
            <a:r>
              <a:rPr lang="en-US" dirty="0"/>
              <a:t>Rust </a:t>
            </a:r>
            <a:r>
              <a:rPr lang="ru-RU" dirty="0"/>
              <a:t>долго не могли включить правила </a:t>
            </a:r>
            <a:r>
              <a:rPr lang="en-US" dirty="0"/>
              <a:t>aliasing </a:t>
            </a:r>
            <a:r>
              <a:rPr lang="ru-RU" dirty="0"/>
              <a:t>из-за скрытых багов в </a:t>
            </a:r>
            <a:r>
              <a:rPr lang="en-US" dirty="0"/>
              <a:t>LLVM)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BFC84-D02F-4F2E-A2B3-91486E847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318" y="2015705"/>
            <a:ext cx="4389000" cy="204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279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B9F6-958F-47FF-AF84-F4AD8BD2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3F32C-778E-4F8A-8F79-DEF4E035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алиасинга в </a:t>
            </a:r>
            <a:r>
              <a:rPr lang="en-US" dirty="0"/>
              <a:t>Rust </a:t>
            </a:r>
            <a:r>
              <a:rPr lang="ru-RU" dirty="0"/>
              <a:t>позволяют</a:t>
            </a:r>
            <a:endParaRPr lang="en-US" dirty="0"/>
          </a:p>
          <a:p>
            <a:pPr lvl="1"/>
            <a:r>
              <a:rPr lang="ru-RU" dirty="0"/>
              <a:t>Повысить точность анализа в среднем на </a:t>
            </a:r>
            <a:r>
              <a:rPr lang="en-US" dirty="0"/>
              <a:t>5%</a:t>
            </a:r>
          </a:p>
          <a:p>
            <a:pPr lvl="1"/>
            <a:r>
              <a:rPr lang="ru-RU" dirty="0"/>
              <a:t>Улучшить производительность</a:t>
            </a:r>
            <a:r>
              <a:rPr lang="en-US" dirty="0"/>
              <a:t> </a:t>
            </a:r>
            <a:r>
              <a:rPr lang="ru-RU" dirty="0"/>
              <a:t>в среднем на </a:t>
            </a:r>
            <a:r>
              <a:rPr lang="en-US" dirty="0"/>
              <a:t>1-2%</a:t>
            </a:r>
            <a:endParaRPr lang="ru-RU" dirty="0"/>
          </a:p>
          <a:p>
            <a:r>
              <a:rPr lang="ru-RU" dirty="0"/>
              <a:t>После дополнительных улучшений (</a:t>
            </a:r>
            <a:r>
              <a:rPr lang="en-US" dirty="0"/>
              <a:t>aliasing metadata) </a:t>
            </a:r>
            <a:r>
              <a:rPr lang="ru-RU" dirty="0"/>
              <a:t>можно ожидать прироста производительности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417EA-E855-48A0-83C2-DE3F271E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90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28DC-6809-49E3-847B-63B77066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8088-729D-49BA-8ECA-814F14C48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 сложности </a:t>
            </a:r>
            <a:r>
              <a:rPr lang="en-US" dirty="0"/>
              <a:t>Alias Analysis:</a:t>
            </a:r>
          </a:p>
          <a:p>
            <a:pPr lvl="1"/>
            <a:r>
              <a:rPr lang="en-US" dirty="0">
                <a:hlinkClick r:id="rId2"/>
              </a:rPr>
              <a:t>Pointer-induced aliasing</a:t>
            </a:r>
            <a:r>
              <a:rPr lang="en-US" dirty="0"/>
              <a:t> (</a:t>
            </a:r>
            <a:r>
              <a:rPr lang="en-US" dirty="0" err="1"/>
              <a:t>Landi</a:t>
            </a:r>
            <a:r>
              <a:rPr lang="en-US" dirty="0"/>
              <a:t>, 1991)</a:t>
            </a:r>
            <a:endParaRPr lang="ru-RU" dirty="0"/>
          </a:p>
          <a:p>
            <a:pPr lvl="1"/>
            <a:r>
              <a:rPr lang="en-US" dirty="0">
                <a:hlinkClick r:id="rId3"/>
              </a:rPr>
              <a:t>Undecidability of static analysis</a:t>
            </a:r>
            <a:r>
              <a:rPr lang="en-US" dirty="0"/>
              <a:t> (</a:t>
            </a:r>
            <a:r>
              <a:rPr lang="en-US" dirty="0" err="1"/>
              <a:t>Landi</a:t>
            </a:r>
            <a:r>
              <a:rPr lang="en-US" dirty="0"/>
              <a:t>, 1992)</a:t>
            </a:r>
          </a:p>
          <a:p>
            <a:r>
              <a:rPr lang="ru-RU" dirty="0"/>
              <a:t>Об алиасинге в реальном коде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4"/>
              </a:rPr>
              <a:t>Dynamic Points-To Sets</a:t>
            </a:r>
            <a:r>
              <a:rPr lang="ru-RU" dirty="0"/>
              <a:t> (</a:t>
            </a:r>
            <a:r>
              <a:rPr lang="en-US" dirty="0"/>
              <a:t>Mock et al., 2001)</a:t>
            </a:r>
            <a:endParaRPr lang="ru-RU" dirty="0"/>
          </a:p>
          <a:p>
            <a:pPr lvl="1"/>
            <a:r>
              <a:rPr lang="en-US" dirty="0">
                <a:hlinkClick r:id="rId5"/>
              </a:rPr>
              <a:t>Speculative Alias Analysis for Executable Code</a:t>
            </a:r>
            <a:r>
              <a:rPr lang="en-US" dirty="0"/>
              <a:t> (Fernandez et al., 2002)</a:t>
            </a:r>
          </a:p>
          <a:p>
            <a:pPr lvl="1"/>
            <a:r>
              <a:rPr lang="en-US" dirty="0">
                <a:hlinkClick r:id="rId6"/>
              </a:rPr>
              <a:t>ORAQL — Optimistic Responses to Alias Queries in LLVM</a:t>
            </a:r>
            <a:r>
              <a:rPr lang="en-US" dirty="0"/>
              <a:t> (</a:t>
            </a:r>
            <a:r>
              <a:rPr lang="en-US" dirty="0" err="1"/>
              <a:t>Doerfert</a:t>
            </a:r>
            <a:r>
              <a:rPr lang="en-US" dirty="0"/>
              <a:t> et al., 2023)</a:t>
            </a:r>
          </a:p>
          <a:p>
            <a:r>
              <a:rPr lang="ru-RU" dirty="0"/>
              <a:t>Де-алиасинг в процессоре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7"/>
              </a:rPr>
              <a:t>Memory Disambiguation on Skylake</a:t>
            </a:r>
            <a:endParaRPr lang="ru-RU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BFE4-F481-419C-AE48-DBCD5371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28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Обязательная инициализация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32816-2DD3-47B3-8FC4-17F6CD04BE74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03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Обязательная 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27141" cy="4351338"/>
          </a:xfrm>
        </p:spPr>
        <p:txBody>
          <a:bodyPr>
            <a:normAutofit/>
          </a:bodyPr>
          <a:lstStyle/>
          <a:p>
            <a:r>
              <a:rPr lang="ru-RU" dirty="0"/>
              <a:t>Неинициализированные переменные могут приводить к утечкам данных и другим ошибкам</a:t>
            </a:r>
          </a:p>
          <a:p>
            <a:pPr lvl="1"/>
            <a:r>
              <a:rPr lang="ru-RU" dirty="0"/>
              <a:t>Утечки паролей и адресов (утечка адреса компрометирует защиту </a:t>
            </a:r>
            <a:r>
              <a:rPr lang="en-US" dirty="0"/>
              <a:t>ASLR)</a:t>
            </a:r>
          </a:p>
          <a:p>
            <a:r>
              <a:rPr lang="ru-RU" dirty="0"/>
              <a:t>Распространённость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10% CVE root cause </a:t>
            </a:r>
            <a:r>
              <a:rPr lang="ru-RU" dirty="0"/>
              <a:t>в продуктах </a:t>
            </a:r>
            <a:r>
              <a:rPr lang="en-US" dirty="0"/>
              <a:t>Microsoft </a:t>
            </a:r>
            <a:r>
              <a:rPr lang="ru-RU" dirty="0"/>
              <a:t>в 2018 (из </a:t>
            </a:r>
            <a:r>
              <a:rPr lang="en-US" dirty="0">
                <a:hlinkClick r:id="rId2"/>
              </a:rPr>
              <a:t>Killing Uninitialized Memory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12% exploitable </a:t>
            </a:r>
            <a:r>
              <a:rPr lang="ru-RU" dirty="0"/>
              <a:t>багов в </a:t>
            </a:r>
            <a:r>
              <a:rPr lang="en-US" dirty="0"/>
              <a:t>Android (</a:t>
            </a:r>
            <a:r>
              <a:rPr lang="ru-RU" dirty="0"/>
              <a:t>из </a:t>
            </a:r>
            <a:r>
              <a:rPr lang="en-US" dirty="0">
                <a:hlinkClick r:id="rId3"/>
              </a:rPr>
              <a:t>P2723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62</a:t>
            </a:fld>
            <a:endParaRPr lang="en-US"/>
          </a:p>
        </p:txBody>
      </p:sp>
      <p:pic>
        <p:nvPicPr>
          <p:cNvPr id="5124" name="Picture 4" descr="Vintage Water Tap Dripping in Black and ...">
            <a:extLst>
              <a:ext uri="{FF2B5EF4-FFF2-40B4-BE49-F238E27FC236}">
                <a16:creationId xmlns:a16="http://schemas.microsoft.com/office/drawing/2014/main" id="{C0F172E9-A421-4F67-9310-49FE3206A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745" y="681037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0704F4-8AAB-41F8-9571-5FDF0E4D7AD0}"/>
              </a:ext>
            </a:extLst>
          </p:cNvPr>
          <p:cNvSpPr txBox="1"/>
          <p:nvPr/>
        </p:nvSpPr>
        <p:spPr>
          <a:xfrm>
            <a:off x="161365" y="6512391"/>
            <a:ext cx="5934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Alex Dos Santos, </a:t>
            </a:r>
            <a:r>
              <a:rPr lang="en-US" sz="1000" dirty="0">
                <a:hlinkClick r:id="rId5"/>
              </a:rPr>
              <a:t>https://www.pexels.com/photo/vintage-water-tap-dripping-in-black-and-white-29725026/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13576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8067-D6EA-48A6-AF9A-4CC40E75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0" y="0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70BF-6C6B-473F-97B9-2F7573D53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1" y="1325563"/>
            <a:ext cx="6333564" cy="51917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password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32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“...”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Сливаем пароль если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message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baz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E03D-8CB4-456C-8E5E-3769F563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381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0C67-37BB-4E15-B974-2DAEF33D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61A6-7F16-4FEC-867C-D7C445DC9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Поэтому </a:t>
            </a:r>
            <a:r>
              <a:rPr lang="en-US" dirty="0"/>
              <a:t>Rust </a:t>
            </a:r>
            <a:r>
              <a:rPr lang="ru-RU" dirty="0"/>
              <a:t>требует инициализации всех переменных</a:t>
            </a:r>
          </a:p>
          <a:p>
            <a:pPr lvl="1"/>
            <a:r>
              <a:rPr lang="ru-RU" dirty="0"/>
              <a:t>Локальные, глобальные, динамические</a:t>
            </a:r>
            <a:endParaRPr lang="en-US" dirty="0"/>
          </a:p>
          <a:p>
            <a:r>
              <a:rPr lang="ru-RU" dirty="0"/>
              <a:t>Переменная должна присваивается на всех путях до первого использования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1BD6A-1F18-4597-83A0-FC8D01B3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7E73A-9C86-4F03-9089-5A8413375336}"/>
              </a:ext>
            </a:extLst>
          </p:cNvPr>
          <p:cNvSpPr txBox="1"/>
          <p:nvPr/>
        </p:nvSpPr>
        <p:spPr>
          <a:xfrm>
            <a:off x="3128680" y="3429000"/>
            <a:ext cx="411928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No mut needed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CD9A7-FDBD-48B8-92CB-F7C2CCE72165}"/>
              </a:ext>
            </a:extLst>
          </p:cNvPr>
          <p:cNvSpPr txBox="1"/>
          <p:nvPr/>
        </p:nvSpPr>
        <p:spPr>
          <a:xfrm>
            <a:off x="573741" y="3429000"/>
            <a:ext cx="2061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B7E3F-59BB-4A31-87DF-B241BDF810D1}"/>
              </a:ext>
            </a:extLst>
          </p:cNvPr>
          <p:cNvSpPr txBox="1"/>
          <p:nvPr/>
        </p:nvSpPr>
        <p:spPr>
          <a:xfrm>
            <a:off x="7673786" y="3429000"/>
            <a:ext cx="4007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No mut needed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 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AAA3B-C18B-4850-8EC4-9310CAEA3363}"/>
              </a:ext>
            </a:extLst>
          </p:cNvPr>
          <p:cNvSpPr txBox="1"/>
          <p:nvPr/>
        </p:nvSpPr>
        <p:spPr>
          <a:xfrm>
            <a:off x="1604682" y="4612324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F2693-9235-4139-959F-E0AD8C443164}"/>
              </a:ext>
            </a:extLst>
          </p:cNvPr>
          <p:cNvSpPr txBox="1"/>
          <p:nvPr/>
        </p:nvSpPr>
        <p:spPr>
          <a:xfrm>
            <a:off x="5428128" y="4612324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69D88-83C0-439E-8F25-A27974E8A694}"/>
              </a:ext>
            </a:extLst>
          </p:cNvPr>
          <p:cNvSpPr txBox="1"/>
          <p:nvPr/>
        </p:nvSpPr>
        <p:spPr>
          <a:xfrm>
            <a:off x="10174941" y="4644092"/>
            <a:ext cx="1506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NOT OK</a:t>
            </a:r>
          </a:p>
        </p:txBody>
      </p:sp>
    </p:spTree>
    <p:extLst>
      <p:ext uri="{BB962C8B-B14F-4D97-AF65-F5344CB8AC3E}">
        <p14:creationId xmlns:p14="http://schemas.microsoft.com/office/powerpoint/2010/main" val="3817829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языки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2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Многие другие языки также требуют инициализацию от программиста (или предоставляют автоинициализацию нулями)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C#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Swift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Go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Java</a:t>
            </a:r>
            <a:endParaRPr lang="en-US" dirty="0"/>
          </a:p>
          <a:p>
            <a:pPr lvl="1"/>
            <a:r>
              <a:rPr lang="en-US" dirty="0"/>
              <a:t>Hardened C/C++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), C++26 (</a:t>
            </a:r>
            <a:r>
              <a:rPr lang="en-US" dirty="0">
                <a:hlinkClick r:id="rId6"/>
              </a:rPr>
              <a:t>P2795</a:t>
            </a:r>
            <a:r>
              <a:rPr lang="en-US" dirty="0"/>
              <a:t>)</a:t>
            </a:r>
          </a:p>
          <a:p>
            <a:pPr lvl="2"/>
            <a:r>
              <a:rPr lang="ru-RU" dirty="0"/>
              <a:t>Только локальные переменные</a:t>
            </a:r>
            <a:endParaRPr lang="en-US" dirty="0"/>
          </a:p>
          <a:p>
            <a:pPr lvl="3"/>
            <a:r>
              <a:rPr lang="ru-RU" dirty="0"/>
              <a:t>Глобальные переменные и </a:t>
            </a:r>
            <a:r>
              <a:rPr lang="en-US" dirty="0" err="1"/>
              <a:t>sbrk</a:t>
            </a:r>
            <a:r>
              <a:rPr lang="en-US" dirty="0"/>
              <a:t>/</a:t>
            </a:r>
            <a:r>
              <a:rPr lang="en-US" dirty="0" err="1"/>
              <a:t>mmap</a:t>
            </a:r>
            <a:r>
              <a:rPr lang="en-US" dirty="0"/>
              <a:t>-</a:t>
            </a:r>
            <a:r>
              <a:rPr lang="ru-RU" dirty="0"/>
              <a:t>буферы уже инициализируются</a:t>
            </a:r>
            <a:endParaRPr lang="en-US" dirty="0"/>
          </a:p>
          <a:p>
            <a:pPr lvl="3"/>
            <a:r>
              <a:rPr lang="ru-RU" dirty="0"/>
              <a:t>Для кучи нужен </a:t>
            </a:r>
            <a:r>
              <a:rPr lang="en-US" dirty="0"/>
              <a:t>hardened allocator</a:t>
            </a:r>
          </a:p>
          <a:p>
            <a:pPr lvl="2"/>
            <a:r>
              <a:rPr lang="ru-RU" dirty="0"/>
              <a:t>Включены по умолчанию в </a:t>
            </a:r>
            <a:r>
              <a:rPr lang="en-US" dirty="0"/>
              <a:t>Android user/kernel-space </a:t>
            </a:r>
            <a:r>
              <a:rPr lang="ru-RU" dirty="0"/>
              <a:t>и </a:t>
            </a:r>
            <a:r>
              <a:rPr lang="en-US" dirty="0"/>
              <a:t>Chrome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140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B770-04C2-4E5C-BD09-3F7FAA92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 обязательными инициализациями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A0EE-3113-4B1F-B2B8-0907D211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Во многих случаях обязательные инициализации излишни</a:t>
            </a:r>
          </a:p>
          <a:p>
            <a:pPr lvl="1"/>
            <a:r>
              <a:rPr lang="ru-RU" dirty="0"/>
              <a:t>Буду перезаписаны другими значениями в дальнейшем</a:t>
            </a:r>
            <a:endParaRPr lang="en-US" dirty="0"/>
          </a:p>
          <a:p>
            <a:r>
              <a:rPr lang="ru-RU" dirty="0"/>
              <a:t>Компилятор не всегда может удалить ненужные инициализации</a:t>
            </a:r>
            <a:endParaRPr lang="en-US" dirty="0"/>
          </a:p>
          <a:p>
            <a:r>
              <a:rPr lang="ru-RU" dirty="0"/>
              <a:t>Пример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example.bin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memset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not removed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read_exact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...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0D27-26EB-4549-B45A-A7752592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68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 лишних инициализаций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Сколько ненужных инициализаций приходится делать</a:t>
            </a:r>
            <a:r>
              <a:rPr lang="en-US" dirty="0"/>
              <a:t>?</a:t>
            </a:r>
          </a:p>
          <a:p>
            <a:r>
              <a:rPr lang="ru-RU" dirty="0"/>
              <a:t>Статическая оценка</a:t>
            </a:r>
            <a:r>
              <a:rPr lang="en-US" dirty="0"/>
              <a:t> (</a:t>
            </a:r>
            <a:r>
              <a:rPr lang="ru-RU" dirty="0"/>
              <a:t>с помощью </a:t>
            </a:r>
            <a:r>
              <a:rPr lang="en-US" dirty="0">
                <a:hlinkClick r:id="rId2"/>
              </a:rPr>
              <a:t>LLVM-</a:t>
            </a:r>
            <a:r>
              <a:rPr lang="ru-RU" dirty="0">
                <a:hlinkClick r:id="rId2"/>
              </a:rPr>
              <a:t>плагина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Hardened Clang: +4% stores </a:t>
            </a:r>
            <a:r>
              <a:rPr lang="ru-RU" dirty="0"/>
              <a:t>в циклах </a:t>
            </a:r>
            <a:r>
              <a:rPr lang="en-US" dirty="0"/>
              <a:t>(</a:t>
            </a:r>
            <a:r>
              <a:rPr lang="ru-RU" dirty="0"/>
              <a:t>бенчмарк </a:t>
            </a:r>
            <a:r>
              <a:rPr lang="en-US" dirty="0"/>
              <a:t>Clang</a:t>
            </a:r>
            <a:r>
              <a:rPr lang="ru-RU" dirty="0"/>
              <a:t>)</a:t>
            </a:r>
          </a:p>
          <a:p>
            <a:r>
              <a:rPr lang="ru-RU" dirty="0"/>
              <a:t>Динамическая оценка (с помощью </a:t>
            </a:r>
            <a:r>
              <a:rPr lang="en-US" dirty="0" err="1">
                <a:hlinkClick r:id="rId3"/>
              </a:rPr>
              <a:t>Valgrind</a:t>
            </a:r>
            <a:r>
              <a:rPr lang="en-US" dirty="0">
                <a:hlinkClick r:id="rId3"/>
              </a:rPr>
              <a:t>-</a:t>
            </a:r>
            <a:r>
              <a:rPr lang="ru-RU" dirty="0">
                <a:hlinkClick r:id="rId3"/>
              </a:rPr>
              <a:t>плагина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Компиляция большого </a:t>
            </a:r>
            <a:r>
              <a:rPr lang="en-US" dirty="0"/>
              <a:t>C++ </a:t>
            </a:r>
            <a:r>
              <a:rPr lang="ru-RU" dirty="0"/>
              <a:t>файла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Clang: 11%</a:t>
            </a:r>
            <a:r>
              <a:rPr lang="ru-RU" dirty="0"/>
              <a:t> неиспользуемых записей</a:t>
            </a:r>
            <a:endParaRPr lang="en-US" dirty="0"/>
          </a:p>
          <a:p>
            <a:pPr lvl="2"/>
            <a:r>
              <a:rPr lang="en-US" dirty="0"/>
              <a:t>Hardened Clang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): 23% </a:t>
            </a:r>
            <a:r>
              <a:rPr lang="ru-RU" dirty="0"/>
              <a:t> неиспользуемых записей </a:t>
            </a:r>
            <a:r>
              <a:rPr lang="en-US" dirty="0"/>
              <a:t>(2x!)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6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 сожалению измерить накладные расходы от лишних инициализаций в наших </a:t>
            </a:r>
            <a:r>
              <a:rPr lang="en-US" dirty="0"/>
              <a:t>Rust</a:t>
            </a:r>
            <a:r>
              <a:rPr lang="ru-RU" dirty="0"/>
              <a:t>-бенчмарках</a:t>
            </a:r>
            <a:r>
              <a:rPr lang="en-US" dirty="0"/>
              <a:t> </a:t>
            </a:r>
            <a:r>
              <a:rPr lang="ru-RU" dirty="0"/>
              <a:t>невозможно</a:t>
            </a:r>
            <a:endParaRPr lang="en-US" dirty="0"/>
          </a:p>
          <a:p>
            <a:pPr lvl="1"/>
            <a:r>
              <a:rPr lang="ru-RU" dirty="0"/>
              <a:t>Так как потребовалась бы значительная модификация кода</a:t>
            </a:r>
            <a:endParaRPr lang="en-US" dirty="0"/>
          </a:p>
          <a:p>
            <a:r>
              <a:rPr lang="ru-RU" dirty="0"/>
              <a:t>Проиллюстрируем накладные расходы на примере</a:t>
            </a:r>
            <a:endParaRPr lang="en-US" dirty="0"/>
          </a:p>
          <a:p>
            <a:pPr lvl="1"/>
            <a:r>
              <a:rPr lang="ru-RU" dirty="0"/>
              <a:t>Сообщений от пользователей</a:t>
            </a:r>
            <a:endParaRPr lang="en-US" dirty="0"/>
          </a:p>
          <a:p>
            <a:pPr lvl="1"/>
            <a:r>
              <a:rPr lang="ru-RU" dirty="0"/>
              <a:t>Замеров </a:t>
            </a:r>
            <a:r>
              <a:rPr lang="en-US" dirty="0"/>
              <a:t>Hardened 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121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A612-7704-43C7-BA23-E35EE309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Накладные расходы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018C5-56D7-4615-891E-AB0077FF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1660619"/>
            <a:ext cx="10152529" cy="4351338"/>
          </a:xfrm>
        </p:spPr>
        <p:txBody>
          <a:bodyPr>
            <a:normAutofit/>
          </a:bodyPr>
          <a:lstStyle/>
          <a:p>
            <a:r>
              <a:rPr lang="ru-RU" dirty="0"/>
              <a:t>Какие последствия могут иметь</a:t>
            </a:r>
            <a:r>
              <a:rPr lang="en-US" dirty="0"/>
              <a:t> </a:t>
            </a:r>
            <a:r>
              <a:rPr lang="ru-RU" dirty="0"/>
              <a:t>лишние инициализации для производительности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7% </a:t>
            </a:r>
            <a:r>
              <a:rPr lang="ru-RU" dirty="0"/>
              <a:t>в </a:t>
            </a:r>
            <a:r>
              <a:rPr lang="en-US" dirty="0" err="1"/>
              <a:t>stdlib</a:t>
            </a:r>
            <a:r>
              <a:rPr lang="en-US" dirty="0"/>
              <a:t> file IO (</a:t>
            </a:r>
            <a:r>
              <a:rPr lang="en-US" dirty="0">
                <a:hlinkClick r:id="rId2"/>
              </a:rPr>
              <a:t>rust #26950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20-30% </a:t>
            </a:r>
            <a:r>
              <a:rPr lang="ru-RU" dirty="0"/>
              <a:t>в </a:t>
            </a:r>
            <a:r>
              <a:rPr lang="en-US" dirty="0"/>
              <a:t>Hyper HTTP (</a:t>
            </a:r>
            <a:r>
              <a:rPr lang="ru-RU" dirty="0"/>
              <a:t>комментарий в </a:t>
            </a:r>
            <a:r>
              <a:rPr lang="en-US" dirty="0" err="1">
                <a:hlinkClick r:id="rId3"/>
              </a:rPr>
              <a:t>tokio</a:t>
            </a:r>
            <a:r>
              <a:rPr lang="en-US" dirty="0">
                <a:hlinkClick r:id="rId3"/>
              </a:rPr>
              <a:t> #1744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30% </a:t>
            </a:r>
            <a:r>
              <a:rPr lang="ru-RU" dirty="0"/>
              <a:t>в симуляторе </a:t>
            </a:r>
            <a:r>
              <a:rPr lang="en-US" dirty="0"/>
              <a:t>Shadow (</a:t>
            </a:r>
            <a:r>
              <a:rPr lang="en-US" dirty="0">
                <a:hlinkClick r:id="rId4"/>
              </a:rPr>
              <a:t>shadow #1643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25% </a:t>
            </a:r>
            <a:r>
              <a:rPr lang="ru-RU" dirty="0"/>
              <a:t>в </a:t>
            </a:r>
            <a:r>
              <a:rPr lang="en-US" dirty="0" err="1"/>
              <a:t>stdlib</a:t>
            </a:r>
            <a:r>
              <a:rPr lang="en-US" dirty="0"/>
              <a:t> </a:t>
            </a:r>
            <a:r>
              <a:rPr lang="en-US" dirty="0" err="1"/>
              <a:t>TcpStream</a:t>
            </a:r>
            <a:r>
              <a:rPr lang="en-US" dirty="0"/>
              <a:t> (</a:t>
            </a:r>
            <a:r>
              <a:rPr lang="en-US" dirty="0">
                <a:hlinkClick r:id="rId5"/>
              </a:rPr>
              <a:t>RFC #837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1.5% </a:t>
            </a:r>
            <a:r>
              <a:rPr lang="ru-RU" dirty="0"/>
              <a:t>в </a:t>
            </a:r>
            <a:r>
              <a:rPr lang="en-US" dirty="0"/>
              <a:t>rav1d (</a:t>
            </a:r>
            <a:r>
              <a:rPr lang="en-US" dirty="0">
                <a:hlinkClick r:id="rId6"/>
              </a:rPr>
              <a:t>Making the rav1d Video Decoder 1% Faster</a:t>
            </a:r>
            <a:r>
              <a:rPr lang="en-US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029176-D7B2-4AA2-8787-FF2CF11BB1AA}"/>
              </a:ext>
            </a:extLst>
          </p:cNvPr>
          <p:cNvSpPr txBox="1">
            <a:spLocks/>
          </p:cNvSpPr>
          <p:nvPr/>
        </p:nvSpPr>
        <p:spPr>
          <a:xfrm>
            <a:off x="6342530" y="1762872"/>
            <a:ext cx="52219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C19B-5574-4F99-90E9-4D37867E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3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Накладные расходы при включении стековых инициализаций</a:t>
            </a:r>
            <a:r>
              <a:rPr lang="en-US" dirty="0"/>
              <a:t> </a:t>
            </a:r>
            <a:r>
              <a:rPr lang="ru-RU" dirty="0"/>
              <a:t>(на примере </a:t>
            </a:r>
            <a:r>
              <a:rPr lang="en-US" dirty="0"/>
              <a:t>C++)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DEFB89-70F8-4FBF-A3B1-13D725ADD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726" y="1793575"/>
            <a:ext cx="6159874" cy="49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237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Накладные расходы при включении инициализаций</a:t>
            </a:r>
            <a:r>
              <a:rPr lang="en-US" dirty="0"/>
              <a:t> </a:t>
            </a:r>
            <a:r>
              <a:rPr lang="ru-RU" dirty="0"/>
              <a:t>стека и кучи</a:t>
            </a:r>
            <a:r>
              <a:rPr lang="en-US" dirty="0"/>
              <a:t> </a:t>
            </a:r>
            <a:r>
              <a:rPr lang="ru-RU" dirty="0"/>
              <a:t>(на примере </a:t>
            </a:r>
            <a:r>
              <a:rPr lang="en-US" dirty="0"/>
              <a:t>C++)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80EF8-87E1-44F4-8845-DBFA5E64BD68}"/>
              </a:ext>
            </a:extLst>
          </p:cNvPr>
          <p:cNvSpPr txBox="1"/>
          <p:nvPr/>
        </p:nvSpPr>
        <p:spPr>
          <a:xfrm>
            <a:off x="9117106" y="2178424"/>
            <a:ext cx="26714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Использовался грубый подход к инициализации кучи</a:t>
            </a:r>
            <a:r>
              <a:rPr lang="en-US" dirty="0"/>
              <a:t> (LD_PRELOAD + </a:t>
            </a:r>
            <a:r>
              <a:rPr lang="en-US" dirty="0" err="1"/>
              <a:t>memset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более аккуратной реализации накладные расходы были бы ниже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BB4D5F-76A5-487C-A78E-84729B9A5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01" y="1833076"/>
            <a:ext cx="6110499" cy="48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262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Инициализации скалярных переменных очень дёшевы и оптимизируются многими </a:t>
            </a:r>
            <a:r>
              <a:rPr lang="en-US" dirty="0"/>
              <a:t>SSA-</a:t>
            </a:r>
            <a:r>
              <a:rPr lang="ru-RU" dirty="0"/>
              <a:t>проходами в </a:t>
            </a:r>
            <a:r>
              <a:rPr lang="en-US" dirty="0"/>
              <a:t>LLVM</a:t>
            </a:r>
          </a:p>
          <a:p>
            <a:pPr lvl="1"/>
            <a:r>
              <a:rPr lang="en-US" dirty="0"/>
              <a:t>DCE, BDCE, ADCE, </a:t>
            </a:r>
            <a:r>
              <a:rPr lang="en-US" dirty="0" err="1"/>
              <a:t>InstCombine</a:t>
            </a:r>
            <a:r>
              <a:rPr lang="en-US" dirty="0"/>
              <a:t>, etc.</a:t>
            </a:r>
          </a:p>
          <a:p>
            <a:r>
              <a:rPr lang="ru-RU" dirty="0"/>
              <a:t>Оптимизации сохранений в память представляют наибольшую проблему</a:t>
            </a:r>
            <a:endParaRPr lang="en-US" dirty="0"/>
          </a:p>
          <a:p>
            <a:pPr lvl="1"/>
            <a:r>
              <a:rPr lang="en-US" dirty="0" err="1"/>
              <a:t>DeadStoreElimination</a:t>
            </a:r>
            <a:r>
              <a:rPr lang="en-US" dirty="0"/>
              <a:t>, </a:t>
            </a:r>
            <a:r>
              <a:rPr lang="en-US" dirty="0" err="1"/>
              <a:t>MoveAutoInit</a:t>
            </a:r>
            <a:r>
              <a:rPr lang="en-US" dirty="0"/>
              <a:t>, </a:t>
            </a:r>
            <a:r>
              <a:rPr lang="en-US" dirty="0" err="1"/>
              <a:t>MemCpyOptimizer</a:t>
            </a:r>
            <a:endParaRPr lang="en-US" dirty="0"/>
          </a:p>
          <a:p>
            <a:pPr lvl="1"/>
            <a:r>
              <a:rPr lang="ru-RU" dirty="0"/>
              <a:t>В меньшей степени </a:t>
            </a:r>
            <a:r>
              <a:rPr lang="en-US" dirty="0" err="1"/>
              <a:t>InstCombine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78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 сожалению</a:t>
            </a:r>
            <a:r>
              <a:rPr lang="ru-RU" dirty="0">
                <a:solidFill>
                  <a:srgbClr val="92D050"/>
                </a:solidFill>
              </a:rPr>
              <a:t>,</a:t>
            </a:r>
            <a:r>
              <a:rPr lang="ru-RU" dirty="0"/>
              <a:t> </a:t>
            </a:r>
            <a:r>
              <a:rPr lang="en-US" dirty="0"/>
              <a:t>API </a:t>
            </a:r>
            <a:r>
              <a:rPr lang="ru-RU" dirty="0"/>
              <a:t>для работы с неинициализиованной памятью в </a:t>
            </a:r>
            <a:r>
              <a:rPr lang="en-US" dirty="0"/>
              <a:t>Rust </a:t>
            </a:r>
            <a:r>
              <a:rPr lang="ru-RU" dirty="0"/>
              <a:t>не очень эргономичны</a:t>
            </a:r>
            <a:endParaRPr lang="en-US" dirty="0"/>
          </a:p>
          <a:p>
            <a:r>
              <a:rPr lang="ru-RU" dirty="0"/>
              <a:t>Нельзя просто взять и создать ссылку на неинициализированный объект и потом заполнить его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“Creating a reference with &amp;/&amp;mut is </a:t>
            </a:r>
            <a:r>
              <a:rPr lang="en-US" b="1" dirty="0"/>
              <a:t>only allowed if</a:t>
            </a:r>
            <a:r>
              <a:rPr lang="en-US" dirty="0"/>
              <a:t> the pointer is properly aligned and </a:t>
            </a:r>
            <a:r>
              <a:rPr lang="en-US" b="1" dirty="0"/>
              <a:t>points to initialized data</a:t>
            </a:r>
            <a:r>
              <a:rPr lang="en-US" dirty="0"/>
              <a:t>” (</a:t>
            </a:r>
            <a:r>
              <a:rPr lang="en-US" dirty="0" err="1">
                <a:hlinkClick r:id="rId2"/>
              </a:rPr>
              <a:t>addr_of_mut</a:t>
            </a:r>
            <a:r>
              <a:rPr lang="en-US" dirty="0"/>
              <a:t>)</a:t>
            </a:r>
          </a:p>
          <a:p>
            <a:r>
              <a:rPr lang="ru-RU" dirty="0"/>
              <a:t>Рекомендуемое решение</a:t>
            </a:r>
            <a:r>
              <a:rPr lang="en-US" dirty="0"/>
              <a:t>: </a:t>
            </a:r>
            <a:r>
              <a:rPr lang="ru-RU" dirty="0"/>
              <a:t>тип </a:t>
            </a:r>
            <a:r>
              <a:rPr lang="en-US" dirty="0" err="1"/>
              <a:t>MaybeUninit</a:t>
            </a:r>
            <a:r>
              <a:rPr lang="ru-RU" dirty="0"/>
              <a:t> и различные </a:t>
            </a:r>
            <a:r>
              <a:rPr lang="en-US" dirty="0"/>
              <a:t>API </a:t>
            </a:r>
            <a:r>
              <a:rPr lang="ru-RU" dirty="0"/>
              <a:t>для работы с ним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61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Стандартные типы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7" y="1690688"/>
            <a:ext cx="56253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Массивы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::&lt;[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]&gt;::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as_mut_ptr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assume_init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5613B1-040D-4497-90E8-EB96F8DC7E78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62535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Структуры</a:t>
            </a:r>
            <a:r>
              <a:rPr lang="en-US" dirty="0"/>
              <a:t>: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::&lt;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Role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&gt;::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as_mut_ptr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Нужна именно запись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(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а не присваивание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чтобы не пытаться удалить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</a:t>
            </a:r>
            <a:r>
              <a:rPr lang="ru-RU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неинициализированный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String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addr_of_mut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"basic"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to_string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flag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(*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disabled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assume_init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32419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1BD1-7FAB-4AFA-B02B-2F4DE148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Векторы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3CFF-D9B5-4C91-BB84-0CBA009A8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old_len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reserve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spare_capacity_mut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idx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].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write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set_len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DE7E4-18A5-4AED-B967-889A6664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650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E38D-612B-4B63-8B23-63477202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8001-ACD2-426D-AAF0-F134CDA7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MaybeUninit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uninit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4096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BorrowedBuf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[..]);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read_buf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unfilled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())?;</a:t>
            </a:r>
          </a:p>
          <a:p>
            <a:pPr marL="0" indent="0">
              <a:buNone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=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filled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Дальше можно использовать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buf.filled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CBAF0-6BC2-4B27-82A6-0DEB0902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65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Расходы на инициализации в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Hardened C++ </a:t>
            </a:r>
            <a:r>
              <a:rPr lang="ru-RU" dirty="0"/>
              <a:t>сопоставимы</a:t>
            </a:r>
            <a:endParaRPr lang="en-US" dirty="0"/>
          </a:p>
          <a:p>
            <a:pPr lvl="1"/>
            <a:r>
              <a:rPr lang="ru-RU" dirty="0"/>
              <a:t>Выше чем в </a:t>
            </a:r>
            <a:r>
              <a:rPr lang="en-US" dirty="0"/>
              <a:t>C++26 </a:t>
            </a:r>
            <a:r>
              <a:rPr lang="ru-RU" dirty="0"/>
              <a:t>из-за инициализаций кучи</a:t>
            </a:r>
          </a:p>
          <a:p>
            <a:r>
              <a:rPr lang="ru-RU" dirty="0"/>
              <a:t>Могут быть достаточно большими</a:t>
            </a:r>
            <a:r>
              <a:rPr lang="en-US" dirty="0"/>
              <a:t> </a:t>
            </a:r>
            <a:r>
              <a:rPr lang="ru-RU" dirty="0"/>
              <a:t>в некоторых сценариях </a:t>
            </a:r>
            <a:r>
              <a:rPr lang="en-US" dirty="0"/>
              <a:t>(5-10% </a:t>
            </a:r>
            <a:r>
              <a:rPr lang="ru-RU" dirty="0"/>
              <a:t>и более) и потребовать ручного тюнинга кода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Использование специальных библиотечных </a:t>
            </a:r>
            <a:r>
              <a:rPr lang="en-US" dirty="0"/>
              <a:t>API</a:t>
            </a:r>
            <a:r>
              <a:rPr lang="ru-RU" dirty="0"/>
              <a:t> типа </a:t>
            </a:r>
            <a:r>
              <a:rPr lang="en-US" dirty="0" err="1"/>
              <a:t>MaybeUninit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42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Killing Uninitialized Memory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video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Доклад от </a:t>
            </a:r>
            <a:r>
              <a:rPr lang="en-US" dirty="0"/>
              <a:t>Microsoft </a:t>
            </a:r>
            <a:r>
              <a:rPr lang="ru-RU" dirty="0"/>
              <a:t>о внедрении аналогичных проверок в </a:t>
            </a:r>
            <a:r>
              <a:rPr lang="en-US" dirty="0"/>
              <a:t>Visual Studio</a:t>
            </a:r>
          </a:p>
          <a:p>
            <a:r>
              <a:rPr lang="en-US" dirty="0">
                <a:hlinkClick r:id="rId4"/>
              </a:rPr>
              <a:t>P2795: Erroneous behavior for uninitialized reads</a:t>
            </a:r>
            <a:endParaRPr lang="en-US" dirty="0"/>
          </a:p>
          <a:p>
            <a:pPr lvl="1"/>
            <a:r>
              <a:rPr lang="en-US" dirty="0"/>
              <a:t>To be integrated to C++26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05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Локализация символов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0185C-4993-41AF-B35D-98ABA6DCB18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081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Локализация символов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Функции, объявленные в единице трансляции</a:t>
            </a:r>
            <a:r>
              <a:rPr lang="en-US" dirty="0"/>
              <a:t> (</a:t>
            </a:r>
            <a:r>
              <a:rPr lang="ru-RU" dirty="0"/>
              <a:t>крейт в </a:t>
            </a:r>
            <a:r>
              <a:rPr lang="en-US" dirty="0"/>
              <a:t>Rust, </a:t>
            </a:r>
            <a:r>
              <a:rPr lang="en-US" dirty="0" err="1"/>
              <a:t>cpp</a:t>
            </a:r>
            <a:r>
              <a:rPr lang="en-US" dirty="0"/>
              <a:t>-</a:t>
            </a:r>
            <a:r>
              <a:rPr lang="ru-RU" dirty="0"/>
              <a:t>файл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C++</a:t>
            </a:r>
            <a:r>
              <a:rPr lang="ru-RU" dirty="0"/>
              <a:t>), могут быть локальными для неё или глобальными</a:t>
            </a:r>
            <a:endParaRPr lang="en-US" dirty="0"/>
          </a:p>
          <a:p>
            <a:pPr lvl="1"/>
            <a:r>
              <a:rPr lang="ru-RU" dirty="0"/>
              <a:t>В </a:t>
            </a:r>
            <a:r>
              <a:rPr lang="en-US" dirty="0"/>
              <a:t>C/C++ </a:t>
            </a:r>
            <a:r>
              <a:rPr lang="ru-RU" dirty="0"/>
              <a:t>контролируется с помощью </a:t>
            </a:r>
            <a:r>
              <a:rPr lang="en-US" dirty="0">
                <a:solidFill>
                  <a:srgbClr val="C00000"/>
                </a:solidFill>
              </a:rPr>
              <a:t>static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anonymous namespaces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с помощью</a:t>
            </a:r>
            <a:r>
              <a:rPr lang="en-US" dirty="0"/>
              <a:t> </a:t>
            </a:r>
            <a:r>
              <a:rPr lang="ru-RU" dirty="0"/>
              <a:t>атрибутов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,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pub(crate)</a:t>
            </a:r>
            <a:r>
              <a:rPr lang="ru-RU" dirty="0"/>
              <a:t> и других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выбраны противоположные решения о дефолтном поведении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функции по умолчанию локальны</a:t>
            </a:r>
            <a:r>
              <a:rPr lang="en-US" dirty="0"/>
              <a:t> </a:t>
            </a:r>
            <a:r>
              <a:rPr lang="ru-RU" dirty="0"/>
              <a:t>для своего модуля</a:t>
            </a:r>
            <a:r>
              <a:rPr lang="en-US" dirty="0"/>
              <a:t> (top-level </a:t>
            </a:r>
            <a:r>
              <a:rPr lang="ru-RU" dirty="0"/>
              <a:t>функции – для своего крейта)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C00000"/>
                </a:solidFill>
              </a:rPr>
              <a:t>crate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ru-RU" dirty="0"/>
              <a:t>-функции видимы в пределах своего крейта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-</a:t>
            </a:r>
            <a:r>
              <a:rPr lang="ru-RU" dirty="0"/>
              <a:t>функции видны в пределах всей программы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364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35" y="0"/>
            <a:ext cx="10515600" cy="1325563"/>
          </a:xfrm>
        </p:spPr>
        <p:txBody>
          <a:bodyPr/>
          <a:lstStyle/>
          <a:p>
            <a:r>
              <a:rPr lang="ru-RU" dirty="0"/>
              <a:t>Локализация в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FACE2-45C0-46D6-BD11-C8A4D234A4F4}"/>
              </a:ext>
            </a:extLst>
          </p:cNvPr>
          <p:cNvSpPr txBox="1"/>
          <p:nvPr/>
        </p:nvSpPr>
        <p:spPr>
          <a:xfrm>
            <a:off x="999565" y="1195027"/>
            <a:ext cx="574637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crate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"Hello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mod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super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"Goodbye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"Nice world {}"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use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C898B-2C0E-49D7-B6F6-72DC51DEF160}"/>
              </a:ext>
            </a:extLst>
          </p:cNvPr>
          <p:cNvSpPr txBox="1"/>
          <p:nvPr/>
        </p:nvSpPr>
        <p:spPr>
          <a:xfrm>
            <a:off x="6113929" y="2551837"/>
            <a:ext cx="55670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+baseline test.rs -O --emit=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asm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--crate-type=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rlib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-o- \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|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rustfilt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| grep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test::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mymod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::foo3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test::bar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03A27-96E2-4AB2-A0D5-85FCB59AC363}"/>
              </a:ext>
            </a:extLst>
          </p:cNvPr>
          <p:cNvSpPr txBox="1"/>
          <p:nvPr/>
        </p:nvSpPr>
        <p:spPr>
          <a:xfrm>
            <a:off x="7068672" y="4823012"/>
            <a:ext cx="2572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Экспортируются только </a:t>
            </a:r>
            <a:r>
              <a:rPr lang="en-US" sz="2400" dirty="0"/>
              <a:t>foo3 </a:t>
            </a:r>
            <a:r>
              <a:rPr lang="ru-RU" sz="2400" dirty="0"/>
              <a:t>и </a:t>
            </a:r>
            <a:r>
              <a:rPr lang="en-US" sz="2400" dirty="0"/>
              <a:t>bar!</a:t>
            </a:r>
          </a:p>
        </p:txBody>
      </p:sp>
    </p:spTree>
    <p:extLst>
      <p:ext uri="{BB962C8B-B14F-4D97-AF65-F5344CB8AC3E}">
        <p14:creationId xmlns:p14="http://schemas.microsoft.com/office/powerpoint/2010/main" val="18003871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 </a:t>
            </a:r>
            <a:r>
              <a:rPr lang="ru-RU" dirty="0"/>
              <a:t>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Локальные функции лучше оптимизируются компилятором</a:t>
            </a:r>
          </a:p>
          <a:p>
            <a:r>
              <a:rPr lang="ru-RU" dirty="0"/>
              <a:t>Как правило такие оптимизации связаны с изменением </a:t>
            </a:r>
            <a:r>
              <a:rPr lang="en-US" dirty="0"/>
              <a:t>API </a:t>
            </a:r>
            <a:r>
              <a:rPr lang="ru-RU" dirty="0"/>
              <a:t>или </a:t>
            </a:r>
            <a:r>
              <a:rPr lang="en-US" dirty="0"/>
              <a:t>ABI:</a:t>
            </a:r>
          </a:p>
          <a:p>
            <a:pPr lvl="1"/>
            <a:r>
              <a:rPr lang="ru-RU" dirty="0"/>
              <a:t>Межпроцедурное распространение констант </a:t>
            </a:r>
            <a:r>
              <a:rPr lang="en-US" dirty="0"/>
              <a:t>(IPSCCP)</a:t>
            </a:r>
          </a:p>
          <a:p>
            <a:pPr lvl="1"/>
            <a:r>
              <a:rPr lang="ru-RU" dirty="0"/>
              <a:t>Замена передачи по ссылке на передачу по значению</a:t>
            </a:r>
            <a:r>
              <a:rPr lang="en-US" dirty="0"/>
              <a:t> (</a:t>
            </a:r>
            <a:r>
              <a:rPr lang="en-US" dirty="0" err="1"/>
              <a:t>ArgumentPromotion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Удаление мёртвых аргументов или возвращаемых значений </a:t>
            </a:r>
            <a:r>
              <a:rPr lang="en-US" dirty="0"/>
              <a:t>(</a:t>
            </a:r>
            <a:r>
              <a:rPr lang="en-US" dirty="0" err="1"/>
              <a:t>DeadArgumentElimination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Релаксация </a:t>
            </a:r>
            <a:r>
              <a:rPr lang="en-US" dirty="0"/>
              <a:t>calling convention (</a:t>
            </a:r>
            <a:r>
              <a:rPr lang="ru-RU" dirty="0"/>
              <a:t>замена на </a:t>
            </a:r>
            <a:r>
              <a:rPr lang="en-US" dirty="0" err="1"/>
              <a:t>coldcc</a:t>
            </a:r>
            <a:r>
              <a:rPr lang="ru-RU" dirty="0"/>
              <a:t> в </a:t>
            </a:r>
            <a:r>
              <a:rPr lang="en-US" dirty="0"/>
              <a:t>Transforms/IPO/GlobalOpt.cpp)</a:t>
            </a:r>
          </a:p>
          <a:p>
            <a:pPr lvl="1"/>
            <a:r>
              <a:rPr lang="ru-RU" dirty="0"/>
              <a:t>Межпроцедурная аллокация регистров 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IPRA</a:t>
            </a:r>
            <a:r>
              <a:rPr lang="en-US" dirty="0"/>
              <a:t>)</a:t>
            </a:r>
          </a:p>
          <a:p>
            <a:r>
              <a:rPr lang="ru-RU" dirty="0"/>
              <a:t>А также</a:t>
            </a:r>
            <a:endParaRPr lang="en-US" dirty="0"/>
          </a:p>
          <a:p>
            <a:pPr lvl="1"/>
            <a:r>
              <a:rPr lang="ru-RU" dirty="0"/>
              <a:t>Более агрессивный </a:t>
            </a:r>
            <a:r>
              <a:rPr lang="en-US" dirty="0" err="1"/>
              <a:t>inlining</a:t>
            </a:r>
            <a:r>
              <a:rPr lang="en-US" dirty="0"/>
              <a:t> (</a:t>
            </a:r>
            <a:r>
              <a:rPr lang="ru-RU" dirty="0"/>
              <a:t>например всегда инлайнятся однократно вызываемые локальные функции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Улучшенное обнаружение мёртвого кода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058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 </a:t>
            </a:r>
            <a:r>
              <a:rPr lang="ru-RU" dirty="0"/>
              <a:t>в линкере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случае динамических библиотек локальные функции</a:t>
            </a:r>
            <a:endParaRPr lang="en-US" dirty="0"/>
          </a:p>
          <a:p>
            <a:pPr lvl="1"/>
            <a:r>
              <a:rPr lang="ru-RU" dirty="0"/>
              <a:t>Могут вызываться напрямую (минуя </a:t>
            </a:r>
            <a:r>
              <a:rPr lang="en-US" dirty="0"/>
              <a:t>PLT/GOT)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Не должны разрешаться динамическим загрузчиком</a:t>
            </a:r>
            <a:endParaRPr lang="en-US" dirty="0"/>
          </a:p>
          <a:p>
            <a:r>
              <a:rPr lang="ru-RU" dirty="0"/>
              <a:t>Детали в докладе </a:t>
            </a:r>
            <a:r>
              <a:rPr lang="ru-RU" dirty="0">
                <a:hlinkClick r:id="rId2"/>
              </a:rPr>
              <a:t>Динамические библиотеки и способы их ускорения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665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оптимизации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98188-CC2B-4A07-A091-648F940167BB}"/>
              </a:ext>
            </a:extLst>
          </p:cNvPr>
          <p:cNvSpPr txBox="1"/>
          <p:nvPr/>
        </p:nvSpPr>
        <p:spPr>
          <a:xfrm>
            <a:off x="376517" y="1737598"/>
            <a:ext cx="6875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#[inline(never)]  // Simulate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inliner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fail</a:t>
            </a: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C3CDA-6CBB-4932-9207-C0D70939F56C}"/>
              </a:ext>
            </a:extLst>
          </p:cNvPr>
          <p:cNvSpPr txBox="1"/>
          <p:nvPr/>
        </p:nvSpPr>
        <p:spPr>
          <a:xfrm>
            <a:off x="6947648" y="3066854"/>
            <a:ext cx="5011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ret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7A8BB4-B397-4188-B34A-A2233ED323EE}"/>
              </a:ext>
            </a:extLst>
          </p:cNvPr>
          <p:cNvCxnSpPr/>
          <p:nvPr/>
        </p:nvCxnSpPr>
        <p:spPr>
          <a:xfrm>
            <a:off x="5531224" y="3774141"/>
            <a:ext cx="986117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A7C1FA-2524-422C-B83B-C2876D280E86}"/>
              </a:ext>
            </a:extLst>
          </p:cNvPr>
          <p:cNvSpPr txBox="1"/>
          <p:nvPr/>
        </p:nvSpPr>
        <p:spPr>
          <a:xfrm>
            <a:off x="7252447" y="4543425"/>
            <a:ext cx="31583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Цикл в </a:t>
            </a:r>
            <a:r>
              <a:rPr lang="en-US" sz="2800" dirty="0"/>
              <a:t>foo </a:t>
            </a:r>
            <a:r>
              <a:rPr lang="ru-RU" sz="2800" dirty="0"/>
              <a:t>был полностью оптимизирован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55D72-32AF-4558-BD6F-BCAE3C9B2E1C}"/>
              </a:ext>
            </a:extLst>
          </p:cNvPr>
          <p:cNvSpPr txBox="1"/>
          <p:nvPr/>
        </p:nvSpPr>
        <p:spPr>
          <a:xfrm>
            <a:off x="8677835" y="2243929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https://godbolt.org/z/MM7Tchx49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652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37B0-B911-4403-B700-3797F770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014B8-8AF4-4AD9-BE96-D8C52197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Многие авторитетные руководства рекомендуют локализовывать функции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Google C++ Style Guide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LLVM Coding Standard</a:t>
            </a:r>
            <a:r>
              <a:rPr lang="en-US" dirty="0"/>
              <a:t> (Restrict Visibility)</a:t>
            </a:r>
          </a:p>
          <a:p>
            <a:pPr lvl="1"/>
            <a:r>
              <a:rPr lang="en-US" dirty="0">
                <a:hlinkClick r:id="rId4"/>
              </a:rPr>
              <a:t>C++ Core Guidelines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Chromium C++ Style Guide</a:t>
            </a:r>
            <a:endParaRPr lang="en-US" dirty="0"/>
          </a:p>
          <a:p>
            <a:r>
              <a:rPr lang="ru-RU" dirty="0"/>
              <a:t>Слабым местом </a:t>
            </a:r>
            <a:r>
              <a:rPr lang="en-US" dirty="0"/>
              <a:t>C++ </a:t>
            </a:r>
            <a:r>
              <a:rPr lang="ru-RU" dirty="0"/>
              <a:t>является невозможность локализовать </a:t>
            </a:r>
            <a:r>
              <a:rPr lang="en-US" dirty="0"/>
              <a:t>private-</a:t>
            </a:r>
            <a:r>
              <a:rPr lang="ru-RU" dirty="0"/>
              <a:t>методы классов</a:t>
            </a:r>
            <a:endParaRPr lang="en-US" dirty="0"/>
          </a:p>
          <a:p>
            <a:pPr lvl="1"/>
            <a:r>
              <a:rPr lang="ru-RU" dirty="0">
                <a:hlinkClick r:id="rId6"/>
              </a:rPr>
              <a:t>Попытка такой оптимизации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6D27-2321-4B0F-A031-DEA90CB4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204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Сколько локальных функций в реальных программах на </a:t>
            </a:r>
            <a:r>
              <a:rPr lang="en-US" dirty="0"/>
              <a:t>Rust?</a:t>
            </a:r>
          </a:p>
          <a:p>
            <a:pPr lvl="1"/>
            <a:r>
              <a:rPr lang="en-US" dirty="0"/>
              <a:t>80-90%</a:t>
            </a:r>
            <a:endParaRPr lang="ru-RU" dirty="0"/>
          </a:p>
          <a:p>
            <a:pPr lvl="1"/>
            <a:r>
              <a:rPr lang="ru-RU" dirty="0"/>
              <a:t>(Для сбора статистики использовался </a:t>
            </a:r>
            <a:r>
              <a:rPr lang="ru-RU" dirty="0">
                <a:hlinkClick r:id="rId2"/>
              </a:rPr>
              <a:t>патч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C/C++ </a:t>
            </a:r>
            <a:r>
              <a:rPr lang="ru-RU" dirty="0"/>
              <a:t>результаты сильно зависят от проекта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80-90% (clang, </a:t>
            </a:r>
            <a:r>
              <a:rPr lang="en-US" dirty="0" err="1"/>
              <a:t>ffmpeg</a:t>
            </a:r>
            <a:r>
              <a:rPr lang="en-US" dirty="0"/>
              <a:t>, git, </a:t>
            </a:r>
            <a:r>
              <a:rPr lang="en-US" dirty="0" err="1"/>
              <a:t>opencv</a:t>
            </a:r>
            <a:r>
              <a:rPr lang="en-US" dirty="0"/>
              <a:t>, bitcoin)</a:t>
            </a:r>
          </a:p>
          <a:p>
            <a:pPr lvl="1"/>
            <a:r>
              <a:rPr lang="en-US" dirty="0"/>
              <a:t>40-50% (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tmux</a:t>
            </a:r>
            <a:r>
              <a:rPr lang="en-US" dirty="0"/>
              <a:t>, </a:t>
            </a:r>
            <a:r>
              <a:rPr lang="en-US" dirty="0" err="1"/>
              <a:t>gcc</a:t>
            </a:r>
            <a:r>
              <a:rPr lang="en-US" dirty="0"/>
              <a:t>, </a:t>
            </a:r>
            <a:r>
              <a:rPr lang="en-US" dirty="0" err="1"/>
              <a:t>libuv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Для сбора статистики использовалась утилита </a:t>
            </a:r>
            <a:r>
              <a:rPr lang="en-US" dirty="0">
                <a:hlinkClick r:id="rId3"/>
              </a:rPr>
              <a:t>Localizer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757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Замедление при отключении локализации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C78D5-D629-481B-A9F8-E89D0159B296}"/>
              </a:ext>
            </a:extLst>
          </p:cNvPr>
          <p:cNvSpPr txBox="1"/>
          <p:nvPr/>
        </p:nvSpPr>
        <p:spPr>
          <a:xfrm>
            <a:off x="71717" y="64965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hlinkClick r:id="rId2"/>
              </a:rPr>
              <a:t>Патч для компилятора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3A886-B4F7-4BC3-B204-F99D494CE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57" y="1666545"/>
            <a:ext cx="6258485" cy="50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981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Локализация функций позволяет компилятору генерировать существенно более производительный код</a:t>
            </a:r>
            <a:r>
              <a:rPr lang="en-US" dirty="0"/>
              <a:t> (5% </a:t>
            </a:r>
            <a:r>
              <a:rPr lang="ru-RU" dirty="0"/>
              <a:t>и более)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Rust</a:t>
            </a:r>
            <a:r>
              <a:rPr lang="ru-RU" dirty="0"/>
              <a:t> по умолчанию принято более эффективное (с точки зрения производительности) решение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364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Efficient C Tips #5 – Make ‘local’ functions ‘static’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671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Отсутствие </a:t>
            </a:r>
            <a:r>
              <a:rPr lang="en-US" dirty="0" err="1"/>
              <a:t>inplace</a:t>
            </a:r>
            <a:r>
              <a:rPr lang="en-US" dirty="0"/>
              <a:t>-</a:t>
            </a:r>
            <a:r>
              <a:rPr lang="ru-RU" dirty="0"/>
              <a:t>инициализации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0D7BC-3079-43E1-9B1E-FF3C0415090F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</a:t>
            </a:r>
            <a:r>
              <a:rPr lang="ru-RU" dirty="0"/>
              <a:t> </a:t>
            </a:r>
            <a:r>
              <a:rPr lang="ru-RU" dirty="0">
                <a:hlinkClick r:id="rId3"/>
              </a:rPr>
              <a:t>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7089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существуют механизм</a:t>
            </a:r>
            <a:r>
              <a:rPr lang="en-US" dirty="0"/>
              <a:t> placement new</a:t>
            </a:r>
            <a:r>
              <a:rPr lang="ru-RU" dirty="0"/>
              <a:t> для конструирования объектов в произвольном буфере в памяти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some_alloc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sizeof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Или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std::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construct_at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А также </a:t>
            </a:r>
            <a:r>
              <a:rPr lang="en-US" dirty="0"/>
              <a:t>perfect forwarding: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vector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LargeStruct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emplace_back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large_struct_initializer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ru-RU" dirty="0"/>
              <a:t>В языке </a:t>
            </a:r>
            <a:r>
              <a:rPr lang="en-US" dirty="0"/>
              <a:t>Rust</a:t>
            </a:r>
            <a:r>
              <a:rPr lang="ru-RU" dirty="0"/>
              <a:t> аналогичный механизм отсутствует</a:t>
            </a:r>
            <a:endParaRPr lang="en-US" dirty="0"/>
          </a:p>
          <a:p>
            <a:pPr lvl="1"/>
            <a:r>
              <a:rPr lang="ru-RU" dirty="0"/>
              <a:t>Следствие обязательной инициализации объектов</a:t>
            </a:r>
          </a:p>
          <a:p>
            <a:r>
              <a:rPr lang="ru-RU" dirty="0"/>
              <a:t>Проблема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Сможет ли компилятор убрать копирования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со стека в кучу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LargeStruct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55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9912-E47F-465D-B5E9-9DA23CC8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Зачем нужны </a:t>
            </a:r>
            <a:r>
              <a:rPr lang="en-US" dirty="0"/>
              <a:t>placement new?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AE5A7-E870-4CAE-9836-F16430C4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F0AB8-FDCA-4A97-847D-92708C058B90}"/>
              </a:ext>
            </a:extLst>
          </p:cNvPr>
          <p:cNvSpPr txBox="1"/>
          <p:nvPr/>
        </p:nvSpPr>
        <p:spPr>
          <a:xfrm>
            <a:off x="591670" y="2151727"/>
            <a:ext cx="58360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&lt;[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cfg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fast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into_boxed_slice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Проблемное копирование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1B96D-216D-4F8C-B91E-D15574AC0421}"/>
              </a:ext>
            </a:extLst>
          </p:cNvPr>
          <p:cNvSpPr txBox="1"/>
          <p:nvPr/>
        </p:nvSpPr>
        <p:spPr>
          <a:xfrm>
            <a:off x="6490447" y="2151727"/>
            <a:ext cx="524435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Сможет ли компилятор оптимизировать копию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?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LIMIT=$((8 * 1024))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+baseline -O test.rs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ulimit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-s $ LIMIT; ./test)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thread 'main' has overflowed its stack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fatal runtime error: stack overflow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dirty="0">
                <a:latin typeface="Consolas" panose="020B0609020204030204" pitchFamily="49" charset="0"/>
                <a:cs typeface="Courier New" panose="02070309020205020404" pitchFamily="49" charset="0"/>
              </a:rPr>
              <a:t>Работает с некопирующим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dedicated API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+baseline --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cfg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fast -O test.rs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(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ulimit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-s $ LIMIT; ./test)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082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9912-E47F-465D-B5E9-9DA23CC8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Зачем нужны </a:t>
            </a:r>
            <a:r>
              <a:rPr lang="en-US" dirty="0"/>
              <a:t>placement new?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AE5A7-E870-4CAE-9836-F16430C4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55D0E-2790-4C42-875A-1A07A0FEC217}"/>
              </a:ext>
            </a:extLst>
          </p:cNvPr>
          <p:cNvSpPr txBox="1"/>
          <p:nvPr/>
        </p:nvSpPr>
        <p:spPr>
          <a:xfrm>
            <a:off x="838200" y="1093371"/>
            <a:ext cx="5257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{};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default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default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begin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vals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(),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vector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reserve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NITER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size_t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NITER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#ifdef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USE_PLACEMENT_NEW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emplace_back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#else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push_back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#endif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asm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""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"r"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aa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"memory"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3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979A6-9396-4718-88E1-2B061C27ABBD}"/>
              </a:ext>
            </a:extLst>
          </p:cNvPr>
          <p:cNvSpPr txBox="1"/>
          <p:nvPr/>
        </p:nvSpPr>
        <p:spPr>
          <a:xfrm>
            <a:off x="5100917" y="4347881"/>
            <a:ext cx="35948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USE_PLACEMENT_NEW </a:t>
            </a:r>
            <a:r>
              <a:rPr lang="ru-RU" sz="2400" dirty="0">
                <a:solidFill>
                  <a:srgbClr val="FF0000"/>
                </a:solidFill>
              </a:rPr>
              <a:t>быстрее на </a:t>
            </a:r>
            <a:r>
              <a:rPr lang="en-US" sz="2400" dirty="0">
                <a:solidFill>
                  <a:srgbClr val="FF0000"/>
                </a:solidFill>
              </a:rPr>
              <a:t>~</a:t>
            </a:r>
            <a:r>
              <a:rPr lang="ru-RU" sz="2400" dirty="0">
                <a:solidFill>
                  <a:srgbClr val="FF0000"/>
                </a:solidFill>
              </a:rPr>
              <a:t>10%!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9110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Move/copy elision</a:t>
            </a:r>
          </a:p>
          <a:p>
            <a:pPr lvl="1"/>
            <a:r>
              <a:rPr lang="ru-RU" dirty="0"/>
              <a:t>Обнаружение и удаление ненужных перемещений или копирований</a:t>
            </a:r>
            <a:endParaRPr lang="en-US" dirty="0"/>
          </a:p>
          <a:p>
            <a:r>
              <a:rPr lang="ru-RU" dirty="0"/>
              <a:t>Может работать более агрессивно чем в </a:t>
            </a:r>
            <a:r>
              <a:rPr lang="en-US" dirty="0"/>
              <a:t>C++</a:t>
            </a:r>
          </a:p>
          <a:p>
            <a:pPr lvl="1"/>
            <a:r>
              <a:rPr lang="ru-RU" dirty="0"/>
              <a:t>Наличие </a:t>
            </a:r>
            <a:r>
              <a:rPr lang="en-US" dirty="0"/>
              <a:t>high-level IR (MIR)</a:t>
            </a:r>
          </a:p>
          <a:p>
            <a:pPr lvl="1"/>
            <a:r>
              <a:rPr lang="en-US" dirty="0"/>
              <a:t>Shallow move/copy (</a:t>
            </a:r>
            <a:r>
              <a:rPr lang="ru-RU" dirty="0"/>
              <a:t>по сути </a:t>
            </a:r>
            <a:r>
              <a:rPr lang="en-US" dirty="0"/>
              <a:t>move/copy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это просто вызов </a:t>
            </a:r>
            <a:r>
              <a:rPr lang="en-US" dirty="0" err="1"/>
              <a:t>memcpy</a:t>
            </a:r>
            <a:r>
              <a:rPr lang="en-US" dirty="0"/>
              <a:t>)</a:t>
            </a:r>
          </a:p>
          <a:p>
            <a:r>
              <a:rPr lang="ru-RU" dirty="0"/>
              <a:t>Компиляторы </a:t>
            </a:r>
            <a:r>
              <a:rPr lang="en-US" dirty="0"/>
              <a:t>C++</a:t>
            </a:r>
            <a:r>
              <a:rPr lang="ru-RU" dirty="0"/>
              <a:t> не поддерживают полноценный </a:t>
            </a:r>
            <a:r>
              <a:rPr lang="en-US" dirty="0"/>
              <a:t>copy elision</a:t>
            </a:r>
            <a:endParaRPr lang="ru-RU" dirty="0"/>
          </a:p>
          <a:p>
            <a:pPr lvl="1"/>
            <a:r>
              <a:rPr lang="ru-RU" dirty="0"/>
              <a:t>Работают ограниченные оптимизации типа </a:t>
            </a:r>
            <a:r>
              <a:rPr lang="en-US" dirty="0"/>
              <a:t>RVO, NRVO, etc.</a:t>
            </a:r>
          </a:p>
          <a:p>
            <a:pPr lvl="1"/>
            <a:r>
              <a:rPr lang="ru-RU" dirty="0"/>
              <a:t>Прежде всего из-за отсутствия </a:t>
            </a:r>
            <a:r>
              <a:rPr lang="en-US" dirty="0"/>
              <a:t>high-level IR (</a:t>
            </a:r>
            <a:r>
              <a:rPr lang="en-US" dirty="0" err="1"/>
              <a:t>ClangIR</a:t>
            </a:r>
            <a:r>
              <a:rPr lang="en-US" dirty="0"/>
              <a:t> to the rescue?)</a:t>
            </a:r>
          </a:p>
          <a:p>
            <a:pPr lvl="1"/>
            <a:r>
              <a:rPr lang="ru-RU" dirty="0"/>
              <a:t>См. работу Романа Русяева</a:t>
            </a:r>
            <a:r>
              <a:rPr lang="en-US" dirty="0"/>
              <a:t> </a:t>
            </a:r>
            <a:r>
              <a:rPr lang="ru-RU" dirty="0"/>
              <a:t>по </a:t>
            </a:r>
            <a:r>
              <a:rPr lang="en-US" dirty="0">
                <a:hlinkClick r:id="rId2"/>
              </a:rPr>
              <a:t>Ultimate Copy Elision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GitHub</a:t>
            </a:r>
            <a:r>
              <a:rPr lang="en-US" dirty="0"/>
              <a:t> </a:t>
            </a:r>
            <a:r>
              <a:rPr lang="ru-RU" dirty="0"/>
              <a:t>со ссылкой на реализацию</a:t>
            </a:r>
            <a:r>
              <a:rPr lang="en-US" dirty="0"/>
              <a:t>)</a:t>
            </a:r>
          </a:p>
          <a:p>
            <a:r>
              <a:rPr lang="ru-RU" dirty="0"/>
              <a:t>Реализация в компиляторе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MIR (high-level IR): </a:t>
            </a:r>
            <a:r>
              <a:rPr lang="en-US" dirty="0" err="1"/>
              <a:t>CopyProp</a:t>
            </a:r>
            <a:r>
              <a:rPr lang="en-US" dirty="0"/>
              <a:t>, </a:t>
            </a:r>
            <a:r>
              <a:rPr lang="en-US" dirty="0" err="1"/>
              <a:t>DeadStoreElimination</a:t>
            </a:r>
            <a:r>
              <a:rPr lang="en-US" dirty="0"/>
              <a:t>, </a:t>
            </a:r>
            <a:r>
              <a:rPr lang="en-US" dirty="0" err="1"/>
              <a:t>DestinationPropagation</a:t>
            </a:r>
            <a:r>
              <a:rPr lang="en-US" dirty="0"/>
              <a:t>, </a:t>
            </a:r>
            <a:r>
              <a:rPr lang="en-US" dirty="0" err="1"/>
              <a:t>RenameReturnPlace</a:t>
            </a:r>
            <a:endParaRPr lang="en-US" dirty="0"/>
          </a:p>
          <a:p>
            <a:pPr lvl="1"/>
            <a:r>
              <a:rPr lang="en-US" dirty="0"/>
              <a:t>LLVM: </a:t>
            </a:r>
            <a:r>
              <a:rPr lang="en-US" dirty="0" err="1"/>
              <a:t>MemCpyOptPass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3C1F6-C5DD-4614-B2F1-6ECD74190FB0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57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 </a:t>
            </a:r>
            <a:r>
              <a:rPr lang="en-US" dirty="0"/>
              <a:t>move/copy elision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Зависит от версии компилятора</a:t>
            </a:r>
          </a:p>
          <a:p>
            <a:pPr lvl="1"/>
            <a:r>
              <a:rPr lang="ru-RU" dirty="0"/>
              <a:t>Не всегда монотонно</a:t>
            </a:r>
            <a:r>
              <a:rPr lang="en-US" dirty="0"/>
              <a:t>!</a:t>
            </a:r>
          </a:p>
          <a:p>
            <a:r>
              <a:rPr lang="ru-RU" dirty="0"/>
              <a:t>Работает только в </a:t>
            </a:r>
            <a:r>
              <a:rPr lang="en-US" dirty="0"/>
              <a:t>release</a:t>
            </a:r>
            <a:r>
              <a:rPr lang="ru-RU" dirty="0"/>
              <a:t>-режиме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debug-</a:t>
            </a:r>
            <a:r>
              <a:rPr lang="ru-RU" dirty="0"/>
              <a:t>сборке копии остаются и могут вызвать переполнение стека</a:t>
            </a:r>
            <a:r>
              <a:rPr lang="en-US" dirty="0"/>
              <a:t> </a:t>
            </a:r>
            <a:r>
              <a:rPr lang="ru-RU" dirty="0"/>
              <a:t>или по крайней мере сильное замедление</a:t>
            </a:r>
            <a:endParaRPr lang="en-US" dirty="0"/>
          </a:p>
          <a:p>
            <a:r>
              <a:rPr lang="ru-RU" dirty="0"/>
              <a:t>Языковая поддержка </a:t>
            </a:r>
            <a:r>
              <a:rPr lang="en-US" dirty="0" err="1"/>
              <a:t>inplace</a:t>
            </a:r>
            <a:r>
              <a:rPr lang="ru-RU" dirty="0"/>
              <a:t>-инициализации является одной из целей на 2026 год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In-place initialization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636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 же что для обязательных инициализаций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Использование специальных </a:t>
            </a:r>
            <a:r>
              <a:rPr lang="en-US" dirty="0"/>
              <a:t>API </a:t>
            </a:r>
            <a:r>
              <a:rPr lang="ru-RU" dirty="0"/>
              <a:t>для создания неинициализированных буферов и их явная инициализация</a:t>
            </a:r>
            <a:endParaRPr lang="en-US" dirty="0"/>
          </a:p>
          <a:p>
            <a:pPr lvl="1"/>
            <a:r>
              <a:rPr lang="ru-RU" dirty="0"/>
              <a:t>Например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Box</a:t>
            </a:r>
            <a:r>
              <a:rPr lang="en-US" dirty="0"/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new_uninit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Vec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with_capacity</a:t>
            </a:r>
            <a:r>
              <a:rPr lang="en-US" dirty="0"/>
              <a:t>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set_len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ru-RU" dirty="0"/>
              <a:t>А также другие </a:t>
            </a:r>
            <a:r>
              <a:rPr lang="en-US" dirty="0"/>
              <a:t>API </a:t>
            </a:r>
            <a:r>
              <a:rPr lang="ru-RU" dirty="0"/>
              <a:t>например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Vec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into_boxed_slice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25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Copy elision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работает эффективнее чем в </a:t>
            </a:r>
            <a:r>
              <a:rPr lang="en-US" dirty="0"/>
              <a:t>C++</a:t>
            </a:r>
          </a:p>
          <a:p>
            <a:r>
              <a:rPr lang="ru-RU" dirty="0"/>
              <a:t>Но не может компенсировать отсутствие явной </a:t>
            </a:r>
            <a:r>
              <a:rPr lang="en-US" dirty="0" err="1"/>
              <a:t>inplace</a:t>
            </a:r>
            <a:r>
              <a:rPr lang="en-US" dirty="0"/>
              <a:t>-</a:t>
            </a:r>
            <a:r>
              <a:rPr lang="ru-RU" dirty="0"/>
              <a:t>инициализации</a:t>
            </a:r>
            <a:endParaRPr lang="en-US" dirty="0"/>
          </a:p>
          <a:p>
            <a:pPr lvl="1"/>
            <a:r>
              <a:rPr lang="en-US" dirty="0"/>
              <a:t>Placement new </a:t>
            </a:r>
            <a:r>
              <a:rPr lang="ru-RU" dirty="0"/>
              <a:t>и </a:t>
            </a:r>
            <a:r>
              <a:rPr lang="en-US" dirty="0"/>
              <a:t>perfect forwarding</a:t>
            </a:r>
            <a:endParaRPr lang="ru-RU" dirty="0"/>
          </a:p>
          <a:p>
            <a:r>
              <a:rPr lang="ru-RU" dirty="0"/>
              <a:t>Разработчики языка осознают эту проблему</a:t>
            </a:r>
            <a:r>
              <a:rPr lang="en-US" dirty="0"/>
              <a:t> </a:t>
            </a:r>
            <a:r>
              <a:rPr lang="ru-RU" dirty="0"/>
              <a:t>и активно работают над её решением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>
                <a:hlinkClick r:id="rId2"/>
              </a:rPr>
              <a:t>Rust Project Goals 2026: In-place initialization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Rust Project Goals 2026: MIR move elimination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032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Ultimate Copy Elision</a:t>
            </a:r>
            <a:endParaRPr lang="en-US" dirty="0"/>
          </a:p>
          <a:p>
            <a:pPr lvl="1"/>
            <a:r>
              <a:rPr lang="ru-RU" dirty="0"/>
              <a:t>Исчерпывающий обзор </a:t>
            </a:r>
            <a:r>
              <a:rPr lang="en-US" dirty="0"/>
              <a:t>copy elision </a:t>
            </a:r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от Романа Русяева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980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расположения полей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B10AC-2DD3-4AB7-B7B0-997763F0771F}"/>
              </a:ext>
            </a:extLst>
          </p:cNvPr>
          <p:cNvSpPr txBox="1"/>
          <p:nvPr/>
        </p:nvSpPr>
        <p:spPr>
          <a:xfrm>
            <a:off x="172010" y="6125976"/>
            <a:ext cx="2176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r>
              <a:rPr lang="en-US" dirty="0"/>
              <a:t> (</a:t>
            </a:r>
            <a:r>
              <a:rPr lang="ru-RU" dirty="0"/>
              <a:t>пока не готов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86308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048EE-7229-4F4F-80AB-E74BF13B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Выравнивание полей структур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C473F-79B1-47BE-8F8D-89A447B7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7664" cy="289737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Многие языки </a:t>
            </a:r>
            <a:r>
              <a:rPr lang="en-US" dirty="0"/>
              <a:t>(C, C++, C#, Swift) </a:t>
            </a:r>
            <a:r>
              <a:rPr lang="ru-RU" dirty="0"/>
              <a:t>сохраняют порядок полей структуры, указанный в исходном коде</a:t>
            </a:r>
          </a:p>
          <a:p>
            <a:r>
              <a:rPr lang="ru-RU" dirty="0"/>
              <a:t>Для выравнивания адресов полей между ними может добавляться паддинг</a:t>
            </a:r>
          </a:p>
          <a:p>
            <a:pPr lvl="1"/>
            <a:r>
              <a:rPr lang="ru-RU" dirty="0"/>
              <a:t>Выравнивание необходимо из-за аппаратных ограничений</a:t>
            </a:r>
            <a:endParaRPr lang="en-US" dirty="0"/>
          </a:p>
          <a:p>
            <a:pPr lvl="1"/>
            <a:r>
              <a:rPr lang="ru-RU" dirty="0"/>
              <a:t>Невыровненные обращения могут вызывать исключения или замедление работы</a:t>
            </a:r>
            <a:endParaRPr lang="en-US" dirty="0"/>
          </a:p>
          <a:p>
            <a:r>
              <a:rPr lang="ru-RU" dirty="0"/>
              <a:t>Выравнивание полей ускоряет доступ к ним, но ухудшает локальность данных в </a:t>
            </a:r>
            <a:r>
              <a:rPr lang="en-US" dirty="0"/>
              <a:t>D$</a:t>
            </a:r>
            <a:endParaRPr lang="ru-RU" dirty="0"/>
          </a:p>
        </p:txBody>
      </p:sp>
      <p:sp>
        <p:nvSpPr>
          <p:cNvPr id="4" name="AutoShape 2" descr="Structure with ineffective member placement">
            <a:extLst>
              <a:ext uri="{FF2B5EF4-FFF2-40B4-BE49-F238E27FC236}">
                <a16:creationId xmlns:a16="http://schemas.microsoft.com/office/drawing/2014/main" id="{3610C219-D068-4ABA-A7AE-DA35D1151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Structure with ineffective member placement">
            <a:extLst>
              <a:ext uri="{FF2B5EF4-FFF2-40B4-BE49-F238E27FC236}">
                <a16:creationId xmlns:a16="http://schemas.microsoft.com/office/drawing/2014/main" id="{DD15E656-A954-41EC-BE78-8F7ED2346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455557-A721-4000-A21D-12CE9093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465" y="5280345"/>
            <a:ext cx="6124575" cy="34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CB2D5-39BD-4A9B-882B-994A50565F4E}"/>
              </a:ext>
            </a:extLst>
          </p:cNvPr>
          <p:cNvSpPr txBox="1"/>
          <p:nvPr/>
        </p:nvSpPr>
        <p:spPr>
          <a:xfrm>
            <a:off x="1540920" y="4621372"/>
            <a:ext cx="27746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RandomOrder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m_byte1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uint64_t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m_long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m_byte2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m_int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m_byte3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CC3C9-398B-4DF5-A6AF-56ACCD1B5A26}"/>
              </a:ext>
            </a:extLst>
          </p:cNvPr>
          <p:cNvSpPr txBox="1"/>
          <p:nvPr/>
        </p:nvSpPr>
        <p:spPr>
          <a:xfrm>
            <a:off x="10942040" y="6523489"/>
            <a:ext cx="124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Image source</a:t>
            </a:r>
            <a:endParaRPr lang="ru-RU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834BF-A2E5-44CB-85C6-05CFE8E4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890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51610-B8D9-422F-A976-3068047D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в </a:t>
            </a:r>
            <a:r>
              <a:rPr lang="en-US" dirty="0"/>
              <a:t>Rust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4A3CA-E3AC-4BCC-98A4-A1B15B38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Rust ABI не фиксирует порядок полей в структурах</a:t>
            </a:r>
            <a:endParaRPr lang="en-US" dirty="0"/>
          </a:p>
          <a:p>
            <a:r>
              <a:rPr lang="ru-RU" dirty="0"/>
              <a:t>Это позволяет компилятору свободно его модифицировать</a:t>
            </a:r>
          </a:p>
          <a:p>
            <a:r>
              <a:rPr lang="ru-RU" dirty="0"/>
              <a:t>Оптимизация порядка полей для </a:t>
            </a:r>
          </a:p>
          <a:p>
            <a:pPr lvl="1"/>
            <a:r>
              <a:rPr lang="en-US" dirty="0"/>
              <a:t>C</a:t>
            </a:r>
            <a:r>
              <a:rPr lang="ru-RU" dirty="0"/>
              <a:t>нижения </a:t>
            </a:r>
            <a:r>
              <a:rPr lang="en-US" dirty="0"/>
              <a:t>D$ pressure </a:t>
            </a:r>
            <a:r>
              <a:rPr lang="ru-RU" dirty="0"/>
              <a:t>(посредством уменьшения требуемого паддинга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Оптимизации расположения ниш (см. ниже)</a:t>
            </a:r>
            <a:endParaRPr lang="en-US" dirty="0"/>
          </a:p>
          <a:p>
            <a:r>
              <a:rPr lang="ru-RU" dirty="0"/>
              <a:t>В теории компилятор</a:t>
            </a:r>
            <a:r>
              <a:rPr lang="en-US" dirty="0"/>
              <a:t> </a:t>
            </a:r>
            <a:r>
              <a:rPr lang="ru-RU" dirty="0"/>
              <a:t>также может размещать вместе поля, которые часто используются совместно</a:t>
            </a:r>
          </a:p>
          <a:p>
            <a:pPr lvl="1"/>
            <a:r>
              <a:rPr lang="ru-RU" dirty="0"/>
              <a:t>Можно воспользоваться </a:t>
            </a:r>
            <a:r>
              <a:rPr lang="en-US" dirty="0"/>
              <a:t>PGO </a:t>
            </a:r>
            <a:r>
              <a:rPr lang="ru-RU" dirty="0"/>
              <a:t>или статическим анализом</a:t>
            </a:r>
            <a:r>
              <a:rPr lang="en-US" dirty="0"/>
              <a:t> (</a:t>
            </a:r>
            <a:r>
              <a:rPr lang="ru-RU" dirty="0"/>
              <a:t>как </a:t>
            </a:r>
            <a:r>
              <a:rPr lang="en-US" dirty="0"/>
              <a:t>-</a:t>
            </a:r>
            <a:r>
              <a:rPr lang="en-US" dirty="0" err="1"/>
              <a:t>fipa</a:t>
            </a:r>
            <a:r>
              <a:rPr lang="en-US" dirty="0"/>
              <a:t>-struct-reorg </a:t>
            </a:r>
            <a:r>
              <a:rPr lang="ru-RU" dirty="0"/>
              <a:t>в </a:t>
            </a:r>
            <a:r>
              <a:rPr lang="en-US" dirty="0"/>
              <a:t>GCC)</a:t>
            </a:r>
          </a:p>
          <a:p>
            <a:r>
              <a:rPr lang="ru-RU" dirty="0"/>
              <a:t>А также выносить редко используемые поля </a:t>
            </a:r>
            <a:r>
              <a:rPr lang="en-US" dirty="0"/>
              <a:t>(structure peeling)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FE6D-75BD-43B3-8B89-13773A80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300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C335C-1706-4E27-BC4E-3DEF1CFF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порядка полей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2A78B-FACD-4265-BA5E-6E703B42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71495" cy="4351338"/>
          </a:xfrm>
        </p:spPr>
        <p:txBody>
          <a:bodyPr/>
          <a:lstStyle/>
          <a:p>
            <a:r>
              <a:rPr lang="ru-RU" dirty="0"/>
              <a:t>Для уменьшения размера поля сортируются в порядке уменьшения выравнивания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C523C-30BB-41C2-8A3B-61158656C906}"/>
              </a:ext>
            </a:extLst>
          </p:cNvPr>
          <p:cNvSpPr txBox="1"/>
          <p:nvPr/>
        </p:nvSpPr>
        <p:spPr>
          <a:xfrm>
            <a:off x="682306" y="4310311"/>
            <a:ext cx="29843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endParaRPr lang="en-US" sz="14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31E04-8235-48E3-9BA6-7C9FBBD66539}"/>
              </a:ext>
            </a:extLst>
          </p:cNvPr>
          <p:cNvSpPr txBox="1"/>
          <p:nvPr/>
        </p:nvSpPr>
        <p:spPr>
          <a:xfrm>
            <a:off x="4674416" y="2975427"/>
            <a:ext cx="25942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16 bytes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A28FD-A5B0-4274-A4AF-F4FEF13A3598}"/>
              </a:ext>
            </a:extLst>
          </p:cNvPr>
          <p:cNvSpPr txBox="1"/>
          <p:nvPr/>
        </p:nvSpPr>
        <p:spPr>
          <a:xfrm>
            <a:off x="8726815" y="2867704"/>
            <a:ext cx="2237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#[repr(C)]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24 bytes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F710E-19F3-4BF0-AC03-8EE50F058B77}"/>
              </a:ext>
            </a:extLst>
          </p:cNvPr>
          <p:cNvSpPr txBox="1"/>
          <p:nvPr/>
        </p:nvSpPr>
        <p:spPr>
          <a:xfrm>
            <a:off x="4199565" y="4325100"/>
            <a:ext cx="36929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74B58-BB2B-4F14-89AD-0B335141A7E8}"/>
              </a:ext>
            </a:extLst>
          </p:cNvPr>
          <p:cNvSpPr txBox="1"/>
          <p:nvPr/>
        </p:nvSpPr>
        <p:spPr>
          <a:xfrm>
            <a:off x="8152090" y="4325100"/>
            <a:ext cx="4007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+ 16]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6919B-5140-47DF-A4EA-2F46DDAD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FE838-9095-4C44-8D4D-BA4919D9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604" y="241984"/>
            <a:ext cx="1609950" cy="1571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C3A87B-3AE5-4274-98DC-6BD7AE6C5FC0}"/>
              </a:ext>
            </a:extLst>
          </p:cNvPr>
          <p:cNvSpPr txBox="1"/>
          <p:nvPr/>
        </p:nvSpPr>
        <p:spPr>
          <a:xfrm>
            <a:off x="187962" y="6492875"/>
            <a:ext cx="4410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Jeffrey </a:t>
            </a:r>
            <a:r>
              <a:rPr lang="en-US" sz="1000" dirty="0" err="1"/>
              <a:t>Bary</a:t>
            </a:r>
            <a:r>
              <a:rPr lang="en-US" sz="1000" dirty="0"/>
              <a:t>, </a:t>
            </a:r>
            <a:r>
              <a:rPr lang="en-US" sz="1000" dirty="0">
                <a:hlinkClick r:id="rId3"/>
              </a:rPr>
              <a:t>https://www.flickr.com/photos/70118259@N00/3173642531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B15D6-CDD5-4509-AE43-679D74B94C1E}"/>
              </a:ext>
            </a:extLst>
          </p:cNvPr>
          <p:cNvSpPr txBox="1"/>
          <p:nvPr/>
        </p:nvSpPr>
        <p:spPr>
          <a:xfrm>
            <a:off x="4674416" y="5723186"/>
            <a:ext cx="233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https://godbolt.org/z/MxYh7bv34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4CC0FD-D080-455E-9598-CAA628A28549}"/>
              </a:ext>
            </a:extLst>
          </p:cNvPr>
          <p:cNvSpPr txBox="1"/>
          <p:nvPr/>
        </p:nvSpPr>
        <p:spPr>
          <a:xfrm>
            <a:off x="8274424" y="5722546"/>
            <a:ext cx="2321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https://godbolt.org/z/GMoejn7rd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0209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25E86-AAF1-4EAF-A00D-9623D134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есть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64C00-1F57-488C-B3C1-7CB36AA6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Многие статические анализаторы предупреждают о неэффективном расположении полей</a:t>
            </a:r>
          </a:p>
          <a:p>
            <a:pPr lvl="1"/>
            <a:r>
              <a:rPr lang="en-US" dirty="0"/>
              <a:t>Clang-tidy</a:t>
            </a:r>
            <a:r>
              <a:rPr lang="ru-RU" dirty="0"/>
              <a:t>, </a:t>
            </a:r>
            <a:r>
              <a:rPr lang="en-US" dirty="0"/>
              <a:t>PVS-studio, etc.</a:t>
            </a:r>
          </a:p>
          <a:p>
            <a:pPr lvl="1"/>
            <a:r>
              <a:rPr lang="en-US" dirty="0" err="1"/>
              <a:t>Pahole</a:t>
            </a:r>
            <a:r>
              <a:rPr lang="en-US" dirty="0"/>
              <a:t> (</a:t>
            </a:r>
            <a:r>
              <a:rPr lang="ru-RU" dirty="0"/>
              <a:t>на базе </a:t>
            </a:r>
            <a:r>
              <a:rPr lang="en-US" dirty="0" err="1"/>
              <a:t>debuginfo</a:t>
            </a:r>
            <a:r>
              <a:rPr lang="en-US" dirty="0"/>
              <a:t>)</a:t>
            </a:r>
          </a:p>
          <a:p>
            <a:r>
              <a:rPr lang="en-US" dirty="0"/>
              <a:t>clang-reorder-fields – LLVM-based </a:t>
            </a:r>
            <a:r>
              <a:rPr lang="ru-RU" dirty="0"/>
              <a:t>инструмент для перестановки полей для оптимизации паддинга</a:t>
            </a:r>
            <a:endParaRPr lang="en-US" dirty="0"/>
          </a:p>
          <a:p>
            <a:r>
              <a:rPr lang="ru-RU" dirty="0"/>
              <a:t>В теории при использовании </a:t>
            </a:r>
            <a:r>
              <a:rPr lang="en-US" dirty="0"/>
              <a:t>Fat LTO </a:t>
            </a:r>
            <a:r>
              <a:rPr lang="ru-RU" dirty="0"/>
              <a:t>компилятор может</a:t>
            </a:r>
            <a:r>
              <a:rPr lang="en-US" dirty="0"/>
              <a:t> </a:t>
            </a:r>
            <a:r>
              <a:rPr lang="ru-RU" dirty="0"/>
              <a:t>делать аналогичные оптимизации автоматически</a:t>
            </a:r>
          </a:p>
          <a:p>
            <a:pPr lvl="1"/>
            <a:r>
              <a:rPr lang="ru-RU" dirty="0"/>
              <a:t>Так сейчас уже делает </a:t>
            </a:r>
            <a:r>
              <a:rPr lang="en-US" dirty="0"/>
              <a:t>LCC </a:t>
            </a:r>
            <a:r>
              <a:rPr lang="ru-RU" dirty="0"/>
              <a:t>(МЦСТ)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197CE-4593-4141-B5A9-DB6B2B8B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62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86CB3-CA98-4D5C-9B68-DF83F5F6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17"/>
            <a:ext cx="10515600" cy="1325563"/>
          </a:xfrm>
        </p:spPr>
        <p:txBody>
          <a:bodyPr/>
          <a:lstStyle/>
          <a:p>
            <a:r>
              <a:rPr lang="ru-RU" dirty="0"/>
              <a:t>Устройство </a:t>
            </a:r>
            <a:r>
              <a:rPr lang="en-US" dirty="0"/>
              <a:t>Rust </a:t>
            </a:r>
            <a:r>
              <a:rPr lang="en-US" dirty="0" err="1"/>
              <a:t>enums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C07E6B-7EC2-45BD-B980-C5C37E47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1049000" cy="4351338"/>
          </a:xfrm>
        </p:spPr>
        <p:txBody>
          <a:bodyPr/>
          <a:lstStyle/>
          <a:p>
            <a:r>
              <a:rPr lang="en-US" dirty="0"/>
              <a:t>Enums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являются аналогом </a:t>
            </a:r>
            <a:r>
              <a:rPr lang="en-US" dirty="0"/>
              <a:t>std::variant </a:t>
            </a:r>
            <a:r>
              <a:rPr lang="ru-RU" dirty="0"/>
              <a:t>в </a:t>
            </a:r>
            <a:r>
              <a:rPr lang="en-US" dirty="0"/>
              <a:t>C++</a:t>
            </a:r>
          </a:p>
          <a:p>
            <a:r>
              <a:rPr lang="ru-RU" dirty="0"/>
              <a:t>Могут содержать различные типы данных</a:t>
            </a:r>
            <a:endParaRPr lang="en-US" dirty="0"/>
          </a:p>
          <a:p>
            <a:pPr lvl="1"/>
            <a:r>
              <a:rPr lang="ru-RU" dirty="0"/>
              <a:t>Конкретный тип определяется в рантайме и хранится в специальном поле – теге</a:t>
            </a:r>
          </a:p>
          <a:p>
            <a:r>
              <a:rPr lang="ru-RU" dirty="0"/>
              <a:t>Объект типа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содержит</a:t>
            </a:r>
          </a:p>
          <a:p>
            <a:pPr lvl="1"/>
            <a:r>
              <a:rPr lang="ru-RU" dirty="0"/>
              <a:t>Тег </a:t>
            </a:r>
            <a:r>
              <a:rPr lang="en-US" dirty="0"/>
              <a:t>(tag, discriminant) </a:t>
            </a:r>
            <a:r>
              <a:rPr lang="ru-RU" dirty="0"/>
              <a:t>с индексом хранимого варианта</a:t>
            </a:r>
          </a:p>
          <a:p>
            <a:pPr lvl="1"/>
            <a:r>
              <a:rPr lang="ru-RU" dirty="0"/>
              <a:t>Данные этого варианта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83A7C-41A1-4006-BC2B-7DE3ACD76820}"/>
              </a:ext>
            </a:extLst>
          </p:cNvPr>
          <p:cNvSpPr txBox="1"/>
          <p:nvPr/>
        </p:nvSpPr>
        <p:spPr>
          <a:xfrm>
            <a:off x="5815668" y="4391026"/>
            <a:ext cx="46454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mov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053054-EF4D-495B-ADD6-1ECD0C6E207B}"/>
              </a:ext>
            </a:extLst>
          </p:cNvPr>
          <p:cNvSpPr txBox="1"/>
          <p:nvPr/>
        </p:nvSpPr>
        <p:spPr>
          <a:xfrm>
            <a:off x="838200" y="4391026"/>
            <a:ext cx="327240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3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3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match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US" sz="1300" b="0" dirty="0">
              <a:solidFill>
                <a:srgbClr val="0070C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D7ED05-5C62-423B-ADB7-4BE3CBF50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2515" y="5772418"/>
            <a:ext cx="6231709" cy="809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DE2C-144C-4D71-81A8-198137AE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C4F24-255A-4798-8346-52535F6026AB}"/>
              </a:ext>
            </a:extLst>
          </p:cNvPr>
          <p:cNvSpPr txBox="1"/>
          <p:nvPr/>
        </p:nvSpPr>
        <p:spPr>
          <a:xfrm>
            <a:off x="7297270" y="3775895"/>
            <a:ext cx="2294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https://godbolt.org/z/n8a1x9nWr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645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E987B-1D83-44ED-96AA-CD1B807A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Ниши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B1B54-A130-4A7D-A393-F4253196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884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Некоторые комбинации битов могут не соответствовать никакому осмысленному значению кодируемого типа</a:t>
            </a:r>
          </a:p>
          <a:p>
            <a:r>
              <a:rPr lang="ru-RU" dirty="0"/>
              <a:t>Например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NonZero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rgbClr val="C00000"/>
                </a:solidFill>
              </a:rPr>
              <a:t>i32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ru-RU" dirty="0"/>
              <a:t> не могут быть нулями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bool</a:t>
            </a:r>
            <a:r>
              <a:rPr lang="en-US" dirty="0"/>
              <a:t> (8</a:t>
            </a:r>
            <a:r>
              <a:rPr lang="ru-RU" dirty="0"/>
              <a:t> бит) это только </a:t>
            </a:r>
            <a:r>
              <a:rPr lang="en-US" dirty="0"/>
              <a:t>0b0 </a:t>
            </a:r>
            <a:r>
              <a:rPr lang="ru-RU" dirty="0"/>
              <a:t>или </a:t>
            </a:r>
            <a:r>
              <a:rPr lang="en-US" dirty="0"/>
              <a:t>0b1</a:t>
            </a:r>
            <a:endParaRPr lang="ru-RU" dirty="0"/>
          </a:p>
          <a:p>
            <a:pPr lvl="2"/>
            <a:r>
              <a:rPr lang="ru-RU" dirty="0"/>
              <a:t>Остальные 254 значения некорректны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char</a:t>
            </a:r>
            <a:r>
              <a:rPr lang="en-US" dirty="0"/>
              <a:t> (32 </a:t>
            </a:r>
            <a:r>
              <a:rPr lang="ru-RU" dirty="0"/>
              <a:t>бита) может иметь значения только в диапазонах </a:t>
            </a:r>
            <a:r>
              <a:rPr lang="en-US" dirty="0"/>
              <a:t> [0x0, 0xD7FF] </a:t>
            </a:r>
            <a:r>
              <a:rPr lang="ru-RU" dirty="0"/>
              <a:t>и</a:t>
            </a:r>
            <a:r>
              <a:rPr lang="en-US" dirty="0"/>
              <a:t> [0xE000, 0x10FFFF]</a:t>
            </a:r>
            <a:endParaRPr lang="ru-RU" dirty="0"/>
          </a:p>
          <a:p>
            <a:r>
              <a:rPr lang="ru-RU" dirty="0"/>
              <a:t>Такие диапазоны невалидных значений (не битов!) называются нишами </a:t>
            </a:r>
            <a:r>
              <a:rPr lang="en-US" dirty="0"/>
              <a:t>(niche)</a:t>
            </a:r>
          </a:p>
          <a:p>
            <a:r>
              <a:rPr lang="ru-RU" dirty="0"/>
              <a:t>Паддинги в структурах </a:t>
            </a:r>
            <a:r>
              <a:rPr lang="ru-RU" b="1" dirty="0"/>
              <a:t>не могут</a:t>
            </a:r>
            <a:r>
              <a:rPr lang="ru-RU" dirty="0"/>
              <a:t> использоваться для ниш</a:t>
            </a:r>
            <a:endParaRPr lang="en-US" b="1" dirty="0"/>
          </a:p>
          <a:p>
            <a:r>
              <a:rPr lang="ru-RU" dirty="0"/>
              <a:t>Могут использоваться для хранения тега </a:t>
            </a:r>
            <a:r>
              <a:rPr lang="en-US" dirty="0" err="1"/>
              <a:t>enum</a:t>
            </a:r>
            <a:r>
              <a:rPr lang="en-US" dirty="0"/>
              <a:t>-</a:t>
            </a:r>
            <a:r>
              <a:rPr lang="ru-RU" dirty="0"/>
              <a:t>типа (вместо отдельного поля)</a:t>
            </a:r>
            <a:endParaRPr lang="en-US" dirty="0"/>
          </a:p>
          <a:p>
            <a:pPr lvl="1"/>
            <a:r>
              <a:rPr lang="ru-RU" dirty="0"/>
              <a:t>Т.н. </a:t>
            </a:r>
            <a:r>
              <a:rPr lang="en-US" dirty="0"/>
              <a:t>Discriminant Elision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E477A-A74A-424D-9077-A7AD739F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105</a:t>
            </a:fld>
            <a:endParaRPr lang="en-US"/>
          </a:p>
        </p:txBody>
      </p:sp>
      <p:pic>
        <p:nvPicPr>
          <p:cNvPr id="8194" name="Picture 2" descr="Books &amp; Why Multidisciplinary Reading ...">
            <a:extLst>
              <a:ext uri="{FF2B5EF4-FFF2-40B4-BE49-F238E27FC236}">
                <a16:creationId xmlns:a16="http://schemas.microsoft.com/office/drawing/2014/main" id="{B6A57A92-9079-4032-A341-0D9658B5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935" y="158049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AE6171-2DA5-45D9-A40B-179A9E928A64}"/>
              </a:ext>
            </a:extLst>
          </p:cNvPr>
          <p:cNvCxnSpPr>
            <a:cxnSpLocks/>
          </p:cNvCxnSpPr>
          <p:nvPr/>
        </p:nvCxnSpPr>
        <p:spPr>
          <a:xfrm>
            <a:off x="946785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ADDB0F-A37C-4EAD-A058-7B3D714C0A5A}"/>
              </a:ext>
            </a:extLst>
          </p:cNvPr>
          <p:cNvCxnSpPr>
            <a:cxnSpLocks/>
          </p:cNvCxnSpPr>
          <p:nvPr/>
        </p:nvCxnSpPr>
        <p:spPr>
          <a:xfrm>
            <a:off x="1093470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F65646-5D63-46BE-B579-377C66484134}"/>
              </a:ext>
            </a:extLst>
          </p:cNvPr>
          <p:cNvSpPr txBox="1"/>
          <p:nvPr/>
        </p:nvSpPr>
        <p:spPr>
          <a:xfrm>
            <a:off x="134469" y="6492875"/>
            <a:ext cx="5602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https://nowmediagroup.tv/blog/10-must-read-books-why-multidisciplinary-reading-is-a-must/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6663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DA925-EDAD-4F77-AF8B-F41C8DE8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ниш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87086-7075-4262-8981-88D1AA1F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464"/>
            <a:ext cx="10515600" cy="509401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Самый яркий </a:t>
            </a:r>
            <a:r>
              <a:rPr lang="en-US" dirty="0"/>
              <a:t>(</a:t>
            </a:r>
            <a:r>
              <a:rPr lang="ru-RU" dirty="0"/>
              <a:t>и гарантированный языком) пример оптимизации ниш –</a:t>
            </a:r>
            <a:r>
              <a:rPr lang="en-US" dirty="0"/>
              <a:t> </a:t>
            </a:r>
            <a:r>
              <a:rPr lang="ru-RU" dirty="0"/>
              <a:t>тип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Option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ru-RU" dirty="0"/>
              <a:t>, где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/>
              <a:t> – </a:t>
            </a:r>
            <a:r>
              <a:rPr lang="en-US" dirty="0" err="1"/>
              <a:t>NonNull</a:t>
            </a:r>
            <a:r>
              <a:rPr lang="ru-RU" dirty="0"/>
              <a:t> тип</a:t>
            </a:r>
            <a:r>
              <a:rPr lang="en-US" dirty="0"/>
              <a:t> (</a:t>
            </a:r>
            <a:r>
              <a:rPr lang="ru-RU" dirty="0"/>
              <a:t>например </a:t>
            </a:r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ru-RU" dirty="0">
                <a:cs typeface="Courier New" panose="02070309020205020404" pitchFamily="49" charset="0"/>
              </a:rPr>
              <a:t>Одна ниша может использоваться для нескольких тегов</a:t>
            </a:r>
            <a:r>
              <a:rPr lang="en-US" dirty="0">
                <a:cs typeface="Courier New" panose="02070309020205020404" pitchFamily="49" charset="0"/>
              </a:rPr>
              <a:t>:</a:t>
            </a:r>
            <a:endParaRPr lang="ru-RU" dirty="0">
              <a:cs typeface="Courier New" panose="02070309020205020404" pitchFamily="49" charset="0"/>
            </a:endParaRPr>
          </a:p>
          <a:p>
            <a:pPr lvl="1"/>
            <a:r>
              <a:rPr lang="en-US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size_of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::&lt;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&gt;&gt;&gt;&gt;()</a:t>
            </a:r>
            <a:r>
              <a:rPr lang="ru-RU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endParaRPr lang="ru-RU" dirty="0">
              <a:cs typeface="Courier New" panose="020703090202050204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</a:rPr>
              <a:t>Аналогичная оптимизация возможна для младших бит ссылки (или указателя)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У выровненных указателей несколько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0000"/>
                </a:solidFill>
              </a:rPr>
              <a:t>младших бит всегда 0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Их можно использовать как нишу</a:t>
            </a:r>
          </a:p>
          <a:p>
            <a:pPr lvl="1"/>
            <a:r>
              <a:rPr lang="ru-RU" dirty="0">
                <a:solidFill>
                  <a:srgbClr val="000000"/>
                </a:solidFill>
              </a:rPr>
              <a:t>Пока реализовано только в </a:t>
            </a:r>
            <a:r>
              <a:rPr lang="en-US" dirty="0">
                <a:solidFill>
                  <a:srgbClr val="000000"/>
                </a:solidFill>
              </a:rPr>
              <a:t>nightly (-</a:t>
            </a:r>
            <a:r>
              <a:rPr lang="en-US" dirty="0" err="1">
                <a:solidFill>
                  <a:srgbClr val="000000"/>
                </a:solidFill>
              </a:rPr>
              <a:t>Zreference</a:t>
            </a:r>
            <a:r>
              <a:rPr lang="en-US" dirty="0">
                <a:solidFill>
                  <a:srgbClr val="000000"/>
                </a:solidFill>
              </a:rPr>
              <a:t>-niches, 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rust #3204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pPr lvl="1"/>
            <a:endParaRPr lang="en-US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780ED-64C2-47EE-AFFA-3121DE08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96C69-CFDF-4295-A1A3-3E3A34BAC7E1}"/>
              </a:ext>
            </a:extLst>
          </p:cNvPr>
          <p:cNvSpPr txBox="1"/>
          <p:nvPr/>
        </p:nvSpPr>
        <p:spPr>
          <a:xfrm>
            <a:off x="2434560" y="2898643"/>
            <a:ext cx="2613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&lt;&amp;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</a:rPr>
              <a:t> =  </a:t>
            </a:r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D93515D9-83AD-45D5-81AC-5FD719CFE965}"/>
              </a:ext>
            </a:extLst>
          </p:cNvPr>
          <p:cNvSpPr/>
          <p:nvPr/>
        </p:nvSpPr>
        <p:spPr>
          <a:xfrm>
            <a:off x="4869043" y="2681658"/>
            <a:ext cx="144143" cy="884415"/>
          </a:xfrm>
          <a:prstGeom prst="leftBrace">
            <a:avLst>
              <a:gd name="adj1" fmla="val 69287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6F9CB-866C-42EC-8FF4-BC85D9C440BA}"/>
              </a:ext>
            </a:extLst>
          </p:cNvPr>
          <p:cNvSpPr txBox="1"/>
          <p:nvPr/>
        </p:nvSpPr>
        <p:spPr>
          <a:xfrm>
            <a:off x="4708322" y="2681658"/>
            <a:ext cx="3580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None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0x0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D4C9C-612C-411A-B708-AEB210C7D9D1}"/>
              </a:ext>
            </a:extLst>
          </p:cNvPr>
          <p:cNvSpPr txBox="1"/>
          <p:nvPr/>
        </p:nvSpPr>
        <p:spPr>
          <a:xfrm>
            <a:off x="4708322" y="3201994"/>
            <a:ext cx="5970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Some</a:t>
            </a:r>
            <a:r>
              <a:rPr lang="en-US" sz="2000" dirty="0">
                <a:solidFill>
                  <a:schemeClr val="accent1"/>
                </a:solidFill>
              </a:rPr>
              <a:t>(&amp;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addr_of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762939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0BD59-BDCB-4ADD-B6F9-E4B55BC2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74"/>
            <a:ext cx="10515600" cy="1325563"/>
          </a:xfrm>
        </p:spPr>
        <p:txBody>
          <a:bodyPr/>
          <a:lstStyle/>
          <a:p>
            <a:r>
              <a:rPr lang="ru-RU" dirty="0"/>
              <a:t>Что есть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40A02-F401-47FA-8E3F-B4C7655FD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212"/>
            <a:ext cx="10515600" cy="4415021"/>
          </a:xfrm>
        </p:spPr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en-US" dirty="0"/>
              <a:t>std::optional </a:t>
            </a:r>
            <a:r>
              <a:rPr lang="ru-RU" dirty="0"/>
              <a:t>и </a:t>
            </a:r>
            <a:r>
              <a:rPr lang="en-US" dirty="0"/>
              <a:t>std::variant </a:t>
            </a:r>
            <a:r>
              <a:rPr lang="ru-RU" dirty="0"/>
              <a:t>нет аналога оптимизаций ниш</a:t>
            </a:r>
            <a:endParaRPr lang="en-US" dirty="0"/>
          </a:p>
          <a:p>
            <a:pPr lvl="1"/>
            <a:r>
              <a:rPr lang="ru-RU" dirty="0">
                <a:hlinkClick r:id="rId2"/>
              </a:rPr>
              <a:t>Можно реализовать</a:t>
            </a:r>
            <a:r>
              <a:rPr lang="en-US" dirty="0"/>
              <a:t> </a:t>
            </a:r>
            <a:r>
              <a:rPr lang="ru-RU" dirty="0"/>
              <a:t>аналог </a:t>
            </a:r>
            <a:r>
              <a:rPr lang="en-US" dirty="0"/>
              <a:t>std::optional </a:t>
            </a:r>
            <a:r>
              <a:rPr lang="ru-RU" dirty="0"/>
              <a:t>с такой оптимизацией</a:t>
            </a:r>
          </a:p>
          <a:p>
            <a:r>
              <a:rPr lang="en-US" dirty="0" err="1"/>
              <a:t>llvm</a:t>
            </a:r>
            <a:r>
              <a:rPr lang="en-US" dirty="0"/>
              <a:t>::</a:t>
            </a:r>
            <a:r>
              <a:rPr lang="en-US" dirty="0" err="1"/>
              <a:t>PointerIntPair</a:t>
            </a:r>
            <a:endParaRPr lang="ru-RU" dirty="0"/>
          </a:p>
          <a:p>
            <a:pPr lvl="1"/>
            <a:r>
              <a:rPr lang="ru-RU" dirty="0"/>
              <a:t>Использует младшие биты указателя для хранения значений </a:t>
            </a:r>
            <a:r>
              <a:rPr lang="en-US" dirty="0"/>
              <a:t>int</a:t>
            </a:r>
          </a:p>
          <a:p>
            <a:pPr lvl="1"/>
            <a:r>
              <a:rPr lang="ru-RU" dirty="0"/>
              <a:t>Аналог </a:t>
            </a:r>
            <a:r>
              <a:rPr lang="en-US" dirty="0"/>
              <a:t>-</a:t>
            </a:r>
            <a:r>
              <a:rPr lang="en-US" dirty="0" err="1"/>
              <a:t>Zreference</a:t>
            </a:r>
            <a:r>
              <a:rPr lang="en-US" dirty="0"/>
              <a:t>-niches </a:t>
            </a:r>
            <a:r>
              <a:rPr lang="ru-RU" dirty="0"/>
              <a:t>в </a:t>
            </a:r>
            <a:r>
              <a:rPr lang="en-US" dirty="0"/>
              <a:t>Rust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Lock-free</a:t>
            </a:r>
            <a:r>
              <a:rPr lang="ru-RU" dirty="0"/>
              <a:t> реализации</a:t>
            </a:r>
            <a:r>
              <a:rPr lang="en-US" dirty="0"/>
              <a:t> atomic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e.g.</a:t>
            </a:r>
            <a:r>
              <a:rPr lang="ru-RU" dirty="0"/>
              <a:t> в </a:t>
            </a:r>
            <a:r>
              <a:rPr lang="en-US" dirty="0"/>
              <a:t>Folly) </a:t>
            </a:r>
            <a:r>
              <a:rPr lang="ru-RU" dirty="0"/>
              <a:t>используют свободные биты адреса</a:t>
            </a:r>
            <a:r>
              <a:rPr lang="en-US" dirty="0"/>
              <a:t> </a:t>
            </a:r>
            <a:r>
              <a:rPr lang="ru-RU" dirty="0"/>
              <a:t>для хранения </a:t>
            </a:r>
            <a:r>
              <a:rPr lang="en-US" dirty="0"/>
              <a:t>reference count</a:t>
            </a:r>
          </a:p>
          <a:p>
            <a:pPr lvl="1"/>
            <a:r>
              <a:rPr lang="ru-RU" dirty="0"/>
              <a:t>Это позволяет использовать атомарные инструкции меньшей ширины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47E153-81AE-4945-B7B3-67655249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72" y="5299815"/>
            <a:ext cx="4419857" cy="13523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2E0179-1F89-4986-AC5E-3EBC46119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768" y="3574723"/>
            <a:ext cx="3616754" cy="5192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B6D0-8CAD-493B-966F-7CC01C09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78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32"/>
            <a:ext cx="10515600" cy="1325563"/>
          </a:xfrm>
        </p:spPr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608242-3689-47A5-9382-743CEC850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574" y="1529740"/>
            <a:ext cx="6159874" cy="4927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B54583-3BB2-459D-A354-B4BBB589223A}"/>
              </a:ext>
            </a:extLst>
          </p:cNvPr>
          <p:cNvSpPr txBox="1"/>
          <p:nvPr/>
        </p:nvSpPr>
        <p:spPr>
          <a:xfrm>
            <a:off x="8960644" y="1690688"/>
            <a:ext cx="31883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Отключили </a:t>
            </a:r>
            <a:r>
              <a:rPr lang="en-US" sz="2400" dirty="0" err="1"/>
              <a:t>shouldMergeGEPs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/>
              <a:t>store merging </a:t>
            </a:r>
            <a:r>
              <a:rPr lang="ru-RU" sz="2400" dirty="0"/>
              <a:t>из-за их чувствительности к порядку полей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C23F6-8D29-47E4-BFB0-B609BA778346}"/>
              </a:ext>
            </a:extLst>
          </p:cNvPr>
          <p:cNvSpPr txBox="1"/>
          <p:nvPr/>
        </p:nvSpPr>
        <p:spPr>
          <a:xfrm>
            <a:off x="71717" y="64886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023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67C6B-B24F-4F5B-BC3D-DA610602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C8C062-874D-41F1-88BA-84445EF4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Rust </a:t>
            </a:r>
            <a:r>
              <a:rPr lang="ru-RU" dirty="0"/>
              <a:t>не гарантирует порядок полей внутри структур</a:t>
            </a:r>
          </a:p>
          <a:p>
            <a:pPr lvl="1"/>
            <a:r>
              <a:rPr lang="ru-RU" dirty="0"/>
              <a:t>Это даёт свободу оптимизаций</a:t>
            </a:r>
          </a:p>
          <a:p>
            <a:pPr lvl="1"/>
            <a:r>
              <a:rPr lang="ru-RU" dirty="0"/>
              <a:t>Но требует осторожности в </a:t>
            </a:r>
            <a:r>
              <a:rPr lang="en-US" dirty="0"/>
              <a:t>unsafe </a:t>
            </a:r>
            <a:r>
              <a:rPr lang="ru-RU" dirty="0"/>
              <a:t>коде</a:t>
            </a:r>
          </a:p>
          <a:p>
            <a:r>
              <a:rPr lang="ru-RU" dirty="0"/>
              <a:t>Это позволяет компилятору агрессивно переупорядочивать поля и переиспользовать их для тегов</a:t>
            </a:r>
            <a:endParaRPr lang="en-US" dirty="0"/>
          </a:p>
          <a:p>
            <a:pPr lvl="1"/>
            <a:r>
              <a:rPr lang="ru-RU" dirty="0"/>
              <a:t>Аналогичные оптимизации можно</a:t>
            </a:r>
            <a:r>
              <a:rPr lang="en-US" dirty="0"/>
              <a:t> </a:t>
            </a:r>
            <a:r>
              <a:rPr lang="ru-RU" dirty="0"/>
              <a:t>вручную реализовать и в </a:t>
            </a:r>
            <a:r>
              <a:rPr lang="en-US" dirty="0"/>
              <a:t>C++</a:t>
            </a:r>
          </a:p>
          <a:p>
            <a:r>
              <a:rPr lang="ru-RU" dirty="0"/>
              <a:t>Влияние оптимизации самой по себе невелико, но она может включать или отключать другие оптимизации</a:t>
            </a:r>
            <a:endParaRPr lang="en-US" dirty="0"/>
          </a:p>
          <a:p>
            <a:pPr lvl="1"/>
            <a:r>
              <a:rPr lang="ru-RU" dirty="0"/>
              <a:t>Как в компиляторе и процессоре</a:t>
            </a:r>
          </a:p>
          <a:p>
            <a:pPr lvl="1"/>
            <a:r>
              <a:rPr lang="ru-RU" dirty="0"/>
              <a:t>Как положительно, так и отрицательно может влиять на производительность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C154-3E2A-4552-B8F1-82745703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872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 Lost Art of Structure Packing</a:t>
            </a:r>
            <a:r>
              <a:rPr lang="en-US" dirty="0"/>
              <a:t> (by ESR)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729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проверки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F227E-BB3F-417F-927F-816FDDD63561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158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79968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Переполнение арифметических операций может приводить к серьёзным системным сбоям</a:t>
            </a:r>
            <a:endParaRPr lang="en-US" dirty="0"/>
          </a:p>
          <a:p>
            <a:pPr lvl="1"/>
            <a:r>
              <a:rPr lang="en-US" dirty="0"/>
              <a:t>~1% CVE </a:t>
            </a:r>
            <a:r>
              <a:rPr lang="ru-RU" dirty="0"/>
              <a:t>и 1.5% </a:t>
            </a:r>
            <a:r>
              <a:rPr lang="en-US" dirty="0"/>
              <a:t>KEV </a:t>
            </a:r>
            <a:r>
              <a:rPr lang="ru-RU" dirty="0"/>
              <a:t>в 2024</a:t>
            </a:r>
          </a:p>
          <a:p>
            <a:pPr lvl="1"/>
            <a:r>
              <a:rPr lang="en-US" dirty="0"/>
              <a:t>23 </a:t>
            </a:r>
            <a:r>
              <a:rPr lang="ru-RU" dirty="0"/>
              <a:t>место в рейтинге </a:t>
            </a:r>
            <a:r>
              <a:rPr lang="en-US" dirty="0" err="1">
                <a:hlinkClick r:id="rId2"/>
              </a:rPr>
              <a:t>Mitre</a:t>
            </a:r>
            <a:r>
              <a:rPr lang="en-US" dirty="0">
                <a:hlinkClick r:id="rId2"/>
              </a:rPr>
              <a:t> CWE Top 25 2024</a:t>
            </a:r>
            <a:r>
              <a:rPr lang="en-US" dirty="0"/>
              <a:t> (8 </a:t>
            </a:r>
            <a:r>
              <a:rPr lang="ru-RU" dirty="0"/>
              <a:t>в </a:t>
            </a:r>
            <a:r>
              <a:rPr lang="ru-RU" dirty="0">
                <a:hlinkClick r:id="rId3"/>
              </a:rPr>
              <a:t>рейтинге </a:t>
            </a:r>
            <a:r>
              <a:rPr lang="en-US" dirty="0">
                <a:hlinkClick r:id="rId3"/>
              </a:rPr>
              <a:t>2019 </a:t>
            </a:r>
            <a:r>
              <a:rPr lang="ru-RU" dirty="0">
                <a:hlinkClick r:id="rId3"/>
              </a:rPr>
              <a:t>года</a:t>
            </a:r>
            <a:r>
              <a:rPr lang="en-US" dirty="0"/>
              <a:t>)</a:t>
            </a:r>
          </a:p>
          <a:p>
            <a:r>
              <a:rPr lang="ru-RU" dirty="0"/>
              <a:t>Наиболее известные примеры:</a:t>
            </a:r>
          </a:p>
          <a:p>
            <a:pPr lvl="1"/>
            <a:r>
              <a:rPr lang="ru-RU" dirty="0"/>
              <a:t>Инцидент с облучателем Therac-25 </a:t>
            </a:r>
            <a:r>
              <a:rPr lang="en-US" dirty="0"/>
              <a:t>(1985)</a:t>
            </a:r>
            <a:endParaRPr lang="ru-RU" dirty="0"/>
          </a:p>
          <a:p>
            <a:pPr lvl="1"/>
            <a:r>
              <a:rPr lang="ru-RU" dirty="0"/>
              <a:t>Катастрофа ракеты Ariane 5 </a:t>
            </a:r>
            <a:r>
              <a:rPr lang="en-US" dirty="0"/>
              <a:t>(1996)</a:t>
            </a:r>
          </a:p>
          <a:p>
            <a:r>
              <a:rPr lang="ru-RU" dirty="0"/>
              <a:t>История</a:t>
            </a:r>
            <a:r>
              <a:rPr lang="en-US" dirty="0"/>
              <a:t> (pre-Rust):</a:t>
            </a:r>
          </a:p>
          <a:p>
            <a:pPr lvl="1"/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-ftrapv</a:t>
            </a:r>
            <a:r>
              <a:rPr lang="ru-RU" dirty="0"/>
              <a:t> появилась в </a:t>
            </a:r>
            <a:r>
              <a:rPr lang="en-US" dirty="0"/>
              <a:t>GCC </a:t>
            </a:r>
            <a:r>
              <a:rPr lang="ru-RU" dirty="0"/>
              <a:t>в 2000 (</a:t>
            </a:r>
            <a:r>
              <a:rPr lang="en-US" dirty="0">
                <a:hlinkClick r:id="rId4"/>
              </a:rPr>
              <a:t>patch for -</a:t>
            </a:r>
            <a:r>
              <a:rPr lang="en-US" dirty="0" err="1">
                <a:hlinkClick r:id="rId4"/>
              </a:rPr>
              <a:t>ftrapv</a:t>
            </a:r>
            <a:r>
              <a:rPr lang="en-US" dirty="0">
                <a:hlinkClick r:id="rId4"/>
              </a:rPr>
              <a:t> option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За фичей не следили и она быстро протухла (например </a:t>
            </a:r>
            <a:r>
              <a:rPr lang="en-US" dirty="0">
                <a:hlinkClick r:id="rId5"/>
              </a:rPr>
              <a:t>BZ #35412</a:t>
            </a:r>
            <a:r>
              <a:rPr lang="en-US" dirty="0"/>
              <a:t> </a:t>
            </a:r>
            <a:r>
              <a:rPr lang="ru-RU" dirty="0"/>
              <a:t>открыт в 2008)</a:t>
            </a:r>
          </a:p>
          <a:p>
            <a:pPr lvl="1"/>
            <a:r>
              <a:rPr lang="ru-RU" dirty="0"/>
              <a:t>Работы John Regehr над чекером </a:t>
            </a:r>
            <a:r>
              <a:rPr lang="en-US" dirty="0"/>
              <a:t>IOC </a:t>
            </a:r>
            <a:r>
              <a:rPr lang="ru-RU" dirty="0"/>
              <a:t>в </a:t>
            </a:r>
            <a:r>
              <a:rPr lang="ru-RU" dirty="0">
                <a:hlinkClick r:id="rId6"/>
              </a:rPr>
              <a:t>2010</a:t>
            </a:r>
            <a:endParaRPr lang="ru-RU" dirty="0"/>
          </a:p>
          <a:p>
            <a:pPr lvl="1"/>
            <a:r>
              <a:rPr lang="ru-RU" dirty="0"/>
              <a:t>Создание UBsan в 2014 </a:t>
            </a:r>
            <a:r>
              <a:rPr lang="en-US" dirty="0"/>
              <a:t>(</a:t>
            </a:r>
            <a:r>
              <a:rPr lang="ru-RU" dirty="0"/>
              <a:t>на волне популярности </a:t>
            </a:r>
            <a:r>
              <a:rPr lang="en-US" dirty="0"/>
              <a:t>Asan)</a:t>
            </a:r>
            <a:endParaRPr lang="ru-RU" dirty="0"/>
          </a:p>
          <a:p>
            <a:pPr lvl="2"/>
            <a:r>
              <a:rPr lang="en-US" dirty="0"/>
              <a:t>S</a:t>
            </a:r>
            <a:r>
              <a:rPr lang="ru-RU" dirty="0"/>
              <a:t>tate-of-the-art</a:t>
            </a:r>
            <a:r>
              <a:rPr lang="en-US" dirty="0"/>
              <a:t> </a:t>
            </a:r>
            <a:r>
              <a:rPr lang="ru-RU" dirty="0"/>
              <a:t>решение</a:t>
            </a:r>
            <a:endParaRPr lang="en-US" dirty="0"/>
          </a:p>
          <a:p>
            <a:r>
              <a:rPr lang="ru-RU" dirty="0"/>
              <a:t>Дополнительная информация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7"/>
              </a:rPr>
              <a:t>Hardening:</a:t>
            </a:r>
            <a:r>
              <a:rPr lang="ru-RU" dirty="0">
                <a:hlinkClick r:id="rId7"/>
              </a:rPr>
              <a:t> текущий статус и перспективы развития</a:t>
            </a:r>
            <a:r>
              <a:rPr lang="en-US" dirty="0"/>
              <a:t> (C++ Zero Cost)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A8122-6D8A-4DA6-8226-D3412DBE54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541" y="4804899"/>
            <a:ext cx="3307976" cy="1507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96766-630C-4DEC-BE4E-73C894214D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780" y="1189982"/>
            <a:ext cx="2205020" cy="2239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82B62-37D7-4560-9439-FCF4D8945A73}"/>
              </a:ext>
            </a:extLst>
          </p:cNvPr>
          <p:cNvSpPr txBox="1"/>
          <p:nvPr/>
        </p:nvSpPr>
        <p:spPr>
          <a:xfrm>
            <a:off x="175181" y="6442154"/>
            <a:ext cx="2777185" cy="27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J.R. Armstrong, </a:t>
            </a:r>
            <a:r>
              <a:rPr lang="en-US" sz="1200" dirty="0">
                <a:hlinkClick r:id="rId10"/>
              </a:rPr>
              <a:t>Famous Failures Revisited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357828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8B44-9846-43A7-A173-784CB989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ошибки (</a:t>
            </a:r>
            <a:r>
              <a:rPr lang="en-US" dirty="0"/>
              <a:t>OpenSSH 3.3)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50C9-4C10-4C05-A6C0-DE2E817A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packet_get_int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Переполняем целое число до нуля здесь ...</a:t>
            </a: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response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xmalloc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*)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...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и вызываем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heap buffer overflow </a:t>
            </a:r>
            <a:r>
              <a:rPr lang="ru-RU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тут</a:t>
            </a: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nresp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response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packet_get_string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NULL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0DB8-9481-45E9-893B-0D224EDA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571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Дефолтные арифметические проверки</a:t>
            </a:r>
            <a:r>
              <a:rPr lang="en-US" dirty="0"/>
              <a:t>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Некоторые </a:t>
            </a:r>
            <a:r>
              <a:rPr lang="en-US" dirty="0"/>
              <a:t>(</a:t>
            </a:r>
            <a:r>
              <a:rPr lang="ru-RU" dirty="0"/>
              <a:t>не самые опасные...) арифметические проверки включены по умолчанию</a:t>
            </a:r>
            <a:endParaRPr lang="en-US" dirty="0"/>
          </a:p>
          <a:p>
            <a:pPr lvl="1"/>
            <a:r>
              <a:rPr lang="ru-RU" dirty="0"/>
              <a:t>Деление на ноль</a:t>
            </a:r>
          </a:p>
          <a:p>
            <a:pPr lvl="1"/>
            <a:r>
              <a:rPr lang="ru-RU" dirty="0"/>
              <a:t>Знаковое переполнение при делении 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INT_MIN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-1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Ограничение диапазона при преобразовании</a:t>
            </a:r>
            <a:r>
              <a:rPr lang="en-US" dirty="0"/>
              <a:t> float </a:t>
            </a:r>
            <a:r>
              <a:rPr lang="ru-RU" dirty="0"/>
              <a:t>в </a:t>
            </a:r>
            <a:r>
              <a:rPr lang="en-US" dirty="0"/>
              <a:t>integer</a:t>
            </a:r>
            <a:endParaRPr lang="ru-RU" dirty="0"/>
          </a:p>
          <a:p>
            <a:pPr lvl="2"/>
            <a:r>
              <a:rPr lang="ru-RU" dirty="0"/>
              <a:t>Можно отключить с помощью </a:t>
            </a:r>
            <a:r>
              <a:rPr lang="en-US" dirty="0"/>
              <a:t>-</a:t>
            </a:r>
            <a:r>
              <a:rPr lang="en-US" dirty="0" err="1"/>
              <a:t>Zsaturating</a:t>
            </a:r>
            <a:r>
              <a:rPr lang="en-US" dirty="0"/>
              <a:t>-float-casts=off</a:t>
            </a:r>
          </a:p>
          <a:p>
            <a:r>
              <a:rPr lang="ru-RU" dirty="0"/>
              <a:t>Целочисленные переполнения в контейнерах стандартной библиотеки</a:t>
            </a:r>
            <a:endParaRPr lang="en-US" dirty="0"/>
          </a:p>
          <a:p>
            <a:pPr lvl="1"/>
            <a:r>
              <a:rPr lang="ru-RU" dirty="0"/>
              <a:t>С помощью </a:t>
            </a:r>
            <a:r>
              <a:rPr lang="en-US" dirty="0"/>
              <a:t>assert!,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793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проверки</a:t>
            </a:r>
            <a:r>
              <a:rPr lang="en-US" dirty="0"/>
              <a:t>,</a:t>
            </a:r>
            <a:r>
              <a:rPr lang="ru-RU" dirty="0"/>
              <a:t> отсутствующие 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470" y="1667527"/>
            <a:ext cx="11196917" cy="2617601"/>
          </a:xfrm>
        </p:spPr>
        <p:txBody>
          <a:bodyPr>
            <a:normAutofit/>
          </a:bodyPr>
          <a:lstStyle/>
          <a:p>
            <a:r>
              <a:rPr lang="ru-RU" dirty="0"/>
              <a:t>По историческим причинам некоторые важные проверки отсутствуют</a:t>
            </a:r>
            <a:endParaRPr lang="en-US" dirty="0"/>
          </a:p>
          <a:p>
            <a:pPr lvl="1"/>
            <a:r>
              <a:rPr lang="ru-RU" dirty="0"/>
              <a:t>И даже не могут быть включены по опции</a:t>
            </a:r>
            <a:endParaRPr lang="en-US" dirty="0"/>
          </a:p>
          <a:p>
            <a:r>
              <a:rPr lang="ru-RU" dirty="0"/>
              <a:t>Например переполнение при преобразовании типа с помощью </a:t>
            </a:r>
            <a:r>
              <a:rPr lang="en-US" dirty="0">
                <a:solidFill>
                  <a:srgbClr val="C00000"/>
                </a:solidFill>
              </a:rPr>
              <a:t>as</a:t>
            </a:r>
          </a:p>
          <a:p>
            <a:pPr lvl="1"/>
            <a:r>
              <a:rPr lang="ru-RU" dirty="0"/>
              <a:t>Нужно пользоваться альтернативным </a:t>
            </a:r>
            <a:r>
              <a:rPr lang="en-US" dirty="0"/>
              <a:t>API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try_into</a:t>
            </a:r>
            <a:r>
              <a:rPr lang="en-US" dirty="0"/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try_from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51807-4073-43BA-A842-D07FD8376095}"/>
              </a:ext>
            </a:extLst>
          </p:cNvPr>
          <p:cNvSpPr txBox="1"/>
          <p:nvPr/>
        </p:nvSpPr>
        <p:spPr>
          <a:xfrm>
            <a:off x="1186190" y="3638663"/>
            <a:ext cx="24739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50A59-4DEA-46A3-B96A-9BA2190DEA04}"/>
              </a:ext>
            </a:extLst>
          </p:cNvPr>
          <p:cNvSpPr txBox="1"/>
          <p:nvPr/>
        </p:nvSpPr>
        <p:spPr>
          <a:xfrm>
            <a:off x="5774605" y="5032911"/>
            <a:ext cx="5221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thread 'main' panicked at tmp57.rs:5:32: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called `Result::unwrap()` on an `Err` value: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TryFromIntError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4F34B-A6AD-4B58-92DF-1957CB0490F2}"/>
              </a:ext>
            </a:extLst>
          </p:cNvPr>
          <p:cNvSpPr txBox="1"/>
          <p:nvPr/>
        </p:nvSpPr>
        <p:spPr>
          <a:xfrm>
            <a:off x="5763298" y="3638663"/>
            <a:ext cx="42213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convert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TryFrom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try_from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FFBEC-2E04-448A-9F78-7CDF4863CC59}"/>
              </a:ext>
            </a:extLst>
          </p:cNvPr>
          <p:cNvSpPr txBox="1"/>
          <p:nvPr/>
        </p:nvSpPr>
        <p:spPr>
          <a:xfrm>
            <a:off x="1186190" y="5032911"/>
            <a:ext cx="1941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902157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Проверки переполнений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 умолчанию целочисленные переполнения в пользовательском коде проверяются </a:t>
            </a:r>
            <a:r>
              <a:rPr lang="ru-RU" i="1" dirty="0"/>
              <a:t>только</a:t>
            </a:r>
            <a:r>
              <a:rPr lang="ru-RU" dirty="0"/>
              <a:t> в </a:t>
            </a:r>
            <a:r>
              <a:rPr lang="en-US" dirty="0"/>
              <a:t>debug</a:t>
            </a:r>
            <a:r>
              <a:rPr lang="ru-RU" dirty="0"/>
              <a:t>-сборках</a:t>
            </a:r>
          </a:p>
          <a:p>
            <a:r>
              <a:rPr lang="en-US" dirty="0"/>
              <a:t>Two’s complement </a:t>
            </a:r>
            <a:r>
              <a:rPr lang="ru-RU" dirty="0"/>
              <a:t>в </a:t>
            </a:r>
            <a:r>
              <a:rPr lang="en-US" dirty="0"/>
              <a:t>release</a:t>
            </a:r>
            <a:endParaRPr lang="ru-RU" dirty="0"/>
          </a:p>
          <a:p>
            <a:r>
              <a:rPr lang="ru-RU" dirty="0"/>
              <a:t>Можно включить проверки по опции</a:t>
            </a:r>
            <a:r>
              <a:rPr lang="en-US" dirty="0"/>
              <a:t> -C overflow-checks=on</a:t>
            </a:r>
          </a:p>
          <a:p>
            <a:r>
              <a:rPr lang="ru-RU" dirty="0"/>
              <a:t>Причины</a:t>
            </a:r>
            <a:r>
              <a:rPr lang="en-US" dirty="0"/>
              <a:t>: </a:t>
            </a:r>
            <a:r>
              <a:rPr lang="ru-RU" dirty="0"/>
              <a:t>слишком большие накладные расходы</a:t>
            </a:r>
            <a:endParaRPr lang="en-US" dirty="0"/>
          </a:p>
          <a:p>
            <a:pPr lvl="1"/>
            <a:r>
              <a:rPr lang="en-US" dirty="0"/>
              <a:t>“Plan is to turn on checking by default </a:t>
            </a:r>
            <a:r>
              <a:rPr lang="en-US" i="1" dirty="0"/>
              <a:t>if</a:t>
            </a:r>
            <a:r>
              <a:rPr lang="en-US" dirty="0"/>
              <a:t> we can get the performance hit low enough and also that it should leave room in the future to move towards universal overflow checking if it becomes feasible” (</a:t>
            </a:r>
            <a:r>
              <a:rPr lang="en-US" dirty="0">
                <a:hlinkClick r:id="rId2"/>
              </a:rPr>
              <a:t>Niko </a:t>
            </a:r>
            <a:r>
              <a:rPr lang="en-US" dirty="0" err="1">
                <a:hlinkClick r:id="rId2"/>
              </a:rPr>
              <a:t>Matsakis</a:t>
            </a:r>
            <a:r>
              <a:rPr lang="en-US" dirty="0"/>
              <a:t>, </a:t>
            </a:r>
            <a:r>
              <a:rPr lang="ru-RU" dirty="0"/>
              <a:t>ко</a:t>
            </a:r>
            <a:r>
              <a:rPr lang="en-US" dirty="0"/>
              <a:t>-lead Rust language design team)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8921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33004"/>
            <a:ext cx="5939118" cy="1325563"/>
          </a:xfrm>
        </p:spPr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49588" cy="4602069"/>
          </a:xfrm>
        </p:spPr>
        <p:txBody>
          <a:bodyPr>
            <a:normAutofit fontScale="92500"/>
          </a:bodyPr>
          <a:lstStyle/>
          <a:p>
            <a:r>
              <a:rPr lang="ru-RU" dirty="0"/>
              <a:t>Накладные расходы от проверок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Сравнение + предсказуемый условный переход</a:t>
            </a:r>
            <a:r>
              <a:rPr lang="en-US" dirty="0"/>
              <a:t> (1-</a:t>
            </a:r>
            <a:r>
              <a:rPr lang="ru-RU" dirty="0"/>
              <a:t>2 </a:t>
            </a:r>
            <a:r>
              <a:rPr lang="en-US" dirty="0"/>
              <a:t>ALU </a:t>
            </a:r>
            <a:r>
              <a:rPr lang="ru-RU" dirty="0"/>
              <a:t>слота + </a:t>
            </a:r>
            <a:r>
              <a:rPr lang="en-US" dirty="0"/>
              <a:t>I$ pressure)</a:t>
            </a:r>
          </a:p>
          <a:p>
            <a:pPr lvl="1"/>
            <a:r>
              <a:rPr lang="ru-RU" dirty="0"/>
              <a:t>Мешают другим оптимизациям</a:t>
            </a:r>
            <a:r>
              <a:rPr lang="en-US" dirty="0"/>
              <a:t> (vectorizer, etc.)</a:t>
            </a:r>
          </a:p>
          <a:p>
            <a:r>
              <a:rPr lang="ru-RU" dirty="0"/>
              <a:t>С первым</a:t>
            </a:r>
            <a:r>
              <a:rPr lang="en-US" dirty="0"/>
              <a:t> (</a:t>
            </a:r>
            <a:r>
              <a:rPr lang="ru-RU" dirty="0"/>
              <a:t>менее важным) пунктом </a:t>
            </a:r>
            <a:r>
              <a:rPr lang="ru-RU" i="1" dirty="0">
                <a:hlinkClick r:id="rId2"/>
              </a:rPr>
              <a:t>возможно</a:t>
            </a:r>
            <a:r>
              <a:rPr lang="ru-RU" dirty="0"/>
              <a:t> могла бы помочь</a:t>
            </a:r>
            <a:r>
              <a:rPr lang="en-US" dirty="0"/>
              <a:t> </a:t>
            </a:r>
            <a:r>
              <a:rPr lang="ru-RU" dirty="0">
                <a:hlinkClick r:id="rId3"/>
              </a:rPr>
              <a:t>аппаратная поддержка проверок в процессоре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2B543-B015-49AD-8000-A8D0A41AB3D0}"/>
              </a:ext>
            </a:extLst>
          </p:cNvPr>
          <p:cNvSpPr txBox="1"/>
          <p:nvPr/>
        </p:nvSpPr>
        <p:spPr>
          <a:xfrm>
            <a:off x="6485964" y="603995"/>
            <a:ext cx="48678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A9619-AF4F-4F0A-924D-408AAFCF88E2}"/>
              </a:ext>
            </a:extLst>
          </p:cNvPr>
          <p:cNvSpPr txBox="1"/>
          <p:nvPr/>
        </p:nvSpPr>
        <p:spPr>
          <a:xfrm>
            <a:off x="6338047" y="3079377"/>
            <a:ext cx="53608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... test.rs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.LBB0_5: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 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Цикл успешно векторизуется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movdqu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xmm2,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paddd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xmm0, xmm2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...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Coverflow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-checks=on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test.rs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.LBB0_3: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// 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Цикл не векторизуется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jo      .LBB0_6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.LBB0_3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endParaRPr lang="en-US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9C961-9F97-4CF3-BE92-3CAC872EC6CB}"/>
              </a:ext>
            </a:extLst>
          </p:cNvPr>
          <p:cNvSpPr txBox="1"/>
          <p:nvPr/>
        </p:nvSpPr>
        <p:spPr>
          <a:xfrm>
            <a:off x="8919881" y="3001966"/>
            <a:ext cx="2339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https://godbolt.org/z/1x49jffv3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EEE23-FF27-42E4-B075-E6BA5B982C25}"/>
              </a:ext>
            </a:extLst>
          </p:cNvPr>
          <p:cNvSpPr txBox="1"/>
          <p:nvPr/>
        </p:nvSpPr>
        <p:spPr>
          <a:xfrm>
            <a:off x="9421906" y="5781363"/>
            <a:ext cx="2339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https://godbolt.org/z/43h1c87M5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57381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586D-148C-4EA3-B4CF-8FC1CB80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Defined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D7FC-BFD0-42F8-BB1D-6DC003D3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77475" cy="4351338"/>
          </a:xfrm>
        </p:spPr>
        <p:txBody>
          <a:bodyPr>
            <a:normAutofit/>
          </a:bodyPr>
          <a:lstStyle/>
          <a:p>
            <a:r>
              <a:rPr lang="ru-RU" dirty="0"/>
              <a:t>В отличие от </a:t>
            </a:r>
            <a:r>
              <a:rPr lang="en-US" dirty="0"/>
              <a:t>C/C++ </a:t>
            </a:r>
            <a:r>
              <a:rPr lang="ru-RU" dirty="0"/>
              <a:t>целочисленное переполнение не является </a:t>
            </a:r>
            <a:r>
              <a:rPr lang="en-US" dirty="0"/>
              <a:t>Undefined Behavior</a:t>
            </a:r>
          </a:p>
          <a:p>
            <a:pPr lvl="1"/>
            <a:r>
              <a:rPr lang="ru-RU" dirty="0"/>
              <a:t>Паника или </a:t>
            </a:r>
            <a:r>
              <a:rPr lang="en-US" dirty="0"/>
              <a:t>Two’s complement</a:t>
            </a:r>
          </a:p>
          <a:p>
            <a:r>
              <a:rPr lang="ru-RU" dirty="0"/>
              <a:t>Это лишает оптимизатор дополнительной информации</a:t>
            </a:r>
          </a:p>
          <a:p>
            <a:r>
              <a:rPr lang="ru-RU" dirty="0"/>
              <a:t>Может помешать точности анализов (особенно </a:t>
            </a:r>
            <a:r>
              <a:rPr lang="en-US" dirty="0" err="1"/>
              <a:t>ScalarEvolution</a:t>
            </a:r>
            <a:r>
              <a:rPr lang="en-US" dirty="0"/>
              <a:t>)</a:t>
            </a:r>
            <a:r>
              <a:rPr lang="ru-RU" dirty="0"/>
              <a:t> и оптимизаций в </a:t>
            </a:r>
            <a:r>
              <a:rPr lang="en-US" dirty="0"/>
              <a:t>LLVM</a:t>
            </a:r>
          </a:p>
          <a:p>
            <a:pPr lvl="1"/>
            <a:r>
              <a:rPr lang="ru-RU" dirty="0"/>
              <a:t>См. также </a:t>
            </a:r>
            <a:r>
              <a:rPr lang="en-US" dirty="0">
                <a:hlinkClick r:id="rId2"/>
              </a:rPr>
              <a:t>How undefined signed overflow enables optimizations in GCC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EE7C-4206-4423-BB92-4F37A5C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892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586D-148C-4EA3-B4CF-8FC1CB80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61" y="-25117"/>
            <a:ext cx="10515600" cy="1325563"/>
          </a:xfrm>
        </p:spPr>
        <p:txBody>
          <a:bodyPr/>
          <a:lstStyle/>
          <a:p>
            <a:r>
              <a:rPr lang="en-US" dirty="0"/>
              <a:t>Defined overflow: </a:t>
            </a:r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EE7C-4206-4423-BB92-4F37A5C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17318-6482-4635-B866-055763A9C04D}"/>
              </a:ext>
            </a:extLst>
          </p:cNvPr>
          <p:cNvSpPr txBox="1"/>
          <p:nvPr/>
        </p:nvSpPr>
        <p:spPr>
          <a:xfrm>
            <a:off x="1151965" y="1173897"/>
            <a:ext cx="31802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(;;)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c1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E34ED-2437-4E03-8E59-C8A47EE38109}"/>
              </a:ext>
            </a:extLst>
          </p:cNvPr>
          <p:cNvSpPr txBox="1"/>
          <p:nvPr/>
        </p:nvSpPr>
        <p:spPr>
          <a:xfrm>
            <a:off x="962587" y="3443764"/>
            <a:ext cx="441623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loop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buf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buf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BD1FB-0101-4DE0-AAFD-CC2338E1D882}"/>
              </a:ext>
            </a:extLst>
          </p:cNvPr>
          <p:cNvSpPr txBox="1"/>
          <p:nvPr/>
        </p:nvSpPr>
        <p:spPr>
          <a:xfrm>
            <a:off x="5969372" y="1420118"/>
            <a:ext cx="470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.LBB0_1: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movzx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latin typeface="Consolas" panose="020B06090202040302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movzx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edi</a:t>
            </a:r>
            <a:r>
              <a:rPr lang="en-US" sz="1600" dirty="0"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latin typeface="Consolas" panose="020B06090202040302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</a:rPr>
              <a:t> + </a:t>
            </a:r>
            <a:r>
              <a:rPr lang="en-US" sz="1600" dirty="0" err="1">
                <a:latin typeface="Consolas" panose="020B06090202040302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inc</a:t>
            </a:r>
            <a:r>
              <a:rPr lang="en-US" sz="1600" dirty="0"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</a:rPr>
              <a:t>rdx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</a:rPr>
              <a:t>     al, </a:t>
            </a:r>
            <a:r>
              <a:rPr lang="en-US" sz="1600" dirty="0" err="1">
                <a:latin typeface="Consolas" panose="020B0609020204030204" pitchFamily="49" charset="0"/>
              </a:rPr>
              <a:t>dil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je      .LBB0_1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C22D4-0F77-4838-AF60-3869970B01CA}"/>
              </a:ext>
            </a:extLst>
          </p:cNvPr>
          <p:cNvSpPr txBox="1"/>
          <p:nvPr/>
        </p:nvSpPr>
        <p:spPr>
          <a:xfrm>
            <a:off x="8414497" y="2474180"/>
            <a:ext cx="2303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https://godbolt.org/z/Yssq68Gja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17F46-6C5E-4A1B-9A25-A7C7E88C1990}"/>
              </a:ext>
            </a:extLst>
          </p:cNvPr>
          <p:cNvSpPr txBox="1"/>
          <p:nvPr/>
        </p:nvSpPr>
        <p:spPr>
          <a:xfrm>
            <a:off x="8441391" y="5382416"/>
            <a:ext cx="2277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https://godbolt.org/z/c1sMcxfsP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37E4A-D3D9-4F60-959C-823A6F55A3A6}"/>
              </a:ext>
            </a:extLst>
          </p:cNvPr>
          <p:cNvSpPr txBox="1"/>
          <p:nvPr/>
        </p:nvSpPr>
        <p:spPr>
          <a:xfrm>
            <a:off x="5969372" y="3763373"/>
            <a:ext cx="40979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movsxd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edi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movzx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movsxd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esi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movzx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byte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edi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esi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al, cl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je      .LBB0_2</a:t>
            </a:r>
          </a:p>
          <a:p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6215F8-CEE1-42A3-9D44-214A290EF6A6}"/>
              </a:ext>
            </a:extLst>
          </p:cNvPr>
          <p:cNvSpPr txBox="1"/>
          <p:nvPr/>
        </p:nvSpPr>
        <p:spPr>
          <a:xfrm>
            <a:off x="9168370" y="269424"/>
            <a:ext cx="301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Из доклада </a:t>
            </a:r>
            <a:r>
              <a:rPr lang="en-US" sz="2000" dirty="0">
                <a:hlinkClick r:id="rId4"/>
              </a:rPr>
              <a:t>Garbage In, Garbage Out</a:t>
            </a:r>
            <a:r>
              <a:rPr lang="ru-RU" sz="2000" dirty="0"/>
              <a:t> (</a:t>
            </a:r>
            <a:r>
              <a:rPr lang="en-US" sz="2000" dirty="0"/>
              <a:t>Chandler Carruth)</a:t>
            </a:r>
            <a:endParaRPr lang="ru-RU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440FDD-5969-4346-B91E-7AC26A3A1A36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332195" y="2204948"/>
            <a:ext cx="1637177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1A5B0A-5A15-4ED8-BC20-AAB813A6EAF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332195" y="5040645"/>
            <a:ext cx="1637177" cy="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1F1894-3B99-4D18-9086-A70125A58A88}"/>
              </a:ext>
            </a:extLst>
          </p:cNvPr>
          <p:cNvSpPr txBox="1"/>
          <p:nvPr/>
        </p:nvSpPr>
        <p:spPr>
          <a:xfrm>
            <a:off x="4439629" y="5344808"/>
            <a:ext cx="21843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FF0000"/>
                </a:solidFill>
              </a:rPr>
              <a:t>Компилятор вынужден допустить переполнение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5334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9C9C-C94F-4497-86B3-1EA3F3AD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 </a:t>
            </a:r>
            <a:r>
              <a:rPr lang="en-US" dirty="0"/>
              <a:t>inclusive 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1B03-0ACF-41A7-B1BC-3F4C6F975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Циклы с включенной верхней границей оптимизируются хуже чем обычные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..=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total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ru-RU" dirty="0"/>
              <a:t>Из-за возможного переполнения </a:t>
            </a:r>
            <a:r>
              <a:rPr lang="en-US" dirty="0"/>
              <a:t>(</a:t>
            </a:r>
            <a:r>
              <a:rPr lang="ru-RU" dirty="0"/>
              <a:t>при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) </a:t>
            </a:r>
            <a:r>
              <a:rPr lang="ru-RU" dirty="0"/>
              <a:t>компилятор выполняет их с дополнительной проверкой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total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&gt;=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break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ru-RU" dirty="0"/>
              <a:t>Можно помочь компилятору с помощью явного вычисления границы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ru-RU" b="1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Или воспользовавшись </a:t>
            </a:r>
            <a:r>
              <a:rPr lang="en-US" dirty="0">
                <a:hlinkClick r:id="rId2"/>
              </a:rPr>
              <a:t>internal iteration</a:t>
            </a:r>
            <a:r>
              <a:rPr lang="en-US" dirty="0"/>
              <a:t> (.</a:t>
            </a:r>
            <a:r>
              <a:rPr lang="en-US" dirty="0" err="1"/>
              <a:t>for_each</a:t>
            </a:r>
            <a:r>
              <a:rPr lang="en-US" dirty="0"/>
              <a:t>, .fold,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0E41C-F331-4CEA-9719-81BDEB99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6538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Проверки арифметических переполнений намного хуже оптимизируются компилятором</a:t>
            </a:r>
          </a:p>
          <a:p>
            <a:r>
              <a:rPr lang="ru-RU" dirty="0"/>
              <a:t>При сборке компилятора </a:t>
            </a:r>
            <a:r>
              <a:rPr lang="en-US" dirty="0"/>
              <a:t>Rust</a:t>
            </a:r>
            <a:r>
              <a:rPr lang="ru-RU" dirty="0"/>
              <a:t> удаляется </a:t>
            </a:r>
            <a:r>
              <a:rPr lang="en-US" dirty="0"/>
              <a:t>~30% </a:t>
            </a:r>
            <a:r>
              <a:rPr lang="ru-RU" dirty="0"/>
              <a:t>арифметических проверок</a:t>
            </a:r>
            <a:endParaRPr lang="en-US" dirty="0"/>
          </a:p>
          <a:p>
            <a:pPr lvl="1"/>
            <a:r>
              <a:rPr lang="ru-RU" dirty="0"/>
              <a:t>Данные получены на основе </a:t>
            </a:r>
            <a:r>
              <a:rPr lang="ru-RU" dirty="0">
                <a:hlinkClick r:id="rId2"/>
              </a:rPr>
              <a:t>анализа бинарного кода</a:t>
            </a:r>
            <a:endParaRPr lang="ru-RU" dirty="0"/>
          </a:p>
          <a:p>
            <a:r>
              <a:rPr lang="ru-RU" dirty="0"/>
              <a:t>Это основная причина их отключения в </a:t>
            </a:r>
            <a:r>
              <a:rPr lang="en-US" dirty="0"/>
              <a:t>release-</a:t>
            </a:r>
            <a:r>
              <a:rPr lang="ru-RU" dirty="0"/>
              <a:t>сборке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3787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Небезопасные </a:t>
            </a:r>
            <a:r>
              <a:rPr lang="en-US" dirty="0"/>
              <a:t>API </a:t>
            </a:r>
            <a:r>
              <a:rPr lang="ru-RU" dirty="0"/>
              <a:t>для арифметики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unchecked_add</a:t>
            </a:r>
            <a:r>
              <a:rPr lang="en-US" dirty="0"/>
              <a:t>, </a:t>
            </a:r>
            <a:r>
              <a:rPr lang="en-US" dirty="0" err="1"/>
              <a:t>wrapping_add</a:t>
            </a:r>
            <a:r>
              <a:rPr lang="en-US" dirty="0"/>
              <a:t>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  <a:p>
            <a:pPr lvl="1"/>
            <a:r>
              <a:rPr lang="en-US" dirty="0" err="1"/>
              <a:t>to_int_unchecked</a:t>
            </a:r>
            <a:endParaRPr lang="en-US" dirty="0"/>
          </a:p>
          <a:p>
            <a:pPr lvl="1"/>
            <a:r>
              <a:rPr lang="en-US" dirty="0"/>
              <a:t>std::hint::</a:t>
            </a:r>
            <a:r>
              <a:rPr lang="en-US" dirty="0" err="1"/>
              <a:t>unreachable_unchecked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hint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unreachable_unchecked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</a:p>
          <a:p>
            <a:pPr lvl="1"/>
            <a:r>
              <a:rPr lang="ru-RU" dirty="0"/>
              <a:t>(проверки в стандартной библиотеке </a:t>
            </a:r>
            <a:r>
              <a:rPr lang="ru-RU" i="1" dirty="0"/>
              <a:t>не могут</a:t>
            </a:r>
            <a:r>
              <a:rPr lang="ru-RU" dirty="0"/>
              <a:t> быть отключены)</a:t>
            </a:r>
            <a:endParaRPr lang="en-US" dirty="0"/>
          </a:p>
          <a:p>
            <a:r>
              <a:rPr lang="ru-RU" dirty="0"/>
              <a:t>Специальные типы стандартной библиотеки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NonZeroU32</a:t>
            </a:r>
            <a:r>
              <a:rPr lang="ru-RU" dirty="0"/>
              <a:t> для отключения некоторых проверок деления</a:t>
            </a:r>
            <a:endParaRPr lang="en-US" dirty="0"/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Wrapping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en-US" dirty="0"/>
              <a:t> </a:t>
            </a:r>
            <a:r>
              <a:rPr lang="ru-RU" dirty="0"/>
              <a:t>для переполнений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997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ru-RU" dirty="0"/>
              <a:t>Улучшение при отключении дефолтных проверок</a:t>
            </a:r>
            <a:r>
              <a:rPr lang="en-US" dirty="0"/>
              <a:t> (</a:t>
            </a:r>
            <a:r>
              <a:rPr lang="ru-RU" dirty="0"/>
              <a:t>деление на ноль и т.д.)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68BA2-CBFD-43E1-85FE-4EA7DDB703B7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D86DE2-B419-459F-B8B9-661EBA133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433" y="1502802"/>
            <a:ext cx="6295137" cy="503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13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ru-RU" dirty="0"/>
              <a:t>Замедление при включении целочисленных переполнений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B19A4-484A-4EEE-B3FC-AF51CAE2E3DE}"/>
              </a:ext>
            </a:extLst>
          </p:cNvPr>
          <p:cNvSpPr txBox="1"/>
          <p:nvPr/>
        </p:nvSpPr>
        <p:spPr>
          <a:xfrm>
            <a:off x="9346827" y="1810871"/>
            <a:ext cx="26389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Некоторые тесты отсутствуют из-за ошибок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Существенный рост числа проверок (</a:t>
            </a:r>
            <a:r>
              <a:rPr lang="en-US" sz="2400" dirty="0"/>
              <a:t>+30% </a:t>
            </a:r>
            <a:r>
              <a:rPr lang="ru-RU" sz="2400" dirty="0"/>
              <a:t>проверок в </a:t>
            </a:r>
            <a:r>
              <a:rPr lang="en-US" sz="2400" dirty="0" err="1"/>
              <a:t>rustc</a:t>
            </a:r>
            <a:r>
              <a:rPr lang="en-US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AAC00-4487-4E9F-81FD-BEB29524CF32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30E1F4-251D-4C52-A375-3B2D97244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86" y="1486831"/>
            <a:ext cx="6252296" cy="50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A2C3-CA4C-498D-BB42-CB2FDC36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969"/>
            <a:ext cx="10515600" cy="1325563"/>
          </a:xfrm>
        </p:spPr>
        <p:txBody>
          <a:bodyPr/>
          <a:lstStyle/>
          <a:p>
            <a:r>
              <a:rPr lang="ru-RU" dirty="0"/>
              <a:t>Замедление в </a:t>
            </a:r>
            <a:r>
              <a:rPr lang="en-US" dirty="0"/>
              <a:t>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D0B0-04C6-4EA0-8A1D-D0F5D6BD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A509F-DA50-46A0-858B-5BF264BE3DC7}"/>
              </a:ext>
            </a:extLst>
          </p:cNvPr>
          <p:cNvSpPr txBox="1"/>
          <p:nvPr/>
        </p:nvSpPr>
        <p:spPr>
          <a:xfrm>
            <a:off x="9346827" y="1810871"/>
            <a:ext cx="2638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Некоторые тесты отсутствуют из-за ошибок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Даже б</a:t>
            </a:r>
            <a:r>
              <a:rPr lang="ru-RU" sz="2400" i="1" dirty="0"/>
              <a:t>о</a:t>
            </a:r>
            <a:r>
              <a:rPr lang="ru-RU" sz="2400" dirty="0"/>
              <a:t>льший оверхед в </a:t>
            </a:r>
            <a:r>
              <a:rPr lang="en-US" sz="2400" dirty="0" err="1"/>
              <a:t>UBsan</a:t>
            </a:r>
            <a:r>
              <a:rPr lang="en-US" sz="2400" dirty="0"/>
              <a:t> </a:t>
            </a:r>
            <a:r>
              <a:rPr lang="ru-RU" sz="2400" dirty="0"/>
              <a:t>для </a:t>
            </a:r>
            <a:r>
              <a:rPr lang="en-US" sz="2400" dirty="0"/>
              <a:t>C/C++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402223-77DC-4E9C-8712-F26872E54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74" y="1081088"/>
            <a:ext cx="6886013" cy="550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955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целочисленное переполнение не является </a:t>
            </a:r>
            <a:r>
              <a:rPr lang="en-US" dirty="0"/>
              <a:t>UB</a:t>
            </a:r>
          </a:p>
          <a:p>
            <a:pPr lvl="1"/>
            <a:r>
              <a:rPr lang="ru-RU" dirty="0"/>
              <a:t>Мешает компилятору проводить некоторые агрессивные оптимизации</a:t>
            </a:r>
          </a:p>
          <a:p>
            <a:r>
              <a:rPr lang="ru-RU" dirty="0"/>
              <a:t>В языке приняты неочевидные решения о дефолтных арифметических проверках</a:t>
            </a:r>
            <a:endParaRPr lang="en-US" dirty="0"/>
          </a:p>
          <a:p>
            <a:pPr lvl="1"/>
            <a:r>
              <a:rPr lang="ru-RU" dirty="0"/>
              <a:t>Действительно важные ошибки типа приведения с потерями не проверяются</a:t>
            </a:r>
            <a:r>
              <a:rPr lang="en-US" dirty="0"/>
              <a:t>, </a:t>
            </a:r>
            <a:r>
              <a:rPr lang="ru-RU" dirty="0"/>
              <a:t>зато проверяется деление на ноль</a:t>
            </a:r>
            <a:endParaRPr lang="en-US" dirty="0"/>
          </a:p>
          <a:p>
            <a:pPr lvl="1"/>
            <a:r>
              <a:rPr lang="ru-RU" dirty="0"/>
              <a:t>Могут давать замедление </a:t>
            </a:r>
            <a:r>
              <a:rPr lang="en-US" dirty="0"/>
              <a:t>~</a:t>
            </a:r>
            <a:r>
              <a:rPr lang="ru-RU" dirty="0"/>
              <a:t>1%</a:t>
            </a:r>
            <a:endParaRPr lang="en-US" dirty="0"/>
          </a:p>
          <a:p>
            <a:r>
              <a:rPr lang="ru-RU" dirty="0"/>
              <a:t>Целочисленные переполнения имеют слишком большие накладные расходы</a:t>
            </a:r>
            <a:r>
              <a:rPr lang="en-US" dirty="0"/>
              <a:t> (</a:t>
            </a:r>
            <a:r>
              <a:rPr lang="ru-RU" dirty="0"/>
              <a:t>до 10%)</a:t>
            </a:r>
            <a:endParaRPr lang="en-US" dirty="0"/>
          </a:p>
          <a:p>
            <a:pPr lvl="1"/>
            <a:r>
              <a:rPr lang="ru-RU" dirty="0"/>
              <a:t>Аналогично </a:t>
            </a:r>
            <a:r>
              <a:rPr lang="en-US" dirty="0" err="1"/>
              <a:t>UBsan</a:t>
            </a:r>
            <a:endParaRPr lang="ru-RU" dirty="0"/>
          </a:p>
          <a:p>
            <a:pPr lvl="1"/>
            <a:r>
              <a:rPr lang="ru-RU" dirty="0"/>
              <a:t>Вряд ли будут включены по умолчанию в будущем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982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RFC 560: Integer Overflow</a:t>
            </a:r>
            <a:r>
              <a:rPr lang="en-US" dirty="0"/>
              <a:t> (</a:t>
            </a:r>
            <a:r>
              <a:rPr lang="ru-RU" dirty="0"/>
              <a:t>а также её </a:t>
            </a:r>
            <a:r>
              <a:rPr lang="ru-RU" dirty="0">
                <a:hlinkClick r:id="rId3"/>
              </a:rPr>
              <a:t>обсуждение</a:t>
            </a:r>
            <a:r>
              <a:rPr lang="ru-RU" dirty="0"/>
              <a:t> и </a:t>
            </a:r>
            <a:r>
              <a:rPr lang="ru-RU" dirty="0">
                <a:hlinkClick r:id="rId4"/>
              </a:rPr>
              <a:t>обзор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Попытка включить проверки переполнений в </a:t>
            </a:r>
            <a:r>
              <a:rPr lang="en-US" dirty="0"/>
              <a:t>release</a:t>
            </a:r>
          </a:p>
          <a:p>
            <a:r>
              <a:rPr lang="en-US" dirty="0">
                <a:hlinkClick r:id="rId5"/>
              </a:rPr>
              <a:t>Understanding Integer Overflow in C/C++</a:t>
            </a:r>
            <a:endParaRPr lang="en-US" dirty="0"/>
          </a:p>
          <a:p>
            <a:pPr lvl="1"/>
            <a:r>
              <a:rPr lang="ru-RU" dirty="0"/>
              <a:t>Статья </a:t>
            </a:r>
            <a:r>
              <a:rPr lang="en-US" dirty="0"/>
              <a:t>John </a:t>
            </a:r>
            <a:r>
              <a:rPr lang="en-US" dirty="0" err="1"/>
              <a:t>Regehr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hlinkClick r:id="rId6"/>
              </a:rPr>
              <a:t>How undefined signed overflow enables optimizations in GCC</a:t>
            </a:r>
            <a:endParaRPr lang="ru-RU" dirty="0"/>
          </a:p>
          <a:p>
            <a:pPr lvl="1"/>
            <a:r>
              <a:rPr lang="ru-RU" dirty="0"/>
              <a:t>Статья о пользе </a:t>
            </a:r>
            <a:r>
              <a:rPr lang="en-US" dirty="0"/>
              <a:t>Undefined Behavior </a:t>
            </a:r>
            <a:r>
              <a:rPr lang="ru-RU" dirty="0"/>
              <a:t>для </a:t>
            </a:r>
            <a:r>
              <a:rPr lang="en-US" dirty="0"/>
              <a:t>integer overflow </a:t>
            </a:r>
            <a:r>
              <a:rPr lang="ru-RU" dirty="0"/>
              <a:t>в </a:t>
            </a:r>
            <a:r>
              <a:rPr lang="en-US" dirty="0"/>
              <a:t>C/C++</a:t>
            </a:r>
          </a:p>
          <a:p>
            <a:r>
              <a:rPr lang="en-US" dirty="0">
                <a:hlinkClick r:id="rId7"/>
              </a:rPr>
              <a:t>Exploiting Undefined Behavior in C/C++ Programs for Optimization: A Study on the Performance Impact</a:t>
            </a:r>
            <a:endParaRPr lang="en-US" dirty="0"/>
          </a:p>
          <a:p>
            <a:pPr lvl="1"/>
            <a:r>
              <a:rPr lang="ru-RU" dirty="0"/>
              <a:t>Статья о пользе </a:t>
            </a:r>
            <a:r>
              <a:rPr lang="en-US" dirty="0"/>
              <a:t>UB, </a:t>
            </a:r>
            <a:r>
              <a:rPr lang="ru-RU" dirty="0"/>
              <a:t>в том числе </a:t>
            </a:r>
            <a:r>
              <a:rPr lang="en-US" dirty="0"/>
              <a:t>signed overflow, </a:t>
            </a:r>
            <a:r>
              <a:rPr lang="ru-RU" dirty="0"/>
              <a:t>с замерами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0265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Стандартная библиотека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D8F21-4A4B-4A71-855A-2996E48DF35B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</a:t>
            </a:r>
            <a:r>
              <a:rPr lang="ru-RU" dirty="0"/>
              <a:t> </a:t>
            </a:r>
            <a:r>
              <a:rPr lang="ru-RU" dirty="0">
                <a:hlinkClick r:id="rId3"/>
              </a:rPr>
              <a:t>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2170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сравнению с </a:t>
            </a:r>
            <a:r>
              <a:rPr lang="en-US" dirty="0"/>
              <a:t>STL </a:t>
            </a:r>
            <a:r>
              <a:rPr lang="ru-RU" dirty="0"/>
              <a:t>в стандартной библиотеке </a:t>
            </a:r>
            <a:r>
              <a:rPr lang="en-US" dirty="0"/>
              <a:t>Rust </a:t>
            </a:r>
            <a:r>
              <a:rPr lang="ru-RU" dirty="0"/>
              <a:t>делается больше обязательных проверок и используются более устойчивые (и медленные) алгоритмы</a:t>
            </a:r>
            <a:endParaRPr lang="en-US" dirty="0"/>
          </a:p>
          <a:p>
            <a:pPr lvl="1"/>
            <a:r>
              <a:rPr lang="ru-RU" dirty="0"/>
              <a:t>За счёт встроенной системы сборки </a:t>
            </a:r>
            <a:r>
              <a:rPr lang="en-US" dirty="0"/>
              <a:t>Cargo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легко экспериментировать с альтернативными реализациями</a:t>
            </a:r>
            <a:endParaRPr lang="en-US" dirty="0"/>
          </a:p>
          <a:p>
            <a:r>
              <a:rPr lang="ru-RU" dirty="0"/>
              <a:t>Но в некоторых ситуациях могут использоваться более быстрые контейнеры</a:t>
            </a:r>
            <a:r>
              <a:rPr lang="en-US" dirty="0"/>
              <a:t> </a:t>
            </a:r>
            <a:r>
              <a:rPr lang="ru-RU" dirty="0"/>
              <a:t>и алгоритмы</a:t>
            </a:r>
            <a:r>
              <a:rPr lang="en-US" dirty="0"/>
              <a:t> (</a:t>
            </a:r>
            <a:r>
              <a:rPr lang="ru-RU" dirty="0"/>
              <a:t>по сравнению с </a:t>
            </a:r>
            <a:r>
              <a:rPr lang="en-US" dirty="0"/>
              <a:t>STL)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1924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Проверки в стандартной библиотеке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Стандартная библиотека </a:t>
            </a:r>
            <a:r>
              <a:rPr lang="en-US" dirty="0"/>
              <a:t>Rust</a:t>
            </a:r>
            <a:r>
              <a:rPr lang="ru-RU" dirty="0"/>
              <a:t> содержит большое количество неотключаемых проверок </a:t>
            </a:r>
            <a:r>
              <a:rPr lang="en-US" dirty="0"/>
              <a:t>(assert!, </a:t>
            </a:r>
            <a:r>
              <a:rPr lang="en-US" dirty="0" err="1"/>
              <a:t>checked_add</a:t>
            </a:r>
            <a:r>
              <a:rPr lang="en-US" dirty="0"/>
              <a:t>, etc.)</a:t>
            </a:r>
          </a:p>
          <a:p>
            <a:r>
              <a:rPr lang="ru-RU" dirty="0"/>
              <a:t>Основные виды проверок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Корректность индексов в контейнерах</a:t>
            </a:r>
            <a:r>
              <a:rPr lang="en-US" dirty="0"/>
              <a:t> (bounds checks, </a:t>
            </a:r>
            <a:r>
              <a:rPr lang="ru-RU" dirty="0"/>
              <a:t>уже рассматривались выше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Отсутствие переполнений при аллокациях</a:t>
            </a:r>
            <a:r>
              <a:rPr lang="en-US" dirty="0"/>
              <a:t> (capacity overflow)</a:t>
            </a:r>
          </a:p>
          <a:p>
            <a:pPr lvl="1"/>
            <a:r>
              <a:rPr lang="ru-RU" dirty="0"/>
              <a:t>Успешность аллокаций памяти</a:t>
            </a:r>
            <a:r>
              <a:rPr lang="en-US" dirty="0"/>
              <a:t> </a:t>
            </a:r>
            <a:r>
              <a:rPr lang="ru-RU" dirty="0"/>
              <a:t>в контейнерах</a:t>
            </a:r>
          </a:p>
          <a:p>
            <a:pPr lvl="1"/>
            <a:r>
              <a:rPr lang="ru-RU" dirty="0"/>
              <a:t>Корректные обращения к </a:t>
            </a:r>
            <a:r>
              <a:rPr lang="en-US" dirty="0"/>
              <a:t>UTF-8 </a:t>
            </a:r>
            <a:r>
              <a:rPr lang="ru-RU" dirty="0"/>
              <a:t>контейнерам </a:t>
            </a:r>
            <a:r>
              <a:rPr lang="en-US" dirty="0"/>
              <a:t>&amp;str </a:t>
            </a:r>
            <a:r>
              <a:rPr lang="ru-RU" dirty="0"/>
              <a:t>и </a:t>
            </a:r>
            <a:r>
              <a:rPr lang="en-US" dirty="0"/>
              <a:t>String</a:t>
            </a:r>
          </a:p>
          <a:p>
            <a:pPr lvl="1"/>
            <a:r>
              <a:rPr lang="en-US" dirty="0"/>
              <a:t>API-</a:t>
            </a:r>
            <a:r>
              <a:rPr lang="ru-RU" dirty="0"/>
              <a:t>специфичные проверки (аксиомы компараторов, </a:t>
            </a:r>
            <a:r>
              <a:rPr lang="en-US" dirty="0"/>
              <a:t>etc.)</a:t>
            </a:r>
          </a:p>
          <a:p>
            <a:r>
              <a:rPr lang="ru-RU" dirty="0"/>
              <a:t>Некоторые аналогичные проверки доступны и в </a:t>
            </a:r>
            <a:r>
              <a:rPr lang="en-US" dirty="0"/>
              <a:t>STL</a:t>
            </a:r>
          </a:p>
          <a:p>
            <a:pPr lvl="1"/>
            <a:r>
              <a:rPr lang="ru-RU" dirty="0"/>
              <a:t>По макросам </a:t>
            </a:r>
            <a:r>
              <a:rPr lang="en-US" dirty="0"/>
              <a:t>_GLIBCXX_ASSERTIONS </a:t>
            </a:r>
            <a:r>
              <a:rPr lang="ru-RU" dirty="0"/>
              <a:t>и </a:t>
            </a:r>
            <a:r>
              <a:rPr lang="en-US" dirty="0"/>
              <a:t>_LIBCPP_HARDENING_MODE (Hardened STL)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6706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696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1E6A0-B228-4A06-B70D-E0C74F4243FF}"/>
              </a:ext>
            </a:extLst>
          </p:cNvPr>
          <p:cNvSpPr txBox="1"/>
          <p:nvPr/>
        </p:nvSpPr>
        <p:spPr>
          <a:xfrm>
            <a:off x="352425" y="2836525"/>
            <a:ext cx="574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length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-1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length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CF4F7-4987-4D9C-922D-988B33C41385}"/>
              </a:ext>
            </a:extLst>
          </p:cNvPr>
          <p:cNvSpPr txBox="1"/>
          <p:nvPr/>
        </p:nvSpPr>
        <p:spPr>
          <a:xfrm>
            <a:off x="5752259" y="1536174"/>
            <a:ext cx="60674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r15, [4*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r13d, r13d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Проверяем что 4*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length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не переполняется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shr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62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.LBB0_11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Проверяем что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4*length &lt;=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isize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::max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movabs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9223372036854775804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r15,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ja      .LBB0_11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//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Проверяем успешность аллокации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call    qword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[rip +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rust_alloc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test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je      .LBB0_11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7CB709-CA80-49F9-98B8-8C3E8C5AAA19}"/>
              </a:ext>
            </a:extLst>
          </p:cNvPr>
          <p:cNvCxnSpPr/>
          <p:nvPr/>
        </p:nvCxnSpPr>
        <p:spPr>
          <a:xfrm>
            <a:off x="4848225" y="3571875"/>
            <a:ext cx="104775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8B99E1-0D3A-4B58-8ADD-F4740B93873E}"/>
              </a:ext>
            </a:extLst>
          </p:cNvPr>
          <p:cNvSpPr txBox="1"/>
          <p:nvPr/>
        </p:nvSpPr>
        <p:spPr>
          <a:xfrm>
            <a:off x="7627284" y="5558095"/>
            <a:ext cx="2317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https://godbolt.org/z/oa67f1j5z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776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629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1E6A0-B228-4A06-B70D-E0C74F4243FF}"/>
              </a:ext>
            </a:extLst>
          </p:cNvPr>
          <p:cNvSpPr txBox="1"/>
          <p:nvPr/>
        </p:nvSpPr>
        <p:spPr>
          <a:xfrm>
            <a:off x="914400" y="1433075"/>
            <a:ext cx="7696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stdin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read_line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println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"{}"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9232A-C82D-4319-B6B4-0BE2A038BD07}"/>
              </a:ext>
            </a:extLst>
          </p:cNvPr>
          <p:cNvSpPr txBox="1"/>
          <p:nvPr/>
        </p:nvSpPr>
        <p:spPr>
          <a:xfrm>
            <a:off x="923925" y="4132263"/>
            <a:ext cx="107537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$ echo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 | ./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test</a:t>
            </a: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</a:t>
            </a:r>
          </a:p>
          <a:p>
            <a:endParaRPr lang="ru-RU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$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echo </a:t>
            </a:r>
            <a:r>
              <a:rPr lang="ru-RU" dirty="0">
                <a:latin typeface="Consolas" panose="020B0609020204030204" pitchFamily="49" charset="0"/>
                <a:cs typeface="Courier New" panose="02070309020205020404" pitchFamily="49" charset="0"/>
              </a:rPr>
              <a:t>Привет |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iconv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-f UTF-8 -t KOI8-RU | ./test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thread 'main' panicked at test.rs:5:39: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called `Result::unwrap()` on an `Err` value: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Error { kind: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InvalidData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, message: "stream did not contain valid UTF-8" }</a:t>
            </a:r>
          </a:p>
        </p:txBody>
      </p:sp>
    </p:spTree>
    <p:extLst>
      <p:ext uri="{BB962C8B-B14F-4D97-AF65-F5344CB8AC3E}">
        <p14:creationId xmlns:p14="http://schemas.microsoft.com/office/powerpoint/2010/main" val="25997175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Другие накладные расходы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Дефолтный алгоритм хэширования </a:t>
            </a:r>
            <a:r>
              <a:rPr lang="en-US" dirty="0"/>
              <a:t>(</a:t>
            </a:r>
            <a:r>
              <a:rPr lang="en-US" dirty="0" err="1"/>
              <a:t>SipHash</a:t>
            </a:r>
            <a:r>
              <a:rPr lang="en-US" dirty="0"/>
              <a:t>) </a:t>
            </a:r>
            <a:r>
              <a:rPr lang="ru-RU" dirty="0"/>
              <a:t>устойчив к </a:t>
            </a:r>
            <a:r>
              <a:rPr lang="en-US" dirty="0"/>
              <a:t>DoS</a:t>
            </a:r>
            <a:r>
              <a:rPr lang="ru-RU" dirty="0"/>
              <a:t>-атакам</a:t>
            </a:r>
            <a:r>
              <a:rPr lang="en-US" dirty="0"/>
              <a:t>,</a:t>
            </a:r>
            <a:r>
              <a:rPr lang="ru-RU" dirty="0"/>
              <a:t> но является более медленным чем аналогичные алгоритмы в </a:t>
            </a:r>
            <a:r>
              <a:rPr lang="en-US" dirty="0"/>
              <a:t>STL</a:t>
            </a:r>
          </a:p>
          <a:p>
            <a:pPr lvl="1"/>
            <a:r>
              <a:rPr lang="en-US" dirty="0"/>
              <a:t>2x </a:t>
            </a:r>
            <a:r>
              <a:rPr lang="ru-RU" dirty="0"/>
              <a:t>замедление по сравнению с </a:t>
            </a:r>
            <a:r>
              <a:rPr lang="en-US" dirty="0" err="1"/>
              <a:t>fxhash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ru-RU" dirty="0">
                <a:hlinkClick r:id="rId2"/>
              </a:rPr>
              <a:t>простом микробенчмарке</a:t>
            </a:r>
            <a:endParaRPr lang="ru-RU" dirty="0"/>
          </a:p>
          <a:p>
            <a:r>
              <a:rPr lang="ru-RU" dirty="0"/>
              <a:t>Ввод-вывод в </a:t>
            </a:r>
            <a:r>
              <a:rPr lang="en-US" dirty="0"/>
              <a:t>Rust </a:t>
            </a:r>
            <a:r>
              <a:rPr lang="ru-RU" dirty="0"/>
              <a:t>по умолчанию не буферизуется</a:t>
            </a:r>
            <a:endParaRPr lang="en-US" dirty="0"/>
          </a:p>
          <a:p>
            <a:pPr lvl="1"/>
            <a:r>
              <a:rPr lang="ru-RU" dirty="0"/>
              <a:t>Без использования </a:t>
            </a:r>
            <a:r>
              <a:rPr lang="en-US" dirty="0" err="1"/>
              <a:t>BufReader</a:t>
            </a:r>
            <a:r>
              <a:rPr lang="en-US" dirty="0"/>
              <a:t> </a:t>
            </a:r>
            <a:r>
              <a:rPr lang="ru-RU" dirty="0"/>
              <a:t>программы могут работать в десятки раз медленней</a:t>
            </a:r>
            <a:endParaRPr lang="en-US" dirty="0"/>
          </a:p>
          <a:p>
            <a:r>
              <a:rPr lang="en-US" dirty="0"/>
              <a:t>io::</a:t>
            </a:r>
            <a:r>
              <a:rPr lang="en-US" dirty="0" err="1"/>
              <a:t>stdout</a:t>
            </a:r>
            <a:r>
              <a:rPr lang="en-US" dirty="0"/>
              <a:t>() </a:t>
            </a:r>
            <a:r>
              <a:rPr lang="ru-RU" dirty="0"/>
              <a:t>строчно-буферизуем даже для не</a:t>
            </a:r>
            <a:r>
              <a:rPr lang="en-US" dirty="0"/>
              <a:t>-TTY </a:t>
            </a:r>
            <a:r>
              <a:rPr lang="ru-RU" dirty="0"/>
              <a:t>вывода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rust #60673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Это может сильно замедлять </a:t>
            </a:r>
            <a:r>
              <a:rPr lang="en-US" dirty="0"/>
              <a:t>command-line </a:t>
            </a:r>
            <a:r>
              <a:rPr lang="ru-RU" dirty="0"/>
              <a:t>утилиты </a:t>
            </a:r>
            <a:r>
              <a:rPr lang="en-US" dirty="0"/>
              <a:t>(</a:t>
            </a:r>
            <a:r>
              <a:rPr lang="ru-RU" dirty="0"/>
              <a:t>в ситуциях типа </a:t>
            </a:r>
            <a:r>
              <a:rPr lang="en-US" dirty="0"/>
              <a:t>“./prog &gt; file”)</a:t>
            </a:r>
          </a:p>
          <a:p>
            <a:r>
              <a:rPr lang="ru-RU" dirty="0"/>
              <a:t>Макросы </a:t>
            </a:r>
            <a:r>
              <a:rPr lang="en-US" dirty="0"/>
              <a:t>print!/</a:t>
            </a:r>
            <a:r>
              <a:rPr lang="en-US" dirty="0" err="1"/>
              <a:t>println</a:t>
            </a:r>
            <a:r>
              <a:rPr lang="en-US" dirty="0"/>
              <a:t>! </a:t>
            </a:r>
            <a:r>
              <a:rPr lang="ru-RU" dirty="0"/>
              <a:t>используют монопольный доступ для обеспечения корректного выводы из параллельных потоков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632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262"/>
            <a:ext cx="10833847" cy="1325563"/>
          </a:xfrm>
        </p:spPr>
        <p:txBody>
          <a:bodyPr/>
          <a:lstStyle/>
          <a:p>
            <a:r>
              <a:rPr lang="ru-RU" dirty="0"/>
              <a:t>Улучшение при отключении проверок </a:t>
            </a:r>
            <a:r>
              <a:rPr lang="en-US" dirty="0"/>
              <a:t>UTF-8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C14EC-B353-4425-88A4-5255701C51DE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198880-4E35-4E8E-B107-F8E4350F0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86" y="1221159"/>
            <a:ext cx="6815218" cy="545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2582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262"/>
            <a:ext cx="10833847" cy="1325563"/>
          </a:xfrm>
        </p:spPr>
        <p:txBody>
          <a:bodyPr/>
          <a:lstStyle/>
          <a:p>
            <a:r>
              <a:rPr lang="ru-RU" dirty="0"/>
              <a:t>Улучшение при отключении проверок переполнений в контейнерах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9EF8-18EB-4BD7-A5A4-5659449411BF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60EDC9-7CFD-49DA-8EBB-4B86BFBC7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40" y="1592187"/>
            <a:ext cx="6222626" cy="497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15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B03F-023F-4D05-BEE5-4DB92B54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стандартной библиотеке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917-3403-4C76-8B8D-AF0E3F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Хэштаблицы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Нет требования валидности ссылок после изменения таблицы (как в </a:t>
            </a:r>
            <a:r>
              <a:rPr lang="en-US" dirty="0"/>
              <a:t>std::</a:t>
            </a:r>
            <a:r>
              <a:rPr lang="en-US" dirty="0" err="1"/>
              <a:t>unordered_map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Это позволяет использовать </a:t>
            </a:r>
            <a:r>
              <a:rPr lang="en-US" dirty="0"/>
              <a:t>open-addressing </a:t>
            </a:r>
            <a:r>
              <a:rPr lang="ru-RU" dirty="0"/>
              <a:t>вместо </a:t>
            </a:r>
            <a:r>
              <a:rPr lang="en-US" dirty="0"/>
              <a:t>chaining (</a:t>
            </a:r>
            <a:r>
              <a:rPr lang="ru-RU" dirty="0"/>
              <a:t>меньше аллокаций, </a:t>
            </a:r>
            <a:r>
              <a:rPr lang="en-US" dirty="0"/>
              <a:t>cache-friendly)</a:t>
            </a:r>
          </a:p>
          <a:p>
            <a:r>
              <a:rPr lang="ru-RU" dirty="0"/>
              <a:t>В деревьях поиска используется </a:t>
            </a:r>
            <a:r>
              <a:rPr lang="en-US" dirty="0"/>
              <a:t>B-tree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вместо </a:t>
            </a:r>
            <a:r>
              <a:rPr lang="en-US" dirty="0"/>
              <a:t>RB-tree </a:t>
            </a:r>
            <a:r>
              <a:rPr lang="ru-RU" dirty="0"/>
              <a:t>как в </a:t>
            </a:r>
            <a:r>
              <a:rPr lang="en-US" dirty="0"/>
              <a:t>std::map)</a:t>
            </a:r>
          </a:p>
          <a:p>
            <a:pPr lvl="1"/>
            <a:r>
              <a:rPr lang="ru-RU" dirty="0"/>
              <a:t>Меньше аллокаций, </a:t>
            </a:r>
            <a:r>
              <a:rPr lang="en-US" dirty="0"/>
              <a:t>cache-friendly</a:t>
            </a:r>
          </a:p>
          <a:p>
            <a:pPr lvl="1"/>
            <a:r>
              <a:rPr lang="en-US" dirty="0"/>
              <a:t>4x </a:t>
            </a:r>
            <a:r>
              <a:rPr lang="ru-RU" dirty="0"/>
              <a:t>ускорение на </a:t>
            </a:r>
            <a:r>
              <a:rPr lang="ru-RU" dirty="0">
                <a:hlinkClick r:id="rId2"/>
              </a:rPr>
              <a:t>простом микробенчмарке</a:t>
            </a:r>
            <a:endParaRPr lang="en-US" dirty="0"/>
          </a:p>
          <a:p>
            <a:r>
              <a:rPr lang="ru-RU" dirty="0"/>
              <a:t>Современные </a:t>
            </a:r>
            <a:r>
              <a:rPr lang="en-US" dirty="0"/>
              <a:t>ILP-friendly </a:t>
            </a:r>
            <a:r>
              <a:rPr lang="ru-RU" dirty="0"/>
              <a:t>алгоритмы</a:t>
            </a:r>
            <a:r>
              <a:rPr lang="en-US" dirty="0"/>
              <a:t> </a:t>
            </a:r>
            <a:r>
              <a:rPr lang="ru-RU" dirty="0"/>
              <a:t>сортировки</a:t>
            </a:r>
            <a:r>
              <a:rPr lang="en-US" dirty="0"/>
              <a:t> (</a:t>
            </a:r>
            <a:r>
              <a:rPr lang="en-US" dirty="0" err="1"/>
              <a:t>ipnsort</a:t>
            </a:r>
            <a:r>
              <a:rPr lang="en-US" dirty="0"/>
              <a:t>, </a:t>
            </a:r>
            <a:r>
              <a:rPr lang="en-US" dirty="0" err="1"/>
              <a:t>driftsort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en-US" dirty="0"/>
              <a:t>STL-</a:t>
            </a:r>
            <a:r>
              <a:rPr lang="ru-RU" dirty="0"/>
              <a:t>алгоритмы написаны для </a:t>
            </a:r>
            <a:r>
              <a:rPr lang="ru-RU" dirty="0">
                <a:hlinkClick r:id="rId3"/>
              </a:rPr>
              <a:t>упрощения векторизации</a:t>
            </a:r>
            <a:r>
              <a:rPr lang="en-US" dirty="0"/>
              <a:t> </a:t>
            </a:r>
            <a:r>
              <a:rPr lang="ru-RU" dirty="0"/>
              <a:t>при сортировке примитивных типов</a:t>
            </a:r>
            <a:endParaRPr lang="en-US" dirty="0"/>
          </a:p>
          <a:p>
            <a:pPr lvl="1"/>
            <a:r>
              <a:rPr lang="en-US" dirty="0"/>
              <a:t>65% </a:t>
            </a:r>
            <a:r>
              <a:rPr lang="ru-RU" dirty="0"/>
              <a:t>ускорение на </a:t>
            </a:r>
            <a:r>
              <a:rPr lang="ru-RU" dirty="0">
                <a:hlinkClick r:id="rId4"/>
              </a:rPr>
              <a:t>простом микробенчмарке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679C-D316-424C-BCCE-3EF33460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975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стандартной библиотеке языка есть как факторы, негативно влияющие на производительность, так и более эффективные (по сравнению с </a:t>
            </a:r>
            <a:r>
              <a:rPr lang="en-US" dirty="0"/>
              <a:t>STL) </a:t>
            </a:r>
            <a:r>
              <a:rPr lang="ru-RU" dirty="0"/>
              <a:t>алгоритмы и контейнеры</a:t>
            </a:r>
            <a:endParaRPr lang="en-US" dirty="0"/>
          </a:p>
          <a:p>
            <a:r>
              <a:rPr lang="ru-RU" dirty="0"/>
              <a:t>Недостатки стандартной библиотеки не критичны из-за</a:t>
            </a:r>
          </a:p>
          <a:p>
            <a:pPr lvl="1"/>
            <a:r>
              <a:rPr lang="ru-RU" dirty="0"/>
              <a:t>Наличия большого числа альтернативных реализаций</a:t>
            </a:r>
          </a:p>
          <a:p>
            <a:pPr lvl="1"/>
            <a:r>
              <a:rPr lang="ru-RU" dirty="0"/>
              <a:t>Простоты интеграции внешних библиотек в инфраструктуре </a:t>
            </a:r>
            <a:r>
              <a:rPr lang="en-US" dirty="0"/>
              <a:t>Cargo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3519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Safety vs Performance. A case study of C, C++ and Rust sort implementations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796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Отсутствие режима </a:t>
            </a:r>
            <a:r>
              <a:rPr lang="en-US" dirty="0"/>
              <a:t>fast-math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A69B3-22A0-43DE-BB2B-83D0563E6D72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3611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ACA69-D0A3-4E3C-8669-E408153C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Вычисления с плавающей запятой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77BD6-3BB8-4921-9B01-3030E44BB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7212106" cy="481006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Стандарт IEEE 754</a:t>
            </a:r>
          </a:p>
          <a:p>
            <a:pPr lvl="1"/>
            <a:r>
              <a:rPr lang="ru-RU" dirty="0"/>
              <a:t>Типы и их представление</a:t>
            </a:r>
          </a:p>
          <a:p>
            <a:pPr lvl="1"/>
            <a:r>
              <a:rPr lang="ru-RU" dirty="0"/>
              <a:t>Операции</a:t>
            </a:r>
            <a:r>
              <a:rPr lang="en-US" dirty="0"/>
              <a:t> </a:t>
            </a:r>
            <a:r>
              <a:rPr lang="ru-RU" dirty="0"/>
              <a:t>над ними</a:t>
            </a:r>
          </a:p>
          <a:p>
            <a:pPr lvl="1"/>
            <a:r>
              <a:rPr lang="ru-RU" dirty="0"/>
              <a:t>Округление</a:t>
            </a:r>
          </a:p>
          <a:p>
            <a:r>
              <a:rPr lang="ru-RU" dirty="0"/>
              <a:t>Большинство архитектур, языков и компиляторов следуют стандарту (почти полностью)</a:t>
            </a:r>
          </a:p>
          <a:p>
            <a:r>
              <a:rPr lang="ru-RU" dirty="0"/>
              <a:t>Причины расхождений</a:t>
            </a:r>
          </a:p>
          <a:p>
            <a:pPr lvl="1"/>
            <a:r>
              <a:rPr lang="ru-RU" dirty="0"/>
              <a:t>Аппаратная специфика</a:t>
            </a:r>
          </a:p>
          <a:p>
            <a:pPr lvl="1"/>
            <a:r>
              <a:rPr lang="ru-RU" dirty="0"/>
              <a:t>Больше возможностей для оптимизации</a:t>
            </a:r>
          </a:p>
          <a:p>
            <a:r>
              <a:rPr lang="en-US" dirty="0"/>
              <a:t>f</a:t>
            </a:r>
            <a:r>
              <a:rPr lang="ru-RU" dirty="0"/>
              <a:t>ast-math – собирательный термин для оптимизаций</a:t>
            </a:r>
            <a:r>
              <a:rPr lang="en-US" dirty="0"/>
              <a:t>, </a:t>
            </a:r>
            <a:r>
              <a:rPr lang="ru-RU" dirty="0"/>
              <a:t>связанных с ослаблением требований </a:t>
            </a:r>
            <a:r>
              <a:rPr lang="en-US" dirty="0"/>
              <a:t>IEEE 754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D72FEE-60CC-4F48-B04B-60F1587788D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566870" y="2481530"/>
            <a:ext cx="4283207" cy="2937289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D9632-C647-4C59-A2BA-93D8E770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0346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7A0F-557C-4F7A-8993-8C5788C9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Виды </a:t>
            </a:r>
            <a:r>
              <a:rPr lang="en-US" dirty="0"/>
              <a:t>fast-math </a:t>
            </a:r>
            <a:r>
              <a:rPr lang="ru-RU" dirty="0"/>
              <a:t>флагов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6D31D-3650-4920-BB4C-E2AAEBDE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2560" cy="4351338"/>
          </a:xfrm>
        </p:spPr>
        <p:txBody>
          <a:bodyPr>
            <a:normAutofit/>
          </a:bodyPr>
          <a:lstStyle/>
          <a:p>
            <a:r>
              <a:rPr lang="ru-RU" dirty="0"/>
              <a:t>Алгебраические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Ассоциативность</a:t>
            </a:r>
          </a:p>
          <a:p>
            <a:pPr lvl="1"/>
            <a:r>
              <a:rPr lang="ru-RU" dirty="0" err="1"/>
              <a:t>Беззнаковость</a:t>
            </a:r>
            <a:r>
              <a:rPr lang="ru-RU" dirty="0"/>
              <a:t> нуля</a:t>
            </a:r>
          </a:p>
          <a:p>
            <a:pPr lvl="1"/>
            <a:r>
              <a:rPr lang="ru-RU" dirty="0"/>
              <a:t>Замена деления на умножение</a:t>
            </a:r>
          </a:p>
          <a:p>
            <a:pPr lvl="1"/>
            <a:r>
              <a:rPr lang="ru-RU" dirty="0"/>
              <a:t>Объединение операций (например </a:t>
            </a:r>
            <a:r>
              <a:rPr lang="en-US" dirty="0"/>
              <a:t>FMA</a:t>
            </a:r>
            <a:r>
              <a:rPr lang="ru-RU" dirty="0"/>
              <a:t>)</a:t>
            </a:r>
          </a:p>
          <a:p>
            <a:r>
              <a:rPr lang="ru-RU" dirty="0"/>
              <a:t>Запрет нестандартных значений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NaN</a:t>
            </a:r>
            <a:r>
              <a:rPr lang="en-US" dirty="0"/>
              <a:t>, Infinity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576CE-54DD-4726-B4BE-6A82DB36C517}"/>
              </a:ext>
            </a:extLst>
          </p:cNvPr>
          <p:cNvSpPr txBox="1"/>
          <p:nvPr/>
        </p:nvSpPr>
        <p:spPr>
          <a:xfrm>
            <a:off x="7650760" y="842983"/>
            <a:ext cx="28755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6BB61-7054-4BAD-82AF-91DE7103E50A}"/>
              </a:ext>
            </a:extLst>
          </p:cNvPr>
          <p:cNvSpPr txBox="1"/>
          <p:nvPr/>
        </p:nvSpPr>
        <p:spPr>
          <a:xfrm>
            <a:off x="7617723" y="1775803"/>
            <a:ext cx="42323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A2481-7D1E-496C-A8C0-D5E0749361C5}"/>
              </a:ext>
            </a:extLst>
          </p:cNvPr>
          <p:cNvSpPr txBox="1"/>
          <p:nvPr/>
        </p:nvSpPr>
        <p:spPr>
          <a:xfrm>
            <a:off x="7617721" y="3964233"/>
            <a:ext cx="45193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.LCPI0_1: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0x3fd5555555555555 # 1/3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.LCPI0_1]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2721F-D1D3-4E74-9B11-4958337DE792}"/>
              </a:ext>
            </a:extLst>
          </p:cNvPr>
          <p:cNvSpPr txBox="1"/>
          <p:nvPr/>
        </p:nvSpPr>
        <p:spPr>
          <a:xfrm>
            <a:off x="8751254" y="3419424"/>
            <a:ext cx="225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https://godbolt.org/z/Tqvsv4Tqs</a:t>
            </a:r>
            <a:endParaRPr lang="ru-RU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9A442-65A8-4305-BD75-897BD956A00E}"/>
              </a:ext>
            </a:extLst>
          </p:cNvPr>
          <p:cNvSpPr txBox="1"/>
          <p:nvPr/>
        </p:nvSpPr>
        <p:spPr>
          <a:xfrm>
            <a:off x="8536276" y="6065654"/>
            <a:ext cx="2395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freciprocal</a:t>
            </a:r>
            <a:r>
              <a:rPr lang="en-US" sz="1200" dirty="0"/>
              <a:t>-math</a:t>
            </a:r>
          </a:p>
          <a:p>
            <a:pPr algn="ctr"/>
            <a:r>
              <a:rPr lang="en-US" sz="1200" dirty="0">
                <a:hlinkClick r:id="rId3"/>
              </a:rPr>
              <a:t>https://godbolt.org/z/6sn7G4r4P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0D291-442C-427D-9859-C5C13D21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7414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43F28-ED6B-4157-B006-E640A4B3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на это смотрят языки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01371-9E42-47E5-A037-9C393952F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У разных языков различные отношения к соблюдению IEEE 754</a:t>
            </a:r>
          </a:p>
          <a:p>
            <a:r>
              <a:rPr lang="ru-RU" dirty="0"/>
              <a:t>Стандарт C запрещает fast-math оптимизации</a:t>
            </a:r>
            <a:r>
              <a:rPr lang="en-US" dirty="0"/>
              <a:t> (</a:t>
            </a:r>
            <a:r>
              <a:rPr lang="ru-RU" dirty="0"/>
              <a:t>в </a:t>
            </a:r>
            <a:r>
              <a:rPr lang="en-US" dirty="0"/>
              <a:t>Annex F)</a:t>
            </a:r>
            <a:endParaRPr lang="ru-RU" dirty="0"/>
          </a:p>
          <a:p>
            <a:pPr lvl="1"/>
            <a:r>
              <a:rPr lang="ru-RU" dirty="0"/>
              <a:t>Но обычно их можно включить с помощью флагов (например </a:t>
            </a:r>
            <a:r>
              <a:rPr lang="en-US" dirty="0"/>
              <a:t>-</a:t>
            </a:r>
            <a:r>
              <a:rPr lang="en-US" dirty="0" err="1"/>
              <a:t>ffast</a:t>
            </a:r>
            <a:r>
              <a:rPr lang="en-US" dirty="0"/>
              <a:t>-math)</a:t>
            </a:r>
          </a:p>
          <a:p>
            <a:pPr lvl="1"/>
            <a:r>
              <a:rPr lang="ru-RU" dirty="0"/>
              <a:t>Часто используется в игровых движках</a:t>
            </a:r>
          </a:p>
          <a:p>
            <a:r>
              <a:rPr lang="ru-RU" dirty="0"/>
              <a:t>Аналогичное поведение для языка Swift</a:t>
            </a:r>
          </a:p>
          <a:p>
            <a:r>
              <a:rPr lang="ru-RU" dirty="0"/>
              <a:t>Java и C# разрешают совершать вычисления с б</a:t>
            </a:r>
            <a:r>
              <a:rPr lang="ru-RU" i="1" dirty="0"/>
              <a:t>о</a:t>
            </a:r>
            <a:r>
              <a:rPr lang="ru-RU" dirty="0"/>
              <a:t>льшей точностью, чем результирующий тип</a:t>
            </a:r>
          </a:p>
          <a:p>
            <a:r>
              <a:rPr lang="ru-RU" dirty="0"/>
              <a:t>Go разрешает объединение операций</a:t>
            </a:r>
          </a:p>
          <a:p>
            <a:pPr lvl="1"/>
            <a:r>
              <a:rPr lang="ru-RU" dirty="0"/>
              <a:t>Но только если этому не препятствуют явные преобразования типов</a:t>
            </a:r>
          </a:p>
          <a:p>
            <a:r>
              <a:rPr lang="ru-RU" dirty="0"/>
              <a:t>Fortran явно разрешает нарушать IEEE 754 ради производительности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B5E8E-9887-45B8-A360-38F25438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276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99977-D071-4915-9CF3-AD6E90E9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Векторизация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61A02-0C79-47F4-9757-4FDEF5361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5290" cy="1387358"/>
          </a:xfrm>
        </p:spPr>
        <p:txBody>
          <a:bodyPr/>
          <a:lstStyle/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и -</a:t>
            </a:r>
            <a:r>
              <a:rPr lang="ru-RU" dirty="0" err="1"/>
              <a:t>fno-signed-zeros</a:t>
            </a:r>
            <a:r>
              <a:rPr lang="ru-RU" dirty="0"/>
              <a:t> позволяет компилятору переупорядочить итерации цикла и векторизовать вычисления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E14FE-2B0B-4369-B872-3476447EE1EE}"/>
              </a:ext>
            </a:extLst>
          </p:cNvPr>
          <p:cNvSpPr txBox="1"/>
          <p:nvPr/>
        </p:nvSpPr>
        <p:spPr>
          <a:xfrm>
            <a:off x="1687416" y="5829858"/>
            <a:ext cx="260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</a:t>
            </a:r>
          </a:p>
          <a:p>
            <a:pPr algn="ctr"/>
            <a:r>
              <a:rPr lang="en-US" sz="1200" dirty="0">
                <a:hlinkClick r:id="rId2"/>
              </a:rPr>
              <a:t>https://godbolt.org/z/v5vvEb1Th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6D3D3-2732-47B0-8EAE-5E3016264508}"/>
              </a:ext>
            </a:extLst>
          </p:cNvPr>
          <p:cNvSpPr txBox="1"/>
          <p:nvPr/>
        </p:nvSpPr>
        <p:spPr>
          <a:xfrm>
            <a:off x="6542721" y="5829858"/>
            <a:ext cx="532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</a:t>
            </a:r>
          </a:p>
          <a:p>
            <a:pPr algn="ctr"/>
            <a:r>
              <a:rPr lang="en-US" sz="1200" dirty="0">
                <a:hlinkClick r:id="rId3"/>
              </a:rPr>
              <a:t>https://godbolt.org/z/j6P1ohcTr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F2256-84A3-4BBA-8E40-126A03EE8BA7}"/>
              </a:ext>
            </a:extLst>
          </p:cNvPr>
          <p:cNvSpPr txBox="1"/>
          <p:nvPr/>
        </p:nvSpPr>
        <p:spPr>
          <a:xfrm>
            <a:off x="8241773" y="885304"/>
            <a:ext cx="38785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4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3A8FA-EA55-428D-91DA-50E773DB4054}"/>
              </a:ext>
            </a:extLst>
          </p:cNvPr>
          <p:cNvSpPr txBox="1"/>
          <p:nvPr/>
        </p:nvSpPr>
        <p:spPr>
          <a:xfrm>
            <a:off x="1098656" y="3669938"/>
            <a:ext cx="48082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один элемент за итерацию цикла</a:t>
            </a:r>
            <a:endParaRPr lang="en-US" sz="1600" b="1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C9F23-ADCD-4F05-A605-A9B2E36B97B3}"/>
              </a:ext>
            </a:extLst>
          </p:cNvPr>
          <p:cNvSpPr txBox="1"/>
          <p:nvPr/>
        </p:nvSpPr>
        <p:spPr>
          <a:xfrm>
            <a:off x="6898504" y="3546828"/>
            <a:ext cx="49495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xmm1,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xmm2,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xmm2, xmm1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addps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xmm2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6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4 элемента за итерацию цикла</a:t>
            </a:r>
            <a:endParaRPr lang="en-US" sz="1600" b="1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add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9356-3629-45BE-A7E3-E27792D3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7062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D9834-62FB-472C-AFFD-03D26ED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Упрощение выражений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FB168-9DE9-4371-BBC6-BD627EDCA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Fast-</a:t>
            </a:r>
            <a:r>
              <a:rPr lang="ru-RU" dirty="0" err="1"/>
              <a:t>math</a:t>
            </a:r>
            <a:r>
              <a:rPr lang="ru-RU" dirty="0"/>
              <a:t> флаги расширяют возможности компилятора по вычислению выражений во время компиляции</a:t>
            </a:r>
          </a:p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+ -</a:t>
            </a:r>
            <a:r>
              <a:rPr lang="ru-RU" dirty="0" err="1"/>
              <a:t>fno-signed-zeros</a:t>
            </a:r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+ -</a:t>
            </a:r>
            <a:r>
              <a:rPr lang="ru-RU" dirty="0" err="1"/>
              <a:t>fno-signed-zeros</a:t>
            </a:r>
            <a:r>
              <a:rPr lang="ru-RU" dirty="0"/>
              <a:t> + -</a:t>
            </a:r>
            <a:r>
              <a:rPr lang="ru-RU" dirty="0" err="1"/>
              <a:t>freciprocal-math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CE718-61E5-4419-A704-96DA5378C411}"/>
              </a:ext>
            </a:extLst>
          </p:cNvPr>
          <p:cNvSpPr txBox="1"/>
          <p:nvPr/>
        </p:nvSpPr>
        <p:spPr>
          <a:xfrm>
            <a:off x="779739" y="3345111"/>
            <a:ext cx="2648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FB350-F4B5-408A-A0E7-E3BDFFDEA0EA}"/>
              </a:ext>
            </a:extLst>
          </p:cNvPr>
          <p:cNvSpPr txBox="1"/>
          <p:nvPr/>
        </p:nvSpPr>
        <p:spPr>
          <a:xfrm>
            <a:off x="3746208" y="3252777"/>
            <a:ext cx="52364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 # +3.0 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.LCPI0_1] # -3.0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3368B0-B182-42EA-9B1D-E1F3EA0432DD}"/>
              </a:ext>
            </a:extLst>
          </p:cNvPr>
          <p:cNvSpPr txBox="1"/>
          <p:nvPr/>
        </p:nvSpPr>
        <p:spPr>
          <a:xfrm>
            <a:off x="9178472" y="3252777"/>
            <a:ext cx="1269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C1C95-DB1C-4D61-8C5A-C2B55A7246D6}"/>
              </a:ext>
            </a:extLst>
          </p:cNvPr>
          <p:cNvSpPr txBox="1"/>
          <p:nvPr/>
        </p:nvSpPr>
        <p:spPr>
          <a:xfrm>
            <a:off x="5048255" y="4080211"/>
            <a:ext cx="2419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https://godbolt.org/z/hjzWejv38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41F8B-CB21-4D8A-B82B-53A537A9A13E}"/>
              </a:ext>
            </a:extLst>
          </p:cNvPr>
          <p:cNvSpPr txBox="1"/>
          <p:nvPr/>
        </p:nvSpPr>
        <p:spPr>
          <a:xfrm>
            <a:off x="8025851" y="4001294"/>
            <a:ext cx="4166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 </a:t>
            </a:r>
          </a:p>
          <a:p>
            <a:pPr algn="ctr"/>
            <a:r>
              <a:rPr lang="en-US" sz="1200" dirty="0">
                <a:hlinkClick r:id="rId3"/>
              </a:rPr>
              <a:t>https://godbolt.org/z/a5GME55MM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44B5F-F146-4AED-B5F2-54F90C078C4C}"/>
              </a:ext>
            </a:extLst>
          </p:cNvPr>
          <p:cNvSpPr txBox="1"/>
          <p:nvPr/>
        </p:nvSpPr>
        <p:spPr>
          <a:xfrm>
            <a:off x="779739" y="5268726"/>
            <a:ext cx="26488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CB00F6-8F31-4E39-918D-61DB5474BC70}"/>
              </a:ext>
            </a:extLst>
          </p:cNvPr>
          <p:cNvSpPr txBox="1"/>
          <p:nvPr/>
        </p:nvSpPr>
        <p:spPr>
          <a:xfrm>
            <a:off x="3746208" y="5099152"/>
            <a:ext cx="43517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*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/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2EC2A2-EEAF-483E-8755-5EEC21311B64}"/>
              </a:ext>
            </a:extLst>
          </p:cNvPr>
          <p:cNvSpPr txBox="1"/>
          <p:nvPr/>
        </p:nvSpPr>
        <p:spPr>
          <a:xfrm>
            <a:off x="9178472" y="5237651"/>
            <a:ext cx="1346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C297F1-D5EF-4AE4-8119-D37480D8C8B0}"/>
              </a:ext>
            </a:extLst>
          </p:cNvPr>
          <p:cNvSpPr txBox="1"/>
          <p:nvPr/>
        </p:nvSpPr>
        <p:spPr>
          <a:xfrm>
            <a:off x="4707947" y="6094704"/>
            <a:ext cx="2428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4"/>
              </a:rPr>
              <a:t>https://godbolt.org/z/nancn6j8x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21DC0A-1927-4D08-98CA-94C2735CC123}"/>
              </a:ext>
            </a:extLst>
          </p:cNvPr>
          <p:cNvSpPr txBox="1"/>
          <p:nvPr/>
        </p:nvSpPr>
        <p:spPr>
          <a:xfrm>
            <a:off x="7840211" y="6047125"/>
            <a:ext cx="4351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fassociative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-signed-zeros -</a:t>
            </a:r>
            <a:r>
              <a:rPr lang="en-US" sz="1200" dirty="0" err="1"/>
              <a:t>freciprocal</a:t>
            </a:r>
            <a:r>
              <a:rPr lang="en-US" sz="1200" dirty="0"/>
              <a:t>-math </a:t>
            </a:r>
          </a:p>
          <a:p>
            <a:pPr algn="ctr"/>
            <a:r>
              <a:rPr lang="en-US" sz="1200" dirty="0">
                <a:hlinkClick r:id="rId5"/>
              </a:rPr>
              <a:t>https://godbolt.org/z/dMeKc8PW9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C42A7-537C-4B74-8B33-D5178EBC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563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90146-9A01-4468-9334-F10CD167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Сложные инструкции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74AAC-9B29-4EF6-B0DB-AE0A86A3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805719" cy="184036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Некоторые архитектуры поддерживают более сложные операции над числами с плавающей точкой</a:t>
            </a:r>
          </a:p>
          <a:p>
            <a:pPr lvl="1"/>
            <a:r>
              <a:rPr lang="ru-RU" dirty="0"/>
              <a:t>Например, </a:t>
            </a:r>
            <a:r>
              <a:rPr lang="ru-RU" dirty="0" err="1"/>
              <a:t>Fused</a:t>
            </a:r>
            <a:r>
              <a:rPr lang="ru-RU" dirty="0"/>
              <a:t> </a:t>
            </a:r>
            <a:r>
              <a:rPr lang="ru-RU" dirty="0" err="1"/>
              <a:t>Multiply</a:t>
            </a:r>
            <a:r>
              <a:rPr lang="ru-RU" dirty="0"/>
              <a:t> </a:t>
            </a:r>
            <a:r>
              <a:rPr lang="ru-RU" dirty="0" err="1"/>
              <a:t>Add</a:t>
            </a:r>
            <a:r>
              <a:rPr lang="ru-RU" dirty="0"/>
              <a:t> в x86-64</a:t>
            </a:r>
          </a:p>
          <a:p>
            <a:r>
              <a:rPr lang="ru-RU" dirty="0"/>
              <a:t>Алгоритм округления в этих инструкция может отличаться от последовательного выполнения элементарных операций </a:t>
            </a:r>
          </a:p>
          <a:p>
            <a:r>
              <a:rPr lang="ru-RU" dirty="0"/>
              <a:t>Флаг -</a:t>
            </a:r>
            <a:r>
              <a:rPr lang="ru-RU" dirty="0" err="1"/>
              <a:t>ffpcontract</a:t>
            </a:r>
            <a:r>
              <a:rPr lang="ru-RU" dirty="0"/>
              <a:t>=</a:t>
            </a:r>
            <a:r>
              <a:rPr lang="ru-RU" dirty="0" err="1"/>
              <a:t>on</a:t>
            </a:r>
            <a:r>
              <a:rPr lang="ru-RU" dirty="0"/>
              <a:t> позволяет компилятору использовать эти инструкции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F9249-1E2E-4B96-AEB6-17C8288EAD8F}"/>
              </a:ext>
            </a:extLst>
          </p:cNvPr>
          <p:cNvSpPr txBox="1"/>
          <p:nvPr/>
        </p:nvSpPr>
        <p:spPr>
          <a:xfrm>
            <a:off x="4234692" y="3651242"/>
            <a:ext cx="451486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acc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CE476-CFB8-4342-906B-20BF14BCA69B}"/>
              </a:ext>
            </a:extLst>
          </p:cNvPr>
          <p:cNvSpPr txBox="1"/>
          <p:nvPr/>
        </p:nvSpPr>
        <p:spPr>
          <a:xfrm>
            <a:off x="916498" y="4865115"/>
            <a:ext cx="465058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1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multiply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1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 # add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101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A0B84-A047-4AE5-92BF-8F75DD54E0ED}"/>
              </a:ext>
            </a:extLst>
          </p:cNvPr>
          <p:cNvSpPr txBox="1"/>
          <p:nvPr/>
        </p:nvSpPr>
        <p:spPr>
          <a:xfrm>
            <a:off x="5644719" y="4862395"/>
            <a:ext cx="620966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vmovsd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xmm2, qword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vfmadd213sd     xmm0, xmm1, xmm2 # fused multiply-add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vmovapd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xmm1, xmm2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101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66ECF-094C-4051-BF6B-2781AC706F9D}"/>
              </a:ext>
            </a:extLst>
          </p:cNvPr>
          <p:cNvSpPr txBox="1"/>
          <p:nvPr/>
        </p:nvSpPr>
        <p:spPr>
          <a:xfrm>
            <a:off x="1836145" y="6410814"/>
            <a:ext cx="2654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</a:t>
            </a:r>
          </a:p>
          <a:p>
            <a:pPr algn="ctr"/>
            <a:r>
              <a:rPr lang="en-US" sz="1200" dirty="0">
                <a:hlinkClick r:id="rId2"/>
              </a:rPr>
              <a:t>https://godbolt.org/z/qTTY4r7Yx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87D53-6680-4108-B3A9-DDEEA7FA4B89}"/>
              </a:ext>
            </a:extLst>
          </p:cNvPr>
          <p:cNvSpPr txBox="1"/>
          <p:nvPr/>
        </p:nvSpPr>
        <p:spPr>
          <a:xfrm>
            <a:off x="6744026" y="6410814"/>
            <a:ext cx="4256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ffp</a:t>
            </a:r>
            <a:r>
              <a:rPr lang="en-US" sz="1200" dirty="0"/>
              <a:t>-contract=on -march=</a:t>
            </a:r>
            <a:r>
              <a:rPr lang="en-US" sz="1200" dirty="0" err="1"/>
              <a:t>haswell</a:t>
            </a:r>
            <a:r>
              <a:rPr lang="en-US" sz="1200" dirty="0"/>
              <a:t> </a:t>
            </a:r>
          </a:p>
          <a:p>
            <a:pPr algn="ctr"/>
            <a:r>
              <a:rPr lang="en-US" sz="1200" dirty="0">
                <a:hlinkClick r:id="rId3"/>
              </a:rPr>
              <a:t>https://godbolt.org/z/zvPTo9fz4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79835-3BD3-4739-9874-E96CD113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67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E3706-717C-4841-B412-04992EDB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Finite only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D7BED-F943-4234-9B1D-87D63C82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-</a:t>
            </a:r>
            <a:r>
              <a:rPr lang="ru-RU" dirty="0" err="1"/>
              <a:t>ffinite-math-only</a:t>
            </a:r>
            <a:r>
              <a:rPr lang="ru-RU" dirty="0"/>
              <a:t> разрешает оптимизации, основанные на том, что операнды не принимают </a:t>
            </a:r>
            <a:r>
              <a:rPr lang="ru-RU" dirty="0" err="1"/>
              <a:t>NaN</a:t>
            </a:r>
            <a:r>
              <a:rPr lang="ru-RU" dirty="0"/>
              <a:t> или </a:t>
            </a:r>
            <a:r>
              <a:rPr lang="ru-RU" dirty="0" err="1"/>
              <a:t>Inf</a:t>
            </a:r>
            <a:r>
              <a:rPr lang="ru-RU" dirty="0"/>
              <a:t> значений</a:t>
            </a:r>
          </a:p>
          <a:p>
            <a:r>
              <a:rPr lang="ru-RU" dirty="0"/>
              <a:t>Это позволяет:</a:t>
            </a:r>
          </a:p>
          <a:p>
            <a:pPr lvl="1"/>
            <a:r>
              <a:rPr lang="ru-RU" dirty="0"/>
              <a:t>Удалять проверки на </a:t>
            </a:r>
            <a:r>
              <a:rPr lang="ru-RU" dirty="0" err="1"/>
              <a:t>NaN</a:t>
            </a:r>
            <a:r>
              <a:rPr lang="ru-RU" dirty="0"/>
              <a:t> и </a:t>
            </a:r>
            <a:r>
              <a:rPr lang="ru-RU" dirty="0" err="1"/>
              <a:t>Inf</a:t>
            </a:r>
            <a:endParaRPr lang="ru-RU" dirty="0"/>
          </a:p>
          <a:p>
            <a:pPr lvl="1"/>
            <a:r>
              <a:rPr lang="ru-RU" dirty="0"/>
              <a:t>x == x =&gt; </a:t>
            </a:r>
            <a:r>
              <a:rPr lang="ru-RU" dirty="0" err="1"/>
              <a:t>tru</a:t>
            </a:r>
            <a:r>
              <a:rPr lang="en-US" dirty="0"/>
              <a:t>e</a:t>
            </a:r>
            <a:endParaRPr lang="ru-RU" dirty="0"/>
          </a:p>
          <a:p>
            <a:pPr lvl="1"/>
            <a:r>
              <a:rPr lang="ru-RU" dirty="0"/>
              <a:t>x / x =&gt; 1</a:t>
            </a:r>
            <a:endParaRPr lang="en-US" dirty="0"/>
          </a:p>
          <a:p>
            <a:r>
              <a:rPr lang="ru-RU" dirty="0"/>
              <a:t>А с -</a:t>
            </a:r>
            <a:r>
              <a:rPr lang="ru-RU" dirty="0" err="1"/>
              <a:t>fno-signed-zeros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– x =&gt; 0</a:t>
            </a:r>
          </a:p>
          <a:p>
            <a:pPr lvl="1"/>
            <a:r>
              <a:rPr lang="ru-RU" dirty="0"/>
              <a:t>0 / x =&gt; 0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* 0 =&gt;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88F95-316E-40F5-BB82-CA1ABAFFFD69}"/>
              </a:ext>
            </a:extLst>
          </p:cNvPr>
          <p:cNvSpPr txBox="1"/>
          <p:nvPr/>
        </p:nvSpPr>
        <p:spPr>
          <a:xfrm>
            <a:off x="5952564" y="3075794"/>
            <a:ext cx="22125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C80AB-94ED-44A1-848B-0E015748E89A}"/>
              </a:ext>
            </a:extLst>
          </p:cNvPr>
          <p:cNvSpPr txBox="1"/>
          <p:nvPr/>
        </p:nvSpPr>
        <p:spPr>
          <a:xfrm>
            <a:off x="5952564" y="3959864"/>
            <a:ext cx="24474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setnp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al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A8228-C6A3-41F1-8707-0D2B58FC7719}"/>
              </a:ext>
            </a:extLst>
          </p:cNvPr>
          <p:cNvSpPr txBox="1"/>
          <p:nvPr/>
        </p:nvSpPr>
        <p:spPr>
          <a:xfrm>
            <a:off x="5952564" y="5225827"/>
            <a:ext cx="207837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al, 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370AF-1CA9-419E-88BA-C9BE2C8B2381}"/>
              </a:ext>
            </a:extLst>
          </p:cNvPr>
          <p:cNvSpPr txBox="1"/>
          <p:nvPr/>
        </p:nvSpPr>
        <p:spPr>
          <a:xfrm>
            <a:off x="9288237" y="3053767"/>
            <a:ext cx="259849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544C0-4D5F-4FF8-B290-7E273BD59580}"/>
              </a:ext>
            </a:extLst>
          </p:cNvPr>
          <p:cNvSpPr txBox="1"/>
          <p:nvPr/>
        </p:nvSpPr>
        <p:spPr>
          <a:xfrm>
            <a:off x="9288237" y="3959865"/>
            <a:ext cx="259849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DDCBB-C221-4AF4-88B4-8B94B4604891}"/>
              </a:ext>
            </a:extLst>
          </p:cNvPr>
          <p:cNvSpPr txBox="1"/>
          <p:nvPr/>
        </p:nvSpPr>
        <p:spPr>
          <a:xfrm>
            <a:off x="9288237" y="5279618"/>
            <a:ext cx="250621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ED6D4C-E11A-4D51-B754-B0DF30B875E5}"/>
              </a:ext>
            </a:extLst>
          </p:cNvPr>
          <p:cNvSpPr txBox="1"/>
          <p:nvPr/>
        </p:nvSpPr>
        <p:spPr>
          <a:xfrm>
            <a:off x="5923202" y="4744334"/>
            <a:ext cx="2506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https://godbolt.org/z/v5YEq7hbY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BF011-194E-41CF-A91E-FB37946F953F}"/>
              </a:ext>
            </a:extLst>
          </p:cNvPr>
          <p:cNvSpPr txBox="1"/>
          <p:nvPr/>
        </p:nvSpPr>
        <p:spPr>
          <a:xfrm>
            <a:off x="9379771" y="4744334"/>
            <a:ext cx="2506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3"/>
              </a:rPr>
              <a:t>https://godbolt.org/z/3e8sM1dh9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6EF88-2EE8-4BD6-9868-38D46499A43A}"/>
              </a:ext>
            </a:extLst>
          </p:cNvPr>
          <p:cNvSpPr txBox="1"/>
          <p:nvPr/>
        </p:nvSpPr>
        <p:spPr>
          <a:xfrm>
            <a:off x="5372978" y="5856364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</a:t>
            </a:r>
          </a:p>
          <a:p>
            <a:pPr algn="ctr"/>
            <a:r>
              <a:rPr lang="en-US" sz="1200" dirty="0">
                <a:hlinkClick r:id="rId4"/>
              </a:rPr>
              <a:t>https://godbolt.org/z/TYab9sndr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50CB1E-CFFF-4288-9F89-9875812BEC68}"/>
              </a:ext>
            </a:extLst>
          </p:cNvPr>
          <p:cNvSpPr txBox="1"/>
          <p:nvPr/>
        </p:nvSpPr>
        <p:spPr>
          <a:xfrm>
            <a:off x="8855459" y="5877143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 -</a:t>
            </a:r>
            <a:r>
              <a:rPr lang="en-US" sz="1200" dirty="0" err="1"/>
              <a:t>fno</a:t>
            </a:r>
            <a:r>
              <a:rPr lang="en-US" sz="1200" dirty="0"/>
              <a:t>-signed-zeros</a:t>
            </a:r>
          </a:p>
          <a:p>
            <a:pPr algn="ctr"/>
            <a:r>
              <a:rPr lang="en-US" sz="1200" dirty="0">
                <a:hlinkClick r:id="rId5"/>
              </a:rPr>
              <a:t>https://godbolt.org/z/zoWrsfr1h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DD09D-1B6E-4848-9701-BC8305F2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8644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6B8C9-D050-44D1-B40D-72137B0D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-32203"/>
            <a:ext cx="10515600" cy="1325563"/>
          </a:xfrm>
        </p:spPr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 </a:t>
            </a:r>
            <a:r>
              <a:rPr lang="en-US" dirty="0" err="1"/>
              <a:t>Errno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FF212-302F-46CF-954B-BDB1EC499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188326"/>
            <a:ext cx="10515600" cy="2352091"/>
          </a:xfrm>
        </p:spPr>
        <p:txBody>
          <a:bodyPr>
            <a:normAutofit/>
          </a:bodyPr>
          <a:lstStyle/>
          <a:p>
            <a:r>
              <a:rPr lang="ru-RU" sz="2400" dirty="0"/>
              <a:t>Флаг </a:t>
            </a:r>
            <a:r>
              <a:rPr lang="en-US" sz="2400" dirty="0"/>
              <a:t>-</a:t>
            </a:r>
            <a:r>
              <a:rPr lang="en-US" sz="2400" dirty="0" err="1"/>
              <a:t>fno</a:t>
            </a:r>
            <a:r>
              <a:rPr lang="en-US" sz="2400" dirty="0"/>
              <a:t>-math-</a:t>
            </a:r>
            <a:r>
              <a:rPr lang="en-US" sz="2400" dirty="0" err="1"/>
              <a:t>errno</a:t>
            </a:r>
            <a:r>
              <a:rPr lang="en-US" sz="2400" dirty="0"/>
              <a:t> </a:t>
            </a:r>
            <a:r>
              <a:rPr lang="ru-RU" sz="2400" dirty="0"/>
              <a:t>позволяет компилятору оптимизировать проверки, связанные с выставлением переменной </a:t>
            </a:r>
            <a:r>
              <a:rPr lang="en-US" sz="2400" dirty="0" err="1"/>
              <a:t>errno</a:t>
            </a:r>
            <a:r>
              <a:rPr lang="en-US" sz="2400" dirty="0"/>
              <a:t> </a:t>
            </a:r>
            <a:r>
              <a:rPr lang="ru-RU" sz="2400" dirty="0"/>
              <a:t>в математических функциях</a:t>
            </a:r>
            <a:endParaRPr lang="en-US" sz="2400" dirty="0"/>
          </a:p>
          <a:p>
            <a:r>
              <a:rPr lang="ru-RU" sz="2400" dirty="0"/>
              <a:t>В частности это разрешает инлайнинг и упрощение библиотечных функций</a:t>
            </a:r>
          </a:p>
          <a:p>
            <a:r>
              <a:rPr lang="ru-RU" sz="2400" dirty="0"/>
              <a:t>Стандартные математические методы </a:t>
            </a:r>
            <a:r>
              <a:rPr lang="en-US" sz="2400" dirty="0"/>
              <a:t>Rust </a:t>
            </a:r>
            <a:r>
              <a:rPr lang="ru-RU" sz="2400" dirty="0"/>
              <a:t>компилируются в </a:t>
            </a:r>
            <a:r>
              <a:rPr lang="en-US" sz="2400" dirty="0"/>
              <a:t>LLVM </a:t>
            </a:r>
            <a:r>
              <a:rPr lang="ru-RU" sz="2400" dirty="0" err="1"/>
              <a:t>интринсики</a:t>
            </a:r>
            <a:r>
              <a:rPr lang="ru-RU" sz="2400" dirty="0"/>
              <a:t>, не выставляющие </a:t>
            </a:r>
            <a:r>
              <a:rPr lang="en-US" sz="2400" dirty="0" err="1"/>
              <a:t>errno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EF1921-C5E1-4368-8B93-3007242A574E}"/>
              </a:ext>
            </a:extLst>
          </p:cNvPr>
          <p:cNvSpPr txBox="1"/>
          <p:nvPr/>
        </p:nvSpPr>
        <p:spPr>
          <a:xfrm>
            <a:off x="4429122" y="3587723"/>
            <a:ext cx="33337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xorpd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 xmm1,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ucomisd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jb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    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sqrt@PLT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5D6AF7-7BE5-4569-9697-CEB59D778584}"/>
              </a:ext>
            </a:extLst>
          </p:cNvPr>
          <p:cNvSpPr txBox="1"/>
          <p:nvPr/>
        </p:nvSpPr>
        <p:spPr>
          <a:xfrm>
            <a:off x="8170882" y="3587723"/>
            <a:ext cx="3675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60C2C-DCF2-4072-AE07-ED402A48E2B2}"/>
              </a:ext>
            </a:extLst>
          </p:cNvPr>
          <p:cNvSpPr txBox="1"/>
          <p:nvPr/>
        </p:nvSpPr>
        <p:spPr>
          <a:xfrm>
            <a:off x="5554207" y="4922824"/>
            <a:ext cx="108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DC2D30-8677-4DA0-AA44-E7F49F824A53}"/>
              </a:ext>
            </a:extLst>
          </p:cNvPr>
          <p:cNvSpPr txBox="1"/>
          <p:nvPr/>
        </p:nvSpPr>
        <p:spPr>
          <a:xfrm>
            <a:off x="8791661" y="4923971"/>
            <a:ext cx="2197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-math-</a:t>
            </a:r>
            <a:r>
              <a:rPr lang="en-US" sz="1200" dirty="0" err="1"/>
              <a:t>errno</a:t>
            </a:r>
            <a:endParaRPr lang="ru-RU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D7BA7-BBBE-472C-A9DA-0216DBB92A93}"/>
              </a:ext>
            </a:extLst>
          </p:cNvPr>
          <p:cNvSpPr txBox="1"/>
          <p:nvPr/>
        </p:nvSpPr>
        <p:spPr>
          <a:xfrm>
            <a:off x="838200" y="5442740"/>
            <a:ext cx="36755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pub </a:t>
            </a:r>
            <a:r>
              <a:rPr lang="en-US" sz="1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2F08A6-71E4-4144-B17E-9CFA8EED3615}"/>
              </a:ext>
            </a:extLst>
          </p:cNvPr>
          <p:cNvSpPr txBox="1"/>
          <p:nvPr/>
        </p:nvSpPr>
        <p:spPr>
          <a:xfrm>
            <a:off x="4429124" y="5442740"/>
            <a:ext cx="38316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</a:rPr>
              <a:t>sqrtsd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 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      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81C4F-6C5C-49AF-992D-B06DB6EA55C7}"/>
              </a:ext>
            </a:extLst>
          </p:cNvPr>
          <p:cNvSpPr txBox="1"/>
          <p:nvPr/>
        </p:nvSpPr>
        <p:spPr>
          <a:xfrm>
            <a:off x="838196" y="3587723"/>
            <a:ext cx="33337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506710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E3270-ABF2-44E4-8E10-A82FDCFD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Подводные камни</a:t>
            </a:r>
            <a:r>
              <a:rPr lang="en-US" dirty="0"/>
              <a:t>:</a:t>
            </a:r>
            <a:r>
              <a:rPr lang="ru-RU" dirty="0"/>
              <a:t> Проверки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0A5FB-358D-4DC4-BD27-36F77C5C0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Появление </a:t>
            </a:r>
            <a:r>
              <a:rPr lang="ru-RU" dirty="0" err="1"/>
              <a:t>Inf</a:t>
            </a:r>
            <a:r>
              <a:rPr lang="ru-RU" dirty="0"/>
              <a:t> или </a:t>
            </a:r>
            <a:r>
              <a:rPr lang="ru-RU" dirty="0" err="1"/>
              <a:t>NaN</a:t>
            </a:r>
            <a:r>
              <a:rPr lang="ru-RU" dirty="0"/>
              <a:t> значений при использовании -</a:t>
            </a:r>
            <a:r>
              <a:rPr lang="ru-RU" dirty="0" err="1"/>
              <a:t>ffinite-math-only</a:t>
            </a:r>
            <a:r>
              <a:rPr lang="ru-RU" dirty="0"/>
              <a:t> приводит к UB</a:t>
            </a:r>
          </a:p>
          <a:p>
            <a:r>
              <a:rPr lang="ru-RU" dirty="0"/>
              <a:t>Если отсутствие этих значений обеспечивалось явными проверками</a:t>
            </a:r>
            <a:r>
              <a:rPr lang="en-US" dirty="0"/>
              <a:t>, </a:t>
            </a:r>
            <a:r>
              <a:rPr lang="ru-RU" dirty="0"/>
              <a:t>то</a:t>
            </a:r>
            <a:r>
              <a:rPr lang="en-US" dirty="0"/>
              <a:t> </a:t>
            </a:r>
            <a:r>
              <a:rPr lang="ru-RU" dirty="0"/>
              <a:t>они будут удалены компилятором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D071A-B244-42A7-AB61-B467229CF366}"/>
              </a:ext>
            </a:extLst>
          </p:cNvPr>
          <p:cNvSpPr txBox="1"/>
          <p:nvPr/>
        </p:nvSpPr>
        <p:spPr>
          <a:xfrm>
            <a:off x="4652394" y="4452835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setp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al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19348-F5D5-4A35-886F-EF58F443C517}"/>
              </a:ext>
            </a:extLst>
          </p:cNvPr>
          <p:cNvSpPr txBox="1"/>
          <p:nvPr/>
        </p:nvSpPr>
        <p:spPr>
          <a:xfrm>
            <a:off x="8738532" y="4452835"/>
            <a:ext cx="24139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2493A-C46D-4AF2-9715-65124E381417}"/>
              </a:ext>
            </a:extLst>
          </p:cNvPr>
          <p:cNvSpPr txBox="1"/>
          <p:nvPr/>
        </p:nvSpPr>
        <p:spPr>
          <a:xfrm>
            <a:off x="4802651" y="5545278"/>
            <a:ext cx="252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  <a:p>
            <a:pPr algn="ctr"/>
            <a:r>
              <a:rPr lang="en-US" sz="1200" dirty="0">
                <a:hlinkClick r:id="rId2"/>
              </a:rPr>
              <a:t>https://godbolt.org/z/MPPoc5oea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C298D-250B-4941-939B-27C7982EC245}"/>
              </a:ext>
            </a:extLst>
          </p:cNvPr>
          <p:cNvSpPr txBox="1"/>
          <p:nvPr/>
        </p:nvSpPr>
        <p:spPr>
          <a:xfrm>
            <a:off x="8259615" y="5545277"/>
            <a:ext cx="3371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ffinite</a:t>
            </a:r>
            <a:r>
              <a:rPr lang="en-US" sz="1200" dirty="0"/>
              <a:t>-math-only</a:t>
            </a:r>
          </a:p>
          <a:p>
            <a:pPr algn="ctr"/>
            <a:r>
              <a:rPr lang="en-US" sz="1200" dirty="0">
                <a:hlinkClick r:id="rId3"/>
              </a:rPr>
              <a:t>https://godbolt.org/z/nv33ffaqx</a:t>
            </a:r>
            <a:r>
              <a:rPr lang="en-US" sz="1200" dirty="0"/>
              <a:t> 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54438-A74E-414E-A290-284C84BC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0E3B1-C82D-4605-AE09-84D70B75FBB7}"/>
              </a:ext>
            </a:extLst>
          </p:cNvPr>
          <p:cNvSpPr txBox="1"/>
          <p:nvPr/>
        </p:nvSpPr>
        <p:spPr>
          <a:xfrm>
            <a:off x="1039536" y="4452835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isnan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29344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767-F1F1-444D-BE14-F9361F9D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Подводные камни</a:t>
            </a:r>
            <a:r>
              <a:rPr lang="en-US" dirty="0"/>
              <a:t>:</a:t>
            </a:r>
            <a:r>
              <a:rPr lang="ru-RU" dirty="0"/>
              <a:t> Округление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0D89A5-AB52-4606-AA47-FC70E556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Некоторые алгоритмы используют специфику IEEE 754 и специальный порядок вычислений для уменьшения погрешности округления</a:t>
            </a:r>
          </a:p>
          <a:p>
            <a:r>
              <a:rPr lang="ru-RU" dirty="0"/>
              <a:t>С -</a:t>
            </a:r>
            <a:r>
              <a:rPr lang="ru-RU" dirty="0" err="1"/>
              <a:t>fassociative-math</a:t>
            </a:r>
            <a:r>
              <a:rPr lang="ru-RU" dirty="0"/>
              <a:t>, компилятор “оптимизирует” эти алгоритмы так, как будто погрешности округления нет</a:t>
            </a:r>
          </a:p>
          <a:p>
            <a:r>
              <a:rPr lang="ru-RU" dirty="0"/>
              <a:t>Алгоритм </a:t>
            </a:r>
            <a:r>
              <a:rPr lang="ru-RU" dirty="0" err="1"/>
              <a:t>Кэхэна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08C45-F611-4BC0-8933-C86598D3607C}"/>
              </a:ext>
            </a:extLst>
          </p:cNvPr>
          <p:cNvSpPr txBox="1"/>
          <p:nvPr/>
        </p:nvSpPr>
        <p:spPr>
          <a:xfrm>
            <a:off x="859173" y="4580593"/>
            <a:ext cx="316055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7C7A0-97E4-449E-9C5D-17FB32756990}"/>
              </a:ext>
            </a:extLst>
          </p:cNvPr>
          <p:cNvSpPr txBox="1"/>
          <p:nvPr/>
        </p:nvSpPr>
        <p:spPr>
          <a:xfrm>
            <a:off x="8896566" y="4365010"/>
            <a:ext cx="295921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sum_kahan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710AE-588B-4A98-B511-7438FB137787}"/>
              </a:ext>
            </a:extLst>
          </p:cNvPr>
          <p:cNvSpPr txBox="1"/>
          <p:nvPr/>
        </p:nvSpPr>
        <p:spPr>
          <a:xfrm>
            <a:off x="4639010" y="4372908"/>
            <a:ext cx="337866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sum_kahan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xmm0,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3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.LBB0_1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CE918-F079-42C1-BAF0-101BBCAF44A4}"/>
              </a:ext>
            </a:extLst>
          </p:cNvPr>
          <p:cNvSpPr txBox="1"/>
          <p:nvPr/>
        </p:nvSpPr>
        <p:spPr>
          <a:xfrm>
            <a:off x="4019725" y="6414265"/>
            <a:ext cx="43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  <a:r>
              <a:rPr lang="ru-RU" sz="1200" dirty="0"/>
              <a:t> </a:t>
            </a:r>
            <a:r>
              <a:rPr lang="en-US" sz="1200" dirty="0"/>
              <a:t>-</a:t>
            </a:r>
            <a:r>
              <a:rPr lang="en-US" sz="1200" dirty="0" err="1"/>
              <a:t>ffast</a:t>
            </a:r>
            <a:r>
              <a:rPr lang="en-US" sz="1200" dirty="0"/>
              <a:t>-math -</a:t>
            </a:r>
            <a:r>
              <a:rPr lang="en-US" sz="1200" dirty="0" err="1"/>
              <a:t>fno</a:t>
            </a:r>
            <a:r>
              <a:rPr lang="en-US" sz="1200" dirty="0"/>
              <a:t>-unroll-loops -</a:t>
            </a:r>
            <a:r>
              <a:rPr lang="en-US" sz="1200" dirty="0" err="1"/>
              <a:t>fno</a:t>
            </a:r>
            <a:r>
              <a:rPr lang="en-US" sz="1200" dirty="0"/>
              <a:t>-vectorize</a:t>
            </a:r>
          </a:p>
          <a:p>
            <a:pPr algn="ctr"/>
            <a:r>
              <a:rPr lang="en-US" sz="1200" dirty="0">
                <a:hlinkClick r:id="rId2"/>
              </a:rPr>
              <a:t>https://godbolt.org/z/rYebWsfco</a:t>
            </a:r>
            <a:endParaRPr lang="ru-RU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96D94-95DB-4C55-92B1-E5C85970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7382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B7337-8609-465A-BEB9-ABD904AD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Позиция </a:t>
            </a:r>
            <a:r>
              <a:rPr lang="en-US" dirty="0"/>
              <a:t>Rust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31CD8-B1E0-4D6C-80F8-763B791F8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</a:rPr>
              <a:t>Rust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отказывается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от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возможности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глобального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применения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fast-math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оптимизаций</a:t>
            </a:r>
            <a:endParaRPr lang="en-US" sz="2800" b="0" strike="noStrike" spc="-1" dirty="0">
              <a:solidFill>
                <a:srgbClr val="000000"/>
              </a:solidFill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</a:rPr>
              <a:t>Основная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мотивация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–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опасность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недостаточно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осторожного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применения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этих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оптимизаций</a:t>
            </a:r>
            <a:r>
              <a:rPr lang="en-US" sz="2800" b="0" strike="noStrike" spc="-1" dirty="0">
                <a:solidFill>
                  <a:srgbClr val="000000"/>
                </a:solidFill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особенно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в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зависимостях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проекта</a:t>
            </a:r>
            <a:endParaRPr lang="en-US" sz="2800" b="0" strike="noStrike" spc="-1" dirty="0">
              <a:solidFill>
                <a:srgbClr val="000000"/>
              </a:solidFill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0C81D-7AEE-4A4B-BC75-A60742093FB1}"/>
              </a:ext>
            </a:extLst>
          </p:cNvPr>
          <p:cNvSpPr txBox="1"/>
          <p:nvPr/>
        </p:nvSpPr>
        <p:spPr>
          <a:xfrm>
            <a:off x="1784860" y="4340140"/>
            <a:ext cx="835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“Everything about this flag fundamentally clashes with the idea of robust, compositional system design. It was a terrible mistake to ever add it to C compilers, and Rust should not repeat that mistake. Rust should instead explore alternative, less fragile ways of exposing those semantics.” (Ralf Jung, </a:t>
            </a:r>
            <a:r>
              <a:rPr lang="en-US" dirty="0">
                <a:hlinkClick r:id="rId2"/>
              </a:rPr>
              <a:t>rust #21690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CDA5-0D32-4AB9-B01D-80CA32A7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8348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9D9B6-C96B-4D7F-8B0B-6DAF21DD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Интринсики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6F7E1-D109-4CAD-BA2F-3A2E49CD6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540"/>
          </a:xfrm>
        </p:spPr>
        <p:txBody>
          <a:bodyPr>
            <a:normAutofit/>
          </a:bodyPr>
          <a:lstStyle/>
          <a:p>
            <a:r>
              <a:rPr lang="en-US" dirty="0"/>
              <a:t>Rust </a:t>
            </a:r>
            <a:r>
              <a:rPr lang="ru-RU" dirty="0"/>
              <a:t>предоставляет </a:t>
            </a:r>
            <a:r>
              <a:rPr lang="en-US" dirty="0"/>
              <a:t>fast-math </a:t>
            </a:r>
            <a:r>
              <a:rPr lang="ru-RU" dirty="0"/>
              <a:t>оптимизации на уровне отдельных операций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::f{op}_fast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::f{op}_algebraic</a:t>
            </a:r>
          </a:p>
          <a:p>
            <a:pPr lvl="1"/>
            <a:r>
              <a:rPr lang="en-US" dirty="0"/>
              <a:t>f(16/32/64)::algebraic_{op}</a:t>
            </a:r>
          </a:p>
          <a:p>
            <a:r>
              <a:rPr lang="ru-RU" dirty="0"/>
              <a:t>Недостатки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На данный момент эти </a:t>
            </a:r>
            <a:r>
              <a:rPr lang="en-US" dirty="0"/>
              <a:t>API </a:t>
            </a:r>
            <a:r>
              <a:rPr lang="ru-RU" dirty="0"/>
              <a:t>недоступны в стабильной версии</a:t>
            </a:r>
            <a:endParaRPr lang="en-US" dirty="0"/>
          </a:p>
          <a:p>
            <a:pPr lvl="1"/>
            <a:r>
              <a:rPr lang="ru-RU" dirty="0"/>
              <a:t>На данный момент </a:t>
            </a:r>
            <a:r>
              <a:rPr lang="ru-RU" dirty="0">
                <a:hlinkClick r:id="rId2"/>
              </a:rPr>
              <a:t>нет типов</a:t>
            </a:r>
            <a:r>
              <a:rPr lang="ru-RU" dirty="0"/>
              <a:t>, скрывающих внутри себя работу с интринсиками</a:t>
            </a:r>
          </a:p>
          <a:p>
            <a:pPr lvl="2"/>
            <a:r>
              <a:rPr lang="ru-RU" dirty="0"/>
              <a:t>Авторам математических библиотек придётся реализовывать код дважды</a:t>
            </a:r>
            <a:r>
              <a:rPr lang="en-US" dirty="0"/>
              <a:t> (</a:t>
            </a:r>
            <a:r>
              <a:rPr lang="ru-RU" dirty="0"/>
              <a:t>для </a:t>
            </a:r>
            <a:r>
              <a:rPr lang="en-US" dirty="0"/>
              <a:t>fast-math </a:t>
            </a:r>
            <a:r>
              <a:rPr lang="ru-RU" dirty="0"/>
              <a:t>и обычного варианта)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0800D-2C5A-4573-94F4-25BA9D2A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6559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403900-2EC9-4FFC-8FE3-DDCC7B74D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0" y="921608"/>
            <a:ext cx="10452847" cy="55748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AAFFB-63EE-4302-A3DE-8AE9ACC4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-181722"/>
            <a:ext cx="10515600" cy="1325563"/>
          </a:xfrm>
        </p:spPr>
        <p:txBody>
          <a:bodyPr/>
          <a:lstStyle/>
          <a:p>
            <a:r>
              <a:rPr lang="ru-RU" dirty="0"/>
              <a:t>Результаты при включении </a:t>
            </a:r>
            <a:r>
              <a:rPr lang="en-US" dirty="0"/>
              <a:t>fast-math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DCE2E-B0F6-484E-B156-451B4617CF1D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87288-96E3-4958-988B-8B522120D4E7}"/>
              </a:ext>
            </a:extLst>
          </p:cNvPr>
          <p:cNvSpPr txBox="1"/>
          <p:nvPr/>
        </p:nvSpPr>
        <p:spPr>
          <a:xfrm>
            <a:off x="2451286" y="649226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Ветка компилятора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4B9E4-DCEA-4373-A2AE-A33768815C57}"/>
              </a:ext>
            </a:extLst>
          </p:cNvPr>
          <p:cNvSpPr txBox="1"/>
          <p:nvPr/>
        </p:nvSpPr>
        <p:spPr>
          <a:xfrm>
            <a:off x="3441323" y="4564664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Проблемы с </a:t>
            </a:r>
            <a:r>
              <a:rPr lang="ru-RU" dirty="0" err="1"/>
              <a:t>автовекторизацией</a:t>
            </a:r>
            <a:endParaRPr lang="ru-RU" dirty="0"/>
          </a:p>
        </p:txBody>
      </p:sp>
      <p:cxnSp>
        <p:nvCxnSpPr>
          <p:cNvPr id="9" name="Прямая со стрелкой 5">
            <a:extLst>
              <a:ext uri="{FF2B5EF4-FFF2-40B4-BE49-F238E27FC236}">
                <a16:creationId xmlns:a16="http://schemas.microsoft.com/office/drawing/2014/main" id="{78BD24BB-A33B-4908-BFC7-55D0439017B2}"/>
              </a:ext>
            </a:extLst>
          </p:cNvPr>
          <p:cNvCxnSpPr>
            <a:cxnSpLocks/>
          </p:cNvCxnSpPr>
          <p:nvPr/>
        </p:nvCxnSpPr>
        <p:spPr>
          <a:xfrm flipH="1">
            <a:off x="2891790" y="4933156"/>
            <a:ext cx="918210" cy="352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6">
            <a:extLst>
              <a:ext uri="{FF2B5EF4-FFF2-40B4-BE49-F238E27FC236}">
                <a16:creationId xmlns:a16="http://schemas.microsoft.com/office/drawing/2014/main" id="{EFB97770-0F6E-4689-9D35-26E320C131A5}"/>
              </a:ext>
            </a:extLst>
          </p:cNvPr>
          <p:cNvCxnSpPr>
            <a:cxnSpLocks/>
          </p:cNvCxnSpPr>
          <p:nvPr/>
        </p:nvCxnSpPr>
        <p:spPr>
          <a:xfrm>
            <a:off x="6096000" y="4933156"/>
            <a:ext cx="905435" cy="352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A6410-1192-43C0-8D9B-A879A7B2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225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</a:t>
            </a:r>
            <a:r>
              <a:rPr lang="ru-RU" dirty="0"/>
              <a:t> не предоставляет возможности глобально включить </a:t>
            </a:r>
            <a:r>
              <a:rPr lang="en-US" dirty="0"/>
              <a:t>fast-math </a:t>
            </a:r>
            <a:r>
              <a:rPr lang="ru-RU" dirty="0"/>
              <a:t>оптимизации</a:t>
            </a:r>
          </a:p>
          <a:p>
            <a:r>
              <a:rPr lang="ru-RU" dirty="0"/>
              <a:t>Разрешать эти оптимизации можно на уровне отдельных операций</a:t>
            </a:r>
            <a:r>
              <a:rPr lang="en-US" dirty="0"/>
              <a:t> </a:t>
            </a:r>
            <a:r>
              <a:rPr lang="ru-RU" dirty="0"/>
              <a:t>с помощью интринсиков</a:t>
            </a:r>
          </a:p>
          <a:p>
            <a:pPr lvl="1"/>
            <a:r>
              <a:rPr lang="ru-RU" dirty="0"/>
              <a:t>Пока только в </a:t>
            </a:r>
            <a:r>
              <a:rPr lang="en-US" dirty="0"/>
              <a:t>nightly</a:t>
            </a:r>
            <a:r>
              <a:rPr lang="ru-RU" dirty="0"/>
              <a:t>-версии</a:t>
            </a:r>
          </a:p>
          <a:p>
            <a:r>
              <a:rPr lang="en-US" dirty="0"/>
              <a:t>Fast-math </a:t>
            </a:r>
            <a:r>
              <a:rPr lang="ru-RU" dirty="0"/>
              <a:t>может как положительно, так и отрицательно влиять на производительность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839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Optimizations enabled by -</a:t>
            </a:r>
            <a:r>
              <a:rPr lang="en-US" dirty="0" err="1">
                <a:hlinkClick r:id="rId2"/>
              </a:rPr>
              <a:t>ffast</a:t>
            </a:r>
            <a:r>
              <a:rPr lang="en-US" dirty="0">
                <a:hlinkClick r:id="rId2"/>
              </a:rPr>
              <a:t>-math</a:t>
            </a:r>
            <a:r>
              <a:rPr lang="en-US" dirty="0"/>
              <a:t> (</a:t>
            </a:r>
            <a:r>
              <a:rPr lang="en-US" dirty="0" err="1"/>
              <a:t>Krister</a:t>
            </a:r>
            <a:r>
              <a:rPr lang="en-US" dirty="0"/>
              <a:t> </a:t>
            </a:r>
            <a:r>
              <a:rPr lang="en-US" dirty="0" err="1"/>
              <a:t>Walfridsson</a:t>
            </a:r>
            <a:r>
              <a:rPr lang="en-US" dirty="0"/>
              <a:t>, GCC)</a:t>
            </a: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Towards Useful Fast-Math</a:t>
            </a:r>
            <a:r>
              <a:rPr lang="en-US" dirty="0"/>
              <a:t> (LLVM Dev Meeting 2024)</a:t>
            </a:r>
            <a:endParaRPr lang="en-US" dirty="0">
              <a:hlinkClick r:id="rId4"/>
            </a:endParaRPr>
          </a:p>
          <a:p>
            <a:r>
              <a:rPr lang="en-US" dirty="0">
                <a:hlinkClick r:id="rId4"/>
              </a:rPr>
              <a:t>Beware of fast-math</a:t>
            </a:r>
            <a:endParaRPr lang="en-US" dirty="0"/>
          </a:p>
          <a:p>
            <a:r>
              <a:rPr lang="en-US" dirty="0">
                <a:hlinkClick r:id="rId5"/>
              </a:rPr>
              <a:t>P3715R0: Tightening floating-point semantics for C++</a:t>
            </a:r>
            <a:endParaRPr lang="en-US" dirty="0"/>
          </a:p>
          <a:p>
            <a:r>
              <a:rPr lang="en-US" dirty="0">
                <a:hlinkClick r:id="rId6"/>
              </a:rPr>
              <a:t>Taming Floating-Point Sums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340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5113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70DB-3C9A-48F2-8509-324EDEBE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515600" cy="1325563"/>
          </a:xfrm>
        </p:spPr>
        <p:txBody>
          <a:bodyPr/>
          <a:lstStyle/>
          <a:p>
            <a:r>
              <a:rPr lang="ru-RU" dirty="0"/>
              <a:t>Ускорение при отключении (почти) всех проверок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4754-DAF3-4E9D-9901-0D8F2F7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DD279-E2DF-496F-B6DF-186FC9B6574D}"/>
              </a:ext>
            </a:extLst>
          </p:cNvPr>
          <p:cNvSpPr txBox="1"/>
          <p:nvPr/>
        </p:nvSpPr>
        <p:spPr>
          <a:xfrm>
            <a:off x="9108141" y="1204885"/>
            <a:ext cx="2532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Отключались проверки индексов</a:t>
            </a:r>
            <a:r>
              <a:rPr lang="en-US" dirty="0"/>
              <a:t> </a:t>
            </a:r>
            <a:r>
              <a:rPr lang="ru-RU" dirty="0"/>
              <a:t>и арифметики, переполнения контейнеров </a:t>
            </a:r>
            <a:r>
              <a:rPr lang="en-US" dirty="0" err="1"/>
              <a:t>stdlib</a:t>
            </a:r>
            <a:r>
              <a:rPr lang="en-US" dirty="0"/>
              <a:t>, </a:t>
            </a:r>
            <a:r>
              <a:rPr lang="ru-RU" dirty="0"/>
              <a:t>проверки </a:t>
            </a:r>
            <a:r>
              <a:rPr lang="en-US" dirty="0"/>
              <a:t>UTF-8</a:t>
            </a:r>
            <a:r>
              <a:rPr lang="ru-RU" dirty="0"/>
              <a:t> в строках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избыточную инициализацию</a:t>
            </a:r>
            <a:r>
              <a:rPr lang="en-US" dirty="0"/>
              <a:t> (</a:t>
            </a:r>
            <a:r>
              <a:rPr lang="ru-RU" dirty="0"/>
              <a:t>полагаем не менее 1%)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8AB6A-C8AB-46FD-AE36-196F57572CB1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E17133-0289-4100-AB60-36514CAE8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279" y="1178018"/>
            <a:ext cx="6701117" cy="536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3794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70DB-3C9A-48F2-8509-324EDEBE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515600" cy="1325563"/>
          </a:xfrm>
        </p:spPr>
        <p:txBody>
          <a:bodyPr/>
          <a:lstStyle/>
          <a:p>
            <a:r>
              <a:rPr lang="ru-RU" dirty="0"/>
              <a:t>Замедления в </a:t>
            </a:r>
            <a:r>
              <a:rPr lang="en-US" dirty="0"/>
              <a:t>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4754-DAF3-4E9D-9901-0D8F2F7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DD279-E2DF-496F-B6DF-186FC9B6574D}"/>
              </a:ext>
            </a:extLst>
          </p:cNvPr>
          <p:cNvSpPr txBox="1"/>
          <p:nvPr/>
        </p:nvSpPr>
        <p:spPr>
          <a:xfrm>
            <a:off x="8014448" y="1223838"/>
            <a:ext cx="39495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Включенные защиты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-D_FORTIFY_SOURCE=3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</a:t>
            </a:r>
            <a:r>
              <a:rPr lang="en-US" dirty="0" err="1"/>
              <a:t>bounds,object</a:t>
            </a:r>
            <a:r>
              <a:rPr lang="en-US" dirty="0"/>
              <a:t>-size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Hardened STL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ru-RU" dirty="0"/>
              <a:t>Инициализацию не включали чтобы соответствовать </a:t>
            </a:r>
            <a:r>
              <a:rPr lang="en-US" dirty="0"/>
              <a:t>Rust)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отличие от </a:t>
            </a:r>
            <a:r>
              <a:rPr lang="en-US" dirty="0"/>
              <a:t>Rust </a:t>
            </a:r>
            <a:r>
              <a:rPr lang="ru-RU" dirty="0"/>
              <a:t>большинство проектов </a:t>
            </a:r>
            <a:r>
              <a:rPr lang="ru-RU" b="1" dirty="0"/>
              <a:t>не тюнилось </a:t>
            </a:r>
            <a:r>
              <a:rPr lang="ru-RU" dirty="0"/>
              <a:t>под </a:t>
            </a:r>
            <a:r>
              <a:rPr lang="en-US" dirty="0"/>
              <a:t>Hardened C++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8AB6A-C8AB-46FD-AE36-196F57572CB1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EBBCC8-8384-45B1-A2DF-34438043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62" y="1223838"/>
            <a:ext cx="6509497" cy="520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0902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377EB-F5A7-402C-84BF-D6A65D97F8BB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Скрипт</a:t>
            </a:r>
            <a:r>
              <a:rPr lang="en-US" dirty="0">
                <a:hlinkClick r:id="rId2"/>
              </a:rPr>
              <a:t> </a:t>
            </a:r>
            <a:r>
              <a:rPr lang="ru-RU" dirty="0">
                <a:hlinkClick r:id="rId2"/>
              </a:rPr>
              <a:t>для построения графиков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C4169-8394-44A8-A218-4D4EF197A98A}"/>
              </a:ext>
            </a:extLst>
          </p:cNvPr>
          <p:cNvSpPr txBox="1"/>
          <p:nvPr/>
        </p:nvSpPr>
        <p:spPr>
          <a:xfrm>
            <a:off x="7620000" y="1838670"/>
            <a:ext cx="36486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Собирались данные по всем бенчмаркам внутри каждого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Одинаковые тесты с разными параметрами усреднялись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</a:t>
            </a:r>
            <a:r>
              <a:rPr lang="ru-RU" b="1" dirty="0"/>
              <a:t>смещённая</a:t>
            </a:r>
            <a:r>
              <a:rPr lang="ru-RU" dirty="0"/>
              <a:t> оценка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Сценарии внутри проекта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инициализацию (не менее </a:t>
            </a:r>
            <a:r>
              <a:rPr lang="en-US" dirty="0"/>
              <a:t>1% </a:t>
            </a:r>
            <a:r>
              <a:rPr lang="ru-RU" dirty="0"/>
              <a:t>для среднего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98EC84-1D9A-490B-A4BD-CCAF3E16D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96" y="1490766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8998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159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6B055-8316-4C28-AEB6-635620500BD8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Скрипт</a:t>
            </a:r>
            <a:r>
              <a:rPr lang="en-US" dirty="0">
                <a:hlinkClick r:id="rId2"/>
              </a:rPr>
              <a:t> </a:t>
            </a:r>
            <a:r>
              <a:rPr lang="ru-RU" dirty="0">
                <a:hlinkClick r:id="rId2"/>
              </a:rPr>
              <a:t>для построения графиков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371A3-E6C0-4447-8DA8-10BC62AF5D61}"/>
              </a:ext>
            </a:extLst>
          </p:cNvPr>
          <p:cNvSpPr txBox="1"/>
          <p:nvPr/>
        </p:nvSpPr>
        <p:spPr>
          <a:xfrm>
            <a:off x="7590865" y="1663794"/>
            <a:ext cx="36486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носят иллюстративный характер</a:t>
            </a:r>
            <a:r>
              <a:rPr lang="en-US" dirty="0"/>
              <a:t>!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Собирались данные по всем бенчмаркам</a:t>
            </a:r>
            <a:r>
              <a:rPr lang="en-US" dirty="0"/>
              <a:t> </a:t>
            </a:r>
            <a:r>
              <a:rPr lang="ru-RU" dirty="0"/>
              <a:t>всех проектов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Одинаковые тесты с разными параметрами усреднялись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</a:t>
            </a:r>
            <a:r>
              <a:rPr lang="ru-RU" b="1" dirty="0"/>
              <a:t>смещённая</a:t>
            </a:r>
            <a:r>
              <a:rPr lang="ru-RU" dirty="0"/>
              <a:t> оценка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Проекты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Сценарии внутри проекта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инициализацию (не менее </a:t>
            </a:r>
            <a:r>
              <a:rPr lang="en-US" dirty="0"/>
              <a:t>1% </a:t>
            </a:r>
            <a:r>
              <a:rPr lang="ru-RU" dirty="0"/>
              <a:t>для среднего</a:t>
            </a:r>
            <a:r>
              <a:rPr lang="en-US" dirty="0"/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F65730-FA73-474C-A6F5-3C5627D73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9" y="1234435"/>
            <a:ext cx="6203576" cy="4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353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696195-B1AD-49B5-B50A-58D024521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1" y="1241689"/>
            <a:ext cx="6217023" cy="4662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CDE44-F350-483E-8164-C901DC08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29" y="206068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r>
              <a:rPr lang="en-US" dirty="0"/>
              <a:t> 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81C1D-D665-481B-82E8-04F48100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F0A19-A089-4119-89C3-78EA5E50992F}"/>
              </a:ext>
            </a:extLst>
          </p:cNvPr>
          <p:cNvSpPr txBox="1"/>
          <p:nvPr/>
        </p:nvSpPr>
        <p:spPr>
          <a:xfrm>
            <a:off x="7915836" y="1820332"/>
            <a:ext cx="36486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носят иллюстративный характер</a:t>
            </a:r>
            <a:r>
              <a:rPr lang="en-US" dirty="0"/>
              <a:t>!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Намного меньше бенчмарков</a:t>
            </a:r>
            <a:r>
              <a:rPr lang="en-US" dirty="0"/>
              <a:t> </a:t>
            </a:r>
            <a:r>
              <a:rPr lang="ru-RU" dirty="0"/>
              <a:t>чем в случае </a:t>
            </a:r>
            <a:r>
              <a:rPr lang="en-US" dirty="0"/>
              <a:t>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отличие от </a:t>
            </a:r>
            <a:r>
              <a:rPr lang="en-US" dirty="0"/>
              <a:t>Rust </a:t>
            </a:r>
            <a:r>
              <a:rPr lang="ru-RU" dirty="0"/>
              <a:t>большинство проектов </a:t>
            </a:r>
            <a:r>
              <a:rPr lang="ru-RU" b="1" dirty="0"/>
              <a:t>не тюнилось </a:t>
            </a:r>
            <a:r>
              <a:rPr lang="ru-RU" dirty="0"/>
              <a:t>под </a:t>
            </a:r>
            <a:r>
              <a:rPr lang="en-US" dirty="0"/>
              <a:t>Hardened C++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D8B5-106E-4B36-A58C-38D624265C63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Скрипт</a:t>
            </a:r>
            <a:r>
              <a:rPr lang="en-US" dirty="0">
                <a:hlinkClick r:id="rId3"/>
              </a:rPr>
              <a:t> </a:t>
            </a:r>
            <a:r>
              <a:rPr lang="ru-RU" dirty="0">
                <a:hlinkClick r:id="rId3"/>
              </a:rPr>
              <a:t>для построения графиков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0886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1833-38B4-4063-9B93-C4DE4D1C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03CD-37F1-47EE-8BB4-41E78788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Сообщество </a:t>
            </a:r>
            <a:r>
              <a:rPr lang="en-US" dirty="0"/>
              <a:t>Rust </a:t>
            </a:r>
            <a:r>
              <a:rPr lang="ru-RU" dirty="0"/>
              <a:t>следит за балансом безопасности</a:t>
            </a:r>
            <a:r>
              <a:rPr lang="en-US" dirty="0"/>
              <a:t> </a:t>
            </a:r>
            <a:r>
              <a:rPr lang="ru-RU" dirty="0"/>
              <a:t>и производительности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Бескомпромиссно включаются только проверки </a:t>
            </a:r>
            <a:r>
              <a:rPr lang="en-US" dirty="0"/>
              <a:t>memory safety</a:t>
            </a:r>
          </a:p>
          <a:p>
            <a:pPr lvl="1"/>
            <a:r>
              <a:rPr lang="ru-RU" dirty="0"/>
              <a:t>Остальные делаются только если не влияют существенно на производительность</a:t>
            </a:r>
          </a:p>
          <a:p>
            <a:pPr lvl="1"/>
            <a:r>
              <a:rPr lang="ru-RU" dirty="0"/>
              <a:t>Например по умолчанию отключены проверки </a:t>
            </a:r>
            <a:r>
              <a:rPr lang="en-US" dirty="0"/>
              <a:t>integer overflow</a:t>
            </a:r>
            <a:endParaRPr lang="ru-RU" dirty="0"/>
          </a:p>
          <a:p>
            <a:r>
              <a:rPr lang="ru-RU" dirty="0"/>
              <a:t>Оверхед динамических проверок зависит от проекта</a:t>
            </a:r>
            <a:endParaRPr lang="en-US" dirty="0"/>
          </a:p>
          <a:p>
            <a:pPr lvl="1"/>
            <a:r>
              <a:rPr lang="ru-RU" dirty="0"/>
              <a:t>В среднем не превосходит </a:t>
            </a:r>
            <a:r>
              <a:rPr lang="en-US" dirty="0"/>
              <a:t>5% (P95 11%) </a:t>
            </a:r>
            <a:r>
              <a:rPr lang="ru-RU" dirty="0"/>
              <a:t>и сравним с </a:t>
            </a:r>
            <a:r>
              <a:rPr lang="en-US" dirty="0"/>
              <a:t>Hardened C++</a:t>
            </a:r>
          </a:p>
          <a:p>
            <a:r>
              <a:rPr lang="ru-RU" dirty="0"/>
              <a:t>Факторы, наиболее существенно влияющие на производительность программ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Индексные проверки, обязательная ициализация</a:t>
            </a:r>
            <a:r>
              <a:rPr lang="en-US" dirty="0"/>
              <a:t>, </a:t>
            </a:r>
            <a:r>
              <a:rPr lang="ru-RU" dirty="0"/>
              <a:t>отсутствие </a:t>
            </a:r>
            <a:r>
              <a:rPr lang="en-US" dirty="0" err="1"/>
              <a:t>inplace</a:t>
            </a:r>
            <a:r>
              <a:rPr lang="en-US" dirty="0"/>
              <a:t>-</a:t>
            </a:r>
            <a:r>
              <a:rPr lang="ru-RU" dirty="0"/>
              <a:t>инициализации</a:t>
            </a:r>
            <a:endParaRPr lang="en-US" dirty="0"/>
          </a:p>
          <a:p>
            <a:r>
              <a:rPr lang="ru-RU" dirty="0"/>
              <a:t>Скорее всего будут оптимизироваться в будущих версиях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LLVM</a:t>
            </a:r>
          </a:p>
          <a:p>
            <a:r>
              <a:rPr lang="ru-RU" dirty="0"/>
              <a:t>Но полностью их негативное влияние обойти нельзя </a:t>
            </a:r>
            <a:r>
              <a:rPr lang="en-US" dirty="0"/>
              <a:t>(</a:t>
            </a:r>
            <a:r>
              <a:rPr lang="ru-RU" dirty="0"/>
              <a:t>по крайней мере в текущей версии языка)</a:t>
            </a:r>
            <a:endParaRPr lang="en-US" dirty="0"/>
          </a:p>
          <a:p>
            <a:r>
              <a:rPr lang="ru-RU" dirty="0"/>
              <a:t>Всегда будут требовать тюнинга (в частности небезопасного</a:t>
            </a:r>
            <a:r>
              <a:rPr lang="en-US" dirty="0"/>
              <a:t> </a:t>
            </a:r>
            <a:r>
              <a:rPr lang="ru-RU" dirty="0"/>
              <a:t>кода</a:t>
            </a:r>
            <a:r>
              <a:rPr lang="en-US" dirty="0"/>
              <a:t>)</a:t>
            </a:r>
            <a:r>
              <a:rPr lang="ru-RU" dirty="0"/>
              <a:t> для достижения оптимальной производительности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46ACA-D854-4F0B-A214-36D1A17F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161</a:t>
            </a:fld>
            <a:endParaRPr lang="en-US"/>
          </a:p>
        </p:txBody>
      </p:sp>
      <p:pic>
        <p:nvPicPr>
          <p:cNvPr id="2050" name="Picture 2" descr="Weigh,plus,minus,horizontal,plus minus - free image from needpix.com">
            <a:extLst>
              <a:ext uri="{FF2B5EF4-FFF2-40B4-BE49-F238E27FC236}">
                <a16:creationId xmlns:a16="http://schemas.microsoft.com/office/drawing/2014/main" id="{B4D9BC20-1C13-4910-9EAC-87C26AD48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185083"/>
            <a:ext cx="1631857" cy="163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5B5A8C-9D71-490D-8FB7-C4FCFA091718}"/>
              </a:ext>
            </a:extLst>
          </p:cNvPr>
          <p:cNvSpPr txBox="1"/>
          <p:nvPr/>
        </p:nvSpPr>
        <p:spPr>
          <a:xfrm>
            <a:off x="125507" y="6492875"/>
            <a:ext cx="746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3dman_eu, </a:t>
            </a:r>
            <a:r>
              <a:rPr lang="en-US" sz="1000" dirty="0">
                <a:hlinkClick r:id="rId3"/>
              </a:rPr>
              <a:t>https://www.needpix.com/photo/1171460/weigh-plus-minus-horizontal-plus-minus-balance-sheet-cost-calculation-course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715075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71F1-62A6-4ACF-B7FD-0872B6C3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чём мы не успели рассказать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CD66-23D4-45F1-8540-9C549942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Codegen</a:t>
            </a:r>
            <a:r>
              <a:rPr lang="en-US" dirty="0">
                <a:hlinkClick r:id="rId2"/>
              </a:rPr>
              <a:t> units</a:t>
            </a:r>
            <a:endParaRPr lang="en-US" dirty="0"/>
          </a:p>
          <a:p>
            <a:pPr lvl="1"/>
            <a:r>
              <a:rPr lang="ru-RU" dirty="0"/>
              <a:t>Похожи на </a:t>
            </a:r>
            <a:r>
              <a:rPr lang="en-US" dirty="0"/>
              <a:t>unity builds </a:t>
            </a:r>
            <a:r>
              <a:rPr lang="ru-RU" dirty="0"/>
              <a:t>в </a:t>
            </a:r>
            <a:r>
              <a:rPr lang="en-US" dirty="0"/>
              <a:t>C/C++</a:t>
            </a:r>
          </a:p>
          <a:p>
            <a:r>
              <a:rPr lang="ru-RU" dirty="0">
                <a:hlinkClick r:id="rId3"/>
              </a:rPr>
              <a:t>Особенности реализации паник (исключений)</a:t>
            </a:r>
            <a:endParaRPr lang="en-US" dirty="0"/>
          </a:p>
          <a:p>
            <a:pPr lvl="1"/>
            <a:r>
              <a:rPr lang="ru-RU" dirty="0"/>
              <a:t>Накладные расходы аналогичны исключениям в </a:t>
            </a:r>
            <a:r>
              <a:rPr lang="en-US" dirty="0"/>
              <a:t>C++</a:t>
            </a:r>
          </a:p>
          <a:p>
            <a:r>
              <a:rPr lang="en-US" dirty="0">
                <a:hlinkClick r:id="rId4"/>
              </a:rPr>
              <a:t>GC-sections by default</a:t>
            </a:r>
            <a:endParaRPr lang="en-US" dirty="0"/>
          </a:p>
          <a:p>
            <a:r>
              <a:rPr lang="ru-RU" dirty="0">
                <a:hlinkClick r:id="rId5"/>
              </a:rPr>
              <a:t>Особенности </a:t>
            </a:r>
            <a:r>
              <a:rPr lang="en-US" dirty="0">
                <a:hlinkClick r:id="rId5"/>
              </a:rPr>
              <a:t>ABI</a:t>
            </a:r>
            <a:endParaRPr lang="en-US" dirty="0"/>
          </a:p>
          <a:p>
            <a:r>
              <a:rPr lang="ru-RU" dirty="0">
                <a:hlinkClick r:id="rId6"/>
              </a:rPr>
              <a:t>Отключение </a:t>
            </a:r>
            <a:r>
              <a:rPr lang="en-US" dirty="0">
                <a:hlinkClick r:id="rId6"/>
              </a:rPr>
              <a:t>PLT</a:t>
            </a:r>
            <a:endParaRPr lang="en-US" dirty="0"/>
          </a:p>
          <a:p>
            <a:r>
              <a:rPr lang="ru-RU" dirty="0">
                <a:hlinkClick r:id="rId7"/>
              </a:rPr>
              <a:t>Особенности реализации виртуальных методов</a:t>
            </a:r>
            <a:endParaRPr lang="en-US" dirty="0"/>
          </a:p>
          <a:p>
            <a:r>
              <a:rPr lang="ru-RU" dirty="0">
                <a:hlinkClick r:id="rId8"/>
              </a:rPr>
              <a:t>Проверки </a:t>
            </a:r>
            <a:r>
              <a:rPr lang="en-US" dirty="0">
                <a:hlinkClick r:id="rId8"/>
              </a:rPr>
              <a:t>Stack Clashing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7B5CF-53DC-4874-8867-5767E738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162</a:t>
            </a:fld>
            <a:endParaRPr lang="en-US"/>
          </a:p>
        </p:txBody>
      </p:sp>
      <p:pic>
        <p:nvPicPr>
          <p:cNvPr id="6" name="Picture 2" descr="Timeglass - Free Vector Download | VectorPortal">
            <a:extLst>
              <a:ext uri="{FF2B5EF4-FFF2-40B4-BE49-F238E27FC236}">
                <a16:creationId xmlns:a16="http://schemas.microsoft.com/office/drawing/2014/main" id="{72BF7892-0EA0-4B80-A81F-6E05D6B50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776" y="136525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970D99-1C01-4A64-A19F-04BF5FC2AE95}"/>
              </a:ext>
            </a:extLst>
          </p:cNvPr>
          <p:cNvSpPr txBox="1"/>
          <p:nvPr/>
        </p:nvSpPr>
        <p:spPr>
          <a:xfrm>
            <a:off x="116541" y="6475254"/>
            <a:ext cx="5773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10"/>
              </a:rPr>
              <a:t>https://vectorportal.com/vector/timeglass/34811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833074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AAD5-05CA-4363-BFB9-CB5D39DA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214B99-B012-4B2B-B47E-E2ADAA7A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1E161-805D-4F67-BEB2-29F98030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2" y="1412782"/>
            <a:ext cx="3314097" cy="3360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9E1585-139A-4A85-99AC-012B23439C18}"/>
              </a:ext>
            </a:extLst>
          </p:cNvPr>
          <p:cNvSpPr txBox="1"/>
          <p:nvPr/>
        </p:nvSpPr>
        <p:spPr>
          <a:xfrm>
            <a:off x="7530352" y="4794676"/>
            <a:ext cx="3245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Последняя версия слайдов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https://github.com/yugr/rust-slides/blob/main/RU.pdf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3C7C4-1563-455D-864D-26F0D7B4D7B1}"/>
              </a:ext>
            </a:extLst>
          </p:cNvPr>
          <p:cNvSpPr txBox="1"/>
          <p:nvPr/>
        </p:nvSpPr>
        <p:spPr>
          <a:xfrm>
            <a:off x="930089" y="1462703"/>
            <a:ext cx="66002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Выражаем благодарность нашим рецензентам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Вадим Петроченков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https://github.com/petrochenkov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Александр Чичигин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https://github.com/Gabriel-Fallen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Jakub </a:t>
            </a:r>
            <a:r>
              <a:rPr lang="en-US" sz="2400" dirty="0" err="1"/>
              <a:t>Beránek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https://github.com/kobzol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Александр Монаков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7"/>
              </a:rPr>
              <a:t>https://github.com/amonakov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8"/>
              </a:rPr>
              <a:t>https://codeberg.org/amonakov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 </a:t>
            </a:r>
            <a:r>
              <a:rPr lang="en-US" sz="2400" dirty="0" err="1"/>
              <a:t>Vognsen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9"/>
              </a:rPr>
              <a:t>https://mastodon.social/@pervognsen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29875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557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136B-B365-46F5-825E-7A991891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доклада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F354-0DC2-4803-89E3-1ABEE8FE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Собрано и проанализировано</a:t>
            </a:r>
            <a:r>
              <a:rPr lang="en-US" dirty="0"/>
              <a:t> </a:t>
            </a:r>
            <a:r>
              <a:rPr lang="ru-RU" dirty="0"/>
              <a:t>более 350 статей, блогпостов и обсуждений по теме доклада из разных источников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materials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Общие временные затраты на подготовку (на апрель 2026)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&gt; 3 </a:t>
            </a:r>
            <a:r>
              <a:rPr lang="ru-RU" dirty="0"/>
              <a:t>человекомесяцев</a:t>
            </a:r>
            <a:endParaRPr lang="en-US" dirty="0"/>
          </a:p>
          <a:p>
            <a:r>
              <a:rPr lang="ru-RU" dirty="0"/>
              <a:t>Анализ проводился для</a:t>
            </a:r>
            <a:endParaRPr lang="en-US" dirty="0"/>
          </a:p>
          <a:p>
            <a:pPr lvl="1"/>
            <a:r>
              <a:rPr lang="en-US" dirty="0"/>
              <a:t>Rust 1.87.0 (</a:t>
            </a:r>
            <a:r>
              <a:rPr lang="ru-RU" dirty="0"/>
              <a:t>май 2025)</a:t>
            </a:r>
            <a:endParaRPr lang="en-US" dirty="0"/>
          </a:p>
          <a:p>
            <a:pPr lvl="1"/>
            <a:r>
              <a:rPr lang="en-US" dirty="0"/>
              <a:t>Clang llvmorg-20.1.7 (</a:t>
            </a:r>
            <a:r>
              <a:rPr lang="ru-RU" dirty="0"/>
              <a:t>июнь 2025)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4E76B-4928-4306-BECE-744C1528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7520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</a:t>
            </a:r>
            <a:r>
              <a:rPr lang="ru-RU" dirty="0"/>
              <a:t>-бенчмарки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сравнения использовались стандартные </a:t>
            </a:r>
            <a:r>
              <a:rPr lang="en-US" dirty="0"/>
              <a:t>Criterion-</a:t>
            </a:r>
            <a:r>
              <a:rPr lang="ru-RU" dirty="0"/>
              <a:t>бенчмарки каждого проекта </a:t>
            </a:r>
            <a:r>
              <a:rPr lang="en-US" dirty="0"/>
              <a:t>(cargo bench)</a:t>
            </a:r>
            <a:r>
              <a:rPr lang="ru-RU" dirty="0"/>
              <a:t>, усреднённые с помощью </a:t>
            </a:r>
            <a:r>
              <a:rPr lang="en-US" dirty="0"/>
              <a:t>geomean</a:t>
            </a:r>
            <a:endParaRPr lang="ru-RU" dirty="0"/>
          </a:p>
          <a:p>
            <a:pPr lvl="1"/>
            <a:r>
              <a:rPr lang="ru-RU" dirty="0"/>
              <a:t>Некоторые особо медленные тесты в </a:t>
            </a:r>
            <a:r>
              <a:rPr lang="en-US" dirty="0" err="1"/>
              <a:t>oxipng</a:t>
            </a:r>
            <a:r>
              <a:rPr lang="en-US" dirty="0"/>
              <a:t> </a:t>
            </a:r>
            <a:r>
              <a:rPr lang="ru-RU" dirty="0"/>
              <a:t>были отключены</a:t>
            </a:r>
            <a:endParaRPr lang="en-US" dirty="0"/>
          </a:p>
          <a:p>
            <a:pPr lvl="1"/>
            <a:r>
              <a:rPr lang="ru-RU" dirty="0"/>
              <a:t>Для борьбы с системными шумами бралось минимальное значение</a:t>
            </a:r>
            <a:r>
              <a:rPr lang="en-US" dirty="0"/>
              <a:t> </a:t>
            </a:r>
            <a:r>
              <a:rPr lang="ru-RU" dirty="0"/>
              <a:t>средних из нескольких прогонов</a:t>
            </a:r>
            <a:endParaRPr lang="en-US" dirty="0"/>
          </a:p>
          <a:p>
            <a:pPr lvl="1"/>
            <a:r>
              <a:rPr lang="ru-RU" dirty="0"/>
              <a:t>Важно</a:t>
            </a:r>
            <a:r>
              <a:rPr lang="en-US" dirty="0"/>
              <a:t>: 1% geomean </a:t>
            </a:r>
            <a:r>
              <a:rPr lang="ru-RU" dirty="0"/>
              <a:t>может означать что</a:t>
            </a:r>
          </a:p>
          <a:p>
            <a:pPr lvl="2"/>
            <a:r>
              <a:rPr lang="ru-RU" dirty="0"/>
              <a:t>Все тесты в проекте замедлились на 1</a:t>
            </a:r>
            <a:r>
              <a:rPr lang="en-US" dirty="0"/>
              <a:t>%</a:t>
            </a:r>
            <a:endParaRPr lang="ru-RU" dirty="0"/>
          </a:p>
          <a:p>
            <a:pPr lvl="2"/>
            <a:r>
              <a:rPr lang="en-US" dirty="0"/>
              <a:t>10% </a:t>
            </a:r>
            <a:r>
              <a:rPr lang="ru-RU" dirty="0"/>
              <a:t>тестов замедлилось на 10</a:t>
            </a:r>
            <a:r>
              <a:rPr lang="en-US" dirty="0"/>
              <a:t>% (</a:t>
            </a:r>
            <a:r>
              <a:rPr lang="ru-RU" dirty="0"/>
              <a:t>более вероятно)</a:t>
            </a:r>
            <a:endParaRPr lang="en-US" dirty="0"/>
          </a:p>
          <a:p>
            <a:pPr lvl="1"/>
            <a:r>
              <a:rPr lang="ru-RU" dirty="0"/>
              <a:t>Отдельные тесты могли замедлиться (или ускориться) на десятки процентов</a:t>
            </a:r>
            <a:endParaRPr lang="en-US" dirty="0"/>
          </a:p>
          <a:p>
            <a:r>
              <a:rPr lang="ru-RU" dirty="0"/>
              <a:t>Оценка с помощью </a:t>
            </a:r>
            <a:r>
              <a:rPr lang="en-US" dirty="0"/>
              <a:t>geomean </a:t>
            </a:r>
            <a:r>
              <a:rPr lang="ru-RU" dirty="0"/>
              <a:t>неидеальна</a:t>
            </a:r>
          </a:p>
          <a:p>
            <a:pPr lvl="1"/>
            <a:r>
              <a:rPr lang="ru-RU" dirty="0"/>
              <a:t>Сценарии с б</a:t>
            </a:r>
            <a:r>
              <a:rPr lang="ru-RU" i="1" dirty="0"/>
              <a:t>о</a:t>
            </a:r>
            <a:r>
              <a:rPr lang="ru-RU" dirty="0"/>
              <a:t>льшим количеством бенчей сильнее влияют</a:t>
            </a:r>
            <a:r>
              <a:rPr lang="en-US" dirty="0"/>
              <a:t> </a:t>
            </a:r>
            <a:r>
              <a:rPr lang="ru-RU" dirty="0"/>
              <a:t>на результат</a:t>
            </a:r>
            <a:endParaRPr lang="en-US" dirty="0"/>
          </a:p>
          <a:p>
            <a:r>
              <a:rPr lang="ru-RU" dirty="0"/>
              <a:t>Дополнительные детали</a:t>
            </a:r>
            <a:r>
              <a:rPr lang="en-US" dirty="0"/>
              <a:t> </a:t>
            </a:r>
            <a:r>
              <a:rPr lang="ru-RU" dirty="0">
                <a:hlinkClick r:id="rId2"/>
              </a:rPr>
              <a:t>здесь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902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ru-RU" dirty="0"/>
              <a:t>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Использовался компилятор </a:t>
            </a:r>
            <a:r>
              <a:rPr lang="en-US" dirty="0"/>
              <a:t>Clang </a:t>
            </a:r>
            <a:r>
              <a:rPr lang="ru-RU" dirty="0"/>
              <a:t>версии </a:t>
            </a:r>
            <a:r>
              <a:rPr lang="en-US" dirty="0"/>
              <a:t>llvmorg-20.1.7</a:t>
            </a:r>
          </a:p>
          <a:p>
            <a:r>
              <a:rPr lang="en-US" dirty="0" err="1"/>
              <a:t>Llvm</a:t>
            </a:r>
            <a:r>
              <a:rPr lang="en-US" dirty="0"/>
              <a:t>-bench (</a:t>
            </a:r>
            <a:r>
              <a:rPr lang="en-US" dirty="0">
                <a:hlinkClick r:id="rId2"/>
              </a:rPr>
              <a:t>benchmarks/cpp/</a:t>
            </a:r>
            <a:r>
              <a:rPr lang="en-US" dirty="0" err="1">
                <a:hlinkClick r:id="rId2"/>
              </a:rPr>
              <a:t>llvm</a:t>
            </a:r>
            <a:r>
              <a:rPr lang="en-US" dirty="0">
                <a:hlinkClick r:id="rId2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Замерялось медианное время </a:t>
            </a:r>
            <a:r>
              <a:rPr lang="en-US" dirty="0"/>
              <a:t>O2-</a:t>
            </a:r>
            <a:r>
              <a:rPr lang="ru-RU" dirty="0"/>
              <a:t>компиляции</a:t>
            </a:r>
            <a:r>
              <a:rPr lang="en-US" dirty="0"/>
              <a:t> </a:t>
            </a:r>
            <a:r>
              <a:rPr lang="ru-RU" dirty="0"/>
              <a:t>файла </a:t>
            </a:r>
            <a:r>
              <a:rPr lang="en-US" dirty="0"/>
              <a:t>CGBuiltin.cpp (</a:t>
            </a:r>
            <a:r>
              <a:rPr lang="ru-RU" dirty="0"/>
              <a:t>самый большой файл в </a:t>
            </a:r>
            <a:r>
              <a:rPr lang="en-US" dirty="0"/>
              <a:t>LLVM) </a:t>
            </a:r>
            <a:r>
              <a:rPr lang="ru-RU" dirty="0"/>
              <a:t>компилятором </a:t>
            </a:r>
            <a:r>
              <a:rPr lang="en-US" dirty="0"/>
              <a:t>Clang</a:t>
            </a:r>
          </a:p>
          <a:p>
            <a:pPr lvl="1"/>
            <a:r>
              <a:rPr lang="ru-RU" dirty="0"/>
              <a:t>Тестируемый </a:t>
            </a:r>
            <a:r>
              <a:rPr lang="en-US" dirty="0"/>
              <a:t>Clang </a:t>
            </a:r>
            <a:r>
              <a:rPr lang="ru-RU" dirty="0"/>
              <a:t>был собран самим собой</a:t>
            </a:r>
            <a:endParaRPr lang="en-US" dirty="0"/>
          </a:p>
          <a:p>
            <a:r>
              <a:rPr lang="en-US" dirty="0" err="1"/>
              <a:t>Ffmpeg</a:t>
            </a:r>
            <a:r>
              <a:rPr lang="en-US" dirty="0"/>
              <a:t>-bench (</a:t>
            </a:r>
            <a:r>
              <a:rPr lang="en-US" dirty="0">
                <a:hlinkClick r:id="rId3"/>
              </a:rPr>
              <a:t>benchmarks/</a:t>
            </a:r>
            <a:r>
              <a:rPr lang="en-US" dirty="0" err="1">
                <a:hlinkClick r:id="rId3"/>
              </a:rPr>
              <a:t>cpp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ffmpeg</a:t>
            </a:r>
            <a:r>
              <a:rPr lang="en-US" dirty="0">
                <a:hlinkClick r:id="rId3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 мотивам </a:t>
            </a:r>
            <a:r>
              <a:rPr lang="en-US" dirty="0">
                <a:hlinkClick r:id="rId4"/>
              </a:rPr>
              <a:t>Stack Smashing Protection and Its Performance Impact</a:t>
            </a:r>
            <a:endParaRPr lang="en-US" dirty="0"/>
          </a:p>
          <a:p>
            <a:pPr lvl="1"/>
            <a:r>
              <a:rPr lang="ru-RU" dirty="0"/>
              <a:t>Замерялось медианное время конвертации файла </a:t>
            </a:r>
            <a:r>
              <a:rPr lang="en-US" dirty="0"/>
              <a:t>FLV </a:t>
            </a:r>
            <a:r>
              <a:rPr lang="ru-RU" dirty="0"/>
              <a:t>в </a:t>
            </a:r>
            <a:r>
              <a:rPr lang="en-US" dirty="0"/>
              <a:t>MP4</a:t>
            </a:r>
          </a:p>
          <a:p>
            <a:r>
              <a:rPr lang="en-US" dirty="0" err="1"/>
              <a:t>Phoronix</a:t>
            </a:r>
            <a:r>
              <a:rPr lang="en-US" dirty="0"/>
              <a:t> Test Suite (</a:t>
            </a:r>
            <a:r>
              <a:rPr lang="en-US" dirty="0">
                <a:hlinkClick r:id="rId5"/>
              </a:rPr>
              <a:t>benchmarks/cpp/PTS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Популярный набор бенчмарков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>
                <a:hlinkClick r:id="rId6"/>
              </a:rPr>
              <a:t>phoronix-test-suite.com</a:t>
            </a:r>
            <a:endParaRPr lang="en-US" dirty="0"/>
          </a:p>
          <a:p>
            <a:pPr lvl="1"/>
            <a:r>
              <a:rPr lang="ru-RU" dirty="0"/>
              <a:t>Замерялись бенчмарки </a:t>
            </a:r>
            <a:r>
              <a:rPr lang="en-US" dirty="0" err="1"/>
              <a:t>botan</a:t>
            </a:r>
            <a:r>
              <a:rPr lang="en-US" dirty="0"/>
              <a:t>, bullet, </a:t>
            </a:r>
            <a:r>
              <a:rPr lang="en-US" dirty="0" err="1"/>
              <a:t>coremark</a:t>
            </a:r>
            <a:r>
              <a:rPr lang="en-US" dirty="0"/>
              <a:t>, c-ray, dav1d, </a:t>
            </a:r>
            <a:r>
              <a:rPr lang="en-US" dirty="0" err="1"/>
              <a:t>gcrypt</a:t>
            </a:r>
            <a:r>
              <a:rPr lang="en-US" dirty="0"/>
              <a:t>, </a:t>
            </a:r>
            <a:r>
              <a:rPr lang="en-US" dirty="0" err="1"/>
              <a:t>gmpbench</a:t>
            </a:r>
            <a:r>
              <a:rPr lang="en-US" dirty="0"/>
              <a:t>, </a:t>
            </a:r>
            <a:r>
              <a:rPr lang="en-US" dirty="0" err="1"/>
              <a:t>luajit</a:t>
            </a:r>
            <a:r>
              <a:rPr lang="en-US" dirty="0"/>
              <a:t>, </a:t>
            </a:r>
            <a:r>
              <a:rPr lang="en-US" dirty="0" err="1"/>
              <a:t>nginx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, 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polybench</a:t>
            </a:r>
            <a:r>
              <a:rPr lang="en-US" dirty="0"/>
              <a:t>-c, </a:t>
            </a:r>
            <a:r>
              <a:rPr lang="en-US" dirty="0" err="1"/>
              <a:t>povray</a:t>
            </a:r>
            <a:r>
              <a:rPr lang="en-US" dirty="0"/>
              <a:t>, </a:t>
            </a:r>
            <a:r>
              <a:rPr lang="en-US" dirty="0" err="1"/>
              <a:t>rocksdb</a:t>
            </a:r>
            <a:r>
              <a:rPr lang="en-US" dirty="0"/>
              <a:t>, </a:t>
            </a:r>
            <a:r>
              <a:rPr lang="en-US" dirty="0" err="1"/>
              <a:t>simdjson</a:t>
            </a:r>
            <a:r>
              <a:rPr lang="en-US" dirty="0"/>
              <a:t>, </a:t>
            </a:r>
            <a:r>
              <a:rPr lang="en-US" dirty="0" err="1"/>
              <a:t>vpxenc</a:t>
            </a:r>
            <a:r>
              <a:rPr lang="en-US" dirty="0"/>
              <a:t>, x265 (</a:t>
            </a:r>
            <a:r>
              <a:rPr lang="ru-RU" dirty="0"/>
              <a:t>см. </a:t>
            </a:r>
            <a:r>
              <a:rPr lang="en-US" dirty="0">
                <a:hlinkClick r:id="rId7"/>
              </a:rPr>
              <a:t>#55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Использовалось медианное время</a:t>
            </a:r>
            <a:r>
              <a:rPr lang="en-US" dirty="0"/>
              <a:t> </a:t>
            </a:r>
            <a:r>
              <a:rPr lang="ru-RU" dirty="0"/>
              <a:t>работы бенчмарка</a:t>
            </a:r>
          </a:p>
          <a:p>
            <a:pPr lvl="1"/>
            <a:r>
              <a:rPr lang="ru-RU" dirty="0"/>
              <a:t>Игнорировались тесты с </a:t>
            </a:r>
            <a:r>
              <a:rPr lang="en-US" dirty="0" err="1"/>
              <a:t>Stdev</a:t>
            </a:r>
            <a:r>
              <a:rPr lang="en-US" dirty="0"/>
              <a:t> &gt; 0.5%</a:t>
            </a:r>
            <a:r>
              <a:rPr lang="ru-RU" dirty="0"/>
              <a:t> и изменениями </a:t>
            </a:r>
            <a:r>
              <a:rPr lang="en-US" dirty="0"/>
              <a:t>&lt; 1%</a:t>
            </a:r>
            <a:endParaRPr lang="ru-RU" dirty="0"/>
          </a:p>
          <a:p>
            <a:r>
              <a:rPr lang="ru-RU" dirty="0"/>
              <a:t>Для борьбы с системными шумами бралось минимальное значение медиан из 2-3 прогонов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1472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B02C-7FBB-4909-9D61-C4D0CFD7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Тестовый сервер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5D9A-E0E4-447F-8F27-C8746DF10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бенчмарки (кроме </a:t>
            </a:r>
            <a:r>
              <a:rPr lang="en-US" dirty="0"/>
              <a:t>no-static</a:t>
            </a:r>
            <a:r>
              <a:rPr lang="ru-RU" dirty="0"/>
              <a:t>) были замерены на</a:t>
            </a:r>
            <a:r>
              <a:rPr lang="en-US" dirty="0"/>
              <a:t> </a:t>
            </a:r>
            <a:r>
              <a:rPr lang="ru-RU" dirty="0"/>
              <a:t>Intel Xeon E-2236</a:t>
            </a:r>
            <a:endParaRPr lang="en-US" dirty="0"/>
          </a:p>
          <a:p>
            <a:pPr lvl="1"/>
            <a:r>
              <a:rPr lang="ru-RU" dirty="0"/>
              <a:t>С частотой зафиксированной на 2 ГГц</a:t>
            </a:r>
            <a:endParaRPr lang="en-US" dirty="0"/>
          </a:p>
          <a:p>
            <a:pPr lvl="1"/>
            <a:r>
              <a:rPr lang="ru-RU" dirty="0"/>
              <a:t>С установленной </a:t>
            </a:r>
            <a:r>
              <a:rPr lang="en-US" dirty="0"/>
              <a:t>Ubuntu 24.04</a:t>
            </a:r>
          </a:p>
          <a:p>
            <a:r>
              <a:rPr lang="ru-RU" dirty="0"/>
              <a:t>Сервера настраивались в соответствии с </a:t>
            </a:r>
            <a:r>
              <a:rPr lang="ru-RU" dirty="0">
                <a:hlinkClick r:id="rId2"/>
              </a:rPr>
              <a:t>методологией </a:t>
            </a:r>
            <a:r>
              <a:rPr lang="en-US" dirty="0" err="1">
                <a:hlinkClick r:id="rId2"/>
              </a:rPr>
              <a:t>uInit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A9ED1-B3D8-48FA-9749-8A12A80E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38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2CED-06E0-4945-B954-B71ECA6C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32FD0-943A-4D42-94F4-8E534E567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(</a:t>
            </a:r>
            <a:r>
              <a:rPr lang="en-US" dirty="0" err="1"/>
              <a:t>Yugr</a:t>
            </a:r>
            <a:r>
              <a:rPr lang="en-US" dirty="0"/>
              <a:t>) </a:t>
            </a:r>
            <a:r>
              <a:rPr lang="ru-RU" dirty="0"/>
              <a:t>Померять </a:t>
            </a:r>
            <a:r>
              <a:rPr lang="en-US" dirty="0" err="1"/>
              <a:t>meilisearch</a:t>
            </a:r>
            <a:endParaRPr lang="en-US" dirty="0"/>
          </a:p>
          <a:p>
            <a:r>
              <a:rPr lang="en-US" dirty="0"/>
              <a:t>(Zak) Fast-math: </a:t>
            </a:r>
            <a:r>
              <a:rPr lang="ru-RU" dirty="0"/>
              <a:t>дополнить анализ </a:t>
            </a:r>
            <a:r>
              <a:rPr lang="en-US" dirty="0"/>
              <a:t>(P3715, -</a:t>
            </a:r>
            <a:r>
              <a:rPr lang="en-US" dirty="0" err="1"/>
              <a:t>fno</a:t>
            </a:r>
            <a:r>
              <a:rPr lang="en-US" dirty="0"/>
              <a:t>-math-</a:t>
            </a:r>
            <a:r>
              <a:rPr lang="en-US" dirty="0" err="1"/>
              <a:t>errno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-</a:t>
            </a:r>
            <a:r>
              <a:rPr lang="en-US" dirty="0" err="1"/>
              <a:t>fno</a:t>
            </a:r>
            <a:r>
              <a:rPr lang="en-US" dirty="0"/>
              <a:t>-trapping-math)</a:t>
            </a:r>
          </a:p>
          <a:p>
            <a:r>
              <a:rPr lang="en-US" dirty="0"/>
              <a:t>(Zak) Struct reorder: </a:t>
            </a:r>
            <a:r>
              <a:rPr lang="ru-RU" dirty="0"/>
              <a:t>заполнить анализ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FC05-DC86-4D82-B3D8-5A738801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46202</TotalTime>
  <Words>13842</Words>
  <Application>Microsoft Office PowerPoint</Application>
  <PresentationFormat>Widescreen</PresentationFormat>
  <Paragraphs>2070</Paragraphs>
  <Slides>169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76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Производительность языка Rust</vt:lpstr>
      <vt:lpstr>Об авторах</vt:lpstr>
      <vt:lpstr>Особенности языка Rust</vt:lpstr>
      <vt:lpstr>Производительность Rust: Минусы</vt:lpstr>
      <vt:lpstr>Производительность Rust: Плюсы</vt:lpstr>
      <vt:lpstr>Цели доклада</vt:lpstr>
      <vt:lpstr>Мнение создателей языка</vt:lpstr>
      <vt:lpstr>Анализ накладных расходов</vt:lpstr>
      <vt:lpstr>Бенчмарки</vt:lpstr>
      <vt:lpstr>Rust и C++</vt:lpstr>
      <vt:lpstr>Чего не будет в докладе: Другие аспекты языков</vt:lpstr>
      <vt:lpstr>Чего не будет в докладе: Параллельный код</vt:lpstr>
      <vt:lpstr>Чего не будет в докладе: Небезопасный код</vt:lpstr>
      <vt:lpstr>Чего не будет в докладе: Неидиоматичный код</vt:lpstr>
      <vt:lpstr>Bounds checks</vt:lpstr>
      <vt:lpstr>Переполнения буфера</vt:lpstr>
      <vt:lpstr>Распространённость buffer overflow уязвимостей</vt:lpstr>
      <vt:lpstr>Memory safety в Rust</vt:lpstr>
      <vt:lpstr>Накладные расходы</vt:lpstr>
      <vt:lpstr>Оптимизации в компиляторе</vt:lpstr>
      <vt:lpstr>Успешная оптимизация</vt:lpstr>
      <vt:lpstr>Неуспешная оптимизация</vt:lpstr>
      <vt:lpstr>Проблемы в оптимизаторе: delayed panics</vt:lpstr>
      <vt:lpstr>Workarounds: Общие соображения</vt:lpstr>
      <vt:lpstr>Workarounds</vt:lpstr>
      <vt:lpstr>Workarounds</vt:lpstr>
      <vt:lpstr>Workarounds: Unsafe-код</vt:lpstr>
      <vt:lpstr>Workarounds: Использование ограниченных типов</vt:lpstr>
      <vt:lpstr>Workarounds</vt:lpstr>
      <vt:lpstr>Workarounds: Ручные asserts</vt:lpstr>
      <vt:lpstr>Workarounds: Reslicing</vt:lpstr>
      <vt:lpstr>Workarounds: Reslicing</vt:lpstr>
      <vt:lpstr>Workarounds: Ограничение диапазона итерации</vt:lpstr>
      <vt:lpstr>Workarounds: Итераторы</vt:lpstr>
      <vt:lpstr>Недостатки итераторов</vt:lpstr>
      <vt:lpstr>Workarounds: Порядок индексации</vt:lpstr>
      <vt:lpstr>Workarounds: Ручная векторизация</vt:lpstr>
      <vt:lpstr>Workarounds</vt:lpstr>
      <vt:lpstr>Workarounds: Арифметика вместо проверок</vt:lpstr>
      <vt:lpstr>Workarounds: Арифметика вместо проверок</vt:lpstr>
      <vt:lpstr>Распространённость</vt:lpstr>
      <vt:lpstr>Рост производительности при отключении проверок</vt:lpstr>
      <vt:lpstr>Hardened C/C++</vt:lpstr>
      <vt:lpstr>Rust vs. Hardened C++</vt:lpstr>
      <vt:lpstr>Накладные расходы в Hardened C++</vt:lpstr>
      <vt:lpstr>Выводы</vt:lpstr>
      <vt:lpstr>Рекомендуемые материалы</vt:lpstr>
      <vt:lpstr>Правила алиасинга</vt:lpstr>
      <vt:lpstr>Алиасинг указателей</vt:lpstr>
      <vt:lpstr>Почему важен алиасинг?</vt:lpstr>
      <vt:lpstr>Теория алиасинга</vt:lpstr>
      <vt:lpstr>Алиасинг в Rust</vt:lpstr>
      <vt:lpstr>Ограничения</vt:lpstr>
      <vt:lpstr>Ограничения</vt:lpstr>
      <vt:lpstr>Ограничения</vt:lpstr>
      <vt:lpstr>Эффективность правил алиасинга Rust</vt:lpstr>
      <vt:lpstr>Ухудшение производительности при отключении правил алиасинга</vt:lpstr>
      <vt:lpstr>Ситуация в C/C++</vt:lpstr>
      <vt:lpstr>Выводы</vt:lpstr>
      <vt:lpstr>Рекомендуемые материалы</vt:lpstr>
      <vt:lpstr>Обязательная инициализация</vt:lpstr>
      <vt:lpstr>Обязательная инициализация</vt:lpstr>
      <vt:lpstr>Пример</vt:lpstr>
      <vt:lpstr>Подход Rust</vt:lpstr>
      <vt:lpstr>Другие языки</vt:lpstr>
      <vt:lpstr>Проблема с обязательными инициализациями</vt:lpstr>
      <vt:lpstr>Распространённость лишних инициализаций</vt:lpstr>
      <vt:lpstr>Накладные расходы</vt:lpstr>
      <vt:lpstr>Накладные расходы в Rust</vt:lpstr>
      <vt:lpstr>Накладные расходы при включении стековых инициализаций (на примере C++)</vt:lpstr>
      <vt:lpstr>Накладные расходы при включении инициализаций стека и кучи (на примере C++)</vt:lpstr>
      <vt:lpstr>Оптимизации в компиляторе</vt:lpstr>
      <vt:lpstr>Workarounds</vt:lpstr>
      <vt:lpstr>Workarounds: Стандартные типы</vt:lpstr>
      <vt:lpstr>Workarounds: Векторы</vt:lpstr>
      <vt:lpstr>Workarounds: IO</vt:lpstr>
      <vt:lpstr>Выводы</vt:lpstr>
      <vt:lpstr>Рекомендуемые материалы</vt:lpstr>
      <vt:lpstr>Локализация символов</vt:lpstr>
      <vt:lpstr>Локализация символов</vt:lpstr>
      <vt:lpstr>Локализация в Rust</vt:lpstr>
      <vt:lpstr>Оптимизации в компиляторе</vt:lpstr>
      <vt:lpstr>Оптимизации в линкере</vt:lpstr>
      <vt:lpstr>Пример оптимизации</vt:lpstr>
      <vt:lpstr>Сравнение с C/C++</vt:lpstr>
      <vt:lpstr>Распространённость</vt:lpstr>
      <vt:lpstr>Замедление при отключении локализации</vt:lpstr>
      <vt:lpstr>Выводы</vt:lpstr>
      <vt:lpstr>Рекомендуемые материалы</vt:lpstr>
      <vt:lpstr>Отсутствие inplace-инициализации</vt:lpstr>
      <vt:lpstr>Введение</vt:lpstr>
      <vt:lpstr>Зачем нужны placement new?</vt:lpstr>
      <vt:lpstr>Зачем нужны placement new?</vt:lpstr>
      <vt:lpstr>Оптимизации в компиляторе</vt:lpstr>
      <vt:lpstr>Проблема с move/copy elision</vt:lpstr>
      <vt:lpstr>Workarounds</vt:lpstr>
      <vt:lpstr>Выводы</vt:lpstr>
      <vt:lpstr>Рекомендуемые материалы</vt:lpstr>
      <vt:lpstr>Оптимизации расположения полей</vt:lpstr>
      <vt:lpstr>Выравнивание полей структур</vt:lpstr>
      <vt:lpstr>Структуры в Rust</vt:lpstr>
      <vt:lpstr>Оптимизация порядка полей</vt:lpstr>
      <vt:lpstr>Что есть в C++</vt:lpstr>
      <vt:lpstr>Устройство Rust enums</vt:lpstr>
      <vt:lpstr>Ниши</vt:lpstr>
      <vt:lpstr>Примеры ниш</vt:lpstr>
      <vt:lpstr>Что есть в C++</vt:lpstr>
      <vt:lpstr>Накладные расходы</vt:lpstr>
      <vt:lpstr>Выводы</vt:lpstr>
      <vt:lpstr>Рекомендуемые материалы</vt:lpstr>
      <vt:lpstr>Арифметические проверки</vt:lpstr>
      <vt:lpstr>Введение</vt:lpstr>
      <vt:lpstr>Пример ошибки (OpenSSH 3.3)</vt:lpstr>
      <vt:lpstr>Дефолтные арифметические проверки Rust</vt:lpstr>
      <vt:lpstr>Важные проверки, отсутствующие в Rust</vt:lpstr>
      <vt:lpstr>Проверки переполнений в Rust</vt:lpstr>
      <vt:lpstr>Накладные расходы</vt:lpstr>
      <vt:lpstr>Defined overflow</vt:lpstr>
      <vt:lpstr>Defined overflow: Пример</vt:lpstr>
      <vt:lpstr>Проблемы с inclusive ranges</vt:lpstr>
      <vt:lpstr>Оптимизации в компиляторе</vt:lpstr>
      <vt:lpstr>Workarounds</vt:lpstr>
      <vt:lpstr>Улучшение при отключении дефолтных проверок (деление на ноль и т.д.)</vt:lpstr>
      <vt:lpstr>Замедление при включении целочисленных переполнений</vt:lpstr>
      <vt:lpstr>Замедление в C++</vt:lpstr>
      <vt:lpstr>Выводы</vt:lpstr>
      <vt:lpstr>Рекомендуемые материалы</vt:lpstr>
      <vt:lpstr>Стандартная библиотека</vt:lpstr>
      <vt:lpstr>Введение</vt:lpstr>
      <vt:lpstr>Проверки в стандартной библиотеке</vt:lpstr>
      <vt:lpstr>Пример</vt:lpstr>
      <vt:lpstr>Пример</vt:lpstr>
      <vt:lpstr> Другие накладные расходы</vt:lpstr>
      <vt:lpstr>Улучшение при отключении проверок UTF-8</vt:lpstr>
      <vt:lpstr>Улучшение при отключении проверок переполнений в контейнерах</vt:lpstr>
      <vt:lpstr>Оптимизации в стандартной библиотеке</vt:lpstr>
      <vt:lpstr>Выводы</vt:lpstr>
      <vt:lpstr>Рекомендуемые материалы</vt:lpstr>
      <vt:lpstr>Отсутствие режима fast-math</vt:lpstr>
      <vt:lpstr>Вычисления с плавающей запятой</vt:lpstr>
      <vt:lpstr>Виды fast-math флагов</vt:lpstr>
      <vt:lpstr>Как на это смотрят языки программирования</vt:lpstr>
      <vt:lpstr>Оптимизации: Векторизация</vt:lpstr>
      <vt:lpstr>Оптимизации: Упрощение выражений</vt:lpstr>
      <vt:lpstr>Оптимизации: Сложные инструкции</vt:lpstr>
      <vt:lpstr>Оптимизации: Finite only</vt:lpstr>
      <vt:lpstr>Оптимизации: Errno</vt:lpstr>
      <vt:lpstr>Подводные камни: Проверки</vt:lpstr>
      <vt:lpstr>Подводные камни: Округление</vt:lpstr>
      <vt:lpstr>Позиция Rust</vt:lpstr>
      <vt:lpstr>Workarounds: Интринсики</vt:lpstr>
      <vt:lpstr>Результаты при включении fast-math</vt:lpstr>
      <vt:lpstr>Выводы</vt:lpstr>
      <vt:lpstr>Рекомендуемые материалы</vt:lpstr>
      <vt:lpstr>Выводы</vt:lpstr>
      <vt:lpstr>Ускорение при отключении (почти) всех проверок Rust</vt:lpstr>
      <vt:lpstr>Замедления в Hardened C++</vt:lpstr>
      <vt:lpstr>Распределение замедлений в бенчмарках</vt:lpstr>
      <vt:lpstr>Распределение замедлений в бенчмарках</vt:lpstr>
      <vt:lpstr>Распределение замедлений в бенчмарках Hardened C++</vt:lpstr>
      <vt:lpstr>Выводы</vt:lpstr>
      <vt:lpstr>О чём мы не успели рассказать ...</vt:lpstr>
      <vt:lpstr>The End</vt:lpstr>
      <vt:lpstr>Приложения</vt:lpstr>
      <vt:lpstr>Подготовка доклада</vt:lpstr>
      <vt:lpstr>Rust-бенчмарки</vt:lpstr>
      <vt:lpstr>C++ бенчмарки</vt:lpstr>
      <vt:lpstr>Тестовый сервер</vt:lpstr>
      <vt:lpstr>TODO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Производительность языка Rust</dc:title>
  <dc:creator>Asus</dc:creator>
  <cp:lastModifiedBy>Asus</cp:lastModifiedBy>
  <cp:revision>1033</cp:revision>
  <dcterms:created xsi:type="dcterms:W3CDTF">2026-01-25T07:50:40Z</dcterms:created>
  <dcterms:modified xsi:type="dcterms:W3CDTF">2026-05-11T19:17:56Z</dcterms:modified>
</cp:coreProperties>
</file>