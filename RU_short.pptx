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5"/>
  </p:notesMasterIdLst>
  <p:sldIdLst>
    <p:sldId id="256" r:id="rId2"/>
    <p:sldId id="290" r:id="rId3"/>
    <p:sldId id="479" r:id="rId4"/>
    <p:sldId id="302" r:id="rId5"/>
    <p:sldId id="291" r:id="rId6"/>
    <p:sldId id="292" r:id="rId7"/>
    <p:sldId id="261" r:id="rId8"/>
    <p:sldId id="260" r:id="rId9"/>
    <p:sldId id="300" r:id="rId10"/>
    <p:sldId id="298" r:id="rId11"/>
    <p:sldId id="259" r:id="rId12"/>
    <p:sldId id="257" r:id="rId13"/>
    <p:sldId id="480" r:id="rId14"/>
    <p:sldId id="269" r:id="rId15"/>
    <p:sldId id="271" r:id="rId16"/>
    <p:sldId id="272" r:id="rId17"/>
    <p:sldId id="270" r:id="rId18"/>
    <p:sldId id="276" r:id="rId19"/>
    <p:sldId id="273" r:id="rId20"/>
    <p:sldId id="278" r:id="rId21"/>
    <p:sldId id="279" r:id="rId22"/>
    <p:sldId id="282" r:id="rId23"/>
    <p:sldId id="294" r:id="rId24"/>
    <p:sldId id="287" r:id="rId25"/>
    <p:sldId id="283" r:id="rId26"/>
    <p:sldId id="284" r:id="rId27"/>
    <p:sldId id="472" r:id="rId28"/>
    <p:sldId id="296" r:id="rId29"/>
    <p:sldId id="281" r:id="rId30"/>
    <p:sldId id="280" r:id="rId31"/>
    <p:sldId id="293" r:id="rId32"/>
    <p:sldId id="303" r:id="rId33"/>
    <p:sldId id="299" r:id="rId34"/>
    <p:sldId id="277" r:id="rId35"/>
    <p:sldId id="308" r:id="rId36"/>
    <p:sldId id="309" r:id="rId37"/>
    <p:sldId id="311" r:id="rId38"/>
    <p:sldId id="314" r:id="rId39"/>
    <p:sldId id="315" r:id="rId40"/>
    <p:sldId id="316" r:id="rId41"/>
    <p:sldId id="317" r:id="rId42"/>
    <p:sldId id="318" r:id="rId43"/>
    <p:sldId id="322" r:id="rId44"/>
    <p:sldId id="319" r:id="rId45"/>
    <p:sldId id="329" r:id="rId46"/>
    <p:sldId id="330" r:id="rId47"/>
    <p:sldId id="359" r:id="rId48"/>
    <p:sldId id="368" r:id="rId49"/>
    <p:sldId id="454" r:id="rId50"/>
    <p:sldId id="360" r:id="rId51"/>
    <p:sldId id="369" r:id="rId52"/>
    <p:sldId id="367" r:id="rId53"/>
    <p:sldId id="474" r:id="rId54"/>
    <p:sldId id="361" r:id="rId55"/>
    <p:sldId id="365" r:id="rId56"/>
    <p:sldId id="363" r:id="rId57"/>
    <p:sldId id="327" r:id="rId58"/>
    <p:sldId id="461" r:id="rId59"/>
    <p:sldId id="462" r:id="rId60"/>
    <p:sldId id="463" r:id="rId61"/>
    <p:sldId id="464" r:id="rId62"/>
    <p:sldId id="455" r:id="rId63"/>
    <p:sldId id="456" r:id="rId64"/>
    <p:sldId id="457" r:id="rId65"/>
    <p:sldId id="458" r:id="rId66"/>
    <p:sldId id="390" r:id="rId67"/>
    <p:sldId id="466" r:id="rId68"/>
    <p:sldId id="323" r:id="rId69"/>
    <p:sldId id="395" r:id="rId70"/>
    <p:sldId id="425" r:id="rId71"/>
    <p:sldId id="475" r:id="rId72"/>
    <p:sldId id="426" r:id="rId73"/>
    <p:sldId id="483" r:id="rId74"/>
    <p:sldId id="398" r:id="rId75"/>
    <p:sldId id="399" r:id="rId76"/>
    <p:sldId id="428" r:id="rId77"/>
    <p:sldId id="430" r:id="rId78"/>
    <p:sldId id="435" r:id="rId79"/>
    <p:sldId id="400" r:id="rId80"/>
    <p:sldId id="325" r:id="rId81"/>
    <p:sldId id="441" r:id="rId82"/>
    <p:sldId id="258" r:id="rId83"/>
    <p:sldId id="442" r:id="rId84"/>
    <p:sldId id="443" r:id="rId85"/>
    <p:sldId id="445" r:id="rId86"/>
    <p:sldId id="446" r:id="rId87"/>
    <p:sldId id="448" r:id="rId88"/>
    <p:sldId id="450" r:id="rId89"/>
    <p:sldId id="451" r:id="rId90"/>
    <p:sldId id="414" r:id="rId91"/>
    <p:sldId id="335" r:id="rId92"/>
    <p:sldId id="336" r:id="rId93"/>
    <p:sldId id="376" r:id="rId94"/>
    <p:sldId id="417" r:id="rId95"/>
    <p:sldId id="416" r:id="rId96"/>
    <p:sldId id="378" r:id="rId97"/>
    <p:sldId id="375" r:id="rId98"/>
    <p:sldId id="419" r:id="rId99"/>
    <p:sldId id="268" r:id="rId100"/>
    <p:sldId id="452" r:id="rId101"/>
    <p:sldId id="468" r:id="rId102"/>
    <p:sldId id="478" r:id="rId103"/>
    <p:sldId id="267" r:id="rId104"/>
    <p:sldId id="337" r:id="rId105"/>
    <p:sldId id="265" r:id="rId106"/>
    <p:sldId id="484" r:id="rId107"/>
    <p:sldId id="477" r:id="rId108"/>
    <p:sldId id="469" r:id="rId109"/>
    <p:sldId id="266" r:id="rId110"/>
    <p:sldId id="433" r:id="rId111"/>
    <p:sldId id="289" r:id="rId112"/>
    <p:sldId id="453" r:id="rId113"/>
    <p:sldId id="434" r:id="rId1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us" initials="A" lastIdx="5" clrIdx="0">
    <p:extLst>
      <p:ext uri="{19B8F6BF-5375-455C-9EA6-DF929625EA0E}">
        <p15:presenceInfo xmlns:p15="http://schemas.microsoft.com/office/powerpoint/2012/main" userId="Asus" providerId="None"/>
      </p:ext>
    </p:extLst>
  </p:cmAuthor>
  <p:cmAuthor id="2" name="Захар" initials="З" lastIdx="1" clrIdx="1">
    <p:extLst>
      <p:ext uri="{19B8F6BF-5375-455C-9EA6-DF929625EA0E}">
        <p15:presenceInfo xmlns:p15="http://schemas.microsoft.com/office/powerpoint/2012/main" userId="208af38fc02149b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660"/>
  </p:normalViewPr>
  <p:slideViewPr>
    <p:cSldViewPr snapToGrid="0">
      <p:cViewPr varScale="1">
        <p:scale>
          <a:sx n="85" d="100"/>
          <a:sy n="85" d="100"/>
        </p:scale>
        <p:origin x="5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presProps" Target="presProp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76068-F81C-4E93-8398-C6F4BAF6874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50068E-63B5-4F5C-A960-A599937AE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2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E5FC-277C-4CAD-8299-2A1F3533C8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51917-1CD0-4C4F-B6F8-EDD141075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0735D-453A-4979-A48F-F4D0283C3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4B0FF-E0F1-4E8A-8A80-1AE4A02D5250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53E63-E716-4A70-80EE-F5D08530F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F5264A-48A8-4832-AFBC-A98A977A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022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808AB-8E00-453F-B352-3D4BF4CD2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86CCA-090D-42AC-95D0-4A04B8DD8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1E0767-1E2C-4CE9-A7DC-F97C8AA7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BB891-7549-4FEF-BB93-C8F4560E6858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AA7A9-15BA-41A5-9E8D-464CA2404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66C41-C57E-4D22-9E8A-B4FB1888B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0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47FC-A2E6-420E-9B59-3BD664A2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CADF5-6117-4830-A0ED-B9214B7B2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48A07-8724-4A76-817E-DAD6845A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84EF-020E-4D61-B849-AE2672349615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7FBE2-BE11-43B4-821D-6EBB64916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2DAF3-7F32-4359-97BE-E97E1A522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773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6C7AD-6C55-4FA5-B045-C3B387DD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88E50-A7BE-4476-B401-14799C61FD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AC909-EA98-4CF7-931E-854479F6B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0FC90-720E-47B7-8AF1-F92A0890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4A2FB-4A9A-4802-AF63-A42E47650129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A7FFA-E072-4518-851B-2AC8F813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1C09B-9E0E-4CE2-90DF-307143EC0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80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E535F-842C-4F23-94E0-D3BD9BF66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DC99D-AC1C-4886-A961-263B09A33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17F1D-3F85-4E5D-9C10-EE928CF1A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038AFC-11E6-4169-8C73-52D31C17A4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43A94-C9A1-4B9C-A69F-C4BCF9FC2B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8BB971-C87E-4C02-9CE9-D2785BB8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320B7-4C09-4C92-B496-18058FB87184}" type="datetime1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B8A222-A574-4837-BA0A-8911E66B2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E41E22-045C-464D-B7C8-6E216DA3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1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DAE55-6268-4ADF-844B-5E502B89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DE728E-F367-464B-91DA-EFBAA73E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326287-81E9-473B-A819-AEA8E86EE26C}" type="datetime1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CC1EE-28A4-4B2C-A320-76B3BBEA8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20D340-12B3-491D-8109-3DB22F269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685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3D3078-7340-4053-9402-D6DF4AEE7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644AB-4AA2-43A3-AAA5-830457917282}" type="datetime1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75A91-28A5-42A7-AF1E-B64FEEC7A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9F9872-B8CB-4781-8789-C63113492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90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229F0-8616-4EE0-95D5-4BF5615C6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4E6002-0DD0-4B9C-A340-4F291CE3E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8D6570-670B-47CC-8226-19CC37709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2BBF32-9C51-41BF-95D4-6E9ED7AA6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A8E6C-0438-4679-92A5-5A9CADC2567F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0060C-3C2F-452D-8457-84E4653A5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DFA2BB-BCC2-4E42-B0C9-E4DDDED8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711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62F1D-787D-4BE5-8171-B436584C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8B29C1-8B7F-40D2-9630-6128753A89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DD3B68-26F2-45F0-9C67-0FFEC81CF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52746-0DA2-4B3D-B9C0-DDEE786D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56F5E-6D1A-4C1F-8150-BE8506DFA26A}" type="datetime1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5FE50-E84D-43DA-928F-88A9F66F3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4DC1E-2353-4199-9203-76CB11548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8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85571-E35E-459B-AB0E-ABB1A2186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4D9B00-4968-450F-A957-AEEE313AE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60B35-DD4B-4C24-B56F-349C3952A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6981-8249-4C56-8DC5-1FB82CDBC92D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2B01C-1E74-4462-B53E-CA87E193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A8D4E-F669-4128-A76B-EC6BABF76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94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C04F65-30C7-4474-9D6C-AA02759D5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886F7F-D879-4D6B-AAA7-0CC635C10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221E3-40B2-4393-AA83-84C40AADD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827AC-B3AE-44B8-A9F1-C4AFF168C7CF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5B2D8-4285-4D57-B10C-C55FD083F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DF8DD-1382-42FE-A53C-77FD0247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826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301CD-62E3-4539-B56F-577FB878E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51756-F4E4-459B-8A5F-C118409353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23741-CB30-4536-A2AB-CC3EF7F207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484C3-8CAF-4711-AC1B-1F736FC985E7}" type="datetime1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0981E-93FF-4B93-B078-3CB92BD8B2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B726-E1AE-4669-B602-C21096B6E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160C7-74EC-4178-99AC-60BDA62A8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30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z-inform" TargetMode="External"/><Relationship Id="rId4" Type="http://schemas.openxmlformats.org/officeDocument/2006/relationships/hyperlink" Target="https://github.com/yugr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yugr/rust-slide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slides/blob/main/RU.pdf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iki.c2.com/?SufficientlySmartCompil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xhere.com/ru/photo/870592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users.rust-lang.org/t/what-kind-of-performance-rust-is-trying-to-achieve/1674/2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yugr/baseline" TargetMode="External"/><Relationship Id="rId2" Type="http://schemas.openxmlformats.org/officeDocument/2006/relationships/hyperlink" Target="https://github.com/yugr/rust-private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mmons.wikimedia.org/wiki/File:Olympic_types_of_sport_with_icons.png" TargetMode="Externa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3fchvdSPpZY" TargetMode="External"/><Relationship Id="rId2" Type="http://schemas.openxmlformats.org/officeDocument/2006/relationships/hyperlink" Target="https://doc.rust-lang.org/book/ch16-00-concurrency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XdHBSxDsVlM" TargetMode="External"/><Relationship Id="rId4" Type="http://schemas.openxmlformats.org/officeDocument/2006/relationships/hyperlink" Target="https://www.youtube.com/watch?v=gG4BJ23BFBE&amp;t=72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book/ch20-00-advanced-features.html" TargetMode="External"/><Relationship Id="rId2" Type="http://schemas.openxmlformats.org/officeDocument/2006/relationships/hyperlink" Target="https://doc.rust-lang.org/nomicon/meet-safe-and-unsafe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flickr.com/photos/cazatoma/8746664127" TargetMode="External"/><Relationship Id="rId4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bounds-checks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5958324/free-public-domain-cc0-photo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hyperlink" Target="https://www.microsoft.com/en-us/msrc/blog/2019/07/a-proactive-approach-to-more-secure-code" TargetMode="External"/><Relationship Id="rId7" Type="http://schemas.openxmlformats.org/officeDocument/2006/relationships/hyperlink" Target="https://security.googleblog.com/2024/11/retrofitting-spatial-safety-to-hundreds.html" TargetMode="External"/><Relationship Id="rId2" Type="http://schemas.openxmlformats.org/officeDocument/2006/relationships/hyperlink" Target="https://cwe.mitre.org/top25/archive/2024/2024_cwe_top2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cisa.gov/sites/default/files/feeds/known_exploited_vulnerabilities.json" TargetMode="External"/><Relationship Id="rId5" Type="http://schemas.openxmlformats.org/officeDocument/2006/relationships/hyperlink" Target="https://github.com/CVEProject/cvelistV5/tree/main/cves/2024" TargetMode="External"/><Relationship Id="rId4" Type="http://schemas.openxmlformats.org/officeDocument/2006/relationships/hyperlink" Target="https://www.chromium.org/Home/chromium-security/memory-safety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s/safety.html" TargetMode="Externa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blob/main/features/cons/bounds-checks/btb.md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tklad/bounds-check-cost/blob/master/src/main.rs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harr.org/matt/blog/2018/04/18/ispc-origin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orkinjurysource.com/preventing-slip-and-fall-injuries-at-work/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ust-lang/rust/pull/36072/files" TargetMode="Externa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mage-rs/jpeg-decoder/pull/167/file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close-up-of-a-person-cutting-bread-19359855/" TargetMode="External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106539" TargetMode="External"/><Relationship Id="rId2" Type="http://schemas.openxmlformats.org/officeDocument/2006/relationships/hyperlink" Target="https://www.reddit.com/r/rust/comments/yaft60/zerocost_iterator_abstractionsnot_so_zerocos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ublicdomainpictures.net/en/view-image.php?image=235675&amp;picture=man-carrying-stack-of-boxes" TargetMode="External"/><Relationship Id="rId5" Type="http://schemas.openxmlformats.org/officeDocument/2006/relationships/image" Target="../media/image17.png"/><Relationship Id="rId4" Type="http://schemas.openxmlformats.org/officeDocument/2006/relationships/hyperlink" Target="https://users.rust-lang.org/t/are-iterators-even-efficient/36050/2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features/cons/bounds-checks/count-loops" TargetMode="External"/><Relationship Id="rId2" Type="http://schemas.openxmlformats.org/officeDocument/2006/relationships/hyperlink" Target="https://github.com/yugr/rust-slides/blob/main/features/cons/bounds-checks/count-pani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yugr/rust-private/tree/yugr/disable-bounds-checks/2" TargetMode="External"/><Relationship Id="rId4" Type="http://schemas.openxmlformats.org/officeDocument/2006/relationships/hyperlink" Target="https://github.com/yugr/rust-slides/blob/main/features/cons/bounds-checks/analysis.md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yugr/rust-private/tree/yugr/disable-bounds-checks/2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urse.llvm.org/t/rfc-c-buffer-hardening/65734" TargetMode="External"/><Relationship Id="rId2" Type="http://schemas.openxmlformats.org/officeDocument/2006/relationships/hyperlink" Target="https://github.com/yugr/rust-slides/tree/main/features/cons/bounds-checks/bounds-tes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g"/><Relationship Id="rId5" Type="http://schemas.openxmlformats.org/officeDocument/2006/relationships/hyperlink" Target="https://snl.no/Mount_Everest" TargetMode="Externa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alias" TargetMode="Externa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Hercules_slaying_the_Hydra.gif" TargetMode="External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ust/issues/16515" TargetMode="External"/><Relationship Id="rId2" Type="http://schemas.openxmlformats.org/officeDocument/2006/relationships/hyperlink" Target="http://llvm.org/docs/LangRef.html#noalias-and-alias-scope-metadata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yugr/force-aliasing/2" TargetMode="External"/><Relationship Id="rId2" Type="http://schemas.openxmlformats.org/officeDocument/2006/relationships/hyperlink" Target="https://github.com/yugr/rust-slides/blob/main/features/pros/alias/analysis.md#prevalenc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github.com/yugr/rust-private/tree/yugr/force-aliasing/2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init" TargetMode="Externa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-std.org/jtc1/sc22/wg21/docs/papers/2023/p2723r1.html#real-world" TargetMode="External"/><Relationship Id="rId2" Type="http://schemas.openxmlformats.org/officeDocument/2006/relationships/hyperlink" Target="https://github.com/microsoft/MSRC-Security-Research/blob/master/presentations/2019_09_CppCon/CppCon2019%20-%20Killing%20Uninitialized%20Memory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pexels.com/photo/vintage-water-tap-dripping-in-black-and-white-29725026/" TargetMode="External"/><Relationship Id="rId4" Type="http://schemas.openxmlformats.org/officeDocument/2006/relationships/image" Target="../media/image26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kyouko-taiga.github.io/swift-thoughts/tutorial/chapter-1" TargetMode="External"/><Relationship Id="rId2" Type="http://schemas.openxmlformats.org/officeDocument/2006/relationships/hyperlink" Target="https://ericlippert.com/2012/03/05/why-are-local-variables-definitely-assigned-in-unreachable-statements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open-std.org/jtc1/sc22/wg21/docs/papers/2024/p2795r5.html" TargetMode="External"/><Relationship Id="rId5" Type="http://schemas.openxmlformats.org/officeDocument/2006/relationships/hyperlink" Target="https://medium.com/@AlexanderObregon/how-javas-default-values-for-variables-work-9256ce8ed620" TargetMode="External"/><Relationship Id="rId4" Type="http://schemas.openxmlformats.org/officeDocument/2006/relationships/hyperlink" Target="https://go.dev/ref/spec#The_zero_value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valgrind/tree/yugr/deadwrites/3" TargetMode="External"/><Relationship Id="rId2" Type="http://schemas.openxmlformats.org/officeDocument/2006/relationships/hyperlink" Target="https://github.com/yugr/rust-slides/tree/main/features/cons/init/count-stores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okio-rs/tokio/pull/1744#issuecomment-554543881" TargetMode="External"/><Relationship Id="rId2" Type="http://schemas.openxmlformats.org/officeDocument/2006/relationships/hyperlink" Target="https://github.com/rust-lang/rust/pull/26950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hadravid.github.io/posts/2025-05-rav1d-faster/" TargetMode="External"/><Relationship Id="rId5" Type="http://schemas.openxmlformats.org/officeDocument/2006/relationships/hyperlink" Target="https://github.com/rust-lang/rfcs/pull/837#issuecomment-75497481" TargetMode="External"/><Relationship Id="rId4" Type="http://schemas.openxmlformats.org/officeDocument/2006/relationships/hyperlink" Target="https://github.com/shadow/shadow/issues/1643" TargetMode="Externa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doc.rust-lang.org/std/ptr/macro.addr_of_mut.html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niche" TargetMode="Externa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katecpp.github.io/struct-members-order/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70118259@N00/3173642531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nowmediagroup.tv/blog/10-must-read-books-why-multidisciplinary-reading-is-a-must/" TargetMode="External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fcs/pull/3204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github.com/Sedeniono/tiny-optional?tab=readme-ov-file#use-case-1-wasting-no-memory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zakhar/struct-reorder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arithmetic-checks" TargetMode="External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s://cwe.mitre.org/top25/archive/2019/2019_cwe_top25.html" TargetMode="External"/><Relationship Id="rId7" Type="http://schemas.openxmlformats.org/officeDocument/2006/relationships/hyperlink" Target="https://www.researchgate.net/publication/336109913_Famous_Failures_Revisited_A_Focus_on_System_Integration" TargetMode="External"/><Relationship Id="rId2" Type="http://schemas.openxmlformats.org/officeDocument/2006/relationships/hyperlink" Target="https://cwe.mitre.org/top25/archive/2024/2024_cwe_top25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19.png"/><Relationship Id="rId4" Type="http://schemas.openxmlformats.org/officeDocument/2006/relationships/hyperlink" Target="https://blog.regehr.org/archives/1559" TargetMode="Externa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kristerw.blogspot.com/2016/02/how-undefined-signed-overflow-enables.html?m=1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blob/main/features/cons/arithmetic-checks/analysis.md#optimizations" TargetMode="Externa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github.com/yugr/rust-private/tree/yugr/no-overflow-checks/2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github.com/yugr/rust-private/tree/yugr/force-overflow-checks/2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cons/fastmath" TargetMode="External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ust-lang/rust/issues/21690#issuecomment-2664787927" TargetMode="Externa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hyperlink" Target="https://internals.rust-lang.org/t/suggestion-ffastmath-intrinsics-in-stable/14447" TargetMode="Externa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private/tree/zakhar/algebraic-math" TargetMode="Externa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yugr/rust-private/tree/zakhar/fast-math" TargetMode="Externa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features/pros/static" TargetMode="External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llvm.org/docs/CodingStandards.html#id59" TargetMode="External"/><Relationship Id="rId2" Type="http://schemas.openxmlformats.org/officeDocument/2006/relationships/hyperlink" Target="https://google.github.io/styleguide/cppguide.html#Internal_Linkag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hromium.googlesource.com/chromium/src/+/main/styleguide/c++/c++.md#unnamed-namespaces" TargetMode="External"/><Relationship Id="rId4" Type="http://schemas.openxmlformats.org/officeDocument/2006/relationships/hyperlink" Target="https://isocpp.github.io/CppCoreGuidelines/CppCoreGuidelines#rs-unnamed2" TargetMode="Externa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Localizer" TargetMode="External"/><Relationship Id="rId2" Type="http://schemas.openxmlformats.org/officeDocument/2006/relationships/hyperlink" Target="https://github.com/yugr/rust-slides/blob/main/features/pros/static/0001-Remove-internal-functions.patch" TargetMode="Externa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github.com/yugr/rust-slides/blob/main/features/pros/static/0001-Remove-internal-functions.patch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https://github.com/yugr/rust-private/tree/yugr/disable-all-checks/1" TargetMode="Externa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blob/main/benchmarks/rust/histogram.py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blob/main/benchmarks/cpp/histogram.py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edpix.com/photo/1171460/weigh-plus-minus-horizontal-plus-minus-balance-sheet-cost-calculation-course" TargetMode="Externa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yugr/rust-slides/tree/main/features/pros/abi" TargetMode="External"/><Relationship Id="rId13" Type="http://schemas.openxmlformats.org/officeDocument/2006/relationships/hyperlink" Target="https://vectorportal.com/vector/timeglass/34811" TargetMode="External"/><Relationship Id="rId3" Type="http://schemas.openxmlformats.org/officeDocument/2006/relationships/hyperlink" Target="https://github.com/yugr/rust-slides/tree/main/features/cons/stdlib" TargetMode="External"/><Relationship Id="rId7" Type="http://schemas.openxmlformats.org/officeDocument/2006/relationships/hyperlink" Target="https://github.com/yugr/rust-slides/tree/main/features/pros/gc-sections" TargetMode="External"/><Relationship Id="rId12" Type="http://schemas.openxmlformats.org/officeDocument/2006/relationships/image" Target="../media/image47.png"/><Relationship Id="rId2" Type="http://schemas.openxmlformats.org/officeDocument/2006/relationships/hyperlink" Target="https://github.com/yugr/rust-slides/tree/main/features/cons/placement-new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yugr/rust-slides/tree/main/features/cons/panics" TargetMode="External"/><Relationship Id="rId11" Type="http://schemas.openxmlformats.org/officeDocument/2006/relationships/hyperlink" Target="https://github.com/yugr/rust-slides/tree/main/features/cons/probestack" TargetMode="External"/><Relationship Id="rId5" Type="http://schemas.openxmlformats.org/officeDocument/2006/relationships/hyperlink" Target="https://github.com/yugr/rust-slides/tree/main/features/cons/cgu" TargetMode="External"/><Relationship Id="rId10" Type="http://schemas.openxmlformats.org/officeDocument/2006/relationships/hyperlink" Target="https://github.com/yugr/rust-slides/tree/main/features/pros/vtable" TargetMode="External"/><Relationship Id="rId4" Type="http://schemas.openxmlformats.org/officeDocument/2006/relationships/hyperlink" Target="https://github.com/yugr/rust-slides/tree/main/features/pros/stdlib" TargetMode="External"/><Relationship Id="rId9" Type="http://schemas.openxmlformats.org/officeDocument/2006/relationships/hyperlink" Target="https://github.com/yugr/rust-slides/tree/main/features/pros/noplt" TargetMode="Externa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berg.org/amonakov" TargetMode="External"/><Relationship Id="rId3" Type="http://schemas.openxmlformats.org/officeDocument/2006/relationships/hyperlink" Target="https://github.com/yugr/rust-slides/blob/main/RU.pdf" TargetMode="External"/><Relationship Id="rId7" Type="http://schemas.openxmlformats.org/officeDocument/2006/relationships/hyperlink" Target="https://github.com/amonakov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kobzol" TargetMode="External"/><Relationship Id="rId5" Type="http://schemas.openxmlformats.org/officeDocument/2006/relationships/hyperlink" Target="https://github.com/Gabriel-Fallen" TargetMode="External"/><Relationship Id="rId4" Type="http://schemas.openxmlformats.org/officeDocument/2006/relationships/hyperlink" Target="https://github.com/petrochenkov" TargetMode="External"/><Relationship Id="rId9" Type="http://schemas.openxmlformats.org/officeDocument/2006/relationships/hyperlink" Target="https://mastodon.social/@pervognsen" TargetMode="Externa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blob/main/benchmarks/rust/histogram.py" TargetMode="External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materials" TargetMode="Externa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rust-slides/tree/main/benchmarks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ugr/rust-slides/tree/main/benchmarks/cpp/ffmpeg-bench" TargetMode="External"/><Relationship Id="rId7" Type="http://schemas.openxmlformats.org/officeDocument/2006/relationships/hyperlink" Target="https://github.com/yugr/rust-slides/issues/55" TargetMode="External"/><Relationship Id="rId2" Type="http://schemas.openxmlformats.org/officeDocument/2006/relationships/hyperlink" Target="https://github.com/yugr/rust-slides/tree/main/benchmarks/cpp/llvm-bench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horonix-test-suite.com/" TargetMode="External"/><Relationship Id="rId5" Type="http://schemas.openxmlformats.org/officeDocument/2006/relationships/hyperlink" Target="https://github.com/yugr/rust-slides/tree/main/benchmarks/cpp/PTS" TargetMode="External"/><Relationship Id="rId4" Type="http://schemas.openxmlformats.org/officeDocument/2006/relationships/hyperlink" Target="https://zatoichi-engineer.github.io/2017/10/04/stack-smashing-protection.html#performance-cost" TargetMode="Externa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yugr/uInit" TargetMode="Externa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09DE8-A7DE-48D8-AF7F-E86E2218FC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Производительность языка </a:t>
            </a:r>
            <a:r>
              <a:rPr lang="en-US" dirty="0"/>
              <a:t>Rust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4F02A-C8D6-4179-9140-FD2C998121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Май </a:t>
            </a:r>
            <a:r>
              <a:rPr lang="en-US" dirty="0"/>
              <a:t>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0EBCA2-4DAF-414F-A5EE-354B3D2F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86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22AED-D104-474B-84D9-AD5561170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 авторах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DA289D-91F9-4067-9253-842C67CAF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257" y="4138566"/>
            <a:ext cx="1448991" cy="18621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A333A7-8B6B-47B6-9EDF-04148C3CF8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753" y="2218765"/>
            <a:ext cx="1524000" cy="1524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946AA54-D228-4271-8F18-9F5F75E411D1}"/>
              </a:ext>
            </a:extLst>
          </p:cNvPr>
          <p:cNvSpPr txBox="1"/>
          <p:nvPr/>
        </p:nvSpPr>
        <p:spPr>
          <a:xfrm>
            <a:off x="3753968" y="2103602"/>
            <a:ext cx="63313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Юрий Грибов</a:t>
            </a:r>
            <a:r>
              <a:rPr lang="en-US" dirty="0"/>
              <a:t> (</a:t>
            </a:r>
            <a:r>
              <a:rPr lang="en-US" dirty="0" err="1"/>
              <a:t>yugr</a:t>
            </a:r>
            <a:r>
              <a:rPr lang="en-US" dirty="0"/>
              <a:t>, </a:t>
            </a:r>
            <a:r>
              <a:rPr lang="en-US" dirty="0" err="1"/>
              <a:t>the_real_yugr</a:t>
            </a:r>
            <a:r>
              <a:rPr lang="en-US" dirty="0"/>
              <a:t>), </a:t>
            </a:r>
            <a:r>
              <a:rPr lang="en-US" dirty="0">
                <a:hlinkClick r:id="rId4"/>
              </a:rPr>
              <a:t>https://github.com/yugr</a:t>
            </a:r>
            <a:endParaRPr lang="ru-RU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Разработчик и фанат системного ПО (компиляторов, рантаймов, инструментов верификации и т. п.)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Руководитель компиляторной команды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189DAC-DC40-432C-8CDA-AB74CC849162}"/>
              </a:ext>
            </a:extLst>
          </p:cNvPr>
          <p:cNvSpPr txBox="1"/>
          <p:nvPr/>
        </p:nvSpPr>
        <p:spPr>
          <a:xfrm>
            <a:off x="3753969" y="4607980"/>
            <a:ext cx="58293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Захар Акимов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https://github.com/z-inform</a:t>
            </a:r>
            <a:endParaRPr lang="ru-RU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Разработчик </a:t>
            </a:r>
            <a:r>
              <a:rPr lang="en-US" dirty="0"/>
              <a:t>general-purpose </a:t>
            </a:r>
            <a:r>
              <a:rPr lang="ru-RU" dirty="0"/>
              <a:t>и </a:t>
            </a:r>
            <a:r>
              <a:rPr lang="en-US" dirty="0"/>
              <a:t>AI </a:t>
            </a:r>
            <a:r>
              <a:rPr lang="ru-RU" dirty="0"/>
              <a:t>компиляторов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Эксперт по </a:t>
            </a:r>
            <a:r>
              <a:rPr lang="en-US" dirty="0"/>
              <a:t>ML in compilers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0FFBF9-CAA1-499A-A684-513B1BA14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623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76F09-C8EF-46C2-8D70-577E4B9D9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Полная версия слайдов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C515D-F8D8-4941-9CDD-7FE165D3C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6694" cy="4351338"/>
          </a:xfrm>
        </p:spPr>
        <p:txBody>
          <a:bodyPr/>
          <a:lstStyle/>
          <a:p>
            <a:r>
              <a:rPr lang="ru-RU" dirty="0"/>
              <a:t>Это сокращённая версия слайдов</a:t>
            </a:r>
          </a:p>
          <a:p>
            <a:r>
              <a:rPr lang="ru-RU" dirty="0"/>
              <a:t>Полная версия больше</a:t>
            </a:r>
            <a:r>
              <a:rPr lang="en-US" dirty="0"/>
              <a:t> </a:t>
            </a:r>
            <a:r>
              <a:rPr lang="ru-RU" dirty="0"/>
              <a:t>на </a:t>
            </a:r>
            <a:r>
              <a:rPr lang="en-US" dirty="0"/>
              <a:t>30%</a:t>
            </a:r>
            <a:endParaRPr lang="ru-RU" dirty="0"/>
          </a:p>
          <a:p>
            <a:pPr lvl="1"/>
            <a:r>
              <a:rPr lang="ru-RU" dirty="0"/>
              <a:t>Дополнительные темы, графики, </a:t>
            </a:r>
            <a:r>
              <a:rPr lang="en-US" dirty="0"/>
              <a:t>workarounds, </a:t>
            </a:r>
            <a:r>
              <a:rPr lang="ru-RU" dirty="0"/>
              <a:t>пруфлинки и т.п.</a:t>
            </a:r>
            <a:endParaRPr lang="en-US" dirty="0"/>
          </a:p>
          <a:p>
            <a:r>
              <a:rPr lang="ru-RU" dirty="0"/>
              <a:t>Ещё больше информации есть в нашем репозитории </a:t>
            </a:r>
            <a:r>
              <a:rPr lang="en-US" dirty="0" err="1">
                <a:hlinkClick r:id="rId2"/>
              </a:rPr>
              <a:t>yugr</a:t>
            </a:r>
            <a:r>
              <a:rPr lang="en-US" dirty="0">
                <a:hlinkClick r:id="rId2"/>
              </a:rPr>
              <a:t>/rust-slides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0B609F-6F98-4294-A5C1-7C1F9237F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2EC98-3D28-43C4-BF11-37052F5A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987" y="1663794"/>
            <a:ext cx="3314097" cy="33605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9CA1BC-4DD1-4B23-A889-A43DCF599D04}"/>
              </a:ext>
            </a:extLst>
          </p:cNvPr>
          <p:cNvSpPr txBox="1"/>
          <p:nvPr/>
        </p:nvSpPr>
        <p:spPr>
          <a:xfrm>
            <a:off x="7368987" y="5045688"/>
            <a:ext cx="3245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https://github.com/yugr/rust-slides/blob/main/RU.pdf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07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18DF9-DDF2-48F4-A881-B36DF3BB2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языка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6DEBD-4BE7-4CB8-9B39-EE3FE39F08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339232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Язык для высокопроизводительного системного программирования</a:t>
            </a:r>
            <a:endParaRPr lang="en-US" dirty="0"/>
          </a:p>
          <a:p>
            <a:pPr lvl="1"/>
            <a:r>
              <a:rPr lang="en-US" dirty="0"/>
              <a:t>Zero cost/overhead abstractions: don’t pay for what you don’t use + no (or minimal) runtime overhead (</a:t>
            </a:r>
            <a:r>
              <a:rPr lang="ru-RU" dirty="0"/>
              <a:t>итераторы, </a:t>
            </a:r>
            <a:r>
              <a:rPr lang="en-US" dirty="0"/>
              <a:t>closures, traits, etc.)</a:t>
            </a:r>
          </a:p>
          <a:p>
            <a:pPr lvl="1"/>
            <a:r>
              <a:rPr lang="ru-RU" dirty="0"/>
              <a:t>Возможность низкоуровневого тюнинга </a:t>
            </a:r>
            <a:r>
              <a:rPr lang="en-US" dirty="0"/>
              <a:t>(SIMD, inline assembler, </a:t>
            </a:r>
            <a:r>
              <a:rPr lang="ru-RU" dirty="0"/>
              <a:t>компиляторные интринсики типа </a:t>
            </a:r>
            <a:r>
              <a:rPr lang="en-US" dirty="0"/>
              <a:t>__</a:t>
            </a:r>
            <a:r>
              <a:rPr lang="en-US" dirty="0" err="1"/>
              <a:t>builtin_expect</a:t>
            </a:r>
            <a:r>
              <a:rPr lang="en-US" dirty="0"/>
              <a:t>, etc.)</a:t>
            </a:r>
          </a:p>
          <a:p>
            <a:r>
              <a:rPr lang="ru-RU" dirty="0"/>
              <a:t>Поддерживает множество современных парадигм программирования</a:t>
            </a:r>
            <a:endParaRPr lang="en-US" dirty="0"/>
          </a:p>
          <a:p>
            <a:pPr lvl="1"/>
            <a:r>
              <a:rPr lang="ru-RU" dirty="0"/>
              <a:t>Процедурное, функциональное</a:t>
            </a:r>
            <a:r>
              <a:rPr lang="en-US" dirty="0"/>
              <a:t>, </a:t>
            </a:r>
            <a:r>
              <a:rPr lang="ru-RU" dirty="0"/>
              <a:t>ООП и т.д.</a:t>
            </a:r>
            <a:endParaRPr lang="en-US" dirty="0"/>
          </a:p>
          <a:p>
            <a:r>
              <a:rPr lang="ru-RU" dirty="0"/>
              <a:t>Язык сокращает количество видов </a:t>
            </a:r>
            <a:r>
              <a:rPr lang="en-US" dirty="0"/>
              <a:t>UB </a:t>
            </a:r>
            <a:r>
              <a:rPr lang="ru-RU" dirty="0"/>
              <a:t>за счёт более строгих правил и динамических проверок</a:t>
            </a:r>
            <a:endParaRPr lang="en-US" dirty="0"/>
          </a:p>
          <a:p>
            <a:pPr lvl="1"/>
            <a:r>
              <a:rPr lang="ru-RU" dirty="0"/>
              <a:t>Особенно </a:t>
            </a:r>
            <a:r>
              <a:rPr lang="en-US" dirty="0"/>
              <a:t>memory safety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3CE1C-BF6B-4832-8357-487E09E6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7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D266-DCB4-4472-B804-C46A1C7C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</a:t>
            </a:r>
            <a:r>
              <a:rPr lang="en-US" dirty="0"/>
              <a:t>Rust: </a:t>
            </a:r>
            <a:r>
              <a:rPr lang="ru-RU" dirty="0"/>
              <a:t>Минусы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673D49-B112-4B11-9AD6-71D331EF6C7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Проверки в рантайме</a:t>
            </a:r>
          </a:p>
          <a:p>
            <a:r>
              <a:rPr lang="ru-RU" dirty="0"/>
              <a:t>Обязательная инициализация</a:t>
            </a:r>
            <a:endParaRPr lang="en-US" dirty="0"/>
          </a:p>
          <a:p>
            <a:r>
              <a:rPr lang="ru-RU" dirty="0"/>
              <a:t>Целочисленные переполнения являются </a:t>
            </a:r>
            <a:r>
              <a:rPr lang="en-US" dirty="0"/>
              <a:t>defined behavior</a:t>
            </a:r>
            <a:endParaRPr lang="ru-RU" dirty="0"/>
          </a:p>
          <a:p>
            <a:r>
              <a:rPr lang="ru-RU" dirty="0"/>
              <a:t>Компромиссы между производительностью и надёжностью в стандартной библиотеке</a:t>
            </a:r>
            <a:endParaRPr lang="en-US" dirty="0"/>
          </a:p>
          <a:p>
            <a:r>
              <a:rPr lang="ru-RU" dirty="0"/>
              <a:t>...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D918-12E0-42A0-AC72-36B6C273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</a:t>
            </a:fld>
            <a:endParaRPr lang="en-US"/>
          </a:p>
        </p:txBody>
      </p:sp>
      <p:pic>
        <p:nvPicPr>
          <p:cNvPr id="1026" name="Picture 2" descr="Plus, Minus icon - Free Download PNG ...">
            <a:extLst>
              <a:ext uri="{FF2B5EF4-FFF2-40B4-BE49-F238E27FC236}">
                <a16:creationId xmlns:a16="http://schemas.microsoft.com/office/drawing/2014/main" id="{8C9F0949-E7A9-496D-813D-A4916C2DC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251" y="365125"/>
            <a:ext cx="1681443" cy="168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247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9D266-DCB4-4472-B804-C46A1C7CA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Производительность </a:t>
            </a:r>
            <a:r>
              <a:rPr lang="en-US" dirty="0"/>
              <a:t>Rust: </a:t>
            </a:r>
            <a:r>
              <a:rPr lang="ru-RU" dirty="0"/>
              <a:t>Плюсы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F11E3-E455-4924-AA1C-701D47881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3673D49-B112-4B11-9AD6-71D331EF6C7F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Больше возможностей для </a:t>
            </a:r>
            <a:r>
              <a:rPr lang="en-US" dirty="0"/>
              <a:t>alias analysis</a:t>
            </a:r>
          </a:p>
          <a:p>
            <a:pPr lvl="1"/>
            <a:r>
              <a:rPr lang="ru-RU" dirty="0"/>
              <a:t>По сути </a:t>
            </a:r>
            <a:r>
              <a:rPr lang="en-US" dirty="0"/>
              <a:t>restrict-by-default</a:t>
            </a:r>
          </a:p>
          <a:p>
            <a:r>
              <a:rPr lang="ru-RU" dirty="0"/>
              <a:t>Агрессивные оптимизации структур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enum</a:t>
            </a:r>
            <a:endParaRPr lang="en-US" dirty="0"/>
          </a:p>
          <a:p>
            <a:pPr lvl="1"/>
            <a:r>
              <a:rPr lang="ru-RU" dirty="0"/>
              <a:t>Оптимизация порядка полей и </a:t>
            </a:r>
            <a:r>
              <a:rPr lang="en-US" dirty="0"/>
              <a:t>niche optimizations</a:t>
            </a:r>
          </a:p>
          <a:p>
            <a:r>
              <a:rPr lang="ru-RU" dirty="0"/>
              <a:t>Более эффективные стандартные контейнеры</a:t>
            </a:r>
            <a:endParaRPr lang="en-US" dirty="0"/>
          </a:p>
          <a:p>
            <a:r>
              <a:rPr lang="en-US" dirty="0"/>
              <a:t>...</a:t>
            </a:r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6D918-12E0-42A0-AC72-36B6C2730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2" descr="Plus, Minus icon - Free Download PNG ...">
            <a:extLst>
              <a:ext uri="{FF2B5EF4-FFF2-40B4-BE49-F238E27FC236}">
                <a16:creationId xmlns:a16="http://schemas.microsoft.com/office/drawing/2014/main" id="{B22C295E-DA79-4A3D-A8BB-57324B711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251" y="365125"/>
            <a:ext cx="1681443" cy="1681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15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E1C6-BA6C-4297-9FD0-C1E66B4CF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доклада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1C00-33DC-4488-AAE1-C01FE5C393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Насколько </a:t>
            </a:r>
            <a:r>
              <a:rPr lang="en-US" dirty="0"/>
              <a:t>“</a:t>
            </a:r>
            <a:r>
              <a:rPr lang="ru-RU" dirty="0"/>
              <a:t>дороги</a:t>
            </a:r>
            <a:r>
              <a:rPr lang="en-US" dirty="0"/>
              <a:t>”</a:t>
            </a:r>
            <a:r>
              <a:rPr lang="ru-RU" dirty="0"/>
              <a:t> проверки</a:t>
            </a:r>
            <a:r>
              <a:rPr lang="en-US" dirty="0"/>
              <a:t> Rust </a:t>
            </a:r>
            <a:r>
              <a:rPr lang="ru-RU" dirty="0"/>
              <a:t>на практике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В сравнении с </a:t>
            </a:r>
            <a:r>
              <a:rPr lang="en-US" dirty="0"/>
              <a:t>Rust </a:t>
            </a:r>
            <a:r>
              <a:rPr lang="ru-RU" dirty="0"/>
              <a:t>без проверок и </a:t>
            </a:r>
            <a:r>
              <a:rPr lang="en-US" dirty="0"/>
              <a:t>C/C++</a:t>
            </a:r>
          </a:p>
          <a:p>
            <a:pPr lvl="1"/>
            <a:r>
              <a:rPr lang="ru-RU" dirty="0"/>
              <a:t>Каковы непосредственные </a:t>
            </a:r>
            <a:r>
              <a:rPr lang="en-US" dirty="0"/>
              <a:t>(</a:t>
            </a:r>
            <a:r>
              <a:rPr lang="ru-RU" dirty="0"/>
              <a:t>лишние инструкции</a:t>
            </a:r>
            <a:r>
              <a:rPr lang="en-US" dirty="0"/>
              <a:t>) </a:t>
            </a:r>
            <a:r>
              <a:rPr lang="ru-RU" dirty="0"/>
              <a:t>и вторичные (влияние на другие оптимизации</a:t>
            </a:r>
            <a:r>
              <a:rPr lang="en-US" dirty="0"/>
              <a:t>, </a:t>
            </a:r>
            <a:r>
              <a:rPr lang="ru-RU" dirty="0"/>
              <a:t>давление на </a:t>
            </a:r>
            <a:r>
              <a:rPr lang="en-US" dirty="0"/>
              <a:t>I$/BTB)</a:t>
            </a:r>
            <a:r>
              <a:rPr lang="ru-RU" dirty="0"/>
              <a:t> последствия проверок</a:t>
            </a:r>
          </a:p>
          <a:p>
            <a:r>
              <a:rPr lang="ru-RU" dirty="0"/>
              <a:t>Способен ли</a:t>
            </a:r>
            <a:r>
              <a:rPr lang="en-US" dirty="0"/>
              <a:t> </a:t>
            </a:r>
            <a:r>
              <a:rPr lang="ru-RU" dirty="0"/>
              <a:t>от них избавиться </a:t>
            </a:r>
            <a:r>
              <a:rPr lang="en-US" dirty="0">
                <a:hlinkClick r:id="rId2"/>
              </a:rPr>
              <a:t>Sufficiently Smart</a:t>
            </a:r>
            <a:r>
              <a:rPr lang="en-US" dirty="0"/>
              <a:t> Compiler © ?</a:t>
            </a:r>
          </a:p>
          <a:p>
            <a:r>
              <a:rPr lang="ru-RU" dirty="0"/>
              <a:t>И если нет, то как с ними может справиться программист</a:t>
            </a:r>
            <a:r>
              <a:rPr lang="en-US" dirty="0"/>
              <a:t>?</a:t>
            </a:r>
          </a:p>
          <a:p>
            <a:r>
              <a:rPr lang="ru-RU" dirty="0"/>
              <a:t>Есть ли какие-то особенности языка которые наоборот помогают компилятору</a:t>
            </a:r>
            <a:r>
              <a:rPr lang="en-US" dirty="0"/>
              <a:t>?</a:t>
            </a:r>
          </a:p>
          <a:p>
            <a:endParaRPr lang="en-US" dirty="0"/>
          </a:p>
        </p:txBody>
      </p:sp>
      <p:pic>
        <p:nvPicPr>
          <p:cNvPr id="4" name="Picture 4" descr="картинки : доска, колесо, игра, отдых, Красный, цвет, Цель, круг,  соревнование, стрела, Симметрия, Выстрел, центр, Игры, Победитель,  Прицеливаться, дартс, Успех, Гол, достижение, Точность, удар, Точный,  Дартборд, Индивидуальные виды спорта, Внутренние ...">
            <a:extLst>
              <a:ext uri="{FF2B5EF4-FFF2-40B4-BE49-F238E27FC236}">
                <a16:creationId xmlns:a16="http://schemas.microsoft.com/office/drawing/2014/main" id="{4A68C681-A33E-4B88-B5AE-F5006C0F4B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8324" y="681037"/>
            <a:ext cx="2125476" cy="141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C6A656-DDAE-439A-B4C1-7E9D7E507316}"/>
              </a:ext>
            </a:extLst>
          </p:cNvPr>
          <p:cNvSpPr txBox="1"/>
          <p:nvPr/>
        </p:nvSpPr>
        <p:spPr>
          <a:xfrm>
            <a:off x="190249" y="6486073"/>
            <a:ext cx="1295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4"/>
              </a:rPr>
              <a:t>Image source</a:t>
            </a:r>
            <a:endParaRPr lang="en-US" sz="1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54C16-16CD-4CD8-934B-798A6C49D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982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42C0-E7EA-4553-A526-BBFA4F2C6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Мнение создателей языка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79FAB-0F7A-4F38-BA82-1168FFF7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Steven </a:t>
            </a:r>
            <a:r>
              <a:rPr lang="en-US" dirty="0" err="1">
                <a:hlinkClick r:id="rId2"/>
              </a:rPr>
              <a:t>Klabnik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"Generally Rust is the same order of magnitude as C. Sometimes faster, sometimes slower”</a:t>
            </a:r>
          </a:p>
          <a:p>
            <a:pPr lvl="1"/>
            <a:r>
              <a:rPr lang="en-US" dirty="0"/>
              <a:t>“Rust prioritizes memory safety above all else. But speed is a close second"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07E8-7692-4A0F-985F-E2A82E37E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161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6CC3-E58F-4B6F-B5D5-594EBF70F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накладных расходов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797A-519E-433F-A038-B1E37653A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оценить накладные расходы от проверок</a:t>
            </a:r>
            <a:r>
              <a:rPr lang="en-US" dirty="0"/>
              <a:t>?</a:t>
            </a:r>
          </a:p>
          <a:p>
            <a:r>
              <a:rPr lang="ru-RU" dirty="0"/>
              <a:t>В компиляторе </a:t>
            </a:r>
            <a:r>
              <a:rPr lang="en-US" dirty="0"/>
              <a:t>Rust </a:t>
            </a:r>
            <a:r>
              <a:rPr lang="ru-RU" dirty="0"/>
              <a:t>нет флагов для отключения проверок</a:t>
            </a:r>
            <a:r>
              <a:rPr lang="en-US" dirty="0"/>
              <a:t> </a:t>
            </a:r>
            <a:r>
              <a:rPr lang="ru-RU" dirty="0"/>
              <a:t>безопасности</a:t>
            </a:r>
            <a:endParaRPr lang="en-US" dirty="0"/>
          </a:p>
          <a:p>
            <a:r>
              <a:rPr lang="ru-RU" dirty="0"/>
              <a:t>Мы сравним обычный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ru-RU" dirty="0">
                <a:hlinkClick r:id="rId2"/>
              </a:rPr>
              <a:t>пропатченный </a:t>
            </a:r>
            <a:r>
              <a:rPr lang="en-US" dirty="0">
                <a:hlinkClick r:id="rId2"/>
              </a:rPr>
              <a:t>Rust</a:t>
            </a:r>
            <a:r>
              <a:rPr lang="ru-RU" dirty="0"/>
              <a:t> с отключенными проверками</a:t>
            </a:r>
          </a:p>
          <a:p>
            <a:pPr lvl="1"/>
            <a:r>
              <a:rPr lang="ru-RU" dirty="0"/>
              <a:t>Репозиторий с модифицированными версиями компилятора</a:t>
            </a:r>
            <a:r>
              <a:rPr lang="en-US" dirty="0"/>
              <a:t>: </a:t>
            </a:r>
            <a:r>
              <a:rPr lang="en-US" dirty="0" err="1">
                <a:hlinkClick r:id="rId2"/>
              </a:rPr>
              <a:t>yugr</a:t>
            </a:r>
            <a:r>
              <a:rPr lang="en-US" dirty="0">
                <a:hlinkClick r:id="rId2"/>
              </a:rPr>
              <a:t>/rust-private</a:t>
            </a:r>
            <a:endParaRPr lang="en-US" dirty="0"/>
          </a:p>
          <a:p>
            <a:pPr lvl="1"/>
            <a:r>
              <a:rPr lang="ru-RU" dirty="0"/>
              <a:t>Базовая ветка</a:t>
            </a:r>
            <a:r>
              <a:rPr lang="en-US" dirty="0"/>
              <a:t> </a:t>
            </a:r>
            <a:r>
              <a:rPr lang="en-US" dirty="0" err="1">
                <a:hlinkClick r:id="rId3"/>
              </a:rPr>
              <a:t>yugr</a:t>
            </a:r>
            <a:r>
              <a:rPr lang="en-US" dirty="0">
                <a:hlinkClick r:id="rId3"/>
              </a:rPr>
              <a:t>/baseline</a:t>
            </a:r>
            <a:r>
              <a:rPr lang="en-US" dirty="0"/>
              <a:t> </a:t>
            </a:r>
            <a:r>
              <a:rPr lang="ru-RU" dirty="0"/>
              <a:t>основана на теге 1.87.0</a:t>
            </a:r>
            <a:endParaRPr lang="en-US" dirty="0"/>
          </a:p>
          <a:p>
            <a:pPr lvl="2"/>
            <a:r>
              <a:rPr lang="ru-RU" dirty="0"/>
              <a:t>Для стабильности измерений отключена рандомизация хэштаблиц и усилено выравнивание функций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671CC-A3F9-40EE-84C9-50E37290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05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Бенчмарки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Набор бенчмарков компилятора </a:t>
            </a:r>
            <a:r>
              <a:rPr lang="en-US" dirty="0"/>
              <a:t>Rust</a:t>
            </a:r>
          </a:p>
          <a:p>
            <a:r>
              <a:rPr lang="ru-RU" dirty="0"/>
              <a:t>Внутренние бенчмарки крупных </a:t>
            </a:r>
            <a:r>
              <a:rPr lang="en-US" dirty="0"/>
              <a:t>open-source </a:t>
            </a:r>
            <a:r>
              <a:rPr lang="ru-RU" dirty="0"/>
              <a:t>проектов из разных областей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 err="1"/>
              <a:t>Gamedev</a:t>
            </a:r>
            <a:r>
              <a:rPr lang="en-US" dirty="0"/>
              <a:t> (Bevy, </a:t>
            </a:r>
            <a:r>
              <a:rPr lang="en-US" dirty="0" err="1"/>
              <a:t>Veloren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Базы данных (</a:t>
            </a:r>
            <a:r>
              <a:rPr lang="en-US" dirty="0" err="1"/>
              <a:t>SpacetimeDB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Работа с текстом (</a:t>
            </a:r>
            <a:r>
              <a:rPr lang="en-US" dirty="0"/>
              <a:t>Zed, Ruff, regex)</a:t>
            </a:r>
          </a:p>
          <a:p>
            <a:pPr lvl="1"/>
            <a:r>
              <a:rPr lang="ru-RU" dirty="0"/>
              <a:t>Кодеки (</a:t>
            </a:r>
            <a:r>
              <a:rPr lang="en-US" dirty="0"/>
              <a:t>rav1e, </a:t>
            </a:r>
            <a:r>
              <a:rPr lang="en-US" dirty="0" err="1"/>
              <a:t>oxipng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Линейная алгебра (</a:t>
            </a:r>
            <a:r>
              <a:rPr lang="en-US" dirty="0" err="1"/>
              <a:t>nalgebra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Асинхронный </a:t>
            </a:r>
            <a:r>
              <a:rPr lang="en-US" dirty="0"/>
              <a:t>runtime (</a:t>
            </a:r>
            <a:r>
              <a:rPr lang="en-US" dirty="0" err="1"/>
              <a:t>tokio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Пакетные менеджеры (</a:t>
            </a:r>
            <a:r>
              <a:rPr lang="en-US" dirty="0" err="1"/>
              <a:t>uv</a:t>
            </a:r>
            <a:r>
              <a:rPr lang="en-US" dirty="0"/>
              <a:t>)</a:t>
            </a:r>
          </a:p>
          <a:p>
            <a:r>
              <a:rPr lang="ru-RU" dirty="0"/>
              <a:t>Эти бенчмарки представляют хорошо оптимизированный код (с помощью </a:t>
            </a:r>
            <a:r>
              <a:rPr lang="en-US" dirty="0"/>
              <a:t>unsafe </a:t>
            </a:r>
            <a:r>
              <a:rPr lang="ru-RU" dirty="0"/>
              <a:t>и т.п.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C7D245-9EEE-4E49-A696-A237BA249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0501" y="1098328"/>
            <a:ext cx="1373079" cy="1055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4CDF91-E455-4D74-B20C-F19B83776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634" y="276942"/>
            <a:ext cx="1372332" cy="9095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34B7F6-8F56-47AF-90A0-C83D17B77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2760" y="203294"/>
            <a:ext cx="1186299" cy="10342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3F97DAF-E36C-4699-A9CD-FBC60C5A893B}"/>
              </a:ext>
            </a:extLst>
          </p:cNvPr>
          <p:cNvSpPr txBox="1"/>
          <p:nvPr/>
        </p:nvSpPr>
        <p:spPr>
          <a:xfrm>
            <a:off x="358588" y="6445624"/>
            <a:ext cx="4912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5"/>
              </a:rPr>
              <a:t>Image source</a:t>
            </a:r>
            <a:r>
              <a:rPr lang="en-US" sz="1000" dirty="0"/>
              <a:t> (</a:t>
            </a:r>
            <a:r>
              <a:rPr lang="en-US" sz="1000" dirty="0" err="1"/>
              <a:t>Akovin</a:t>
            </a:r>
            <a:r>
              <a:rPr lang="en-US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235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4911C-23AD-443C-B7FD-0F654BDFD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E5F66-0EBD-4E83-947D-0A757A894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C++ </a:t>
            </a:r>
            <a:r>
              <a:rPr lang="ru-RU" dirty="0"/>
              <a:t>близки по выразительным возможностям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Поддержка нескольких парадигм программирования (процедурной, ООП и функциональной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Статический и динамический полиморфизм</a:t>
            </a:r>
            <a:endParaRPr lang="en-US" dirty="0"/>
          </a:p>
          <a:p>
            <a:pPr lvl="1"/>
            <a:r>
              <a:rPr lang="en-US" dirty="0"/>
              <a:t>Etc.</a:t>
            </a:r>
          </a:p>
          <a:p>
            <a:r>
              <a:rPr lang="ru-RU" dirty="0"/>
              <a:t>Область применения языков совпадает</a:t>
            </a:r>
            <a:r>
              <a:rPr lang="en-US" dirty="0"/>
              <a:t> – </a:t>
            </a:r>
            <a:r>
              <a:rPr lang="ru-RU" dirty="0"/>
              <a:t>высокопроизводительное</a:t>
            </a:r>
            <a:r>
              <a:rPr lang="en-US" dirty="0"/>
              <a:t> </a:t>
            </a:r>
            <a:r>
              <a:rPr lang="ru-RU" dirty="0"/>
              <a:t>системное программирование</a:t>
            </a:r>
            <a:endParaRPr lang="ru-RU" dirty="0">
              <a:solidFill>
                <a:srgbClr val="FF0000"/>
              </a:solidFill>
            </a:endParaRPr>
          </a:p>
          <a:p>
            <a:pPr lvl="1"/>
            <a:r>
              <a:rPr lang="en-US" dirty="0"/>
              <a:t>Zero cost/overhead abstractions</a:t>
            </a:r>
          </a:p>
          <a:p>
            <a:pPr lvl="1"/>
            <a:r>
              <a:rPr lang="ru-RU" dirty="0"/>
              <a:t>Возможность низкоуровневого тюнинга</a:t>
            </a:r>
            <a:endParaRPr lang="en-US" dirty="0"/>
          </a:p>
          <a:p>
            <a:r>
              <a:rPr lang="ru-RU" dirty="0"/>
              <a:t>Те же </a:t>
            </a:r>
            <a:r>
              <a:rPr lang="en-US" dirty="0"/>
              <a:t>backend</a:t>
            </a:r>
            <a:r>
              <a:rPr lang="ru-RU" dirty="0"/>
              <a:t>-оптимизаторы</a:t>
            </a:r>
            <a:r>
              <a:rPr lang="en-US" dirty="0"/>
              <a:t> (LLVM, GCC)</a:t>
            </a:r>
            <a:r>
              <a:rPr lang="ru-RU" dirty="0"/>
              <a:t> и технологии оптимизации </a:t>
            </a:r>
            <a:r>
              <a:rPr lang="en-US" dirty="0"/>
              <a:t>(PGO, LTO, etc.)</a:t>
            </a:r>
          </a:p>
          <a:p>
            <a:r>
              <a:rPr lang="ru-RU" dirty="0"/>
              <a:t>В </a:t>
            </a:r>
            <a:r>
              <a:rPr lang="en-US" dirty="0"/>
              <a:t>“</a:t>
            </a:r>
            <a:r>
              <a:rPr lang="ru-RU" dirty="0"/>
              <a:t>безопасном</a:t>
            </a:r>
            <a:r>
              <a:rPr lang="en-US" dirty="0"/>
              <a:t>”</a:t>
            </a:r>
            <a:r>
              <a:rPr lang="ru-RU" dirty="0"/>
              <a:t> диалекте </a:t>
            </a:r>
            <a:r>
              <a:rPr lang="en-US" dirty="0"/>
              <a:t>C++ (Hardened C/C++)</a:t>
            </a:r>
            <a:r>
              <a:rPr lang="ru-RU" dirty="0"/>
              <a:t> есть аналогичные рантайм-проверки</a:t>
            </a:r>
          </a:p>
        </p:txBody>
      </p:sp>
      <p:pic>
        <p:nvPicPr>
          <p:cNvPr id="1030" name="Picture 6" descr="The Rust Programming Language · GitHub">
            <a:extLst>
              <a:ext uri="{FF2B5EF4-FFF2-40B4-BE49-F238E27FC236}">
                <a16:creationId xmlns:a16="http://schemas.microsoft.com/office/drawing/2014/main" id="{C357BCBA-5866-464D-8B81-242F5507A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7699" y="196944"/>
            <a:ext cx="1454524" cy="1454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SO C++ Standards Committee · GitHub">
            <a:extLst>
              <a:ext uri="{FF2B5EF4-FFF2-40B4-BE49-F238E27FC236}">
                <a16:creationId xmlns:a16="http://schemas.microsoft.com/office/drawing/2014/main" id="{50AAB90A-3D91-4D78-9E8F-C0E2C21FB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5634" y="157723"/>
            <a:ext cx="1532965" cy="15329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4D1C0-E095-441E-8355-BD7F640D7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00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не будет в докладе</a:t>
            </a:r>
            <a:r>
              <a:rPr lang="en-US" dirty="0"/>
              <a:t>: </a:t>
            </a:r>
            <a:r>
              <a:rPr lang="ru-RU" dirty="0"/>
              <a:t>Другие</a:t>
            </a:r>
            <a:r>
              <a:rPr lang="en-US" dirty="0"/>
              <a:t> </a:t>
            </a:r>
            <a:r>
              <a:rPr lang="ru-RU" dirty="0"/>
              <a:t>аспекты языков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Эргономичность, выразительность (в частности </a:t>
            </a:r>
            <a:r>
              <a:rPr lang="en-US" dirty="0"/>
              <a:t>self-referential data structures), </a:t>
            </a:r>
            <a:r>
              <a:rPr lang="ru-RU" dirty="0"/>
              <a:t>безопасность</a:t>
            </a:r>
            <a:r>
              <a:rPr lang="en-US" dirty="0"/>
              <a:t>, </a:t>
            </a:r>
            <a:r>
              <a:rPr lang="ru-RU" dirty="0"/>
              <a:t>простота параллельного программирования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Fearless Concurrency with Rust</a:t>
            </a:r>
            <a:r>
              <a:rPr lang="en-US" dirty="0"/>
              <a:t>)</a:t>
            </a:r>
            <a:r>
              <a:rPr lang="ru-RU" dirty="0"/>
              <a:t>, </a:t>
            </a:r>
            <a:r>
              <a:rPr lang="en-US" dirty="0"/>
              <a:t>etc.</a:t>
            </a:r>
          </a:p>
          <a:p>
            <a:r>
              <a:rPr lang="ru-RU" dirty="0"/>
              <a:t>На эти темы есть множество других докладов</a:t>
            </a:r>
            <a:r>
              <a:rPr lang="en-US" dirty="0"/>
              <a:t>!</a:t>
            </a:r>
          </a:p>
          <a:p>
            <a:pPr lvl="1"/>
            <a:r>
              <a:rPr lang="en-US" dirty="0">
                <a:hlinkClick r:id="rId3"/>
              </a:rPr>
              <a:t>Rust Features that I Want in C++</a:t>
            </a:r>
            <a:r>
              <a:rPr lang="en-US" dirty="0"/>
              <a:t> (David </a:t>
            </a:r>
            <a:r>
              <a:rPr lang="en-US" dirty="0" err="1"/>
              <a:t>Sankel</a:t>
            </a:r>
            <a:r>
              <a:rPr lang="en-US" dirty="0"/>
              <a:t>, </a:t>
            </a:r>
            <a:r>
              <a:rPr lang="en-US" dirty="0" err="1"/>
              <a:t>CppNow</a:t>
            </a:r>
            <a:r>
              <a:rPr lang="en-US" dirty="0"/>
              <a:t> 2022)</a:t>
            </a:r>
          </a:p>
          <a:p>
            <a:pPr lvl="1"/>
            <a:r>
              <a:rPr lang="en-US" dirty="0">
                <a:hlinkClick r:id="rId4"/>
              </a:rPr>
              <a:t>The existential threat against C++ and where to go from here</a:t>
            </a:r>
            <a:r>
              <a:rPr lang="en-US" dirty="0"/>
              <a:t> (Helge Penne, NDC 2024)</a:t>
            </a:r>
          </a:p>
          <a:p>
            <a:pPr lvl="1"/>
            <a:r>
              <a:rPr lang="en-US" dirty="0">
                <a:hlinkClick r:id="rId5"/>
              </a:rPr>
              <a:t>Rust vs C++ with Steve </a:t>
            </a:r>
            <a:r>
              <a:rPr lang="en-US" dirty="0" err="1">
                <a:hlinkClick r:id="rId5"/>
              </a:rPr>
              <a:t>Klabnik</a:t>
            </a:r>
            <a:r>
              <a:rPr lang="en-US" dirty="0">
                <a:hlinkClick r:id="rId5"/>
              </a:rPr>
              <a:t> and Herb Sutter</a:t>
            </a:r>
            <a:r>
              <a:rPr lang="en-US" dirty="0"/>
              <a:t> (SW Engineering Daily podcast)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BDE4E-3F66-482F-8319-FC2323B18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8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Чего не будет в докладе</a:t>
            </a:r>
            <a:r>
              <a:rPr lang="en-US" dirty="0"/>
              <a:t>: </a:t>
            </a:r>
            <a:r>
              <a:rPr lang="ru-RU" dirty="0"/>
              <a:t>Небезопасный 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Язык </a:t>
            </a:r>
            <a:r>
              <a:rPr lang="en-US" dirty="0"/>
              <a:t>Rust </a:t>
            </a:r>
            <a:r>
              <a:rPr lang="ru-RU" dirty="0"/>
              <a:t>состоит из двух частей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Безопасный код</a:t>
            </a:r>
            <a:r>
              <a:rPr lang="en-US" dirty="0"/>
              <a:t> (</a:t>
            </a:r>
            <a:r>
              <a:rPr lang="ru-RU" dirty="0"/>
              <a:t>б</a:t>
            </a:r>
            <a:r>
              <a:rPr lang="ru-RU" i="1" dirty="0"/>
              <a:t>о</a:t>
            </a:r>
            <a:r>
              <a:rPr lang="ru-RU" dirty="0"/>
              <a:t>льшая часть кода на </a:t>
            </a:r>
            <a:r>
              <a:rPr lang="en-US" dirty="0"/>
              <a:t>Rust</a:t>
            </a:r>
            <a:r>
              <a:rPr lang="ru-RU" dirty="0"/>
              <a:t>)</a:t>
            </a:r>
            <a:endParaRPr lang="en-US" dirty="0"/>
          </a:p>
          <a:p>
            <a:pPr lvl="1"/>
            <a:r>
              <a:rPr lang="ru-RU" dirty="0"/>
              <a:t>Небезопасный код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“Things the Rust authors will implore you not to do” (</a:t>
            </a:r>
            <a:r>
              <a:rPr lang="en-US" dirty="0" err="1">
                <a:hlinkClick r:id="rId2"/>
              </a:rPr>
              <a:t>Rustonomicon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“Aspects of the language you may not use every day and useful in very specific situations”</a:t>
            </a:r>
            <a:r>
              <a:rPr lang="ru-RU" dirty="0"/>
              <a:t> (</a:t>
            </a:r>
            <a:r>
              <a:rPr lang="en-US" dirty="0">
                <a:hlinkClick r:id="rId3"/>
              </a:rPr>
              <a:t>Rust Book</a:t>
            </a:r>
            <a:r>
              <a:rPr lang="en-US" dirty="0"/>
              <a:t>)</a:t>
            </a:r>
          </a:p>
          <a:p>
            <a:pPr lvl="2"/>
            <a:r>
              <a:rPr lang="ru-RU" dirty="0"/>
              <a:t>Предназначен для оптимизации горячих участков кода</a:t>
            </a:r>
          </a:p>
          <a:p>
            <a:pPr lvl="2"/>
            <a:r>
              <a:rPr lang="ru-RU" dirty="0"/>
              <a:t>Используется для тюнинга в реальных проектах (в том числе и рассматриваемых нами бенчмарках)</a:t>
            </a:r>
          </a:p>
          <a:p>
            <a:r>
              <a:rPr lang="ru-RU" dirty="0"/>
              <a:t>В этом докладе мы фокусируемся на оптимизациях</a:t>
            </a:r>
            <a:r>
              <a:rPr lang="en-US" dirty="0"/>
              <a:t> </a:t>
            </a:r>
            <a:r>
              <a:rPr lang="ru-RU" dirty="0"/>
              <a:t>для </a:t>
            </a:r>
            <a:r>
              <a:rPr lang="ru-RU" i="1" dirty="0"/>
              <a:t>безопасного </a:t>
            </a:r>
            <a:r>
              <a:rPr lang="ru-RU" dirty="0"/>
              <a:t>кода</a:t>
            </a:r>
          </a:p>
          <a:p>
            <a:pPr lvl="1"/>
            <a:r>
              <a:rPr lang="en-US" dirty="0"/>
              <a:t>(</a:t>
            </a:r>
            <a:r>
              <a:rPr lang="ru-RU" dirty="0"/>
              <a:t>А также без </a:t>
            </a:r>
            <a:r>
              <a:rPr lang="en-US" dirty="0"/>
              <a:t>third-party </a:t>
            </a:r>
            <a:r>
              <a:rPr lang="ru-RU" dirty="0"/>
              <a:t>библиотек, </a:t>
            </a:r>
            <a:r>
              <a:rPr lang="en-US" dirty="0"/>
              <a:t>SIMD </a:t>
            </a:r>
            <a:r>
              <a:rPr lang="ru-RU" dirty="0"/>
              <a:t>и компиляторных интринсиков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Небезопасные конструкции лишают язык его основного преимущества</a:t>
            </a:r>
          </a:p>
          <a:p>
            <a:pPr lvl="1"/>
            <a:r>
              <a:rPr lang="ru-RU" dirty="0"/>
              <a:t>Небезопасные оптимизации хорошо известны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(</a:t>
            </a:r>
            <a:r>
              <a:rPr lang="ru-RU" dirty="0"/>
              <a:t>как правило</a:t>
            </a:r>
            <a:r>
              <a:rPr lang="en-US" dirty="0"/>
              <a:t>)</a:t>
            </a:r>
            <a:r>
              <a:rPr lang="ru-RU" dirty="0"/>
              <a:t> очевидны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6FB7-552D-4B96-8474-6ED88506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13</a:t>
            </a:fld>
            <a:endParaRPr lang="en-US"/>
          </a:p>
        </p:txBody>
      </p:sp>
      <p:pic>
        <p:nvPicPr>
          <p:cNvPr id="1026" name="Picture 2" descr="UNSAFE | Luckily this didn't apply to ...">
            <a:extLst>
              <a:ext uri="{FF2B5EF4-FFF2-40B4-BE49-F238E27FC236}">
                <a16:creationId xmlns:a16="http://schemas.microsoft.com/office/drawing/2014/main" id="{5A965522-F052-4988-A3ED-ECF63B926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5756" y="1219756"/>
            <a:ext cx="2304769" cy="1533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E4B53E-C0D2-4F5D-9055-F420B68E7B39}"/>
              </a:ext>
            </a:extLst>
          </p:cNvPr>
          <p:cNvSpPr txBox="1"/>
          <p:nvPr/>
        </p:nvSpPr>
        <p:spPr>
          <a:xfrm>
            <a:off x="116541" y="6502213"/>
            <a:ext cx="4034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5"/>
              </a:rPr>
              <a:t>Image source</a:t>
            </a:r>
            <a:r>
              <a:rPr lang="en-US" sz="1000" dirty="0"/>
              <a:t> (Tricia J)</a:t>
            </a:r>
          </a:p>
        </p:txBody>
      </p:sp>
    </p:spTree>
    <p:extLst>
      <p:ext uri="{BB962C8B-B14F-4D97-AF65-F5344CB8AC3E}">
        <p14:creationId xmlns:p14="http://schemas.microsoft.com/office/powerpoint/2010/main" val="2425501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Bounds checks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8E61-48B6-4351-B51D-7CE0FB07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82A08-3A38-4F73-B5C3-E3424FE51B7C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665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3228-3760-4226-AC20-B5B4E86E2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Переполнения буфера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A251B-AFAB-4D1F-860A-F2E607F34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43800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Morris Worm (1988)</a:t>
            </a:r>
          </a:p>
          <a:p>
            <a:r>
              <a:rPr lang="ru-RU" dirty="0"/>
              <a:t>Запись чрезмерно большого объёма данных в переменную программы</a:t>
            </a:r>
            <a:endParaRPr lang="en-US" dirty="0"/>
          </a:p>
          <a:p>
            <a:pPr marL="457200" lvl="1" indent="0">
              <a:buNone/>
            </a:pP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char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local_buf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pPr marL="457200" lvl="1" indent="0">
              <a:buNone/>
            </a:pP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sprintf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“Message from user: %s”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received_data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ru-RU" dirty="0"/>
              <a:t>Переполнение стека (</a:t>
            </a:r>
            <a:r>
              <a:rPr lang="en-US" dirty="0"/>
              <a:t>stack overflow)</a:t>
            </a:r>
            <a:endParaRPr lang="ru-RU" dirty="0"/>
          </a:p>
          <a:p>
            <a:pPr lvl="1"/>
            <a:r>
              <a:rPr lang="ru-RU" dirty="0"/>
              <a:t>Атаки </a:t>
            </a:r>
            <a:r>
              <a:rPr lang="en-US" dirty="0"/>
              <a:t>Stack Smashing, Return-to-libc, Return-Oriented Programming</a:t>
            </a:r>
          </a:p>
          <a:p>
            <a:pPr lvl="1"/>
            <a:r>
              <a:rPr lang="ru-RU" dirty="0"/>
              <a:t>Наиболее стандартизованный и технологичный вид атак</a:t>
            </a:r>
            <a:endParaRPr lang="en-US" dirty="0"/>
          </a:p>
          <a:p>
            <a:r>
              <a:rPr lang="ru-RU" dirty="0"/>
              <a:t>Переполнение кучи </a:t>
            </a:r>
            <a:r>
              <a:rPr lang="en-US" dirty="0"/>
              <a:t>(heap overflow)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07203C-7930-4B98-B51C-7530BB7BA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344" y="1502896"/>
            <a:ext cx="2841526" cy="42622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3D0371-EB56-4B28-A2BA-F24A998EABC4}"/>
              </a:ext>
            </a:extLst>
          </p:cNvPr>
          <p:cNvSpPr txBox="1"/>
          <p:nvPr/>
        </p:nvSpPr>
        <p:spPr>
          <a:xfrm>
            <a:off x="0" y="6492875"/>
            <a:ext cx="11943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hlinkClick r:id="rId3"/>
              </a:rPr>
              <a:t>Image source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F2FB3-0ABE-4551-B64E-9996F34C7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38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C58F6-C4AB-4F64-B829-BC3665620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32402" cy="1325563"/>
          </a:xfrm>
        </p:spPr>
        <p:txBody>
          <a:bodyPr/>
          <a:lstStyle/>
          <a:p>
            <a:r>
              <a:rPr lang="ru-RU" dirty="0"/>
              <a:t>Распространённость </a:t>
            </a:r>
            <a:r>
              <a:rPr lang="en-US" dirty="0"/>
              <a:t>buffer overflow </a:t>
            </a:r>
            <a:r>
              <a:rPr lang="ru-RU" dirty="0"/>
              <a:t>уязвимостей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D9631-53E8-4D6D-A000-E7F004BC0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0587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Лидирующие позиции в рейтинге наиболее опасных уязвимостей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Mitre CWE Top 25 2024</a:t>
            </a:r>
            <a:r>
              <a:rPr lang="en-US" dirty="0"/>
              <a:t> (</a:t>
            </a:r>
            <a:r>
              <a:rPr lang="ru-RU" dirty="0"/>
              <a:t>места 2, 6, 20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70% уязвимостей в продуктах </a:t>
            </a:r>
            <a:r>
              <a:rPr lang="en-US" dirty="0">
                <a:hlinkClick r:id="rId3"/>
              </a:rPr>
              <a:t>Microsoft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hlinkClick r:id="rId4"/>
              </a:rPr>
              <a:t>Chromium</a:t>
            </a:r>
            <a:r>
              <a:rPr lang="en-US" dirty="0"/>
              <a:t> </a:t>
            </a:r>
            <a:r>
              <a:rPr lang="ru-RU" dirty="0"/>
              <a:t>вызваны ошибками</a:t>
            </a:r>
            <a:r>
              <a:rPr lang="en-US" dirty="0"/>
              <a:t> </a:t>
            </a:r>
            <a:r>
              <a:rPr lang="ru-RU" dirty="0"/>
              <a:t>памяти</a:t>
            </a:r>
            <a:endParaRPr lang="en-US" dirty="0"/>
          </a:p>
          <a:p>
            <a:r>
              <a:rPr lang="ru-RU" dirty="0"/>
              <a:t>До 80% ошибок памяти связано с </a:t>
            </a:r>
            <a:r>
              <a:rPr lang="en-US" dirty="0"/>
              <a:t>buffer overflow</a:t>
            </a:r>
          </a:p>
          <a:p>
            <a:pPr lvl="1"/>
            <a:r>
              <a:rPr lang="ru-RU" dirty="0"/>
              <a:t>Статистика </a:t>
            </a:r>
            <a:r>
              <a:rPr lang="en-US" dirty="0">
                <a:hlinkClick r:id="rId5"/>
              </a:rPr>
              <a:t>CVE</a:t>
            </a:r>
            <a:r>
              <a:rPr lang="ru-RU" dirty="0"/>
              <a:t> и </a:t>
            </a:r>
            <a:r>
              <a:rPr lang="en-US" dirty="0">
                <a:hlinkClick r:id="rId6"/>
              </a:rPr>
              <a:t>KEV</a:t>
            </a:r>
            <a:r>
              <a:rPr lang="en-US" dirty="0"/>
              <a:t> (2024)</a:t>
            </a:r>
          </a:p>
          <a:p>
            <a:pPr lvl="1"/>
            <a:r>
              <a:rPr lang="en-US" dirty="0">
                <a:hlinkClick r:id="rId7"/>
              </a:rPr>
              <a:t>Google Project Zero</a:t>
            </a:r>
            <a:r>
              <a:rPr lang="en-US" dirty="0"/>
              <a:t> (2024)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53CDCD-FB7A-4AC6-9448-79BD075801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5496" y="620417"/>
            <a:ext cx="2601445" cy="75849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D23C0-A182-4343-A2FF-947681E8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0366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safety </a:t>
            </a:r>
            <a:r>
              <a:rPr lang="ru-RU" dirty="0"/>
              <a:t>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88506" cy="4351338"/>
          </a:xfrm>
        </p:spPr>
        <p:txBody>
          <a:bodyPr>
            <a:normAutofit/>
          </a:bodyPr>
          <a:lstStyle/>
          <a:p>
            <a:r>
              <a:rPr lang="ru-RU" dirty="0"/>
              <a:t>Фронтенд генерирует проверки стандартных</a:t>
            </a:r>
            <a:r>
              <a:rPr lang="en-US" dirty="0"/>
              <a:t> </a:t>
            </a:r>
            <a:r>
              <a:rPr lang="ru-RU" dirty="0"/>
              <a:t>индексных доступов</a:t>
            </a:r>
            <a:endParaRPr lang="en-US" dirty="0"/>
          </a:p>
          <a:p>
            <a:pPr lvl="1"/>
            <a:r>
              <a:rPr lang="ru-RU" dirty="0"/>
              <a:t>Массивы, </a:t>
            </a:r>
            <a:r>
              <a:rPr lang="en-US" dirty="0"/>
              <a:t>slices, </a:t>
            </a:r>
            <a:r>
              <a:rPr lang="ru-RU" dirty="0"/>
              <a:t>контейнеры</a:t>
            </a:r>
            <a:r>
              <a:rPr lang="en-US" dirty="0"/>
              <a:t>, etc.</a:t>
            </a:r>
          </a:p>
          <a:p>
            <a:pPr lvl="1"/>
            <a:r>
              <a:rPr lang="ru-RU" dirty="0"/>
              <a:t>Проверки могут быть удалены</a:t>
            </a:r>
            <a:r>
              <a:rPr lang="en-US" dirty="0"/>
              <a:t> </a:t>
            </a:r>
            <a:r>
              <a:rPr lang="ru-RU" dirty="0"/>
              <a:t>если оптимизатор может доказать безопасность</a:t>
            </a:r>
          </a:p>
          <a:p>
            <a:r>
              <a:rPr lang="ru-RU" dirty="0"/>
              <a:t>Также используются более безопасные алгоритмы в стандартной библиотеке</a:t>
            </a:r>
          </a:p>
          <a:p>
            <a:pPr lvl="1"/>
            <a:r>
              <a:rPr lang="ru-RU" dirty="0"/>
              <a:t>Например сортировка не упадёт при использовании некорректного компаратора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1E9C-1AC0-427A-B43C-401FB1E7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17</a:t>
            </a:fld>
            <a:endParaRPr lang="en-US"/>
          </a:p>
        </p:txBody>
      </p:sp>
      <p:pic>
        <p:nvPicPr>
          <p:cNvPr id="1026" name="Picture 2" descr="Free of Charge Creative Commons Highway ...">
            <a:extLst>
              <a:ext uri="{FF2B5EF4-FFF2-40B4-BE49-F238E27FC236}">
                <a16:creationId xmlns:a16="http://schemas.microsoft.com/office/drawing/2014/main" id="{DFF4F3E3-1531-47A6-87F0-6293E7F17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7301" y="998537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C6579F-1D07-4942-A921-983B45BDE3AA}"/>
              </a:ext>
            </a:extLst>
          </p:cNvPr>
          <p:cNvSpPr txBox="1"/>
          <p:nvPr/>
        </p:nvSpPr>
        <p:spPr>
          <a:xfrm>
            <a:off x="72558" y="6492875"/>
            <a:ext cx="1872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Image source</a:t>
            </a:r>
            <a:r>
              <a:rPr lang="en-US" sz="1000" dirty="0"/>
              <a:t> (Nick </a:t>
            </a:r>
            <a:r>
              <a:rPr lang="en-US" sz="1000" dirty="0" err="1"/>
              <a:t>Youngson</a:t>
            </a:r>
            <a:r>
              <a:rPr lang="en-US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44096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Накладные расходы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Выполнение сравнения и условного перехода (</a:t>
            </a:r>
            <a:r>
              <a:rPr lang="en-US" dirty="0"/>
              <a:t>1-2</a:t>
            </a:r>
            <a:r>
              <a:rPr lang="ru-RU" dirty="0"/>
              <a:t> </a:t>
            </a:r>
            <a:r>
              <a:rPr lang="en-US" dirty="0"/>
              <a:t>ALU </a:t>
            </a:r>
            <a:r>
              <a:rPr lang="ru-RU" dirty="0"/>
              <a:t>слота</a:t>
            </a:r>
            <a:r>
              <a:rPr lang="en-US" dirty="0"/>
              <a:t>)</a:t>
            </a:r>
          </a:p>
          <a:p>
            <a:r>
              <a:rPr lang="ru-RU" dirty="0"/>
              <a:t>Дополнительный регистр для хранения длины</a:t>
            </a:r>
            <a:r>
              <a:rPr lang="en-US" dirty="0"/>
              <a:t> </a:t>
            </a:r>
            <a:r>
              <a:rPr lang="ru-RU" dirty="0"/>
              <a:t>для сравнения</a:t>
            </a:r>
          </a:p>
          <a:p>
            <a:r>
              <a:rPr lang="ru-RU" dirty="0"/>
              <a:t>Давление на </a:t>
            </a:r>
            <a:r>
              <a:rPr lang="en-US" dirty="0"/>
              <a:t>I$ (</a:t>
            </a:r>
            <a:r>
              <a:rPr lang="ru-RU" dirty="0"/>
              <a:t>промахи в кэш) из-за кода проверки и обработчика паники</a:t>
            </a:r>
            <a:endParaRPr lang="en-US" dirty="0"/>
          </a:p>
          <a:p>
            <a:pPr lvl="1"/>
            <a:r>
              <a:rPr lang="ru-RU" dirty="0"/>
              <a:t>Давление на </a:t>
            </a:r>
            <a:r>
              <a:rPr lang="en-US" dirty="0"/>
              <a:t>branch predictor </a:t>
            </a:r>
            <a:r>
              <a:rPr lang="ru-RU" dirty="0"/>
              <a:t>для </a:t>
            </a:r>
            <a:r>
              <a:rPr lang="en-US" dirty="0"/>
              <a:t>never-taken </a:t>
            </a:r>
            <a:r>
              <a:rPr lang="ru-RU" dirty="0"/>
              <a:t>переходов</a:t>
            </a:r>
            <a:r>
              <a:rPr lang="en-US" dirty="0"/>
              <a:t> </a:t>
            </a:r>
            <a:r>
              <a:rPr lang="ru-RU" dirty="0">
                <a:hlinkClick r:id="rId2"/>
              </a:rPr>
              <a:t>практически отсутствует</a:t>
            </a:r>
            <a:endParaRPr lang="en-US" dirty="0"/>
          </a:p>
          <a:p>
            <a:r>
              <a:rPr lang="ru-RU" dirty="0"/>
              <a:t>Отключение других оптимизаций</a:t>
            </a:r>
          </a:p>
          <a:p>
            <a:pPr lvl="1"/>
            <a:r>
              <a:rPr lang="ru-RU" dirty="0"/>
              <a:t>Прежде всего векторизатора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89D59-DF34-4EB4-AFE1-AD82CBDDC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319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Во многих случаях компилятор способен</a:t>
            </a:r>
            <a:endParaRPr lang="en-US" dirty="0"/>
          </a:p>
          <a:p>
            <a:pPr lvl="1"/>
            <a:r>
              <a:rPr lang="ru-RU" dirty="0"/>
              <a:t>Гарантировать корректность доступа и удалить проверки</a:t>
            </a:r>
            <a:endParaRPr lang="en-US" dirty="0"/>
          </a:p>
          <a:p>
            <a:pPr lvl="1"/>
            <a:r>
              <a:rPr lang="ru-RU" dirty="0"/>
              <a:t>Или вынести проверки из цикла</a:t>
            </a:r>
            <a:r>
              <a:rPr lang="en-US" dirty="0"/>
              <a:t> (O(N) -&gt; O(1))</a:t>
            </a:r>
            <a:endParaRPr lang="ru-RU" dirty="0"/>
          </a:p>
          <a:p>
            <a:r>
              <a:rPr lang="ru-RU" dirty="0"/>
              <a:t>Эти оптимизации делаются на уровне </a:t>
            </a:r>
            <a:r>
              <a:rPr lang="en-US" dirty="0"/>
              <a:t>LLVM</a:t>
            </a:r>
            <a:endParaRPr lang="ru-RU" dirty="0"/>
          </a:p>
          <a:p>
            <a:pPr lvl="1"/>
            <a:r>
              <a:rPr lang="en-US" dirty="0" err="1"/>
              <a:t>InstCombine</a:t>
            </a:r>
            <a:r>
              <a:rPr lang="en-US" dirty="0"/>
              <a:t>, </a:t>
            </a:r>
            <a:r>
              <a:rPr lang="en-US" dirty="0" err="1"/>
              <a:t>SimpleLoopUnswitch</a:t>
            </a:r>
            <a:r>
              <a:rPr lang="en-US" dirty="0"/>
              <a:t>, </a:t>
            </a:r>
            <a:r>
              <a:rPr lang="en-US" dirty="0" err="1"/>
              <a:t>LoopVectorize</a:t>
            </a:r>
            <a:r>
              <a:rPr lang="en-US" dirty="0"/>
              <a:t>, etc.</a:t>
            </a:r>
            <a:endParaRPr lang="ru-RU" dirty="0"/>
          </a:p>
          <a:p>
            <a:pPr lvl="1"/>
            <a:r>
              <a:rPr lang="ru-RU" dirty="0"/>
              <a:t>Также должны оптимизировать </a:t>
            </a:r>
            <a:r>
              <a:rPr lang="en-US" dirty="0"/>
              <a:t>Hardened C/C++</a:t>
            </a:r>
            <a:endParaRPr lang="ru-RU" dirty="0"/>
          </a:p>
          <a:p>
            <a:r>
              <a:rPr lang="ru-RU" dirty="0"/>
              <a:t>Оптимизатор был сильно улучшен и многие проблемы прошлых лет успешно оптимизируются в текущей версии </a:t>
            </a:r>
            <a:r>
              <a:rPr lang="en-US" dirty="0"/>
              <a:t>Rust</a:t>
            </a:r>
          </a:p>
          <a:p>
            <a:pPr lvl="1"/>
            <a:r>
              <a:rPr lang="ru-RU" dirty="0"/>
              <a:t>Например известные </a:t>
            </a:r>
            <a:r>
              <a:rPr lang="ru-RU" dirty="0">
                <a:hlinkClick r:id="rId2"/>
              </a:rPr>
              <a:t>примеры Алекса Кладова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dirty="0" err="1"/>
              <a:t>matklad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8798F-61E8-43F0-99D0-7F2722ACE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9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4A-E75A-485D-9E8C-D61ACD01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8900"/>
            <a:ext cx="10515600" cy="1325563"/>
          </a:xfrm>
        </p:spPr>
        <p:txBody>
          <a:bodyPr/>
          <a:lstStyle/>
          <a:p>
            <a:r>
              <a:rPr lang="ru-RU" dirty="0"/>
              <a:t>Успешная оптимизация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3F733-21AE-4BC9-9BE5-2B5D5B10426E}"/>
              </a:ext>
            </a:extLst>
          </p:cNvPr>
          <p:cNvSpPr txBox="1"/>
          <p:nvPr/>
        </p:nvSpPr>
        <p:spPr>
          <a:xfrm>
            <a:off x="323850" y="2740958"/>
            <a:ext cx="537209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 *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84526-447D-45FE-A6E2-D4CCB45DB920}"/>
              </a:ext>
            </a:extLst>
          </p:cNvPr>
          <p:cNvSpPr txBox="1"/>
          <p:nvPr/>
        </p:nvSpPr>
        <p:spPr>
          <a:xfrm>
            <a:off x="5695950" y="1583204"/>
            <a:ext cx="63627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cfi_startproc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test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je      .LBB0_1  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// n == 0 =&gt;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вернуть 0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- 1]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jbe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.LBB0_6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//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b.len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() &lt; n =&gt;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паника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.p2align        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.LBB0_4: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            //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Цикл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(без проверок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ru-RU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r8d,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imul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r8d,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r9,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r8d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r9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r9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.LBB0_4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26F8CF-1300-414A-9A5A-5FE2898FAF08}"/>
              </a:ext>
            </a:extLst>
          </p:cNvPr>
          <p:cNvCxnSpPr/>
          <p:nvPr/>
        </p:nvCxnSpPr>
        <p:spPr>
          <a:xfrm>
            <a:off x="4533900" y="3608294"/>
            <a:ext cx="1162050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20C494-6E9E-416A-8EBD-1A0DE0FD29F1}"/>
              </a:ext>
            </a:extLst>
          </p:cNvPr>
          <p:cNvSpPr txBox="1"/>
          <p:nvPr/>
        </p:nvSpPr>
        <p:spPr>
          <a:xfrm>
            <a:off x="6858000" y="441306"/>
            <a:ext cx="42957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accent6">
                    <a:lumMod val="75000"/>
                  </a:schemeClr>
                </a:solidFill>
              </a:rPr>
              <a:t>Все проверки вынесены в пролог функции</a:t>
            </a:r>
            <a:endParaRPr lang="en-US" sz="28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8798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6CD4A-E75A-485D-9E8C-D61ACD014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88900"/>
            <a:ext cx="10515600" cy="1325563"/>
          </a:xfrm>
        </p:spPr>
        <p:txBody>
          <a:bodyPr/>
          <a:lstStyle/>
          <a:p>
            <a:r>
              <a:rPr lang="ru-RU" dirty="0"/>
              <a:t>Неуспешная оптимизация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3F733-21AE-4BC9-9BE5-2B5D5B10426E}"/>
              </a:ext>
            </a:extLst>
          </p:cNvPr>
          <p:cNvSpPr txBox="1"/>
          <p:nvPr/>
        </p:nvSpPr>
        <p:spPr>
          <a:xfrm>
            <a:off x="323850" y="2482156"/>
            <a:ext cx="612457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num_chunks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num_chunks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chunk_len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sz="16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084526-447D-45FE-A6E2-D4CCB45DB920}"/>
              </a:ext>
            </a:extLst>
          </p:cNvPr>
          <p:cNvSpPr txBox="1"/>
          <p:nvPr/>
        </p:nvSpPr>
        <p:spPr>
          <a:xfrm>
            <a:off x="6372227" y="1575077"/>
            <a:ext cx="573012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bar: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...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.p2align        4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        </a:t>
            </a:r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ru-RU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Цикл (с проверками</a:t>
            </a:r>
            <a:r>
              <a:rPr lang="en-US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!</a:t>
            </a:r>
            <a:r>
              <a:rPr lang="ru-RU" sz="1400" b="1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[r8 - 3]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[r8 - 2]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[r8 - 1]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.LBB0_7</a:t>
            </a: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r8,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4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.LBB0_6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+ 4*r8 - 12]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+ 4*r8 - 8]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+ 4*r8 - 4]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+ 4*r8]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add     r8, 4</a:t>
            </a: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dec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endParaRPr lang="en-US" sz="1400" dirty="0">
              <a:solidFill>
                <a:prstClr val="black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400" dirty="0">
                <a:solidFill>
                  <a:prstClr val="black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726F8CF-1300-414A-9A5A-5FE2898FAF08}"/>
              </a:ext>
            </a:extLst>
          </p:cNvPr>
          <p:cNvCxnSpPr>
            <a:cxnSpLocks/>
          </p:cNvCxnSpPr>
          <p:nvPr/>
        </p:nvCxnSpPr>
        <p:spPr>
          <a:xfrm>
            <a:off x="4657725" y="3028950"/>
            <a:ext cx="1714502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D20C494-6E9E-416A-8EBD-1A0DE0FD29F1}"/>
              </a:ext>
            </a:extLst>
          </p:cNvPr>
          <p:cNvSpPr txBox="1"/>
          <p:nvPr/>
        </p:nvSpPr>
        <p:spPr>
          <a:xfrm>
            <a:off x="7600950" y="450831"/>
            <a:ext cx="35433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rgbClr val="FF0000"/>
                </a:solidFill>
              </a:rPr>
              <a:t>Проверки остались в цикле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902D13-9D9A-44F9-8A97-68CB22C47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457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Общие соображения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9725024" cy="4351338"/>
          </a:xfrm>
        </p:spPr>
        <p:txBody>
          <a:bodyPr>
            <a:normAutofit/>
          </a:bodyPr>
          <a:lstStyle/>
          <a:p>
            <a:r>
              <a:rPr lang="ru-RU" dirty="0"/>
              <a:t>В циклах используйте слайсы, а не контейнеры</a:t>
            </a:r>
            <a:r>
              <a:rPr lang="en-US" dirty="0"/>
              <a:t> </a:t>
            </a:r>
            <a:r>
              <a:rPr lang="ru-RU" dirty="0"/>
              <a:t>типа </a:t>
            </a:r>
            <a:r>
              <a:rPr lang="en-US" dirty="0" err="1"/>
              <a:t>Vec</a:t>
            </a:r>
            <a:endParaRPr lang="en-US" dirty="0"/>
          </a:p>
          <a:p>
            <a:pPr lvl="1"/>
            <a:r>
              <a:rPr lang="ru-RU" dirty="0"/>
              <a:t>Это упрощает работу </a:t>
            </a:r>
            <a:r>
              <a:rPr lang="en-US" dirty="0"/>
              <a:t>alias analysis</a:t>
            </a:r>
          </a:p>
          <a:p>
            <a:r>
              <a:rPr lang="ru-RU" dirty="0"/>
              <a:t>Избегайте сложной индексной арифметики</a:t>
            </a:r>
          </a:p>
          <a:p>
            <a:pPr lvl="1"/>
            <a:r>
              <a:rPr lang="ru-RU" dirty="0"/>
              <a:t>Например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x</a:t>
            </a: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2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*</a:t>
            </a:r>
            <a:r>
              <a:rPr lang="en-US" dirty="0"/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i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+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5</a:t>
            </a:r>
            <a:r>
              <a:rPr lang="en-US" dirty="0">
                <a:solidFill>
                  <a:srgbClr val="0070C0"/>
                </a:solidFill>
              </a:rPr>
              <a:t>]</a:t>
            </a:r>
          </a:p>
          <a:p>
            <a:r>
              <a:rPr lang="ru-RU" dirty="0"/>
              <a:t>В нетривиальных случаях не полагайтесь на оптимизатор</a:t>
            </a:r>
          </a:p>
          <a:p>
            <a:pPr lvl="1"/>
            <a:r>
              <a:rPr lang="ru-RU" dirty="0"/>
              <a:t>Его возможности могут </a:t>
            </a:r>
            <a:r>
              <a:rPr lang="en-US" dirty="0"/>
              <a:t>(</a:t>
            </a:r>
            <a:r>
              <a:rPr lang="ru-RU" dirty="0"/>
              <a:t>немонотонно) меняться в разных версиях компилятора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“Auto-vectorization is not a programming model”</a:t>
            </a:r>
            <a:endParaRPr lang="en-US" dirty="0"/>
          </a:p>
          <a:p>
            <a:r>
              <a:rPr lang="ru-RU" dirty="0"/>
              <a:t>Эти же советы актуальны и для </a:t>
            </a:r>
            <a:r>
              <a:rPr lang="en-US" dirty="0"/>
              <a:t>Hardened C/C++!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0ACC-3BCF-4D43-AA7F-AC3F0899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2381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Unsafe-</a:t>
            </a:r>
            <a:r>
              <a:rPr lang="ru-RU" dirty="0"/>
              <a:t>код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580ACC-3BCF-4D43-AA7F-AC3F0899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23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9E2CC23-60D2-446E-B508-4675E665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52519"/>
            <a:ext cx="5159188" cy="466725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Наиболее простое и надёжное решение</a:t>
            </a:r>
            <a:endParaRPr lang="en-US" dirty="0"/>
          </a:p>
          <a:p>
            <a:r>
              <a:rPr lang="ru-RU" dirty="0"/>
              <a:t>Используется внутри контейнеров и итераторов стандартной библиотеки</a:t>
            </a:r>
          </a:p>
          <a:p>
            <a:r>
              <a:rPr lang="ru-RU" dirty="0"/>
              <a:t>Несколько вариантов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Использование указателей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ru-RU" dirty="0"/>
              <a:t>Методы без проверок типа </a:t>
            </a:r>
            <a:r>
              <a:rPr lang="en-US" dirty="0" err="1"/>
              <a:t>get_unchecked</a:t>
            </a:r>
            <a:endParaRPr lang="ru-RU" dirty="0"/>
          </a:p>
          <a:p>
            <a:pPr lvl="1"/>
            <a:r>
              <a:rPr lang="ru-RU" dirty="0"/>
              <a:t>Хинты для компилятора </a:t>
            </a:r>
            <a:r>
              <a:rPr lang="en-US" dirty="0"/>
              <a:t>std::hint::</a:t>
            </a:r>
            <a:r>
              <a:rPr lang="en-US" dirty="0" err="1"/>
              <a:t>unreachable_unchecked</a:t>
            </a:r>
            <a:r>
              <a:rPr lang="en-US" dirty="0"/>
              <a:t>, std::hint::</a:t>
            </a:r>
            <a:r>
              <a:rPr lang="en-US" dirty="0" err="1"/>
              <a:t>assert_unchecked</a:t>
            </a:r>
            <a:endParaRPr lang="ru-RU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10286485-0865-4735-A924-C8005131508F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0160C7-74EC-4178-99AC-60BDA62A8651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3" name="Picture 2" descr="Workplace Slip and Fall Injuries ...">
            <a:extLst>
              <a:ext uri="{FF2B5EF4-FFF2-40B4-BE49-F238E27FC236}">
                <a16:creationId xmlns:a16="http://schemas.microsoft.com/office/drawing/2014/main" id="{09E931A5-5DAD-4194-B8D1-8485DD139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162" y="611327"/>
            <a:ext cx="2572084" cy="1711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B582B2-D603-4D03-92F5-E1EFC122984F}"/>
              </a:ext>
            </a:extLst>
          </p:cNvPr>
          <p:cNvSpPr txBox="1"/>
          <p:nvPr/>
        </p:nvSpPr>
        <p:spPr>
          <a:xfrm>
            <a:off x="75756" y="6519769"/>
            <a:ext cx="48101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3"/>
              </a:rPr>
              <a:t>Image source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50788C-70E7-4C1A-82AA-B042E6568EEA}"/>
              </a:ext>
            </a:extLst>
          </p:cNvPr>
          <p:cNvSpPr txBox="1"/>
          <p:nvPr/>
        </p:nvSpPr>
        <p:spPr>
          <a:xfrm>
            <a:off x="6194612" y="3128469"/>
            <a:ext cx="58449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err="1">
                <a:solidFill>
                  <a:srgbClr val="C00000"/>
                </a:solidFill>
                <a:latin typeface="Consolas" panose="020B0609020204030204" pitchFamily="49" charset="0"/>
              </a:rPr>
              <a:t>fn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drop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(&amp;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mut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    // fill the hole again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unsafe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ptr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write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data</a:t>
            </a:r>
            <a:r>
              <a:rPr lang="en-US" sz="18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get_unchecked_mut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8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pos</a:t>
            </a:r>
            <a:r>
              <a:rPr lang="en-US" sz="1800" b="1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elt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take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().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unwrap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5A0048-5B02-4A41-BCAD-10AD08970C24}"/>
              </a:ext>
            </a:extLst>
          </p:cNvPr>
          <p:cNvSpPr txBox="1"/>
          <p:nvPr/>
        </p:nvSpPr>
        <p:spPr>
          <a:xfrm>
            <a:off x="8157882" y="5453122"/>
            <a:ext cx="154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rust #36072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965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39475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Использование ограниченных типов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Ограниченность индекса можно выразить с помощью типов</a:t>
            </a:r>
            <a:endParaRPr lang="en-US" dirty="0"/>
          </a:p>
          <a:p>
            <a:pPr lvl="1"/>
            <a:r>
              <a:rPr lang="en-US" dirty="0"/>
              <a:t>Enums </a:t>
            </a:r>
            <a:r>
              <a:rPr lang="ru-RU" dirty="0"/>
              <a:t>или</a:t>
            </a:r>
            <a:r>
              <a:rPr lang="en-US" dirty="0"/>
              <a:t> bool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21037-A4FB-4FE5-B054-B3B80FA9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0C7A5-B707-4671-B60C-3F0EBC6D0FE5}"/>
              </a:ext>
            </a:extLst>
          </p:cNvPr>
          <p:cNvSpPr txBox="1"/>
          <p:nvPr/>
        </p:nvSpPr>
        <p:spPr>
          <a:xfrm>
            <a:off x="1515037" y="3561853"/>
            <a:ext cx="41147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3EA6E3-BA9C-4E18-B1E2-F510BF225B2A}"/>
              </a:ext>
            </a:extLst>
          </p:cNvPr>
          <p:cNvSpPr txBox="1"/>
          <p:nvPr/>
        </p:nvSpPr>
        <p:spPr>
          <a:xfrm>
            <a:off x="6562165" y="3007856"/>
            <a:ext cx="46616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3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</a:p>
          <a:p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   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array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C71E93C-23CA-49B6-A6EF-2A2021900861}"/>
              </a:ext>
            </a:extLst>
          </p:cNvPr>
          <p:cNvCxnSpPr>
            <a:cxnSpLocks/>
          </p:cNvCxnSpPr>
          <p:nvPr/>
        </p:nvCxnSpPr>
        <p:spPr>
          <a:xfrm>
            <a:off x="5504329" y="4027547"/>
            <a:ext cx="95025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12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Ручные </a:t>
            </a:r>
            <a:r>
              <a:rPr lang="en-US" dirty="0"/>
              <a:t>asserts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257674" cy="4351338"/>
          </a:xfrm>
        </p:spPr>
        <p:txBody>
          <a:bodyPr/>
          <a:lstStyle/>
          <a:p>
            <a:r>
              <a:rPr lang="ru-RU" dirty="0"/>
              <a:t>Позволяет сделать однократную проверку вместо нескольких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D6B16-1212-4376-A65E-F12C7092C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40AD87-94B0-487D-A1B6-8EF52603E504}"/>
              </a:ext>
            </a:extLst>
          </p:cNvPr>
          <p:cNvSpPr txBox="1"/>
          <p:nvPr/>
        </p:nvSpPr>
        <p:spPr>
          <a:xfrm>
            <a:off x="5638799" y="1652648"/>
            <a:ext cx="625736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optimizer hint to eliminate bounds checks</a:t>
            </a: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within loops</a:t>
            </a:r>
          </a:p>
          <a:p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assert!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() ==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64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temp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Wrapping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64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// columns</a:t>
            </a:r>
          </a:p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for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</a:rPr>
              <a:t>in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..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nn-NO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 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16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24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 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40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48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coefficients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56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latin typeface="Consolas" panose="020B0609020204030204" pitchFamily="49" charset="0"/>
              </a:rPr>
              <a:t>...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AA8F99-074E-4903-A12F-6DF8DBBD9330}"/>
              </a:ext>
            </a:extLst>
          </p:cNvPr>
          <p:cNvSpPr txBox="1"/>
          <p:nvPr/>
        </p:nvSpPr>
        <p:spPr>
          <a:xfrm>
            <a:off x="7243482" y="5861793"/>
            <a:ext cx="2474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2"/>
              </a:rPr>
              <a:t>jpeg-decoder #167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473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3974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en-US" dirty="0" err="1"/>
              <a:t>Reslicing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248" y="1670220"/>
            <a:ext cx="9260540" cy="4351338"/>
          </a:xfrm>
        </p:spPr>
        <p:txBody>
          <a:bodyPr/>
          <a:lstStyle/>
          <a:p>
            <a:r>
              <a:rPr lang="en-US" dirty="0" err="1"/>
              <a:t>Reslicing</a:t>
            </a:r>
            <a:r>
              <a:rPr lang="en-US" dirty="0"/>
              <a:t>, </a:t>
            </a:r>
            <a:r>
              <a:rPr lang="en-US" dirty="0" err="1"/>
              <a:t>preslicing</a:t>
            </a:r>
            <a:r>
              <a:rPr lang="en-US" dirty="0"/>
              <a:t> </a:t>
            </a:r>
            <a:r>
              <a:rPr lang="ru-RU" dirty="0"/>
              <a:t>или</a:t>
            </a:r>
            <a:r>
              <a:rPr lang="en-US" dirty="0"/>
              <a:t> </a:t>
            </a:r>
            <a:r>
              <a:rPr lang="en-US" dirty="0" err="1"/>
              <a:t>subslicing</a:t>
            </a:r>
            <a:endParaRPr lang="en-US" dirty="0"/>
          </a:p>
          <a:p>
            <a:r>
              <a:rPr lang="ru-RU" dirty="0"/>
              <a:t>Раннее конструирование слайсов заданного размера</a:t>
            </a:r>
          </a:p>
          <a:p>
            <a:r>
              <a:rPr lang="ru-RU" dirty="0"/>
              <a:t>Заставляет компилятор сделать </a:t>
            </a:r>
            <a:r>
              <a:rPr lang="ru-RU" i="1" dirty="0"/>
              <a:t>однократную</a:t>
            </a:r>
            <a:r>
              <a:rPr lang="ru-RU" dirty="0"/>
              <a:t> проверку при создании слайса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1E62B7-C8EA-441E-8F63-270268E6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A6DAD1-F248-4F20-9B4B-28B23AEB8A89}"/>
              </a:ext>
            </a:extLst>
          </p:cNvPr>
          <p:cNvSpPr txBox="1"/>
          <p:nvPr/>
        </p:nvSpPr>
        <p:spPr>
          <a:xfrm>
            <a:off x="1210236" y="4280045"/>
            <a:ext cx="3415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]);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681E30-2489-4165-8BC1-219E7DEF5264}"/>
              </a:ext>
            </a:extLst>
          </p:cNvPr>
          <p:cNvSpPr txBox="1"/>
          <p:nvPr/>
        </p:nvSpPr>
        <p:spPr>
          <a:xfrm>
            <a:off x="6096000" y="4141545"/>
            <a:ext cx="48140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slice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&amp;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black_box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slice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]);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385ADCE-2203-4C13-ADA4-1EF86D614D3B}"/>
              </a:ext>
            </a:extLst>
          </p:cNvPr>
          <p:cNvCxnSpPr>
            <a:cxnSpLocks/>
          </p:cNvCxnSpPr>
          <p:nvPr/>
        </p:nvCxnSpPr>
        <p:spPr>
          <a:xfrm>
            <a:off x="4491317" y="4732745"/>
            <a:ext cx="1470211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46" name="Picture 2" descr="Cutting Bread · Free Stock Photo">
            <a:extLst>
              <a:ext uri="{FF2B5EF4-FFF2-40B4-BE49-F238E27FC236}">
                <a16:creationId xmlns:a16="http://schemas.microsoft.com/office/drawing/2014/main" id="{22E87B5F-8C08-491E-9374-6AED49862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6841" y="571500"/>
            <a:ext cx="16002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46E8CB-9876-44D3-8D4F-4E1EBC1FA245}"/>
              </a:ext>
            </a:extLst>
          </p:cNvPr>
          <p:cNvSpPr txBox="1"/>
          <p:nvPr/>
        </p:nvSpPr>
        <p:spPr>
          <a:xfrm>
            <a:off x="304799" y="6437805"/>
            <a:ext cx="47692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Image source</a:t>
            </a:r>
            <a:r>
              <a:rPr lang="en-US" sz="1000" dirty="0"/>
              <a:t> (</a:t>
            </a:r>
            <a:r>
              <a:rPr lang="en-US" sz="1000" dirty="0" err="1"/>
              <a:t>Lalada</a:t>
            </a:r>
            <a:r>
              <a:rPr lang="en-US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802663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1C2225-13F9-414D-9812-23A58EF0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338"/>
            <a:ext cx="10515600" cy="1325563"/>
          </a:xfrm>
        </p:spPr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Итераторы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FA879-28EF-4E1D-8096-AC47633AA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6901"/>
            <a:ext cx="10515600" cy="4351338"/>
          </a:xfrm>
        </p:spPr>
        <p:txBody>
          <a:bodyPr/>
          <a:lstStyle/>
          <a:p>
            <a:r>
              <a:rPr lang="ru-RU" dirty="0"/>
              <a:t>Многие итераторы используют информацию о размере контейнера для сокращения числа проверок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9A4A207-FA6C-4B6C-A8E8-88665B8D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AC2842-B29D-44DF-9B8D-E0AC9ABB9071}"/>
              </a:ext>
            </a:extLst>
          </p:cNvPr>
          <p:cNvSpPr txBox="1"/>
          <p:nvPr/>
        </p:nvSpPr>
        <p:spPr>
          <a:xfrm>
            <a:off x="838200" y="2689602"/>
            <a:ext cx="561022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 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 </a:t>
            </a:r>
            <a:r>
              <a:rPr lang="nn-NO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.LBB1_2:</a:t>
            </a: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solidFill>
                <a:srgbClr val="FF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je  .LBB1_5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r8d,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r8d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r8,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r8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.LBB1_2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6F5174-24B9-4F6A-A02D-4298AF550FA5}"/>
              </a:ext>
            </a:extLst>
          </p:cNvPr>
          <p:cNvSpPr txBox="1"/>
          <p:nvPr/>
        </p:nvSpPr>
        <p:spPr>
          <a:xfrm>
            <a:off x="6686549" y="2689602"/>
            <a:ext cx="56102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fn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nn-NO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nn-NO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This also works:</a:t>
            </a:r>
          </a:p>
          <a:p>
            <a:r>
              <a:rPr lang="nn-NO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//   </a:t>
            </a:r>
            <a:r>
              <a:rPr lang="es-E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(x, y) in </a:t>
            </a:r>
            <a:r>
              <a:rPr lang="es-ES" sz="16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x.iter_mut</a:t>
            </a:r>
            <a:r>
              <a:rPr lang="es-E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().zip(y)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iter_mut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zip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for_each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(|(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)|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nn-NO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nn-NO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+ 1]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</p:txBody>
      </p:sp>
      <p:cxnSp>
        <p:nvCxnSpPr>
          <p:cNvPr id="7" name="Straight Arrow Connector 8">
            <a:extLst>
              <a:ext uri="{FF2B5EF4-FFF2-40B4-BE49-F238E27FC236}">
                <a16:creationId xmlns:a16="http://schemas.microsoft.com/office/drawing/2014/main" id="{01AB55A3-9510-4B27-B6AA-8D31103D7CA1}"/>
              </a:ext>
            </a:extLst>
          </p:cNvPr>
          <p:cNvCxnSpPr/>
          <p:nvPr/>
        </p:nvCxnSpPr>
        <p:spPr>
          <a:xfrm>
            <a:off x="4612621" y="4076411"/>
            <a:ext cx="1731029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4478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FF52-2C9E-4C5E-A917-6290C966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Недостатки итераторов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A2941-DE47-4993-AB7A-F311CA007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17306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“Miracle of zero cost abstraction has a limit" (</a:t>
            </a:r>
            <a:r>
              <a:rPr lang="en-US" dirty="0" err="1">
                <a:hlinkClick r:id="rId2"/>
              </a:rPr>
              <a:t>fridsun</a:t>
            </a:r>
            <a:r>
              <a:rPr lang="en-US" dirty="0">
                <a:hlinkClick r:id="rId2"/>
              </a:rPr>
              <a:t> at Reddit</a:t>
            </a:r>
            <a:r>
              <a:rPr lang="en-US" dirty="0"/>
              <a:t>)</a:t>
            </a:r>
          </a:p>
          <a:p>
            <a:r>
              <a:rPr lang="ru-RU" dirty="0"/>
              <a:t>Сильное разбухание и замедление </a:t>
            </a:r>
            <a:r>
              <a:rPr lang="en-US" dirty="0"/>
              <a:t>debug-</a:t>
            </a:r>
            <a:r>
              <a:rPr lang="ru-RU" dirty="0"/>
              <a:t>кода</a:t>
            </a:r>
          </a:p>
          <a:p>
            <a:r>
              <a:rPr lang="ru-RU" dirty="0"/>
              <a:t>Компилятор может не заинлайнить длинные цепочки итераторов</a:t>
            </a:r>
            <a:endParaRPr lang="en-US" dirty="0"/>
          </a:p>
          <a:p>
            <a:r>
              <a:rPr lang="ru-RU" dirty="0"/>
              <a:t>Лямбды в итераторах принимают ссылки на элементы, что может вызывать проблемы с </a:t>
            </a:r>
            <a:r>
              <a:rPr lang="en-US" dirty="0"/>
              <a:t>LLVM alias analysis (</a:t>
            </a:r>
            <a:r>
              <a:rPr lang="en-US" dirty="0">
                <a:hlinkClick r:id="rId3"/>
              </a:rPr>
              <a:t>rust #106539</a:t>
            </a:r>
            <a:r>
              <a:rPr lang="en-US" dirty="0"/>
              <a:t>)</a:t>
            </a:r>
          </a:p>
          <a:p>
            <a:r>
              <a:rPr lang="en-US" dirty="0"/>
              <a:t>Chained-</a:t>
            </a:r>
            <a:r>
              <a:rPr lang="ru-RU" dirty="0"/>
              <a:t>итераторы </a:t>
            </a:r>
            <a:r>
              <a:rPr lang="en-US" dirty="0"/>
              <a:t>(chain, </a:t>
            </a:r>
            <a:r>
              <a:rPr lang="en-US" dirty="0" err="1"/>
              <a:t>flat_map</a:t>
            </a:r>
            <a:r>
              <a:rPr lang="en-US" dirty="0"/>
              <a:t>, flatten, etc.) </a:t>
            </a:r>
            <a:r>
              <a:rPr lang="ru-RU" dirty="0"/>
              <a:t>генерируют неэффективный код при использовании в </a:t>
            </a:r>
            <a:r>
              <a:rPr lang="en-US" dirty="0"/>
              <a:t>for-</a:t>
            </a:r>
            <a:r>
              <a:rPr lang="ru-RU" dirty="0"/>
              <a:t>циклах</a:t>
            </a:r>
            <a:r>
              <a:rPr lang="en-US" dirty="0"/>
              <a:t> (“external iteration”)</a:t>
            </a:r>
          </a:p>
          <a:p>
            <a:pPr lvl="1"/>
            <a:r>
              <a:rPr lang="ru-RU" dirty="0"/>
              <a:t>Рекомендуется их применять только с </a:t>
            </a:r>
            <a:r>
              <a:rPr lang="en-US" dirty="0"/>
              <a:t>.</a:t>
            </a:r>
            <a:r>
              <a:rPr lang="en-US" dirty="0" err="1"/>
              <a:t>for_each</a:t>
            </a:r>
            <a:r>
              <a:rPr lang="en-US" dirty="0"/>
              <a:t> (“internal iteration”)</a:t>
            </a:r>
          </a:p>
          <a:p>
            <a:pPr lvl="1"/>
            <a:r>
              <a:rPr lang="en-US" dirty="0">
                <a:hlinkClick r:id="rId4"/>
              </a:rPr>
              <a:t>Are iterators even efficient?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056AF-01AA-4C78-AE97-90CB26958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D67468-46EE-4A52-8D60-4FDECE823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044" y="136525"/>
            <a:ext cx="1551077" cy="214649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1CAFE9F-338E-4875-8829-62A24CE7F28E}"/>
              </a:ext>
            </a:extLst>
          </p:cNvPr>
          <p:cNvSpPr txBox="1"/>
          <p:nvPr/>
        </p:nvSpPr>
        <p:spPr>
          <a:xfrm>
            <a:off x="89647" y="6525750"/>
            <a:ext cx="772309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hlinkClick r:id="rId6"/>
              </a:rPr>
              <a:t>Image source</a:t>
            </a:r>
            <a:r>
              <a:rPr lang="en-US" sz="1050" dirty="0"/>
              <a:t> (Karen Arnolds)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87599D-DF4E-44AB-8AAA-C52A08F762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3044" y="136524"/>
            <a:ext cx="1551077" cy="214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974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39CB7-FD0B-494B-882C-251D3FA63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Распространённость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57CA2-B317-41A7-AD6D-0FDE43C3BB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20</a:t>
            </a:r>
            <a:r>
              <a:rPr lang="en-US" dirty="0"/>
              <a:t>% </a:t>
            </a:r>
            <a:r>
              <a:rPr lang="ru-RU" dirty="0"/>
              <a:t>проверок в коде компилятора </a:t>
            </a:r>
            <a:r>
              <a:rPr lang="en-US" dirty="0"/>
              <a:t>Rust – </a:t>
            </a:r>
            <a:r>
              <a:rPr lang="ru-RU" dirty="0"/>
              <a:t>проверки индексов</a:t>
            </a:r>
            <a:endParaRPr lang="en-US" dirty="0"/>
          </a:p>
          <a:p>
            <a:pPr lvl="1"/>
            <a:r>
              <a:rPr lang="ru-RU" dirty="0"/>
              <a:t>Данные получены на основе </a:t>
            </a:r>
            <a:r>
              <a:rPr lang="ru-RU" dirty="0">
                <a:hlinkClick r:id="rId2"/>
              </a:rPr>
              <a:t>анализа бинарного кода</a:t>
            </a:r>
            <a:endParaRPr lang="en-US" dirty="0"/>
          </a:p>
          <a:p>
            <a:r>
              <a:rPr lang="ru-RU" dirty="0"/>
              <a:t>Среди циклов с проверками в коде компилятора </a:t>
            </a:r>
            <a:r>
              <a:rPr lang="en-US" dirty="0"/>
              <a:t>Rust </a:t>
            </a:r>
            <a:r>
              <a:rPr lang="ru-RU" dirty="0"/>
              <a:t>80% содержат только индексные проверки</a:t>
            </a:r>
            <a:endParaRPr lang="en-US" dirty="0"/>
          </a:p>
          <a:p>
            <a:pPr lvl="1"/>
            <a:r>
              <a:rPr lang="ru-RU" dirty="0"/>
              <a:t>Эти проверки мешают их векторизации</a:t>
            </a:r>
            <a:endParaRPr lang="en-US" dirty="0"/>
          </a:p>
          <a:p>
            <a:pPr lvl="1"/>
            <a:r>
              <a:rPr lang="ru-RU" dirty="0"/>
              <a:t>Данные получены с помощью </a:t>
            </a:r>
            <a:r>
              <a:rPr lang="en-US" dirty="0">
                <a:hlinkClick r:id="rId3"/>
              </a:rPr>
              <a:t>LLVM </a:t>
            </a:r>
            <a:r>
              <a:rPr lang="ru-RU" dirty="0">
                <a:hlinkClick r:id="rId3"/>
              </a:rPr>
              <a:t>плагина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6F2BE2-C94D-4A7D-82D4-E183CCC72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6F58C-85CE-411B-A2B5-2DD9CF595705}"/>
              </a:ext>
            </a:extLst>
          </p:cNvPr>
          <p:cNvSpPr txBox="1"/>
          <p:nvPr/>
        </p:nvSpPr>
        <p:spPr>
          <a:xfrm>
            <a:off x="322729" y="6069291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Методика анализа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751A1-5216-46AD-9396-C6EFECB58D83}"/>
              </a:ext>
            </a:extLst>
          </p:cNvPr>
          <p:cNvSpPr txBox="1"/>
          <p:nvPr/>
        </p:nvSpPr>
        <p:spPr>
          <a:xfrm>
            <a:off x="322729" y="643862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5"/>
              </a:rPr>
              <a:t>Ветка компилятора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57040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9A1-A939-48FE-B1ED-39DD16F77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337" y="298767"/>
            <a:ext cx="10601325" cy="1325563"/>
          </a:xfrm>
        </p:spPr>
        <p:txBody>
          <a:bodyPr/>
          <a:lstStyle/>
          <a:p>
            <a:r>
              <a:rPr lang="ru-RU" dirty="0"/>
              <a:t>Рост производительности при отключении проверок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D499A-96B6-4756-9CEF-600C01A0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33F570-D9EA-4609-BAA6-AE13DF9F0605}"/>
              </a:ext>
            </a:extLst>
          </p:cNvPr>
          <p:cNvSpPr txBox="1"/>
          <p:nvPr/>
        </p:nvSpPr>
        <p:spPr>
          <a:xfrm>
            <a:off x="161359" y="643862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A32A04-8095-4584-8B73-2ADB859AA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480" y="1694329"/>
            <a:ext cx="6163234" cy="4930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6986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985E7-34C3-4636-9B5F-7F05FEB0E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Hardened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E4ACF-7780-433C-A2D2-95FAE3793C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44401" cy="4351338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C/C++</a:t>
            </a:r>
            <a:r>
              <a:rPr lang="ru-RU" dirty="0"/>
              <a:t> доступны ограниченные решения</a:t>
            </a:r>
            <a:r>
              <a:rPr lang="en-US" dirty="0"/>
              <a:t> </a:t>
            </a:r>
            <a:r>
              <a:rPr lang="ru-RU" dirty="0"/>
              <a:t>для обеспечения </a:t>
            </a:r>
            <a:r>
              <a:rPr lang="en-US" dirty="0"/>
              <a:t>memory safety:</a:t>
            </a:r>
          </a:p>
          <a:p>
            <a:pPr lvl="1"/>
            <a:r>
              <a:rPr lang="en-US" dirty="0" err="1"/>
              <a:t>StackProtector</a:t>
            </a:r>
            <a:endParaRPr lang="en-US" dirty="0"/>
          </a:p>
          <a:p>
            <a:pPr lvl="1"/>
            <a:r>
              <a:rPr lang="en-US" dirty="0"/>
              <a:t>_FORTIFY_SOURCE</a:t>
            </a:r>
          </a:p>
          <a:p>
            <a:pPr lvl="1"/>
            <a:r>
              <a:rPr lang="en-US" dirty="0"/>
              <a:t>Hardened STL (C++ only)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fsanitize</a:t>
            </a:r>
            <a:r>
              <a:rPr lang="en-US" dirty="0"/>
              <a:t>=bounds, -</a:t>
            </a:r>
            <a:r>
              <a:rPr lang="en-US" dirty="0" err="1"/>
              <a:t>fsanitize</a:t>
            </a:r>
            <a:r>
              <a:rPr lang="en-US" dirty="0"/>
              <a:t>=object-size</a:t>
            </a:r>
          </a:p>
          <a:p>
            <a:r>
              <a:rPr lang="ru-RU" dirty="0"/>
              <a:t>Полную проверку корректности индексов сделать невозможно из-за отсутствия информации о диапазонах для </a:t>
            </a:r>
            <a:r>
              <a:rPr lang="en-US" dirty="0"/>
              <a:t>raw pointers</a:t>
            </a:r>
          </a:p>
          <a:p>
            <a:pPr lvl="1"/>
            <a:r>
              <a:rPr lang="ru-RU" dirty="0"/>
              <a:t>Только </a:t>
            </a:r>
            <a:r>
              <a:rPr lang="en-US" dirty="0"/>
              <a:t>20% </a:t>
            </a:r>
            <a:r>
              <a:rPr lang="ru-RU" dirty="0"/>
              <a:t>нетривиальных обращений в память в коде </a:t>
            </a:r>
            <a:r>
              <a:rPr lang="en-US" dirty="0"/>
              <a:t>Clang </a:t>
            </a:r>
            <a:r>
              <a:rPr lang="ru-RU" dirty="0">
                <a:hlinkClick r:id="rId2"/>
              </a:rPr>
              <a:t>могут быть проверены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C++ Safe Buffers</a:t>
            </a:r>
            <a:r>
              <a:rPr lang="en-US" dirty="0"/>
              <a:t> </a:t>
            </a:r>
            <a:r>
              <a:rPr lang="ru-RU" dirty="0"/>
              <a:t>может быть решением, но требует нетривиальной модификации кода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21E9C-1AC0-427A-B43C-401FB1E7C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47B85E-6835-48C8-AACE-DE0DD7539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248" y="4001294"/>
            <a:ext cx="4209339" cy="19176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8BA17D-B545-4702-BC29-CA69AE6B51EB}"/>
              </a:ext>
            </a:extLst>
          </p:cNvPr>
          <p:cNvSpPr txBox="1"/>
          <p:nvPr/>
        </p:nvSpPr>
        <p:spPr>
          <a:xfrm>
            <a:off x="8526669" y="2673525"/>
            <a:ext cx="3180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Mario </a:t>
            </a:r>
            <a:r>
              <a:rPr lang="en-US" sz="1200" dirty="0" err="1"/>
              <a:t>Simoes</a:t>
            </a:r>
            <a:r>
              <a:rPr lang="en-US" sz="1200" dirty="0"/>
              <a:t>, </a:t>
            </a:r>
            <a:r>
              <a:rPr lang="en-US" sz="1200" dirty="0">
                <a:hlinkClick r:id="rId5"/>
              </a:rPr>
              <a:t>https://snl.no/Mount_Everest</a:t>
            </a: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996D1D-0526-4FCA-A822-1B54E240E3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355" y="1511368"/>
            <a:ext cx="3409123" cy="191763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94FA10-C08A-4CE1-A8CC-1627ADCD3558}"/>
              </a:ext>
            </a:extLst>
          </p:cNvPr>
          <p:cNvSpPr txBox="1"/>
          <p:nvPr/>
        </p:nvSpPr>
        <p:spPr>
          <a:xfrm>
            <a:off x="252245" y="6444476"/>
            <a:ext cx="31802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5"/>
              </a:rPr>
              <a:t>Image source</a:t>
            </a:r>
            <a:r>
              <a:rPr lang="en-US" sz="1200" dirty="0"/>
              <a:t> (Mario </a:t>
            </a:r>
            <a:r>
              <a:rPr lang="en-US" sz="1200" dirty="0" err="1"/>
              <a:t>Simoes</a:t>
            </a:r>
            <a:r>
              <a:rPr lang="en-US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4532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A667F-7E65-4945-9C86-FC727D86B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en-US" dirty="0"/>
              <a:t>Rust vs. Hardened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38B40-E73D-4831-98FC-82B140FC9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2D04A-CD20-4500-B9A8-DF659194233B}"/>
              </a:ext>
            </a:extLst>
          </p:cNvPr>
          <p:cNvSpPr txBox="1"/>
          <p:nvPr/>
        </p:nvSpPr>
        <p:spPr>
          <a:xfrm>
            <a:off x="618563" y="1720763"/>
            <a:ext cx="54774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 &amp;[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usize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628931-BF3D-4195-A053-6645D66107C2}"/>
              </a:ext>
            </a:extLst>
          </p:cNvPr>
          <p:cNvSpPr txBox="1"/>
          <p:nvPr/>
        </p:nvSpPr>
        <p:spPr>
          <a:xfrm>
            <a:off x="506504" y="3579753"/>
            <a:ext cx="570155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jae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.LBB0_2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.LBB0_2: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push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lea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[rip + .Lanon.1]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call    qword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[rip +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panic_bounds_check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19EB74-0FB1-4CDE-AF7A-39D1C28E9653}"/>
              </a:ext>
            </a:extLst>
          </p:cNvPr>
          <p:cNvSpPr txBox="1"/>
          <p:nvPr/>
        </p:nvSpPr>
        <p:spPr>
          <a:xfrm>
            <a:off x="6822142" y="1467107"/>
            <a:ext cx="52891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extern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“C”</a:t>
            </a: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span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size_t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6AE810-34E6-44E1-84D4-118A24EC6A8D}"/>
              </a:ext>
            </a:extLst>
          </p:cNvPr>
          <p:cNvSpPr txBox="1"/>
          <p:nvPr/>
        </p:nvSpPr>
        <p:spPr>
          <a:xfrm>
            <a:off x="6869767" y="3687474"/>
            <a:ext cx="520345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.LFB821: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endParaRPr lang="en-US" sz="16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jnb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 .L3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DWORD PTR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rdi+rdx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*4]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foo.cold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.L3: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push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...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call    std::__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glibcxx_assert_fail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3616352-E2D8-44CE-8806-F476359342EC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3357281" y="2551760"/>
            <a:ext cx="0" cy="102799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183EF0-70AF-490C-A4A7-C14BB0F0FF79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9466730" y="2544325"/>
            <a:ext cx="0" cy="103542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24B2563-ED3A-45BD-A8CF-8F399FA1E8BA}"/>
              </a:ext>
            </a:extLst>
          </p:cNvPr>
          <p:cNvSpPr txBox="1"/>
          <p:nvPr/>
        </p:nvSpPr>
        <p:spPr>
          <a:xfrm>
            <a:off x="717456" y="2931233"/>
            <a:ext cx="2387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rustc</a:t>
            </a:r>
            <a:r>
              <a:rPr lang="en-US" dirty="0"/>
              <a:t> -O -</a:t>
            </a:r>
            <a:r>
              <a:rPr lang="en-US" dirty="0" err="1"/>
              <a:t>Cpanic</a:t>
            </a:r>
            <a:r>
              <a:rPr lang="en-US" dirty="0"/>
              <a:t>=abort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50BAA50-F0D7-4F6B-895B-0282FF760CC7}"/>
              </a:ext>
            </a:extLst>
          </p:cNvPr>
          <p:cNvSpPr txBox="1"/>
          <p:nvPr/>
        </p:nvSpPr>
        <p:spPr>
          <a:xfrm>
            <a:off x="5954245" y="2918431"/>
            <a:ext cx="340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gcc</a:t>
            </a:r>
            <a:r>
              <a:rPr lang="en-US" dirty="0"/>
              <a:t> -O2 -D_GLIBCXX_ASSERTIONS</a:t>
            </a:r>
          </a:p>
        </p:txBody>
      </p:sp>
    </p:spTree>
    <p:extLst>
      <p:ext uri="{BB962C8B-B14F-4D97-AF65-F5344CB8AC3E}">
        <p14:creationId xmlns:p14="http://schemas.microsoft.com/office/powerpoint/2010/main" val="35039078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7E9A1-A939-48FE-B1ED-39DD16F77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Накладные расходы в</a:t>
            </a:r>
            <a:r>
              <a:rPr lang="en-US" dirty="0"/>
              <a:t> Hardened C++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5D499A-96B6-4756-9CEF-600C01A0D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A7220D-4E35-4BDC-A197-DF7B37AA60B2}"/>
              </a:ext>
            </a:extLst>
          </p:cNvPr>
          <p:cNvSpPr txBox="1"/>
          <p:nvPr/>
        </p:nvSpPr>
        <p:spPr>
          <a:xfrm>
            <a:off x="838200" y="5338583"/>
            <a:ext cx="38951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Неожиданные улучшения производительности связаны с аномалиями оптимизатора </a:t>
            </a:r>
            <a:r>
              <a:rPr lang="en-US" sz="1600" dirty="0"/>
              <a:t>(</a:t>
            </a:r>
            <a:r>
              <a:rPr lang="ru-RU" sz="1600" dirty="0"/>
              <a:t>неудачной векторизацией</a:t>
            </a:r>
            <a:r>
              <a:rPr lang="en-US" sz="1600" dirty="0"/>
              <a:t>, </a:t>
            </a:r>
            <a:r>
              <a:rPr lang="ru-RU" sz="1600" dirty="0"/>
              <a:t>отменой инлайнинга</a:t>
            </a:r>
            <a:r>
              <a:rPr lang="en-US" sz="1600" dirty="0"/>
              <a:t>, etc.)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599D1A-730D-4321-B17E-BFE12E333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637" y="1928625"/>
            <a:ext cx="11473704" cy="3059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5239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EDE64-8D87-4928-98EF-5C314A18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0330-319B-4265-9CB4-93175ABC4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Проверки индексов в </a:t>
            </a:r>
            <a:r>
              <a:rPr lang="en-US" dirty="0"/>
              <a:t>Rust </a:t>
            </a:r>
            <a:r>
              <a:rPr lang="ru-RU" dirty="0"/>
              <a:t>применяются более агрессивно чем в </a:t>
            </a:r>
            <a:r>
              <a:rPr lang="en-US" dirty="0"/>
              <a:t>Hardened C/C++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Hardened C/C++</a:t>
            </a:r>
            <a:r>
              <a:rPr lang="ru-RU" dirty="0"/>
              <a:t> можно проверить в 5 раз меньше доступов чем в </a:t>
            </a:r>
            <a:r>
              <a:rPr lang="en-US" dirty="0"/>
              <a:t>Rust</a:t>
            </a:r>
            <a:endParaRPr lang="ru-RU" dirty="0"/>
          </a:p>
          <a:p>
            <a:r>
              <a:rPr lang="ru-RU" dirty="0"/>
              <a:t>Накладные расходы в среднем могут достигать 3-4%</a:t>
            </a:r>
            <a:r>
              <a:rPr lang="en-US" dirty="0"/>
              <a:t> (</a:t>
            </a:r>
            <a:r>
              <a:rPr lang="ru-RU" dirty="0"/>
              <a:t>и сравнимы с </a:t>
            </a:r>
            <a:r>
              <a:rPr lang="en-US" dirty="0"/>
              <a:t>Hardened C/C++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Но отдельные тесты могут замедляться на десятки процентов </a:t>
            </a:r>
            <a:r>
              <a:rPr lang="en-US" dirty="0"/>
              <a:t>(</a:t>
            </a:r>
            <a:r>
              <a:rPr lang="ru-RU" dirty="0"/>
              <a:t>как впрочем и в </a:t>
            </a:r>
            <a:r>
              <a:rPr lang="en-US" dirty="0"/>
              <a:t>Hardened C/C++)</a:t>
            </a:r>
          </a:p>
          <a:p>
            <a:r>
              <a:rPr lang="ru-RU" dirty="0"/>
              <a:t>Существует множество способов избежания проверок в критических частях кода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CD42-7D07-42C8-AE40-84900801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611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алиасинга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958E61-48B6-4351-B51D-7CE0FB071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18F657-411A-41C1-A3CC-2B166A303859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584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F9249-37A4-4BB2-8505-8B46470D7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Алиасинг указателей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788151-D0CD-491B-946E-152120995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Универсальная концепция в языках программирования</a:t>
            </a:r>
          </a:p>
          <a:p>
            <a:r>
              <a:rPr lang="ru-RU" dirty="0"/>
              <a:t>Могут ли два разных указателя (ссылки) в программе адресовать одну и ту же память</a:t>
            </a:r>
            <a:r>
              <a:rPr lang="en-US" dirty="0"/>
              <a:t>?</a:t>
            </a:r>
          </a:p>
          <a:p>
            <a:r>
              <a:rPr lang="ru-RU" dirty="0"/>
              <a:t>В разных языках приняты различные подходы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Никакие два указателя в программе не могут ссылаться на одни и те же данные</a:t>
            </a:r>
            <a:r>
              <a:rPr lang="en-US" dirty="0"/>
              <a:t> (Fortran 77)</a:t>
            </a:r>
            <a:endParaRPr lang="ru-RU" dirty="0"/>
          </a:p>
          <a:p>
            <a:pPr lvl="1"/>
            <a:r>
              <a:rPr lang="ru-RU" dirty="0"/>
              <a:t>Любые указатели могут ссылаться на одни и те же данные</a:t>
            </a:r>
            <a:r>
              <a:rPr lang="en-US" dirty="0"/>
              <a:t> (</a:t>
            </a:r>
            <a:r>
              <a:rPr lang="ru-RU" dirty="0"/>
              <a:t>ранние версии языка </a:t>
            </a:r>
            <a:r>
              <a:rPr lang="en-US" dirty="0"/>
              <a:t>C)</a:t>
            </a:r>
          </a:p>
          <a:p>
            <a:pPr lvl="1"/>
            <a:r>
              <a:rPr lang="ru-RU" dirty="0"/>
              <a:t>Промежуточные варианты</a:t>
            </a:r>
            <a:endParaRPr lang="en-US" dirty="0"/>
          </a:p>
          <a:p>
            <a:pPr lvl="2"/>
            <a:r>
              <a:rPr lang="en-US" dirty="0"/>
              <a:t>Strict (type-based) aliasing </a:t>
            </a:r>
            <a:r>
              <a:rPr lang="ru-RU" dirty="0"/>
              <a:t>в </a:t>
            </a:r>
            <a:r>
              <a:rPr lang="en-US" dirty="0"/>
              <a:t>C89 </a:t>
            </a:r>
            <a:r>
              <a:rPr lang="ru-RU" dirty="0"/>
              <a:t>и </a:t>
            </a:r>
            <a:r>
              <a:rPr lang="en-US" dirty="0"/>
              <a:t>restrict-</a:t>
            </a:r>
            <a:r>
              <a:rPr lang="ru-RU" dirty="0"/>
              <a:t>аннотации в </a:t>
            </a:r>
            <a:r>
              <a:rPr lang="en-US" dirty="0"/>
              <a:t>C99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33C7B-340C-4F20-A332-387A60CC4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475353-DF0C-4DC9-9CBB-B58E8748C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9331" y="253066"/>
            <a:ext cx="2144093" cy="2059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2E1C46-83AD-428B-8631-2AE09A41F19A}"/>
              </a:ext>
            </a:extLst>
          </p:cNvPr>
          <p:cNvSpPr txBox="1"/>
          <p:nvPr/>
        </p:nvSpPr>
        <p:spPr>
          <a:xfrm>
            <a:off x="62753" y="6504641"/>
            <a:ext cx="4652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Image source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181637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C768-9F03-45EB-A999-97F2D4069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-169352"/>
            <a:ext cx="10515600" cy="1325563"/>
          </a:xfrm>
        </p:spPr>
        <p:txBody>
          <a:bodyPr/>
          <a:lstStyle/>
          <a:p>
            <a:r>
              <a:rPr lang="ru-RU" dirty="0"/>
              <a:t>Почему важен алиасинг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C3962-3A46-46BC-8044-5E039A931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250" y="1132234"/>
            <a:ext cx="10515600" cy="280838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Неограниченный алиасинг удобен для программиста, но снижает возможности компилятора</a:t>
            </a:r>
          </a:p>
          <a:p>
            <a:r>
              <a:rPr lang="ru-RU" dirty="0"/>
              <a:t>Отсутствие алиасинга даёт больше возможностей многим оптимизациям</a:t>
            </a:r>
            <a:endParaRPr lang="en-US" dirty="0"/>
          </a:p>
          <a:p>
            <a:pPr lvl="1"/>
            <a:r>
              <a:rPr lang="ru-RU" dirty="0"/>
              <a:t>Векторизация,</a:t>
            </a:r>
            <a:r>
              <a:rPr lang="en-US" dirty="0"/>
              <a:t> CSE,</a:t>
            </a:r>
            <a:r>
              <a:rPr lang="ru-RU" dirty="0"/>
              <a:t> </a:t>
            </a:r>
            <a:r>
              <a:rPr lang="en-US" dirty="0"/>
              <a:t>GVN, LICM, DSE, etc.</a:t>
            </a:r>
          </a:p>
          <a:p>
            <a:pPr lvl="1"/>
            <a:r>
              <a:rPr lang="ru-RU" dirty="0"/>
              <a:t>И даже используется в процессоре </a:t>
            </a:r>
            <a:r>
              <a:rPr lang="en-US" dirty="0"/>
              <a:t>(</a:t>
            </a:r>
            <a:r>
              <a:rPr lang="ru-RU" dirty="0"/>
              <a:t>для спекулятивного выноса загрузок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Поэтому важнейшим компонентом любого компилятора является модуль </a:t>
            </a:r>
            <a:r>
              <a:rPr lang="en-US" dirty="0"/>
              <a:t>Alias Analysis</a:t>
            </a:r>
          </a:p>
          <a:p>
            <a:pPr lvl="1"/>
            <a:r>
              <a:rPr lang="ru-RU" dirty="0"/>
              <a:t>Идентификация указателей, которые могут </a:t>
            </a:r>
            <a:r>
              <a:rPr lang="en-US" dirty="0"/>
              <a:t>(</a:t>
            </a:r>
            <a:r>
              <a:rPr lang="ru-RU" dirty="0"/>
              <a:t>или не могут</a:t>
            </a:r>
            <a:r>
              <a:rPr lang="en-US" dirty="0"/>
              <a:t>)</a:t>
            </a:r>
            <a:r>
              <a:rPr lang="ru-RU" dirty="0"/>
              <a:t> алиаситься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C5358-E7B4-4749-8C2C-BDF37FD6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2919BF-2F2B-48A8-B857-3EA8DF45FE04}"/>
              </a:ext>
            </a:extLst>
          </p:cNvPr>
          <p:cNvSpPr txBox="1"/>
          <p:nvPr/>
        </p:nvSpPr>
        <p:spPr>
          <a:xfrm>
            <a:off x="932891" y="4011097"/>
            <a:ext cx="573461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alias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restrict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8A4CB-0DAE-4DAE-946E-E76B353C378B}"/>
              </a:ext>
            </a:extLst>
          </p:cNvPr>
          <p:cNvSpPr txBox="1"/>
          <p:nvPr/>
        </p:nvSpPr>
        <p:spPr>
          <a:xfrm>
            <a:off x="7495054" y="4011098"/>
            <a:ext cx="385874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alias: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DWORD PTR [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b="1" dirty="0">
              <a:solidFill>
                <a:srgbClr val="0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mov     DWORD PTR [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BFB4DB9-17BE-4C11-AEBD-F99F3E786F9F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6667501" y="5411481"/>
            <a:ext cx="737346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8592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1C6CA-4CAD-4640-858E-8B9921A8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Алиасинг 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546FD-E26A-49FC-83BD-BEB328B1D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029450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Ограничения </a:t>
            </a:r>
            <a:r>
              <a:rPr lang="en-US" dirty="0"/>
              <a:t>Borrow checker </a:t>
            </a:r>
            <a:r>
              <a:rPr lang="ru-RU" dirty="0"/>
              <a:t>на работу со ссылками упрощают </a:t>
            </a:r>
            <a:r>
              <a:rPr lang="en-US" dirty="0"/>
              <a:t>alias analysis:</a:t>
            </a:r>
          </a:p>
          <a:p>
            <a:pPr lvl="1"/>
            <a:r>
              <a:rPr lang="en-US" dirty="0"/>
              <a:t>Mutable-</a:t>
            </a:r>
            <a:r>
              <a:rPr lang="ru-RU" dirty="0"/>
              <a:t>ссылка не может алиаситься ни с какими другими </a:t>
            </a:r>
            <a:r>
              <a:rPr lang="en-US" dirty="0"/>
              <a:t>(mutable </a:t>
            </a:r>
            <a:r>
              <a:rPr lang="ru-RU" dirty="0"/>
              <a:t>или </a:t>
            </a:r>
            <a:r>
              <a:rPr lang="en-US" dirty="0"/>
              <a:t>shared) </a:t>
            </a:r>
            <a:r>
              <a:rPr lang="ru-RU" dirty="0"/>
              <a:t>ссылками</a:t>
            </a:r>
            <a:endParaRPr lang="en-US" dirty="0"/>
          </a:p>
          <a:p>
            <a:pPr lvl="1"/>
            <a:r>
              <a:rPr lang="en-US" dirty="0"/>
              <a:t>Mutable-</a:t>
            </a:r>
            <a:r>
              <a:rPr lang="ru-RU" dirty="0"/>
              <a:t>ссылка, пока она существует, является единственным указателем на объект</a:t>
            </a:r>
            <a:endParaRPr lang="en-US" dirty="0"/>
          </a:p>
          <a:p>
            <a:pPr lvl="1"/>
            <a:r>
              <a:rPr lang="ru-RU" dirty="0"/>
              <a:t>Объект</a:t>
            </a:r>
            <a:r>
              <a:rPr lang="en-US" dirty="0"/>
              <a:t>,</a:t>
            </a:r>
            <a:r>
              <a:rPr lang="ru-RU" dirty="0"/>
              <a:t> адресуемый </a:t>
            </a:r>
            <a:r>
              <a:rPr lang="en-US" dirty="0"/>
              <a:t>shared</a:t>
            </a:r>
            <a:r>
              <a:rPr lang="ru-RU" dirty="0"/>
              <a:t>-ссылкой, не может быть изменён пока она существует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ru-RU" dirty="0"/>
              <a:t>На практике это позволяет добиться функциональности, сходной с </a:t>
            </a:r>
            <a:r>
              <a:rPr lang="en-US" dirty="0"/>
              <a:t>restrict </a:t>
            </a:r>
            <a:r>
              <a:rPr lang="ru-RU" dirty="0"/>
              <a:t>в </a:t>
            </a:r>
            <a:r>
              <a:rPr lang="en-US" dirty="0"/>
              <a:t>C/C++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59A51-24D0-4249-B45E-3C9FD8CBA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B1B2A-90AD-47D1-B022-CD1DC8848EE0}"/>
              </a:ext>
            </a:extLst>
          </p:cNvPr>
          <p:cNvSpPr txBox="1"/>
          <p:nvPr/>
        </p:nvSpPr>
        <p:spPr>
          <a:xfrm>
            <a:off x="8213696" y="1233291"/>
            <a:ext cx="38481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87A8BE-4CF2-4035-85AD-C171F66B7089}"/>
              </a:ext>
            </a:extLst>
          </p:cNvPr>
          <p:cNvSpPr txBox="1"/>
          <p:nvPr/>
        </p:nvSpPr>
        <p:spPr>
          <a:xfrm>
            <a:off x="8261321" y="3160456"/>
            <a:ext cx="37528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define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@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noalias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...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store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store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%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 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2D2BA5-26C1-413B-A740-4FA11A811EDE}"/>
              </a:ext>
            </a:extLst>
          </p:cNvPr>
          <p:cNvSpPr txBox="1"/>
          <p:nvPr/>
        </p:nvSpPr>
        <p:spPr>
          <a:xfrm>
            <a:off x="8161308" y="5247969"/>
            <a:ext cx="39528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0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ret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EC44FEE-6129-4111-A78D-C8596E1E8FD0}"/>
              </a:ext>
            </a:extLst>
          </p:cNvPr>
          <p:cNvCxnSpPr>
            <a:cxnSpLocks/>
          </p:cNvCxnSpPr>
          <p:nvPr/>
        </p:nvCxnSpPr>
        <p:spPr>
          <a:xfrm>
            <a:off x="10144469" y="2392821"/>
            <a:ext cx="0" cy="56677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192B5B5-5B91-48C9-A745-75F3DE3C7ABA}"/>
              </a:ext>
            </a:extLst>
          </p:cNvPr>
          <p:cNvCxnSpPr>
            <a:cxnSpLocks/>
          </p:cNvCxnSpPr>
          <p:nvPr/>
        </p:nvCxnSpPr>
        <p:spPr>
          <a:xfrm>
            <a:off x="10137745" y="4895655"/>
            <a:ext cx="0" cy="45019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3013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B3DC2-01D3-472B-9151-936A2935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40A3D-FF36-4404-AB04-9D1125AC4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29475" cy="4351338"/>
          </a:xfrm>
        </p:spPr>
        <p:txBody>
          <a:bodyPr>
            <a:normAutofit/>
          </a:bodyPr>
          <a:lstStyle/>
          <a:p>
            <a:r>
              <a:rPr lang="ru-RU" dirty="0"/>
              <a:t>Информация об указателях</a:t>
            </a:r>
            <a:r>
              <a:rPr lang="en-US" dirty="0"/>
              <a:t> </a:t>
            </a:r>
            <a:r>
              <a:rPr lang="ru-RU" dirty="0"/>
              <a:t>предоставляется</a:t>
            </a:r>
            <a:r>
              <a:rPr lang="en-US" dirty="0"/>
              <a:t> </a:t>
            </a:r>
            <a:r>
              <a:rPr lang="ru-RU" dirty="0"/>
              <a:t>с помощью атрибута </a:t>
            </a:r>
            <a:r>
              <a:rPr lang="en-US" dirty="0" err="1"/>
              <a:t>noalias</a:t>
            </a:r>
            <a:r>
              <a:rPr lang="en-US" dirty="0"/>
              <a:t> </a:t>
            </a:r>
            <a:r>
              <a:rPr lang="ru-RU" dirty="0"/>
              <a:t>у аргументов функций</a:t>
            </a:r>
            <a:endParaRPr lang="en-US" dirty="0"/>
          </a:p>
          <a:p>
            <a:pPr lvl="1"/>
            <a:r>
              <a:rPr lang="ru-RU" dirty="0"/>
              <a:t>Ссылки, возникающие </a:t>
            </a:r>
            <a:r>
              <a:rPr lang="ru-RU" i="1" dirty="0"/>
              <a:t>внутри</a:t>
            </a:r>
            <a:r>
              <a:rPr lang="ru-RU" dirty="0"/>
              <a:t> функций, никак не помечаются и с точки зрения </a:t>
            </a:r>
            <a:r>
              <a:rPr lang="en-US" dirty="0"/>
              <a:t>LLVM </a:t>
            </a:r>
            <a:r>
              <a:rPr lang="ru-RU" dirty="0"/>
              <a:t>могут алиаситься</a:t>
            </a:r>
            <a:endParaRPr lang="en-US" dirty="0"/>
          </a:p>
          <a:p>
            <a:r>
              <a:rPr lang="ru-RU" dirty="0"/>
              <a:t>Решение возможно с помощью </a:t>
            </a:r>
            <a:r>
              <a:rPr lang="en-US" dirty="0" err="1">
                <a:hlinkClick r:id="rId2"/>
              </a:rPr>
              <a:t>alias.scope</a:t>
            </a:r>
            <a:r>
              <a:rPr lang="en-US" dirty="0">
                <a:hlinkClick r:id="rId2"/>
              </a:rPr>
              <a:t> metadata</a:t>
            </a:r>
            <a:r>
              <a:rPr lang="ru-RU" dirty="0"/>
              <a:t>, но пока не реализовано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#16515</a:t>
            </a:r>
            <a:r>
              <a:rPr lang="en-US" dirty="0"/>
              <a:t>)</a:t>
            </a:r>
          </a:p>
          <a:p>
            <a:r>
              <a:rPr lang="en-US" dirty="0"/>
              <a:t>Workaround: </a:t>
            </a:r>
            <a:r>
              <a:rPr lang="ru-RU" dirty="0"/>
              <a:t>создание </a:t>
            </a:r>
            <a:r>
              <a:rPr lang="en-US" dirty="0"/>
              <a:t>dummy</a:t>
            </a:r>
            <a:r>
              <a:rPr lang="ru-RU" dirty="0"/>
              <a:t>-функции для генерации </a:t>
            </a:r>
            <a:r>
              <a:rPr lang="en-US" dirty="0" err="1"/>
              <a:t>noalias</a:t>
            </a:r>
            <a:r>
              <a:rPr lang="en-US" dirty="0"/>
              <a:t>-</a:t>
            </a:r>
            <a:r>
              <a:rPr lang="ru-RU" dirty="0"/>
              <a:t>аннотаций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F96B0-A3A2-4B7E-900F-9044BAC69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39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B6C026-28A1-4716-BF50-E1E56117FCB9}"/>
              </a:ext>
            </a:extLst>
          </p:cNvPr>
          <p:cNvSpPr txBox="1"/>
          <p:nvPr/>
        </p:nvSpPr>
        <p:spPr>
          <a:xfrm>
            <a:off x="8223437" y="1690688"/>
            <a:ext cx="37147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 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600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C1C39-8C7A-4F24-8DAD-1C6E0122F876}"/>
              </a:ext>
            </a:extLst>
          </p:cNvPr>
          <p:cNvSpPr txBox="1"/>
          <p:nvPr/>
        </p:nvSpPr>
        <p:spPr>
          <a:xfrm>
            <a:off x="8067675" y="4449500"/>
            <a:ext cx="38705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1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], 2</a:t>
            </a:r>
          </a:p>
          <a:p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   mov    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6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600" b="1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ret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0DEE58-15BC-44E0-92D1-8A19F2D02A2E}"/>
              </a:ext>
            </a:extLst>
          </p:cNvPr>
          <p:cNvCxnSpPr>
            <a:cxnSpLocks/>
          </p:cNvCxnSpPr>
          <p:nvPr/>
        </p:nvCxnSpPr>
        <p:spPr>
          <a:xfrm>
            <a:off x="10080812" y="3565520"/>
            <a:ext cx="0" cy="65538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8482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E0DFE-523B-4E6C-B58A-2D327C5FB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21C8B-47E1-4580-A0CB-850D105F2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05625" cy="4351338"/>
          </a:xfrm>
        </p:spPr>
        <p:txBody>
          <a:bodyPr/>
          <a:lstStyle/>
          <a:p>
            <a:r>
              <a:rPr lang="ru-RU" dirty="0"/>
              <a:t>Частный случай этой проблемы – алиасинг ссылок на элементы структур данных</a:t>
            </a:r>
          </a:p>
          <a:p>
            <a:r>
              <a:rPr lang="ru-RU" dirty="0"/>
              <a:t>Например</a:t>
            </a:r>
            <a:r>
              <a:rPr lang="en-US" dirty="0"/>
              <a:t>,</a:t>
            </a:r>
            <a:r>
              <a:rPr lang="ru-RU" dirty="0"/>
              <a:t> при передаче в функцию двух векторов компилятор не сможет определить что их буферы не алиасятся</a:t>
            </a:r>
          </a:p>
          <a:p>
            <a:r>
              <a:rPr lang="en-US" dirty="0"/>
              <a:t>Workaround: </a:t>
            </a:r>
            <a:r>
              <a:rPr lang="ru-RU" dirty="0"/>
              <a:t>передавать в функции </a:t>
            </a:r>
            <a:r>
              <a:rPr lang="en-US" dirty="0"/>
              <a:t>raw slices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84024-4D76-4236-8B68-69F588C77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4D926-8409-43D2-81FA-C4C3B3F158C7}"/>
              </a:ext>
            </a:extLst>
          </p:cNvPr>
          <p:cNvSpPr txBox="1"/>
          <p:nvPr/>
        </p:nvSpPr>
        <p:spPr>
          <a:xfrm>
            <a:off x="8079908" y="1502917"/>
            <a:ext cx="40290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Vec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 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A3A6FB-3CC4-41EE-8F5D-7DB26EFAD93E}"/>
              </a:ext>
            </a:extLst>
          </p:cNvPr>
          <p:cNvSpPr txBox="1"/>
          <p:nvPr/>
        </p:nvSpPr>
        <p:spPr>
          <a:xfrm>
            <a:off x="8079908" y="4114860"/>
            <a:ext cx="362902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A06FB62-C6E5-4AEF-BBA7-53DC3E244B09}"/>
              </a:ext>
            </a:extLst>
          </p:cNvPr>
          <p:cNvCxnSpPr>
            <a:cxnSpLocks/>
          </p:cNvCxnSpPr>
          <p:nvPr/>
        </p:nvCxnSpPr>
        <p:spPr>
          <a:xfrm flipH="1">
            <a:off x="9894420" y="3416559"/>
            <a:ext cx="1" cy="538281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546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3CB7C-7BB2-497D-AB38-7DDF8E092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Эффективность правил</a:t>
            </a:r>
            <a:r>
              <a:rPr lang="en-US" dirty="0"/>
              <a:t> </a:t>
            </a:r>
            <a:r>
              <a:rPr lang="ru-RU" dirty="0"/>
              <a:t>алиасинга </a:t>
            </a:r>
            <a:r>
              <a:rPr lang="en-US" dirty="0"/>
              <a:t>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30ADC-B477-493E-9705-8D57080CE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AB8DB-3BE3-47E9-AAD9-0331EBFD79D5}"/>
              </a:ext>
            </a:extLst>
          </p:cNvPr>
          <p:cNvSpPr txBox="1"/>
          <p:nvPr/>
        </p:nvSpPr>
        <p:spPr>
          <a:xfrm>
            <a:off x="84604" y="6492875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Методика анализа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D5875B-D97C-4E55-905D-4FD2A00A6F20}"/>
              </a:ext>
            </a:extLst>
          </p:cNvPr>
          <p:cNvSpPr txBox="1"/>
          <p:nvPr/>
        </p:nvSpPr>
        <p:spPr>
          <a:xfrm>
            <a:off x="2124355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Ветка компилятора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440907-6395-4836-80B1-734F50EA6DEA}"/>
              </a:ext>
            </a:extLst>
          </p:cNvPr>
          <p:cNvSpPr txBox="1"/>
          <p:nvPr/>
        </p:nvSpPr>
        <p:spPr>
          <a:xfrm>
            <a:off x="9820275" y="2098577"/>
            <a:ext cx="21050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Точность алиас-анализа – число пар указателей, для которых анализ смог дать чёткий ответ (</a:t>
            </a:r>
            <a:r>
              <a:rPr lang="en-US" dirty="0" err="1"/>
              <a:t>MustAlias</a:t>
            </a:r>
            <a:r>
              <a:rPr lang="en-US" dirty="0"/>
              <a:t> / </a:t>
            </a:r>
            <a:r>
              <a:rPr lang="en-US" dirty="0" err="1"/>
              <a:t>NoAlias</a:t>
            </a:r>
            <a:r>
              <a:rPr lang="en-US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1DB5B-563D-41B9-AA77-FFB932CEFCE8}"/>
              </a:ext>
            </a:extLst>
          </p:cNvPr>
          <p:cNvSpPr txBox="1"/>
          <p:nvPr/>
        </p:nvSpPr>
        <p:spPr>
          <a:xfrm>
            <a:off x="1419224" y="5604986"/>
            <a:ext cx="8029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Ухудшение точности </a:t>
            </a:r>
            <a:r>
              <a:rPr lang="en-US" dirty="0"/>
              <a:t>Alias Analysis </a:t>
            </a:r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при отключении правил алиасинга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55759D-85F6-4460-AF73-956D7048D2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38" y="1690688"/>
            <a:ext cx="8915961" cy="37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2947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38189-755D-4F0A-9D27-F53B2B445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Ухудшение производительности при отключении правил алиасинга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B39745-C71B-42E8-BD21-92D92B16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F6B715-1AB6-43D0-9F84-6601124BD71A}"/>
              </a:ext>
            </a:extLst>
          </p:cNvPr>
          <p:cNvSpPr txBox="1"/>
          <p:nvPr/>
        </p:nvSpPr>
        <p:spPr>
          <a:xfrm>
            <a:off x="137834" y="6352143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0A8A1-9D01-4FFE-A653-7119DC8A85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292" y="1865294"/>
            <a:ext cx="6070226" cy="485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035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26931-75D5-4C29-87E7-EF84BBBA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Ситуация в </a:t>
            </a:r>
            <a:r>
              <a:rPr lang="en-US" dirty="0"/>
              <a:t>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7E30B-CCE3-4D6A-A1D2-F576E91B79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6701117" cy="2562225"/>
          </a:xfrm>
        </p:spPr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ru-RU" dirty="0"/>
              <a:t> и </a:t>
            </a:r>
            <a:r>
              <a:rPr lang="en-US" dirty="0"/>
              <a:t>C++ </a:t>
            </a:r>
            <a:r>
              <a:rPr lang="ru-RU" dirty="0"/>
              <a:t>запрещают алиасинг указателей на разные типы</a:t>
            </a:r>
          </a:p>
          <a:p>
            <a:pPr lvl="1"/>
            <a:r>
              <a:rPr lang="ru-RU" dirty="0"/>
              <a:t>Кроме </a:t>
            </a:r>
            <a:r>
              <a:rPr lang="en-US" dirty="0"/>
              <a:t>char *, signed/unsigned, scalar/vector </a:t>
            </a:r>
            <a:r>
              <a:rPr lang="ru-RU" dirty="0"/>
              <a:t>и т.п.</a:t>
            </a:r>
            <a:endParaRPr lang="en-US" dirty="0"/>
          </a:p>
          <a:p>
            <a:r>
              <a:rPr lang="ru-RU" dirty="0"/>
              <a:t>Но многие проекты игнорируют это правило с помощью </a:t>
            </a:r>
            <a:r>
              <a:rPr lang="en-US" dirty="0"/>
              <a:t>-</a:t>
            </a:r>
            <a:r>
              <a:rPr lang="en-US" dirty="0" err="1"/>
              <a:t>fno</a:t>
            </a:r>
            <a:r>
              <a:rPr lang="en-US" dirty="0"/>
              <a:t>-strict-aliasing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2B529-8127-4DB6-B0F8-4A65E7AF3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341A74-1271-4EF3-9AB9-A8030716B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9318" y="2015705"/>
            <a:ext cx="4389000" cy="20471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22B0522-DEAE-4149-9B84-C222378B21E6}"/>
              </a:ext>
            </a:extLst>
          </p:cNvPr>
          <p:cNvSpPr txBox="1">
            <a:spLocks/>
          </p:cNvSpPr>
          <p:nvPr/>
        </p:nvSpPr>
        <p:spPr>
          <a:xfrm>
            <a:off x="838200" y="4387850"/>
            <a:ext cx="10014268" cy="1873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 </a:t>
            </a:r>
            <a:r>
              <a:rPr lang="ru-RU" dirty="0"/>
              <a:t>и </a:t>
            </a:r>
            <a:r>
              <a:rPr lang="en-US" dirty="0"/>
              <a:t>C++ </a:t>
            </a:r>
            <a:r>
              <a:rPr lang="ru-RU" dirty="0"/>
              <a:t>предоставляют возможность явного запрета алиасинга программистом с помощью ключевого слова </a:t>
            </a:r>
            <a:r>
              <a:rPr lang="en-US" dirty="0"/>
              <a:t>restrict</a:t>
            </a:r>
          </a:p>
          <a:p>
            <a:pPr lvl="1"/>
            <a:r>
              <a:rPr lang="ru-RU" dirty="0"/>
              <a:t>На практике эта функциональность используется редко (в </a:t>
            </a:r>
            <a:r>
              <a:rPr lang="en-US" dirty="0"/>
              <a:t>Rust </a:t>
            </a:r>
            <a:r>
              <a:rPr lang="ru-RU" dirty="0"/>
              <a:t>долго не могли включить правила </a:t>
            </a:r>
            <a:r>
              <a:rPr lang="en-US" dirty="0"/>
              <a:t>aliasing </a:t>
            </a:r>
            <a:r>
              <a:rPr lang="ru-RU" dirty="0"/>
              <a:t>из-за скрытых багов в </a:t>
            </a:r>
            <a:r>
              <a:rPr lang="en-US" dirty="0"/>
              <a:t>LLVM)</a:t>
            </a:r>
          </a:p>
        </p:txBody>
      </p:sp>
    </p:spTree>
    <p:extLst>
      <p:ext uri="{BB962C8B-B14F-4D97-AF65-F5344CB8AC3E}">
        <p14:creationId xmlns:p14="http://schemas.microsoft.com/office/powerpoint/2010/main" val="32774279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8B9F6-958F-47FF-AF84-F4AD8BD26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3F32C-778E-4F8A-8F79-DEF4E035E7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Правила алиасинга в </a:t>
            </a:r>
            <a:r>
              <a:rPr lang="en-US" dirty="0"/>
              <a:t>Rust </a:t>
            </a:r>
            <a:r>
              <a:rPr lang="ru-RU" dirty="0"/>
              <a:t>позволяют</a:t>
            </a:r>
            <a:endParaRPr lang="en-US" dirty="0"/>
          </a:p>
          <a:p>
            <a:pPr lvl="1"/>
            <a:r>
              <a:rPr lang="ru-RU" dirty="0"/>
              <a:t>Повысить точность анализа в среднем на </a:t>
            </a:r>
            <a:r>
              <a:rPr lang="en-US" dirty="0"/>
              <a:t>5%</a:t>
            </a:r>
          </a:p>
          <a:p>
            <a:pPr lvl="1"/>
            <a:r>
              <a:rPr lang="ru-RU" dirty="0"/>
              <a:t>Улучшить производительность</a:t>
            </a:r>
            <a:r>
              <a:rPr lang="en-US" dirty="0"/>
              <a:t> </a:t>
            </a:r>
            <a:r>
              <a:rPr lang="ru-RU" dirty="0"/>
              <a:t>в среднем на </a:t>
            </a:r>
            <a:r>
              <a:rPr lang="en-US" dirty="0"/>
              <a:t>1-2%</a:t>
            </a:r>
            <a:endParaRPr lang="ru-RU" dirty="0"/>
          </a:p>
          <a:p>
            <a:r>
              <a:rPr lang="ru-RU" dirty="0"/>
              <a:t>После дополнительных улучшений (</a:t>
            </a:r>
            <a:r>
              <a:rPr lang="en-US" dirty="0"/>
              <a:t>aliasing metadata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можно ожидать прироста производительности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417EA-E855-48A0-83C2-DE3F271E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690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Обязательная инициализация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D32816-2DD3-47B3-8FC4-17F6CD04BE74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303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Обязательная инициализация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718176" cy="4351338"/>
          </a:xfrm>
        </p:spPr>
        <p:txBody>
          <a:bodyPr>
            <a:normAutofit/>
          </a:bodyPr>
          <a:lstStyle/>
          <a:p>
            <a:r>
              <a:rPr lang="ru-RU" dirty="0"/>
              <a:t>Неинициализированные переменные могут приводить к утечкам данных и другим ошибкам</a:t>
            </a:r>
          </a:p>
          <a:p>
            <a:pPr lvl="1"/>
            <a:r>
              <a:rPr lang="ru-RU" dirty="0"/>
              <a:t>Утечки паролей и адресов (утечка адреса компрометирует защиту </a:t>
            </a:r>
            <a:r>
              <a:rPr lang="en-US" dirty="0"/>
              <a:t>ASLR)</a:t>
            </a:r>
          </a:p>
          <a:p>
            <a:r>
              <a:rPr lang="ru-RU" dirty="0"/>
              <a:t>Распространённость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10% CVE root cause </a:t>
            </a:r>
            <a:r>
              <a:rPr lang="ru-RU" dirty="0"/>
              <a:t>в продуктах </a:t>
            </a:r>
            <a:r>
              <a:rPr lang="en-US" dirty="0"/>
              <a:t>Microsoft </a:t>
            </a:r>
            <a:r>
              <a:rPr lang="ru-RU" dirty="0"/>
              <a:t>в 2018 (из </a:t>
            </a:r>
            <a:r>
              <a:rPr lang="en-US" dirty="0">
                <a:hlinkClick r:id="rId2"/>
              </a:rPr>
              <a:t>Killing Uninitialized Memory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12% exploitable </a:t>
            </a:r>
            <a:r>
              <a:rPr lang="ru-RU" dirty="0"/>
              <a:t>багов в </a:t>
            </a:r>
            <a:r>
              <a:rPr lang="en-US" dirty="0"/>
              <a:t>Android (</a:t>
            </a:r>
            <a:r>
              <a:rPr lang="ru-RU" dirty="0"/>
              <a:t>из </a:t>
            </a:r>
            <a:r>
              <a:rPr lang="en-US" dirty="0">
                <a:hlinkClick r:id="rId3"/>
              </a:rPr>
              <a:t>P2723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 descr="Vintage Water Tap Dripping in Black and ...">
            <a:extLst>
              <a:ext uri="{FF2B5EF4-FFF2-40B4-BE49-F238E27FC236}">
                <a16:creationId xmlns:a16="http://schemas.microsoft.com/office/drawing/2014/main" id="{175814C1-EF28-4443-9D65-EFBBC4DFB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4745" y="681037"/>
            <a:ext cx="1743075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411E21-5596-4DBB-8383-10B15FF9B988}"/>
              </a:ext>
            </a:extLst>
          </p:cNvPr>
          <p:cNvSpPr txBox="1"/>
          <p:nvPr/>
        </p:nvSpPr>
        <p:spPr>
          <a:xfrm>
            <a:off x="161365" y="6512391"/>
            <a:ext cx="59346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5"/>
              </a:rPr>
              <a:t>Image source</a:t>
            </a:r>
            <a:r>
              <a:rPr lang="en-US" sz="1000" dirty="0"/>
              <a:t> (Alex Dos Santos)</a:t>
            </a:r>
          </a:p>
        </p:txBody>
      </p:sp>
    </p:spTree>
    <p:extLst>
      <p:ext uri="{BB962C8B-B14F-4D97-AF65-F5344CB8AC3E}">
        <p14:creationId xmlns:p14="http://schemas.microsoft.com/office/powerpoint/2010/main" val="2471357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0C67-37BB-4E15-B974-2DAEF33D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Подход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161A6-7F16-4FEC-867C-D7C445DC9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Поэтому </a:t>
            </a:r>
            <a:r>
              <a:rPr lang="en-US" dirty="0"/>
              <a:t>Rust </a:t>
            </a:r>
            <a:r>
              <a:rPr lang="ru-RU" dirty="0"/>
              <a:t>требует инициализации всех переменных</a:t>
            </a:r>
            <a:endParaRPr lang="en-US" dirty="0"/>
          </a:p>
          <a:p>
            <a:pPr lvl="1"/>
            <a:r>
              <a:rPr lang="ru-RU" dirty="0"/>
              <a:t>Локальные, глобальные, динамические</a:t>
            </a:r>
            <a:endParaRPr lang="en-US" dirty="0"/>
          </a:p>
          <a:p>
            <a:r>
              <a:rPr lang="ru-RU" dirty="0"/>
              <a:t>Переменная должна присваивается на всех путях до первого использования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91BD6A-1F18-4597-83A0-FC8D01B3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7E73A-9C86-4F03-9089-5A8413375336}"/>
              </a:ext>
            </a:extLst>
          </p:cNvPr>
          <p:cNvSpPr txBox="1"/>
          <p:nvPr/>
        </p:nvSpPr>
        <p:spPr>
          <a:xfrm>
            <a:off x="3160529" y="3443681"/>
            <a:ext cx="4119283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// No mut needed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CD9A7-FDBD-48B8-92CB-F7C2CCE72165}"/>
              </a:ext>
            </a:extLst>
          </p:cNvPr>
          <p:cNvSpPr txBox="1"/>
          <p:nvPr/>
        </p:nvSpPr>
        <p:spPr>
          <a:xfrm>
            <a:off x="838200" y="3443681"/>
            <a:ext cx="20618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5B7E3F-59BB-4A31-87DF-B241BDF810D1}"/>
              </a:ext>
            </a:extLst>
          </p:cNvPr>
          <p:cNvSpPr txBox="1"/>
          <p:nvPr/>
        </p:nvSpPr>
        <p:spPr>
          <a:xfrm>
            <a:off x="7540259" y="3429000"/>
            <a:ext cx="40072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No mut needed</a:t>
            </a:r>
            <a:endParaRPr lang="en-US" sz="16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 if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cond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BAAA3B-C18B-4850-8EC4-9310CAEA3363}"/>
              </a:ext>
            </a:extLst>
          </p:cNvPr>
          <p:cNvSpPr txBox="1"/>
          <p:nvPr/>
        </p:nvSpPr>
        <p:spPr>
          <a:xfrm>
            <a:off x="1524000" y="5833130"/>
            <a:ext cx="690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6F2693-9235-4139-959F-E0AD8C443164}"/>
              </a:ext>
            </a:extLst>
          </p:cNvPr>
          <p:cNvSpPr txBox="1"/>
          <p:nvPr/>
        </p:nvSpPr>
        <p:spPr>
          <a:xfrm>
            <a:off x="4875029" y="5833130"/>
            <a:ext cx="6902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OK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269D88-83C0-439E-8F25-A27974E8A694}"/>
              </a:ext>
            </a:extLst>
          </p:cNvPr>
          <p:cNvSpPr txBox="1"/>
          <p:nvPr/>
        </p:nvSpPr>
        <p:spPr>
          <a:xfrm>
            <a:off x="8790836" y="5833130"/>
            <a:ext cx="15060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NOT OK</a:t>
            </a:r>
          </a:p>
        </p:txBody>
      </p:sp>
    </p:spTree>
    <p:extLst>
      <p:ext uri="{BB962C8B-B14F-4D97-AF65-F5344CB8AC3E}">
        <p14:creationId xmlns:p14="http://schemas.microsoft.com/office/powerpoint/2010/main" val="38178295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Другие языки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520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Многие другие языки также требуют инициализацию от программиста (или предоставляют автоинициализацию нулями)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C#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Swift</a:t>
            </a:r>
            <a:r>
              <a:rPr lang="en-US" dirty="0"/>
              <a:t>, </a:t>
            </a:r>
            <a:r>
              <a:rPr lang="en-US" dirty="0">
                <a:hlinkClick r:id="rId4"/>
              </a:rPr>
              <a:t>Go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Java</a:t>
            </a:r>
            <a:endParaRPr lang="en-US" dirty="0"/>
          </a:p>
          <a:p>
            <a:pPr lvl="1"/>
            <a:r>
              <a:rPr lang="en-US" dirty="0"/>
              <a:t>Hardened C/C++ (-</a:t>
            </a:r>
            <a:r>
              <a:rPr lang="en-US" dirty="0" err="1"/>
              <a:t>ftrivial</a:t>
            </a:r>
            <a:r>
              <a:rPr lang="en-US" dirty="0"/>
              <a:t>-auto-var-</a:t>
            </a:r>
            <a:r>
              <a:rPr lang="en-US" dirty="0" err="1"/>
              <a:t>init</a:t>
            </a:r>
            <a:r>
              <a:rPr lang="en-US" dirty="0"/>
              <a:t>), C++26 (</a:t>
            </a:r>
            <a:r>
              <a:rPr lang="en-US" dirty="0">
                <a:hlinkClick r:id="rId6"/>
              </a:rPr>
              <a:t>P2795</a:t>
            </a:r>
            <a:r>
              <a:rPr lang="en-US" dirty="0"/>
              <a:t>)</a:t>
            </a:r>
          </a:p>
          <a:p>
            <a:pPr lvl="2"/>
            <a:r>
              <a:rPr lang="ru-RU" dirty="0"/>
              <a:t>Только локальные переменные</a:t>
            </a:r>
            <a:endParaRPr lang="en-US" dirty="0"/>
          </a:p>
          <a:p>
            <a:pPr lvl="3"/>
            <a:r>
              <a:rPr lang="ru-RU" dirty="0"/>
              <a:t>Глобальные переменные и </a:t>
            </a:r>
            <a:r>
              <a:rPr lang="en-US" dirty="0" err="1"/>
              <a:t>sbrk</a:t>
            </a:r>
            <a:r>
              <a:rPr lang="en-US" dirty="0"/>
              <a:t>/</a:t>
            </a:r>
            <a:r>
              <a:rPr lang="en-US" dirty="0" err="1"/>
              <a:t>mmap</a:t>
            </a:r>
            <a:r>
              <a:rPr lang="en-US" dirty="0"/>
              <a:t>-</a:t>
            </a:r>
            <a:r>
              <a:rPr lang="ru-RU" dirty="0"/>
              <a:t>буферы уже инициализируются</a:t>
            </a:r>
          </a:p>
          <a:p>
            <a:pPr lvl="3"/>
            <a:r>
              <a:rPr lang="ru-RU" dirty="0"/>
              <a:t>Для кучи нужен </a:t>
            </a:r>
            <a:r>
              <a:rPr lang="en-US" dirty="0"/>
              <a:t>hardened allocator</a:t>
            </a:r>
          </a:p>
          <a:p>
            <a:pPr lvl="2"/>
            <a:r>
              <a:rPr lang="ru-RU" dirty="0"/>
              <a:t>Включены по умолчанию в </a:t>
            </a:r>
            <a:r>
              <a:rPr lang="en-US" dirty="0"/>
              <a:t>Android user/kernel-space </a:t>
            </a:r>
            <a:r>
              <a:rPr lang="ru-RU" dirty="0"/>
              <a:t>и </a:t>
            </a:r>
            <a:r>
              <a:rPr lang="en-US" dirty="0"/>
              <a:t>Chrome</a:t>
            </a:r>
            <a:endParaRPr lang="ru-RU" dirty="0"/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8140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BB770-04C2-4E5C-BD09-3F7FAA929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 с обязательными инициализациями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5A0EE-3113-4B1F-B2B8-0907D2113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Во многих случаях обязательные инициализации излишни</a:t>
            </a:r>
          </a:p>
          <a:p>
            <a:pPr lvl="1"/>
            <a:r>
              <a:rPr lang="ru-RU" dirty="0"/>
              <a:t>Буду перезаписаны другими значениями в дальнейшем</a:t>
            </a:r>
            <a:endParaRPr lang="en-US" dirty="0"/>
          </a:p>
          <a:p>
            <a:r>
              <a:rPr lang="ru-RU" dirty="0"/>
              <a:t>Компилятор не всегда может удалить ненужные инициализации</a:t>
            </a:r>
            <a:endParaRPr lang="en-US" dirty="0"/>
          </a:p>
          <a:p>
            <a:r>
              <a:rPr lang="ru-RU" dirty="0"/>
              <a:t>Пример</a:t>
            </a:r>
            <a:r>
              <a:rPr lang="en-US" dirty="0"/>
              <a:t>: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open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example.bin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"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pPr marL="457200" lvl="1" indent="0">
              <a:buNone/>
            </a:pP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while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...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 {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let 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buffer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0u8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1024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</a:t>
            </a:r>
            <a:r>
              <a:rPr lang="en-US" sz="2000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memset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not removed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endParaRPr lang="en-US" sz="20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let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file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read_exact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(&amp;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mut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buffer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)?;</a:t>
            </a:r>
          </a:p>
          <a:p>
            <a:pPr marL="457200" lvl="1" indent="0">
              <a:buNone/>
            </a:pP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   ...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C0D27-26EB-4549-B45A-A7752592F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468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Распространённость лишних инициализаций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50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2BE10BB-129B-411C-95BF-15376C4F9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Сколько ненужных инициализаций приходится делать</a:t>
            </a:r>
            <a:r>
              <a:rPr lang="en-US" dirty="0"/>
              <a:t>?</a:t>
            </a:r>
          </a:p>
          <a:p>
            <a:r>
              <a:rPr lang="ru-RU" dirty="0"/>
              <a:t>Статическая оценка</a:t>
            </a:r>
            <a:r>
              <a:rPr lang="en-US" dirty="0"/>
              <a:t> (</a:t>
            </a:r>
            <a:r>
              <a:rPr lang="ru-RU" dirty="0"/>
              <a:t>с помощью </a:t>
            </a:r>
            <a:r>
              <a:rPr lang="en-US" dirty="0">
                <a:hlinkClick r:id="rId2"/>
              </a:rPr>
              <a:t>LLVM-</a:t>
            </a:r>
            <a:r>
              <a:rPr lang="ru-RU" dirty="0">
                <a:hlinkClick r:id="rId2"/>
              </a:rPr>
              <a:t>плагина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Hardened Clang: +4% stores </a:t>
            </a:r>
            <a:r>
              <a:rPr lang="ru-RU" dirty="0"/>
              <a:t>в циклах </a:t>
            </a:r>
            <a:r>
              <a:rPr lang="en-US" dirty="0"/>
              <a:t>(</a:t>
            </a:r>
            <a:r>
              <a:rPr lang="ru-RU" dirty="0"/>
              <a:t>бенчмарк </a:t>
            </a:r>
            <a:r>
              <a:rPr lang="en-US" dirty="0"/>
              <a:t>Clang</a:t>
            </a:r>
            <a:r>
              <a:rPr lang="ru-RU" dirty="0"/>
              <a:t>)</a:t>
            </a:r>
          </a:p>
          <a:p>
            <a:r>
              <a:rPr lang="ru-RU" dirty="0"/>
              <a:t>Динамическая оценка (с помощью </a:t>
            </a:r>
            <a:r>
              <a:rPr lang="en-US" dirty="0" err="1">
                <a:hlinkClick r:id="rId3"/>
              </a:rPr>
              <a:t>Valgrind</a:t>
            </a:r>
            <a:r>
              <a:rPr lang="en-US" dirty="0">
                <a:hlinkClick r:id="rId3"/>
              </a:rPr>
              <a:t>-</a:t>
            </a:r>
            <a:r>
              <a:rPr lang="ru-RU" dirty="0">
                <a:hlinkClick r:id="rId3"/>
              </a:rPr>
              <a:t>плагина</a:t>
            </a:r>
            <a:r>
              <a:rPr lang="ru-RU" dirty="0"/>
              <a:t>)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Компиляция большого </a:t>
            </a:r>
            <a:r>
              <a:rPr lang="en-US" dirty="0"/>
              <a:t>C++ </a:t>
            </a:r>
            <a:r>
              <a:rPr lang="ru-RU" dirty="0"/>
              <a:t>файла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Clang: 11%</a:t>
            </a:r>
            <a:r>
              <a:rPr lang="ru-RU" dirty="0"/>
              <a:t> неиспользуемых записей</a:t>
            </a:r>
            <a:endParaRPr lang="en-US" dirty="0"/>
          </a:p>
          <a:p>
            <a:pPr lvl="2"/>
            <a:r>
              <a:rPr lang="en-US" dirty="0"/>
              <a:t>Hardened Clang (-</a:t>
            </a:r>
            <a:r>
              <a:rPr lang="en-US" dirty="0" err="1"/>
              <a:t>ftrivial</a:t>
            </a:r>
            <a:r>
              <a:rPr lang="en-US" dirty="0"/>
              <a:t>-auto-var-</a:t>
            </a:r>
            <a:r>
              <a:rPr lang="en-US" dirty="0" err="1"/>
              <a:t>init</a:t>
            </a:r>
            <a:r>
              <a:rPr lang="en-US" dirty="0"/>
              <a:t>): 23% </a:t>
            </a:r>
            <a:r>
              <a:rPr lang="ru-RU" dirty="0"/>
              <a:t> неиспользуемых записей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606630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Накладные расходы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51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8E8B09-A2FF-4CDC-8658-CC8664D73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ru-RU" dirty="0"/>
              <a:t>К сожалению измерить накладные расходы от лишних инициализаций в наших </a:t>
            </a:r>
            <a:r>
              <a:rPr lang="en-US" dirty="0"/>
              <a:t>Rust</a:t>
            </a:r>
            <a:r>
              <a:rPr lang="ru-RU" dirty="0"/>
              <a:t>-бенчмарках</a:t>
            </a:r>
            <a:r>
              <a:rPr lang="en-US" dirty="0"/>
              <a:t> </a:t>
            </a:r>
            <a:r>
              <a:rPr lang="ru-RU" dirty="0"/>
              <a:t>невозможно</a:t>
            </a:r>
            <a:endParaRPr lang="en-US" dirty="0"/>
          </a:p>
          <a:p>
            <a:pPr lvl="1"/>
            <a:r>
              <a:rPr lang="ru-RU" dirty="0"/>
              <a:t>Так как потребовалась бы значительная модификация кода</a:t>
            </a:r>
            <a:endParaRPr lang="en-US" dirty="0"/>
          </a:p>
          <a:p>
            <a:r>
              <a:rPr lang="ru-RU" dirty="0"/>
              <a:t>Проиллюстрируем накладные расходы на примере</a:t>
            </a:r>
            <a:endParaRPr lang="en-US" dirty="0"/>
          </a:p>
          <a:p>
            <a:pPr lvl="1"/>
            <a:r>
              <a:rPr lang="ru-RU" dirty="0"/>
              <a:t>Сообщений от пользователей</a:t>
            </a:r>
            <a:endParaRPr lang="en-US" dirty="0"/>
          </a:p>
          <a:p>
            <a:pPr lvl="1"/>
            <a:r>
              <a:rPr lang="ru-RU" dirty="0"/>
              <a:t>Замеров </a:t>
            </a:r>
            <a:r>
              <a:rPr lang="en-US" dirty="0"/>
              <a:t>Hardened C/C++</a:t>
            </a:r>
          </a:p>
        </p:txBody>
      </p:sp>
    </p:spTree>
    <p:extLst>
      <p:ext uri="{BB962C8B-B14F-4D97-AF65-F5344CB8AC3E}">
        <p14:creationId xmlns:p14="http://schemas.microsoft.com/office/powerpoint/2010/main" val="2139012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A612-7704-43C7-BA23-E35EE309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Накладные расходы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018C5-56D7-4615-891E-AB0077FFF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047" y="1660619"/>
            <a:ext cx="10152529" cy="4351338"/>
          </a:xfrm>
        </p:spPr>
        <p:txBody>
          <a:bodyPr>
            <a:normAutofit/>
          </a:bodyPr>
          <a:lstStyle/>
          <a:p>
            <a:r>
              <a:rPr lang="ru-RU" dirty="0"/>
              <a:t>Какие последствия могут иметь</a:t>
            </a:r>
            <a:r>
              <a:rPr lang="en-US" dirty="0"/>
              <a:t> </a:t>
            </a:r>
            <a:r>
              <a:rPr lang="ru-RU" dirty="0"/>
              <a:t>лишние инициализации для производительности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7% </a:t>
            </a:r>
            <a:r>
              <a:rPr lang="ru-RU" dirty="0"/>
              <a:t>в </a:t>
            </a:r>
            <a:r>
              <a:rPr lang="en-US" dirty="0" err="1"/>
              <a:t>stdlib</a:t>
            </a:r>
            <a:r>
              <a:rPr lang="en-US" dirty="0"/>
              <a:t> file IO (</a:t>
            </a:r>
            <a:r>
              <a:rPr lang="en-US" dirty="0">
                <a:hlinkClick r:id="rId2"/>
              </a:rPr>
              <a:t>rust #26950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20-30% </a:t>
            </a:r>
            <a:r>
              <a:rPr lang="ru-RU" dirty="0"/>
              <a:t>в </a:t>
            </a:r>
            <a:r>
              <a:rPr lang="en-US" dirty="0"/>
              <a:t>Hyper HTTP (</a:t>
            </a:r>
            <a:r>
              <a:rPr lang="ru-RU" dirty="0"/>
              <a:t>комментарий в </a:t>
            </a:r>
            <a:r>
              <a:rPr lang="en-US" dirty="0" err="1">
                <a:hlinkClick r:id="rId3"/>
              </a:rPr>
              <a:t>tokio</a:t>
            </a:r>
            <a:r>
              <a:rPr lang="en-US" dirty="0">
                <a:hlinkClick r:id="rId3"/>
              </a:rPr>
              <a:t> #1744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30% </a:t>
            </a:r>
            <a:r>
              <a:rPr lang="ru-RU" dirty="0"/>
              <a:t>в симуляторе </a:t>
            </a:r>
            <a:r>
              <a:rPr lang="en-US" dirty="0"/>
              <a:t>Shadow (</a:t>
            </a:r>
            <a:r>
              <a:rPr lang="en-US" dirty="0">
                <a:hlinkClick r:id="rId4"/>
              </a:rPr>
              <a:t>shadow #1643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25% </a:t>
            </a:r>
            <a:r>
              <a:rPr lang="ru-RU" dirty="0"/>
              <a:t>в </a:t>
            </a:r>
            <a:r>
              <a:rPr lang="en-US" dirty="0" err="1"/>
              <a:t>stdlib</a:t>
            </a:r>
            <a:r>
              <a:rPr lang="en-US" dirty="0"/>
              <a:t> </a:t>
            </a:r>
            <a:r>
              <a:rPr lang="en-US" dirty="0" err="1"/>
              <a:t>TcpStream</a:t>
            </a:r>
            <a:r>
              <a:rPr lang="en-US" dirty="0"/>
              <a:t> (</a:t>
            </a:r>
            <a:r>
              <a:rPr lang="en-US" dirty="0">
                <a:hlinkClick r:id="rId5"/>
              </a:rPr>
              <a:t>RFC #837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1.5% </a:t>
            </a:r>
            <a:r>
              <a:rPr lang="ru-RU" dirty="0"/>
              <a:t>в </a:t>
            </a:r>
            <a:r>
              <a:rPr lang="en-US" dirty="0"/>
              <a:t>rav1d (</a:t>
            </a:r>
            <a:r>
              <a:rPr lang="en-US" dirty="0">
                <a:hlinkClick r:id="rId6"/>
              </a:rPr>
              <a:t>Making the rav1d Video Decoder 1% Faster</a:t>
            </a:r>
            <a:r>
              <a:rPr lang="en-US" dirty="0"/>
              <a:t>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029176-D7B2-4AA2-8787-FF2CF11BB1AA}"/>
              </a:ext>
            </a:extLst>
          </p:cNvPr>
          <p:cNvSpPr txBox="1">
            <a:spLocks/>
          </p:cNvSpPr>
          <p:nvPr/>
        </p:nvSpPr>
        <p:spPr>
          <a:xfrm>
            <a:off x="6342530" y="1762872"/>
            <a:ext cx="522194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8C19B-5574-4F99-90E9-4D37867E4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7AC13-74B0-42BB-979A-B4FD3BCA574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83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Накладные расходы при включении инициализаций</a:t>
            </a:r>
            <a:r>
              <a:rPr lang="en-US" dirty="0"/>
              <a:t> </a:t>
            </a:r>
            <a:r>
              <a:rPr lang="ru-RU" dirty="0"/>
              <a:t>стека и кучи</a:t>
            </a:r>
            <a:r>
              <a:rPr lang="en-US" dirty="0"/>
              <a:t> </a:t>
            </a:r>
            <a:r>
              <a:rPr lang="ru-RU" dirty="0"/>
              <a:t>(на примере </a:t>
            </a:r>
            <a:r>
              <a:rPr lang="en-US" dirty="0"/>
              <a:t>C++)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80EF8-87E1-44F4-8845-DBFA5E64BD68}"/>
              </a:ext>
            </a:extLst>
          </p:cNvPr>
          <p:cNvSpPr txBox="1"/>
          <p:nvPr/>
        </p:nvSpPr>
        <p:spPr>
          <a:xfrm>
            <a:off x="9117106" y="2178424"/>
            <a:ext cx="26714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Использовалась грубый подход к инициализации кучи</a:t>
            </a:r>
            <a:r>
              <a:rPr lang="en-US" dirty="0"/>
              <a:t> (LD_PRELOAD + </a:t>
            </a:r>
            <a:r>
              <a:rPr lang="en-US" dirty="0" err="1"/>
              <a:t>memset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 более аккуратной реализации накладные расходы были бы ниже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0B681F-BCE0-40A2-B72B-7D7085199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0101" y="1833076"/>
            <a:ext cx="6110499" cy="488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62626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Инициализации скалярных переменных очень дёшевы и оптимизируются многими </a:t>
            </a:r>
            <a:r>
              <a:rPr lang="en-US" dirty="0"/>
              <a:t>SSA-</a:t>
            </a:r>
            <a:r>
              <a:rPr lang="ru-RU" dirty="0"/>
              <a:t>проходами в </a:t>
            </a:r>
            <a:r>
              <a:rPr lang="en-US" dirty="0"/>
              <a:t>LLVM</a:t>
            </a:r>
          </a:p>
          <a:p>
            <a:pPr lvl="1"/>
            <a:r>
              <a:rPr lang="en-US" dirty="0"/>
              <a:t>DCE, BDCE, ADCE, </a:t>
            </a:r>
            <a:r>
              <a:rPr lang="en-US" dirty="0" err="1"/>
              <a:t>InstCombine</a:t>
            </a:r>
            <a:r>
              <a:rPr lang="en-US" dirty="0"/>
              <a:t>, etc.</a:t>
            </a:r>
          </a:p>
          <a:p>
            <a:r>
              <a:rPr lang="ru-RU" dirty="0"/>
              <a:t>Оптимизации сохранений в память представляют наибольшую проблему</a:t>
            </a:r>
            <a:endParaRPr lang="en-US" dirty="0"/>
          </a:p>
          <a:p>
            <a:pPr lvl="1"/>
            <a:r>
              <a:rPr lang="en-US" dirty="0" err="1"/>
              <a:t>DeadStoreElimination</a:t>
            </a:r>
            <a:r>
              <a:rPr lang="en-US" dirty="0"/>
              <a:t>, </a:t>
            </a:r>
            <a:r>
              <a:rPr lang="en-US" dirty="0" err="1"/>
              <a:t>MoveAutoInit</a:t>
            </a:r>
            <a:r>
              <a:rPr lang="en-US" dirty="0"/>
              <a:t>, </a:t>
            </a:r>
            <a:r>
              <a:rPr lang="en-US" dirty="0" err="1"/>
              <a:t>MemCpyOptimizer</a:t>
            </a:r>
            <a:endParaRPr lang="en-US" dirty="0"/>
          </a:p>
          <a:p>
            <a:pPr lvl="1"/>
            <a:r>
              <a:rPr lang="ru-RU" dirty="0"/>
              <a:t>В меньшей степени </a:t>
            </a:r>
            <a:r>
              <a:rPr lang="en-US" dirty="0" err="1"/>
              <a:t>InstCombine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678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6295-870C-4CE6-81EC-CC5AE57F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AE256-6E5F-4209-B430-8FE0A7DA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156"/>
            <a:ext cx="10515600" cy="4351338"/>
          </a:xfrm>
        </p:spPr>
        <p:txBody>
          <a:bodyPr/>
          <a:lstStyle/>
          <a:p>
            <a:r>
              <a:rPr lang="ru-RU" dirty="0"/>
              <a:t>Нельзя просто взять и создать ссылку на неинициализированный объект и потом заполнить его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“Creating a reference with &amp;/&amp;mut is </a:t>
            </a:r>
            <a:r>
              <a:rPr lang="en-US" b="1" dirty="0"/>
              <a:t>only allowed if</a:t>
            </a:r>
            <a:r>
              <a:rPr lang="en-US" dirty="0"/>
              <a:t> the pointer is properly aligned and </a:t>
            </a:r>
            <a:r>
              <a:rPr lang="en-US" b="1" dirty="0"/>
              <a:t>points to initialized data</a:t>
            </a:r>
            <a:r>
              <a:rPr lang="en-US" dirty="0"/>
              <a:t>” (</a:t>
            </a:r>
            <a:r>
              <a:rPr lang="en-US" dirty="0" err="1">
                <a:hlinkClick r:id="rId2"/>
              </a:rPr>
              <a:t>addr_of_mut</a:t>
            </a:r>
            <a:r>
              <a:rPr lang="en-US" dirty="0"/>
              <a:t>)</a:t>
            </a:r>
          </a:p>
          <a:p>
            <a:r>
              <a:rPr lang="ru-RU" dirty="0"/>
              <a:t>Рекомендуемое решение</a:t>
            </a:r>
            <a:r>
              <a:rPr lang="en-US" dirty="0"/>
              <a:t>: </a:t>
            </a:r>
            <a:r>
              <a:rPr lang="ru-RU" dirty="0"/>
              <a:t>тип </a:t>
            </a:r>
            <a:r>
              <a:rPr lang="en-US" dirty="0" err="1"/>
              <a:t>MaybeUninit</a:t>
            </a:r>
            <a:r>
              <a:rPr lang="ru-RU" dirty="0"/>
              <a:t> и различные </a:t>
            </a:r>
            <a:r>
              <a:rPr lang="en-US" dirty="0"/>
              <a:t>API </a:t>
            </a:r>
            <a:r>
              <a:rPr lang="ru-RU" dirty="0"/>
              <a:t>для работы с ним</a:t>
            </a:r>
            <a:endParaRPr lang="en-US" dirty="0"/>
          </a:p>
          <a:p>
            <a:r>
              <a:rPr lang="ru-RU" dirty="0"/>
              <a:t>К сожалению работа с </a:t>
            </a:r>
            <a:r>
              <a:rPr lang="en-US" dirty="0" err="1"/>
              <a:t>MaybeUninit</a:t>
            </a:r>
            <a:r>
              <a:rPr lang="en-US" dirty="0"/>
              <a:t> </a:t>
            </a:r>
            <a:r>
              <a:rPr lang="ru-RU" dirty="0"/>
              <a:t>не всегда удобна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35361-2DF3-461B-BE93-32006783B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856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61E34-87BA-4D2D-A7F1-ED1A3323E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F579-61DE-49E3-AEA9-C91502A42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Расходы на инициализации в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Hardened C++ </a:t>
            </a:r>
            <a:r>
              <a:rPr lang="ru-RU" dirty="0"/>
              <a:t>сопоставимы</a:t>
            </a:r>
            <a:endParaRPr lang="en-US" dirty="0"/>
          </a:p>
          <a:p>
            <a:pPr lvl="1"/>
            <a:r>
              <a:rPr lang="ru-RU" dirty="0"/>
              <a:t>Выше чем в </a:t>
            </a:r>
            <a:r>
              <a:rPr lang="en-US" dirty="0"/>
              <a:t>C++26 </a:t>
            </a:r>
            <a:r>
              <a:rPr lang="ru-RU" dirty="0"/>
              <a:t>из-за инициализаций кучи</a:t>
            </a:r>
          </a:p>
          <a:p>
            <a:r>
              <a:rPr lang="ru-RU" dirty="0"/>
              <a:t>Могут быть достаточно большими</a:t>
            </a:r>
            <a:r>
              <a:rPr lang="en-US" dirty="0"/>
              <a:t> </a:t>
            </a:r>
            <a:r>
              <a:rPr lang="ru-RU" dirty="0"/>
              <a:t>в некоторых сценариях </a:t>
            </a:r>
            <a:r>
              <a:rPr lang="en-US" dirty="0"/>
              <a:t>(5-10% </a:t>
            </a:r>
            <a:r>
              <a:rPr lang="ru-RU" dirty="0"/>
              <a:t>и более) и потребовать ручного тюнинга кода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Использование специальных библиотечных </a:t>
            </a:r>
            <a:r>
              <a:rPr lang="en-US" dirty="0"/>
              <a:t>API</a:t>
            </a:r>
            <a:r>
              <a:rPr lang="ru-RU" dirty="0"/>
              <a:t> типа </a:t>
            </a:r>
            <a:r>
              <a:rPr lang="en-US" dirty="0" err="1"/>
              <a:t>MaybeUninit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F90A08-F621-47A8-8D70-9BB2444FE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2426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расположения полей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B10AC-2DD3-4AB7-B7B0-997763F0771F}"/>
              </a:ext>
            </a:extLst>
          </p:cNvPr>
          <p:cNvSpPr txBox="1"/>
          <p:nvPr/>
        </p:nvSpPr>
        <p:spPr>
          <a:xfrm>
            <a:off x="172010" y="6125976"/>
            <a:ext cx="2176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r>
              <a:rPr lang="en-US" dirty="0"/>
              <a:t> (</a:t>
            </a:r>
            <a:r>
              <a:rPr lang="ru-RU" dirty="0"/>
              <a:t>пока не готов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8863081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E048EE-7229-4F4F-80AB-E74BF13BC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Выравнивание полей структур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3C473F-79B1-47BE-8F8D-89A447B7E7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47664" cy="289737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Многие языки </a:t>
            </a:r>
            <a:r>
              <a:rPr lang="en-US" dirty="0"/>
              <a:t>(C, C++, C#, Swift) </a:t>
            </a:r>
            <a:r>
              <a:rPr lang="ru-RU" dirty="0"/>
              <a:t>сохраняют порядок полей структуры, указанный в исходном коде</a:t>
            </a:r>
          </a:p>
          <a:p>
            <a:r>
              <a:rPr lang="ru-RU" dirty="0"/>
              <a:t>Для выравнивания адресов полей между ними может добавляться паддинг</a:t>
            </a:r>
          </a:p>
          <a:p>
            <a:pPr lvl="1"/>
            <a:r>
              <a:rPr lang="ru-RU" dirty="0"/>
              <a:t>Выравнивание необходимо из-за аппаратных ограничений</a:t>
            </a:r>
            <a:endParaRPr lang="en-US" dirty="0"/>
          </a:p>
          <a:p>
            <a:pPr lvl="1"/>
            <a:r>
              <a:rPr lang="ru-RU" dirty="0"/>
              <a:t>Невыровненные обращения могут вызывать исключения или замедление работы</a:t>
            </a:r>
            <a:endParaRPr lang="en-US" dirty="0"/>
          </a:p>
          <a:p>
            <a:r>
              <a:rPr lang="ru-RU" dirty="0"/>
              <a:t>Выравнивание полей ускоряет доступ к ним, но ухудшает локальность данных в </a:t>
            </a:r>
            <a:r>
              <a:rPr lang="en-US" dirty="0"/>
              <a:t>D$</a:t>
            </a:r>
            <a:endParaRPr lang="ru-RU" dirty="0"/>
          </a:p>
        </p:txBody>
      </p:sp>
      <p:sp>
        <p:nvSpPr>
          <p:cNvPr id="4" name="AutoShape 2" descr="Structure with ineffective member placement">
            <a:extLst>
              <a:ext uri="{FF2B5EF4-FFF2-40B4-BE49-F238E27FC236}">
                <a16:creationId xmlns:a16="http://schemas.microsoft.com/office/drawing/2014/main" id="{3610C219-D068-4ABA-A7AE-DA35D115107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4" descr="Structure with ineffective member placement">
            <a:extLst>
              <a:ext uri="{FF2B5EF4-FFF2-40B4-BE49-F238E27FC236}">
                <a16:creationId xmlns:a16="http://schemas.microsoft.com/office/drawing/2014/main" id="{DD15E656-A954-41EC-BE78-8F7ED23463E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B455557-A721-4000-A21D-12CE9093F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465" y="5280345"/>
            <a:ext cx="6124575" cy="342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63CB2D5-39BD-4A9B-882B-994A50565F4E}"/>
              </a:ext>
            </a:extLst>
          </p:cNvPr>
          <p:cNvSpPr txBox="1"/>
          <p:nvPr/>
        </p:nvSpPr>
        <p:spPr>
          <a:xfrm>
            <a:off x="1603673" y="4786221"/>
            <a:ext cx="27746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RandomOrder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m_byte1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uint64_t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m_long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m_byte2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uint32_t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m_int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uint8_t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</a:t>
            </a:r>
            <a:r>
              <a:rPr lang="en-US" sz="16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m_byte3</a:t>
            </a:r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CC3C9-398B-4DF5-A6AF-56ACCD1B5A26}"/>
              </a:ext>
            </a:extLst>
          </p:cNvPr>
          <p:cNvSpPr txBox="1"/>
          <p:nvPr/>
        </p:nvSpPr>
        <p:spPr>
          <a:xfrm>
            <a:off x="10942040" y="6523489"/>
            <a:ext cx="12499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Image source</a:t>
            </a:r>
            <a:endParaRPr lang="ru-RU" sz="14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4834BF-A2E5-44CB-85C6-05CFE8E4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4890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51610-B8D9-422F-A976-3068047D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Структуры в </a:t>
            </a:r>
            <a:r>
              <a:rPr lang="en-US" dirty="0"/>
              <a:t>Rust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D4A3CA-E3AC-4BCC-98A4-A1B15B38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Rust ABI не фиксирует порядок полей в структурах</a:t>
            </a:r>
            <a:endParaRPr lang="en-US" dirty="0"/>
          </a:p>
          <a:p>
            <a:r>
              <a:rPr lang="ru-RU" dirty="0"/>
              <a:t>Это позволяет компилятору свободно его модифицировать</a:t>
            </a:r>
          </a:p>
          <a:p>
            <a:r>
              <a:rPr lang="ru-RU" dirty="0"/>
              <a:t>Оптимизация порядка полей для </a:t>
            </a:r>
          </a:p>
          <a:p>
            <a:pPr lvl="1"/>
            <a:r>
              <a:rPr lang="en-US" dirty="0"/>
              <a:t>C</a:t>
            </a:r>
            <a:r>
              <a:rPr lang="ru-RU" dirty="0"/>
              <a:t>нижения </a:t>
            </a:r>
            <a:r>
              <a:rPr lang="en-US" dirty="0"/>
              <a:t>D$ pressure </a:t>
            </a:r>
            <a:r>
              <a:rPr lang="ru-RU" dirty="0"/>
              <a:t>(посредством уменьшения требуемого паддинга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ru-RU" dirty="0"/>
              <a:t>Оптимизации расположения ниш (см. ниже)</a:t>
            </a:r>
            <a:endParaRPr lang="en-US" dirty="0"/>
          </a:p>
          <a:p>
            <a:r>
              <a:rPr lang="ru-RU" dirty="0"/>
              <a:t>В теории компилятор</a:t>
            </a:r>
            <a:r>
              <a:rPr lang="en-US" dirty="0"/>
              <a:t> </a:t>
            </a:r>
            <a:r>
              <a:rPr lang="ru-RU" dirty="0"/>
              <a:t>также может размещать вместе поля, которые часто используются совместно</a:t>
            </a:r>
          </a:p>
          <a:p>
            <a:pPr lvl="1"/>
            <a:r>
              <a:rPr lang="ru-RU" dirty="0"/>
              <a:t>Можно воспользоваться </a:t>
            </a:r>
            <a:r>
              <a:rPr lang="en-US" dirty="0"/>
              <a:t>PGO </a:t>
            </a:r>
            <a:r>
              <a:rPr lang="ru-RU" dirty="0"/>
              <a:t>или статическим анализом</a:t>
            </a:r>
            <a:r>
              <a:rPr lang="en-US" dirty="0"/>
              <a:t> (</a:t>
            </a:r>
            <a:r>
              <a:rPr lang="ru-RU" dirty="0"/>
              <a:t>как </a:t>
            </a:r>
            <a:r>
              <a:rPr lang="en-US" dirty="0"/>
              <a:t>-</a:t>
            </a:r>
            <a:r>
              <a:rPr lang="en-US" dirty="0" err="1"/>
              <a:t>fipa</a:t>
            </a:r>
            <a:r>
              <a:rPr lang="en-US" dirty="0"/>
              <a:t>-struct-reorg </a:t>
            </a:r>
            <a:r>
              <a:rPr lang="ru-RU" dirty="0"/>
              <a:t>в </a:t>
            </a:r>
            <a:r>
              <a:rPr lang="en-US" dirty="0"/>
              <a:t>GCC)</a:t>
            </a:r>
          </a:p>
          <a:p>
            <a:r>
              <a:rPr lang="ru-RU" dirty="0"/>
              <a:t>А также выносить редко используемые поля </a:t>
            </a:r>
            <a:r>
              <a:rPr lang="en-US" dirty="0"/>
              <a:t>(structure peeling)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FE6D-75BD-43B3-8B89-13773A80C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300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DC335C-1706-4E27-BC4E-3DEF1CFF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Оптимизация порядка полей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22A78B-FACD-4265-BA5E-6E703B420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90688"/>
            <a:ext cx="10671495" cy="4351338"/>
          </a:xfrm>
        </p:spPr>
        <p:txBody>
          <a:bodyPr/>
          <a:lstStyle/>
          <a:p>
            <a:r>
              <a:rPr lang="ru-RU" dirty="0"/>
              <a:t>Для уменьшения размера поля сортируются в порядке уменьшения выравнивания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C523C-30BB-41C2-8A3B-61158656C906}"/>
              </a:ext>
            </a:extLst>
          </p:cNvPr>
          <p:cNvSpPr txBox="1"/>
          <p:nvPr/>
        </p:nvSpPr>
        <p:spPr>
          <a:xfrm>
            <a:off x="682306" y="4238594"/>
            <a:ext cx="298438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4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endParaRPr lang="en-US" sz="1400" b="0" dirty="0">
              <a:solidFill>
                <a:schemeClr val="accent6">
                  <a:lumMod val="75000"/>
                </a:schemeClr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 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 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 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 err="1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as 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131E04-8235-48E3-9BA6-7C9FBBD66539}"/>
              </a:ext>
            </a:extLst>
          </p:cNvPr>
          <p:cNvSpPr txBox="1"/>
          <p:nvPr/>
        </p:nvSpPr>
        <p:spPr>
          <a:xfrm>
            <a:off x="4598893" y="2968927"/>
            <a:ext cx="259421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16 bytes 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BAA28FD-A5B0-4274-A4AF-F4FEF13A3598}"/>
              </a:ext>
            </a:extLst>
          </p:cNvPr>
          <p:cNvSpPr txBox="1"/>
          <p:nvPr/>
        </p:nvSpPr>
        <p:spPr>
          <a:xfrm>
            <a:off x="8545829" y="2784261"/>
            <a:ext cx="223776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#[repr(C)]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i64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pub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i16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// 24 bytes total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8F710E-19F3-4BF0-AC03-8EE50F058B77}"/>
              </a:ext>
            </a:extLst>
          </p:cNvPr>
          <p:cNvSpPr txBox="1"/>
          <p:nvPr/>
        </p:nvSpPr>
        <p:spPr>
          <a:xfrm>
            <a:off x="4199565" y="4253383"/>
            <a:ext cx="369290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movzx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byte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+ 10]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B74B58-BB2B-4F14-89AD-0B335141A7E8}"/>
              </a:ext>
            </a:extLst>
          </p:cNvPr>
          <p:cNvSpPr txBox="1"/>
          <p:nvPr/>
        </p:nvSpPr>
        <p:spPr>
          <a:xfrm>
            <a:off x="8152090" y="4253383"/>
            <a:ext cx="4007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movzx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byte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+ 8]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+ 16]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rcx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6919B-5140-47DF-A4EA-2F46DDAD8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A358A1-5301-4712-8640-E6085A53F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4862" y="304602"/>
            <a:ext cx="1609950" cy="1571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D4420B-C42B-433E-A151-3A595DECE8C1}"/>
              </a:ext>
            </a:extLst>
          </p:cNvPr>
          <p:cNvSpPr txBox="1"/>
          <p:nvPr/>
        </p:nvSpPr>
        <p:spPr>
          <a:xfrm>
            <a:off x="187962" y="6492875"/>
            <a:ext cx="44109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Image source</a:t>
            </a:r>
            <a:r>
              <a:rPr lang="en-US" sz="1000" dirty="0"/>
              <a:t> (Jeffrey </a:t>
            </a:r>
            <a:r>
              <a:rPr lang="en-US" sz="1000" dirty="0" err="1"/>
              <a:t>Bary</a:t>
            </a:r>
            <a:r>
              <a:rPr lang="en-US" sz="1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5020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825E86-AAF1-4EAF-A00D-9623D134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есть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64C00-1F57-488C-B3C1-7CB36AA69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Многие статические анализаторы предупреждают о неэффективном расположении полей</a:t>
            </a:r>
          </a:p>
          <a:p>
            <a:pPr lvl="1"/>
            <a:r>
              <a:rPr lang="en-US" dirty="0"/>
              <a:t>-</a:t>
            </a:r>
            <a:r>
              <a:rPr lang="en-US" dirty="0" err="1"/>
              <a:t>Wpadded</a:t>
            </a:r>
            <a:r>
              <a:rPr lang="en-US" dirty="0"/>
              <a:t>, clang-tidy</a:t>
            </a:r>
            <a:r>
              <a:rPr lang="ru-RU" dirty="0"/>
              <a:t>, </a:t>
            </a:r>
            <a:r>
              <a:rPr lang="en-US" dirty="0"/>
              <a:t>PVS-studio, etc.</a:t>
            </a:r>
          </a:p>
          <a:p>
            <a:pPr lvl="1"/>
            <a:r>
              <a:rPr lang="en-US" dirty="0" err="1"/>
              <a:t>Pahole</a:t>
            </a:r>
            <a:r>
              <a:rPr lang="en-US" dirty="0"/>
              <a:t> (</a:t>
            </a:r>
            <a:r>
              <a:rPr lang="ru-RU" dirty="0"/>
              <a:t>на базе </a:t>
            </a:r>
            <a:r>
              <a:rPr lang="en-US" dirty="0" err="1"/>
              <a:t>debuginfo</a:t>
            </a:r>
            <a:r>
              <a:rPr lang="en-US" dirty="0"/>
              <a:t>)</a:t>
            </a:r>
          </a:p>
          <a:p>
            <a:r>
              <a:rPr lang="en-US" dirty="0"/>
              <a:t>clang-reorder-fields – LLVM-based </a:t>
            </a:r>
            <a:r>
              <a:rPr lang="ru-RU" dirty="0"/>
              <a:t>инструмент для перестановки полей для оптимизации паддинга</a:t>
            </a:r>
            <a:endParaRPr lang="en-US" dirty="0"/>
          </a:p>
          <a:p>
            <a:r>
              <a:rPr lang="ru-RU" dirty="0"/>
              <a:t>В теории при использовании </a:t>
            </a:r>
            <a:r>
              <a:rPr lang="en-US" dirty="0"/>
              <a:t>Fat LTO </a:t>
            </a:r>
            <a:r>
              <a:rPr lang="ru-RU" dirty="0"/>
              <a:t>компилятор может</a:t>
            </a:r>
            <a:r>
              <a:rPr lang="en-US" dirty="0"/>
              <a:t> </a:t>
            </a:r>
            <a:r>
              <a:rPr lang="ru-RU" dirty="0"/>
              <a:t>делать аналогичные оптимизации автоматически</a:t>
            </a:r>
            <a:endParaRPr lang="en-US" dirty="0"/>
          </a:p>
          <a:p>
            <a:pPr lvl="1"/>
            <a:r>
              <a:rPr lang="ru-RU" dirty="0"/>
              <a:t>Так сейчас уже делает </a:t>
            </a:r>
            <a:r>
              <a:rPr lang="en-US" dirty="0"/>
              <a:t>LCC </a:t>
            </a:r>
            <a:r>
              <a:rPr lang="ru-RU" dirty="0"/>
              <a:t>(МЦСТ)</a:t>
            </a:r>
          </a:p>
          <a:p>
            <a:pPr lvl="1"/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197CE-4593-4141-B5A9-DB6B2B8BC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1624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286CB3-CA98-4D5C-9B68-DF83F5F62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5517"/>
            <a:ext cx="10515600" cy="1325563"/>
          </a:xfrm>
        </p:spPr>
        <p:txBody>
          <a:bodyPr/>
          <a:lstStyle/>
          <a:p>
            <a:r>
              <a:rPr lang="ru-RU" dirty="0"/>
              <a:t>Устройство </a:t>
            </a:r>
            <a:r>
              <a:rPr lang="en-US" dirty="0"/>
              <a:t>Rust </a:t>
            </a:r>
            <a:r>
              <a:rPr lang="en-US" dirty="0" err="1"/>
              <a:t>enums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C07E6B-7EC2-45BD-B980-C5C37E471C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1049000" cy="4351338"/>
          </a:xfrm>
        </p:spPr>
        <p:txBody>
          <a:bodyPr/>
          <a:lstStyle/>
          <a:p>
            <a:r>
              <a:rPr lang="en-US" dirty="0"/>
              <a:t>Enums </a:t>
            </a:r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являются аналогом </a:t>
            </a:r>
            <a:r>
              <a:rPr lang="en-US" dirty="0"/>
              <a:t>std::variant </a:t>
            </a:r>
            <a:r>
              <a:rPr lang="ru-RU" dirty="0"/>
              <a:t>в </a:t>
            </a:r>
            <a:r>
              <a:rPr lang="en-US" dirty="0"/>
              <a:t>C++</a:t>
            </a:r>
          </a:p>
          <a:p>
            <a:r>
              <a:rPr lang="ru-RU" dirty="0"/>
              <a:t>Могут содержать различные типы данных</a:t>
            </a:r>
            <a:endParaRPr lang="en-US" dirty="0"/>
          </a:p>
          <a:p>
            <a:pPr lvl="1"/>
            <a:r>
              <a:rPr lang="ru-RU" dirty="0"/>
              <a:t>Конкретный тип определяется в рантайме и хранится в специальном поле – теге</a:t>
            </a:r>
          </a:p>
          <a:p>
            <a:r>
              <a:rPr lang="ru-RU" dirty="0"/>
              <a:t>Объект типа </a:t>
            </a:r>
            <a:r>
              <a:rPr lang="en-US" dirty="0" err="1"/>
              <a:t>enum</a:t>
            </a:r>
            <a:r>
              <a:rPr lang="en-US" dirty="0"/>
              <a:t> </a:t>
            </a:r>
            <a:r>
              <a:rPr lang="ru-RU" dirty="0"/>
              <a:t>содержит</a:t>
            </a:r>
          </a:p>
          <a:p>
            <a:pPr lvl="1"/>
            <a:r>
              <a:rPr lang="ru-RU" dirty="0"/>
              <a:t>Тег </a:t>
            </a:r>
            <a:r>
              <a:rPr lang="en-US" dirty="0"/>
              <a:t>(tag, discriminant) </a:t>
            </a:r>
            <a:r>
              <a:rPr lang="ru-RU" dirty="0"/>
              <a:t>с индексом хранимого варианта</a:t>
            </a:r>
          </a:p>
          <a:p>
            <a:pPr lvl="1"/>
            <a:r>
              <a:rPr lang="ru-RU" dirty="0"/>
              <a:t>Данные этого варианта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6083A7C-41A1-4006-BC2B-7DE3ACD76820}"/>
              </a:ext>
            </a:extLst>
          </p:cNvPr>
          <p:cNvSpPr txBox="1"/>
          <p:nvPr/>
        </p:nvSpPr>
        <p:spPr>
          <a:xfrm>
            <a:off x="5815668" y="4391026"/>
            <a:ext cx="4645404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mov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mov    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+ 4]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ret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053054-EF4D-495B-ADD6-1ECD0C6E207B}"/>
              </a:ext>
            </a:extLst>
          </p:cNvPr>
          <p:cNvSpPr txBox="1"/>
          <p:nvPr/>
        </p:nvSpPr>
        <p:spPr>
          <a:xfrm>
            <a:off x="838200" y="4391026"/>
            <a:ext cx="327240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3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enum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b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sz="13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fun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match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..}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=&gt;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..}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=&gt;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y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3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endParaRPr lang="en-US" sz="1300" b="0" dirty="0">
              <a:solidFill>
                <a:srgbClr val="0070C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FD7ED05-5C62-423B-ADB7-4BE3CBF50F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22515" y="5772418"/>
            <a:ext cx="6231709" cy="80908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FDE2C-144C-4D71-81A8-198137AEB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0645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2E987B-1D83-44ED-96AA-CD1B807A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Ниши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1B1B54-A130-4A7D-A393-F42531964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1136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Некоторые комбинации битов могут не соответствовать никакому осмысленному значению кодируемого типа</a:t>
            </a:r>
          </a:p>
          <a:p>
            <a:r>
              <a:rPr lang="ru-RU" dirty="0"/>
              <a:t>Например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x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NonZero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rgbClr val="C00000"/>
                </a:solidFill>
              </a:rPr>
              <a:t>i32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ru-RU" dirty="0"/>
              <a:t> не могут быть нулями</a:t>
            </a:r>
            <a:endParaRPr lang="en-US" dirty="0"/>
          </a:p>
          <a:p>
            <a:pPr lvl="1"/>
            <a:r>
              <a:rPr lang="en-US" dirty="0">
                <a:solidFill>
                  <a:srgbClr val="C00000"/>
                </a:solidFill>
              </a:rPr>
              <a:t>bool</a:t>
            </a:r>
            <a:r>
              <a:rPr lang="en-US" dirty="0"/>
              <a:t> (8</a:t>
            </a:r>
            <a:r>
              <a:rPr lang="ru-RU" dirty="0"/>
              <a:t> бит) это только </a:t>
            </a:r>
            <a:r>
              <a:rPr lang="en-US" dirty="0"/>
              <a:t>0b0 </a:t>
            </a:r>
            <a:r>
              <a:rPr lang="ru-RU" dirty="0"/>
              <a:t>или </a:t>
            </a:r>
            <a:r>
              <a:rPr lang="en-US" dirty="0"/>
              <a:t>0b1</a:t>
            </a:r>
            <a:endParaRPr lang="ru-RU" dirty="0"/>
          </a:p>
          <a:p>
            <a:pPr lvl="2"/>
            <a:r>
              <a:rPr lang="ru-RU" dirty="0"/>
              <a:t>Остальные 254 значения некорректны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char</a:t>
            </a:r>
            <a:r>
              <a:rPr lang="en-US" dirty="0"/>
              <a:t> (32 </a:t>
            </a:r>
            <a:r>
              <a:rPr lang="ru-RU" dirty="0"/>
              <a:t>бита) может иметь значения только в диапазонах </a:t>
            </a:r>
            <a:r>
              <a:rPr lang="en-US" dirty="0"/>
              <a:t> [0x0, 0xD7FF] </a:t>
            </a:r>
            <a:r>
              <a:rPr lang="ru-RU" dirty="0"/>
              <a:t>и</a:t>
            </a:r>
            <a:r>
              <a:rPr lang="en-US" dirty="0"/>
              <a:t> [0xE000, 0x10FFFF]</a:t>
            </a:r>
            <a:endParaRPr lang="ru-RU" dirty="0"/>
          </a:p>
          <a:p>
            <a:r>
              <a:rPr lang="ru-RU" dirty="0"/>
              <a:t>Такие диапазоны невалидных значений (не битов!) называются нишами </a:t>
            </a:r>
            <a:r>
              <a:rPr lang="en-US" dirty="0"/>
              <a:t>(niche)</a:t>
            </a:r>
            <a:endParaRPr lang="ru-RU" dirty="0"/>
          </a:p>
          <a:p>
            <a:r>
              <a:rPr lang="ru-RU" dirty="0" err="1"/>
              <a:t>Паддинг</a:t>
            </a:r>
            <a:r>
              <a:rPr lang="ru-RU" dirty="0"/>
              <a:t> в структурах </a:t>
            </a:r>
            <a:r>
              <a:rPr lang="ru-RU" b="1" dirty="0"/>
              <a:t>не может</a:t>
            </a:r>
            <a:r>
              <a:rPr lang="ru-RU" dirty="0"/>
              <a:t> использоваться для ниш</a:t>
            </a:r>
            <a:endParaRPr lang="en-US" b="1" dirty="0"/>
          </a:p>
          <a:p>
            <a:r>
              <a:rPr lang="ru-RU" dirty="0"/>
              <a:t>Могут использоваться для хранения тега </a:t>
            </a:r>
            <a:r>
              <a:rPr lang="en-US" dirty="0" err="1"/>
              <a:t>enum</a:t>
            </a:r>
            <a:r>
              <a:rPr lang="en-US" dirty="0"/>
              <a:t>-</a:t>
            </a:r>
            <a:r>
              <a:rPr lang="ru-RU" dirty="0"/>
              <a:t>типа (вместо отдельного поля)</a:t>
            </a:r>
            <a:endParaRPr lang="en-US" dirty="0"/>
          </a:p>
          <a:p>
            <a:pPr lvl="1"/>
            <a:r>
              <a:rPr lang="ru-RU" dirty="0"/>
              <a:t>Т.н. </a:t>
            </a:r>
            <a:r>
              <a:rPr lang="en-US" dirty="0"/>
              <a:t>Discriminant Elision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E477A-A74A-424D-9077-A7AD739F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63</a:t>
            </a:fld>
            <a:endParaRPr lang="en-US"/>
          </a:p>
        </p:txBody>
      </p:sp>
      <p:pic>
        <p:nvPicPr>
          <p:cNvPr id="5" name="Picture 2" descr="Books &amp; Why Multidisciplinary Reading ...">
            <a:extLst>
              <a:ext uri="{FF2B5EF4-FFF2-40B4-BE49-F238E27FC236}">
                <a16:creationId xmlns:a16="http://schemas.microsoft.com/office/drawing/2014/main" id="{8FCD45FB-021C-4A3B-9607-F9DF8AC84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7935" y="158049"/>
            <a:ext cx="27146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EE62323-F05F-4CFA-859F-4246EB266FD4}"/>
              </a:ext>
            </a:extLst>
          </p:cNvPr>
          <p:cNvCxnSpPr>
            <a:cxnSpLocks/>
          </p:cNvCxnSpPr>
          <p:nvPr/>
        </p:nvCxnSpPr>
        <p:spPr>
          <a:xfrm>
            <a:off x="9467850" y="1566022"/>
            <a:ext cx="339538" cy="0"/>
          </a:xfrm>
          <a:prstGeom prst="straightConnector1">
            <a:avLst/>
          </a:prstGeom>
          <a:ln w="349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9C8ECC-FD8D-4D8A-B186-65CC56758EBC}"/>
              </a:ext>
            </a:extLst>
          </p:cNvPr>
          <p:cNvCxnSpPr>
            <a:cxnSpLocks/>
          </p:cNvCxnSpPr>
          <p:nvPr/>
        </p:nvCxnSpPr>
        <p:spPr>
          <a:xfrm>
            <a:off x="10934700" y="1566022"/>
            <a:ext cx="339538" cy="0"/>
          </a:xfrm>
          <a:prstGeom prst="straightConnector1">
            <a:avLst/>
          </a:prstGeom>
          <a:ln w="34925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ECEECF7-3B2A-483A-9C7B-0359D4569090}"/>
              </a:ext>
            </a:extLst>
          </p:cNvPr>
          <p:cNvSpPr txBox="1"/>
          <p:nvPr/>
        </p:nvSpPr>
        <p:spPr>
          <a:xfrm>
            <a:off x="134469" y="6492875"/>
            <a:ext cx="56029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Image source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456663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0DA925-EDAD-4F77-AF8B-F41C8DE87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ниш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D87086-7075-4262-8981-88D1AA1F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7464"/>
            <a:ext cx="10515600" cy="509401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Самый яркий </a:t>
            </a:r>
            <a:r>
              <a:rPr lang="en-US" dirty="0"/>
              <a:t>(</a:t>
            </a:r>
            <a:r>
              <a:rPr lang="ru-RU" dirty="0"/>
              <a:t>и гарантированный языком) пример оптимизации ниш –</a:t>
            </a:r>
            <a:r>
              <a:rPr lang="en-US" dirty="0"/>
              <a:t> </a:t>
            </a:r>
            <a:r>
              <a:rPr lang="ru-RU" dirty="0"/>
              <a:t>тип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Option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ru-RU" dirty="0"/>
              <a:t>, где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/>
              <a:t> – </a:t>
            </a:r>
            <a:r>
              <a:rPr lang="en-US" dirty="0" err="1"/>
              <a:t>NonNull</a:t>
            </a:r>
            <a:r>
              <a:rPr lang="ru-RU" dirty="0"/>
              <a:t> тип</a:t>
            </a:r>
            <a:r>
              <a:rPr lang="en-US" dirty="0"/>
              <a:t> (</a:t>
            </a:r>
            <a:r>
              <a:rPr lang="ru-RU" dirty="0"/>
              <a:t>например </a:t>
            </a:r>
            <a:r>
              <a:rPr lang="en-US" dirty="0">
                <a:solidFill>
                  <a:srgbClr val="0070C0"/>
                </a:solidFill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dirty="0"/>
              <a:t>)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ru-RU" dirty="0">
                <a:cs typeface="Courier New" panose="02070309020205020404" pitchFamily="49" charset="0"/>
              </a:rPr>
              <a:t>Одна ниша может использоваться для нескольких тегов</a:t>
            </a:r>
            <a:r>
              <a:rPr lang="en-US" dirty="0">
                <a:cs typeface="Courier New" panose="02070309020205020404" pitchFamily="49" charset="0"/>
              </a:rPr>
              <a:t>:</a:t>
            </a:r>
            <a:endParaRPr lang="ru-RU" dirty="0">
              <a:cs typeface="Courier New" panose="02070309020205020404" pitchFamily="49" charset="0"/>
            </a:endParaRPr>
          </a:p>
          <a:p>
            <a:pPr lvl="1"/>
            <a:r>
              <a:rPr lang="en-US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size_of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::&lt;</a:t>
            </a:r>
            <a:r>
              <a:rPr lang="en-US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Option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&gt;&gt;&gt;&gt;()</a:t>
            </a:r>
            <a:r>
              <a:rPr lang="ru-RU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endParaRPr lang="ru-RU" dirty="0">
              <a:cs typeface="Courier New" panose="02070309020205020404" pitchFamily="49" charset="0"/>
            </a:endParaRPr>
          </a:p>
          <a:p>
            <a:r>
              <a:rPr lang="ru-RU" b="0" dirty="0">
                <a:solidFill>
                  <a:srgbClr val="000000"/>
                </a:solidFill>
                <a:effectLst/>
              </a:rPr>
              <a:t>Аналогичная оптимизация возможна для младших бит ссылки (или указателя)</a:t>
            </a:r>
            <a:endParaRPr lang="ru-RU" dirty="0">
              <a:solidFill>
                <a:srgbClr val="000000"/>
              </a:solidFill>
            </a:endParaRP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У выровненных указателей несколько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ru-RU" dirty="0">
                <a:solidFill>
                  <a:srgbClr val="000000"/>
                </a:solidFill>
              </a:rPr>
              <a:t>младших бит всегда 0</a:t>
            </a:r>
          </a:p>
          <a:p>
            <a:pPr lvl="1"/>
            <a:r>
              <a:rPr lang="ru-RU" b="0" dirty="0">
                <a:solidFill>
                  <a:srgbClr val="000000"/>
                </a:solidFill>
                <a:effectLst/>
              </a:rPr>
              <a:t>Их можно использовать как нишу</a:t>
            </a:r>
          </a:p>
          <a:p>
            <a:pPr lvl="1"/>
            <a:r>
              <a:rPr lang="ru-RU" dirty="0">
                <a:solidFill>
                  <a:srgbClr val="000000"/>
                </a:solidFill>
              </a:rPr>
              <a:t>Пока реализовано только в </a:t>
            </a:r>
            <a:r>
              <a:rPr lang="en-US" dirty="0">
                <a:solidFill>
                  <a:srgbClr val="000000"/>
                </a:solidFill>
              </a:rPr>
              <a:t>nightly (-</a:t>
            </a:r>
            <a:r>
              <a:rPr lang="en-US" dirty="0" err="1">
                <a:solidFill>
                  <a:srgbClr val="000000"/>
                </a:solidFill>
              </a:rPr>
              <a:t>Zreference</a:t>
            </a:r>
            <a:r>
              <a:rPr lang="en-US" dirty="0">
                <a:solidFill>
                  <a:srgbClr val="000000"/>
                </a:solidFill>
              </a:rPr>
              <a:t>-niches, </a:t>
            </a:r>
            <a:r>
              <a:rPr lang="en-US" dirty="0">
                <a:solidFill>
                  <a:srgbClr val="000000"/>
                </a:solidFill>
                <a:hlinkClick r:id="rId2"/>
              </a:rPr>
              <a:t>rust #3204</a:t>
            </a:r>
            <a:r>
              <a:rPr lang="en-US" dirty="0">
                <a:solidFill>
                  <a:srgbClr val="000000"/>
                </a:solidFill>
              </a:rPr>
              <a:t>)</a:t>
            </a:r>
            <a:endParaRPr lang="ru-RU" b="0" dirty="0">
              <a:solidFill>
                <a:srgbClr val="000000"/>
              </a:solidFill>
              <a:effectLst/>
            </a:endParaRPr>
          </a:p>
          <a:p>
            <a:pPr lvl="1"/>
            <a:endParaRPr lang="en-US" b="0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1780ED-64C2-47EE-AFFA-3121DE08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696C69-CFDF-4295-A1A3-3E3A34BAC7E1}"/>
              </a:ext>
            </a:extLst>
          </p:cNvPr>
          <p:cNvSpPr txBox="1"/>
          <p:nvPr/>
        </p:nvSpPr>
        <p:spPr>
          <a:xfrm>
            <a:off x="2434560" y="2898643"/>
            <a:ext cx="2613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Option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&lt;&amp;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</a:t>
            </a:r>
            <a:r>
              <a:rPr lang="en-US" sz="2000" dirty="0">
                <a:solidFill>
                  <a:schemeClr val="accent1"/>
                </a:solidFill>
                <a:latin typeface="Consolas" panose="020B0609020204030204" pitchFamily="49" charset="0"/>
              </a:rPr>
              <a:t>&gt;</a:t>
            </a:r>
            <a:r>
              <a:rPr lang="en-US" sz="2000" dirty="0">
                <a:latin typeface="Consolas" panose="020B0609020204030204" pitchFamily="49" charset="0"/>
              </a:rPr>
              <a:t> =  </a:t>
            </a:r>
          </a:p>
        </p:txBody>
      </p:sp>
      <p:sp>
        <p:nvSpPr>
          <p:cNvPr id="7" name="Левая фигурная скобка 6">
            <a:extLst>
              <a:ext uri="{FF2B5EF4-FFF2-40B4-BE49-F238E27FC236}">
                <a16:creationId xmlns:a16="http://schemas.microsoft.com/office/drawing/2014/main" id="{D93515D9-83AD-45D5-81AC-5FD719CFE965}"/>
              </a:ext>
            </a:extLst>
          </p:cNvPr>
          <p:cNvSpPr/>
          <p:nvPr/>
        </p:nvSpPr>
        <p:spPr>
          <a:xfrm>
            <a:off x="4869043" y="2681658"/>
            <a:ext cx="144143" cy="884415"/>
          </a:xfrm>
          <a:prstGeom prst="leftBrace">
            <a:avLst>
              <a:gd name="adj1" fmla="val 69287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76F9CB-866C-42EC-8FF4-BC85D9C440BA}"/>
              </a:ext>
            </a:extLst>
          </p:cNvPr>
          <p:cNvSpPr txBox="1"/>
          <p:nvPr/>
        </p:nvSpPr>
        <p:spPr>
          <a:xfrm>
            <a:off x="4708322" y="2681658"/>
            <a:ext cx="358000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None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1"/>
                </a:solidFill>
              </a:rPr>
              <a:t>=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0x0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1D4C9C-612C-411A-B708-AEB210C7D9D1}"/>
              </a:ext>
            </a:extLst>
          </p:cNvPr>
          <p:cNvSpPr txBox="1"/>
          <p:nvPr/>
        </p:nvSpPr>
        <p:spPr>
          <a:xfrm>
            <a:off x="4708322" y="3201994"/>
            <a:ext cx="59708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Some</a:t>
            </a:r>
            <a:r>
              <a:rPr lang="en-US" sz="2000" dirty="0">
                <a:solidFill>
                  <a:schemeClr val="accent1"/>
                </a:solidFill>
              </a:rPr>
              <a:t>(&amp;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  <a:r>
              <a:rPr lang="en-US" sz="2000" dirty="0"/>
              <a:t> 	</a:t>
            </a:r>
            <a:r>
              <a:rPr lang="en-US" sz="2000" dirty="0">
                <a:solidFill>
                  <a:schemeClr val="accent1"/>
                </a:solidFill>
              </a:rPr>
              <a:t>=</a:t>
            </a:r>
            <a:r>
              <a:rPr lang="en-US" sz="2000" dirty="0"/>
              <a:t> </a:t>
            </a:r>
            <a:r>
              <a:rPr lang="en-US" sz="2000" dirty="0" err="1">
                <a:solidFill>
                  <a:schemeClr val="accent6">
                    <a:lumMod val="75000"/>
                  </a:schemeClr>
                </a:solidFill>
              </a:rPr>
              <a:t>addr_of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!</a:t>
            </a:r>
            <a:r>
              <a:rPr lang="en-US" sz="2000" dirty="0">
                <a:solidFill>
                  <a:schemeClr val="accent1"/>
                </a:solidFill>
              </a:rPr>
              <a:t>(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u</a:t>
            </a:r>
            <a:r>
              <a:rPr lang="en-US" sz="2000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7254514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80BD59-BDCB-4ADD-B6F9-E4B55BC23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774"/>
            <a:ext cx="10515600" cy="1325563"/>
          </a:xfrm>
        </p:spPr>
        <p:txBody>
          <a:bodyPr/>
          <a:lstStyle/>
          <a:p>
            <a:r>
              <a:rPr lang="ru-RU" dirty="0"/>
              <a:t>Что есть в </a:t>
            </a:r>
            <a:r>
              <a:rPr lang="en-US" dirty="0"/>
              <a:t>C++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240A02-F401-47FA-8E3F-B4C7655FD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213"/>
            <a:ext cx="10515600" cy="4415021"/>
          </a:xfrm>
        </p:spPr>
        <p:txBody>
          <a:bodyPr>
            <a:normAutofit/>
          </a:bodyPr>
          <a:lstStyle/>
          <a:p>
            <a:r>
              <a:rPr lang="ru-RU" dirty="0"/>
              <a:t>В </a:t>
            </a:r>
            <a:r>
              <a:rPr lang="en-US" dirty="0"/>
              <a:t>std::optional </a:t>
            </a:r>
            <a:r>
              <a:rPr lang="ru-RU" dirty="0"/>
              <a:t>и </a:t>
            </a:r>
            <a:r>
              <a:rPr lang="en-US" dirty="0"/>
              <a:t>std::variant </a:t>
            </a:r>
            <a:r>
              <a:rPr lang="ru-RU" dirty="0"/>
              <a:t>нет аналога оптимизаций ниш</a:t>
            </a:r>
            <a:endParaRPr lang="en-US" dirty="0"/>
          </a:p>
          <a:p>
            <a:pPr lvl="1"/>
            <a:r>
              <a:rPr lang="ru-RU" dirty="0">
                <a:hlinkClick r:id="rId2"/>
              </a:rPr>
              <a:t>Можно реализовать</a:t>
            </a:r>
            <a:r>
              <a:rPr lang="en-US" dirty="0"/>
              <a:t> </a:t>
            </a:r>
            <a:r>
              <a:rPr lang="ru-RU" dirty="0"/>
              <a:t>аналог </a:t>
            </a:r>
            <a:r>
              <a:rPr lang="en-US" dirty="0"/>
              <a:t>std::optional </a:t>
            </a:r>
            <a:r>
              <a:rPr lang="ru-RU" dirty="0"/>
              <a:t>с такой оптимизацией</a:t>
            </a:r>
          </a:p>
          <a:p>
            <a:r>
              <a:rPr lang="en-US" dirty="0" err="1"/>
              <a:t>llvm</a:t>
            </a:r>
            <a:r>
              <a:rPr lang="en-US" dirty="0"/>
              <a:t>::</a:t>
            </a:r>
            <a:r>
              <a:rPr lang="en-US" dirty="0" err="1"/>
              <a:t>PointerIntPair</a:t>
            </a:r>
            <a:endParaRPr lang="ru-RU" dirty="0"/>
          </a:p>
          <a:p>
            <a:pPr lvl="1"/>
            <a:r>
              <a:rPr lang="ru-RU" dirty="0"/>
              <a:t>Использует младшие биты указателя для хранения значений </a:t>
            </a:r>
            <a:r>
              <a:rPr lang="en-US" dirty="0"/>
              <a:t>int</a:t>
            </a:r>
          </a:p>
          <a:p>
            <a:pPr lvl="1"/>
            <a:r>
              <a:rPr lang="ru-RU" dirty="0"/>
              <a:t>Аналог </a:t>
            </a:r>
            <a:r>
              <a:rPr lang="en-US" dirty="0"/>
              <a:t>-</a:t>
            </a:r>
            <a:r>
              <a:rPr lang="en-US" dirty="0" err="1"/>
              <a:t>Zreference</a:t>
            </a:r>
            <a:r>
              <a:rPr lang="en-US" dirty="0"/>
              <a:t>-niches </a:t>
            </a:r>
            <a:r>
              <a:rPr lang="ru-RU" dirty="0"/>
              <a:t>в </a:t>
            </a:r>
            <a:r>
              <a:rPr lang="en-US" dirty="0"/>
              <a:t>Rust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Lock-free</a:t>
            </a:r>
            <a:r>
              <a:rPr lang="ru-RU" dirty="0"/>
              <a:t> реализации</a:t>
            </a:r>
            <a:r>
              <a:rPr lang="en-US" dirty="0"/>
              <a:t> atomic </a:t>
            </a:r>
            <a:r>
              <a:rPr lang="en-US" dirty="0" err="1"/>
              <a:t>shared_ptr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e.g.</a:t>
            </a:r>
            <a:r>
              <a:rPr lang="ru-RU" dirty="0"/>
              <a:t> в </a:t>
            </a:r>
            <a:r>
              <a:rPr lang="en-US" dirty="0"/>
              <a:t>Folly) </a:t>
            </a:r>
            <a:r>
              <a:rPr lang="ru-RU" dirty="0"/>
              <a:t>используют свободные биты адреса</a:t>
            </a:r>
            <a:r>
              <a:rPr lang="en-US" dirty="0"/>
              <a:t> </a:t>
            </a:r>
            <a:r>
              <a:rPr lang="ru-RU" dirty="0"/>
              <a:t>для хранения </a:t>
            </a:r>
            <a:r>
              <a:rPr lang="en-US" dirty="0"/>
              <a:t>reference count</a:t>
            </a:r>
          </a:p>
          <a:p>
            <a:pPr lvl="1"/>
            <a:r>
              <a:rPr lang="ru-RU" dirty="0"/>
              <a:t>Это позволяет использовать атомарные инструкции меньшей ширины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E47E153-81AE-4945-B7B3-676552490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272" y="5384846"/>
            <a:ext cx="4141952" cy="126731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D2E0179-1F89-4986-AC5E-3EBC46119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9954" y="3588170"/>
            <a:ext cx="3616754" cy="51926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3EB6D0-8CAD-493B-966F-7CC01C09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7978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Замедление при выключении переупорядочивания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86A8CF-2CB2-4F5B-806B-773C990ED6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2822" y="1690688"/>
            <a:ext cx="6159874" cy="4927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2EBA7F-0D7F-46F0-9705-43F1058D4F0A}"/>
              </a:ext>
            </a:extLst>
          </p:cNvPr>
          <p:cNvSpPr txBox="1"/>
          <p:nvPr/>
        </p:nvSpPr>
        <p:spPr>
          <a:xfrm>
            <a:off x="8960644" y="1690688"/>
            <a:ext cx="318835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Отключили </a:t>
            </a:r>
            <a:r>
              <a:rPr lang="en-US" sz="2400" dirty="0" err="1"/>
              <a:t>shouldMergeGEPs</a:t>
            </a:r>
            <a:r>
              <a:rPr lang="en-US" sz="2400" dirty="0"/>
              <a:t> </a:t>
            </a:r>
            <a:r>
              <a:rPr lang="ru-RU" sz="2400" dirty="0"/>
              <a:t>и </a:t>
            </a:r>
            <a:r>
              <a:rPr lang="en-US" sz="2400" dirty="0"/>
              <a:t>store merging </a:t>
            </a:r>
            <a:r>
              <a:rPr lang="ru-RU" sz="2400" dirty="0"/>
              <a:t>из-за их чувствительности к порядку полей</a:t>
            </a: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88E6ED-EB56-485D-B81F-4181E6B5A5BC}"/>
              </a:ext>
            </a:extLst>
          </p:cNvPr>
          <p:cNvSpPr txBox="1"/>
          <p:nvPr/>
        </p:nvSpPr>
        <p:spPr>
          <a:xfrm>
            <a:off x="71717" y="649651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Ветка компилятора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6023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867C6B-B24F-4F5B-BC3D-DA610602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C8C062-874D-41F1-88BA-84445EF48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Rust </a:t>
            </a:r>
            <a:r>
              <a:rPr lang="ru-RU" dirty="0"/>
              <a:t>не гарантирует порядок полей внутри структур</a:t>
            </a:r>
          </a:p>
          <a:p>
            <a:pPr lvl="1"/>
            <a:r>
              <a:rPr lang="ru-RU" dirty="0"/>
              <a:t>Это даёт свободу оптимизаций</a:t>
            </a:r>
          </a:p>
          <a:p>
            <a:pPr lvl="1"/>
            <a:r>
              <a:rPr lang="ru-RU" dirty="0"/>
              <a:t>Но требует осторожности в </a:t>
            </a:r>
            <a:r>
              <a:rPr lang="en-US" dirty="0"/>
              <a:t>unsafe </a:t>
            </a:r>
            <a:r>
              <a:rPr lang="ru-RU" dirty="0"/>
              <a:t>коде</a:t>
            </a:r>
          </a:p>
          <a:p>
            <a:r>
              <a:rPr lang="ru-RU" dirty="0"/>
              <a:t>Это позволяет компилятору агрессивно переупорядочивать поля и переиспользовать их для тегов</a:t>
            </a:r>
            <a:endParaRPr lang="en-US" dirty="0"/>
          </a:p>
          <a:p>
            <a:pPr lvl="1"/>
            <a:r>
              <a:rPr lang="ru-RU" dirty="0"/>
              <a:t>Аналогичные оптимизации можно</a:t>
            </a:r>
            <a:r>
              <a:rPr lang="en-US" dirty="0"/>
              <a:t> </a:t>
            </a:r>
            <a:r>
              <a:rPr lang="ru-RU" dirty="0"/>
              <a:t>вручную реализовать и в </a:t>
            </a:r>
            <a:r>
              <a:rPr lang="en-US" dirty="0"/>
              <a:t>C++</a:t>
            </a:r>
          </a:p>
          <a:p>
            <a:r>
              <a:rPr lang="ru-RU" dirty="0"/>
              <a:t>Влияние оптимизации самой по себе невелико, но она может включать или отключать другие оптимизации</a:t>
            </a:r>
            <a:endParaRPr lang="en-US" dirty="0"/>
          </a:p>
          <a:p>
            <a:pPr lvl="1"/>
            <a:r>
              <a:rPr lang="ru-RU" dirty="0"/>
              <a:t>Как в компиляторе и процессоре</a:t>
            </a:r>
          </a:p>
          <a:p>
            <a:pPr lvl="1"/>
            <a:r>
              <a:rPr lang="ru-RU" dirty="0"/>
              <a:t>Как положительно, так и отрицательно может влиять на производительность</a:t>
            </a:r>
          </a:p>
          <a:p>
            <a:endParaRPr lang="ru-R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FC154-3E2A-4552-B8F1-82745703C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98726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Арифметические проверки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AF227E-BB3F-417F-927F-816FDDD63561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158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034178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Переполнение арифметических операций может приводить к серьёзным системным сбоям</a:t>
            </a:r>
            <a:endParaRPr lang="en-US" dirty="0"/>
          </a:p>
          <a:p>
            <a:pPr lvl="1"/>
            <a:r>
              <a:rPr lang="en-US" dirty="0"/>
              <a:t>~1% CVE </a:t>
            </a:r>
            <a:r>
              <a:rPr lang="ru-RU" dirty="0"/>
              <a:t>и 1.5% </a:t>
            </a:r>
            <a:r>
              <a:rPr lang="en-US" dirty="0"/>
              <a:t>KEV </a:t>
            </a:r>
            <a:r>
              <a:rPr lang="ru-RU" dirty="0"/>
              <a:t>в 2024</a:t>
            </a:r>
          </a:p>
          <a:p>
            <a:pPr lvl="1"/>
            <a:r>
              <a:rPr lang="en-US" dirty="0"/>
              <a:t>23 </a:t>
            </a:r>
            <a:r>
              <a:rPr lang="ru-RU" dirty="0"/>
              <a:t>место в рейтинге </a:t>
            </a:r>
            <a:r>
              <a:rPr lang="en-US" dirty="0" err="1">
                <a:hlinkClick r:id="rId2"/>
              </a:rPr>
              <a:t>Mitre</a:t>
            </a:r>
            <a:r>
              <a:rPr lang="en-US" dirty="0">
                <a:hlinkClick r:id="rId2"/>
              </a:rPr>
              <a:t> CWE Top 25 2024</a:t>
            </a:r>
            <a:r>
              <a:rPr lang="en-US" dirty="0"/>
              <a:t> (8 </a:t>
            </a:r>
            <a:r>
              <a:rPr lang="ru-RU" dirty="0"/>
              <a:t>в </a:t>
            </a:r>
            <a:r>
              <a:rPr lang="ru-RU" dirty="0">
                <a:hlinkClick r:id="rId3"/>
              </a:rPr>
              <a:t>рейтинге </a:t>
            </a:r>
            <a:r>
              <a:rPr lang="en-US" dirty="0">
                <a:hlinkClick r:id="rId3"/>
              </a:rPr>
              <a:t>2019 </a:t>
            </a:r>
            <a:r>
              <a:rPr lang="ru-RU" dirty="0">
                <a:hlinkClick r:id="rId3"/>
              </a:rPr>
              <a:t>года</a:t>
            </a:r>
            <a:r>
              <a:rPr lang="en-US" dirty="0"/>
              <a:t>)</a:t>
            </a:r>
          </a:p>
          <a:p>
            <a:r>
              <a:rPr lang="ru-RU" dirty="0"/>
              <a:t>Наиболее известные примеры:</a:t>
            </a:r>
          </a:p>
          <a:p>
            <a:pPr lvl="1"/>
            <a:r>
              <a:rPr lang="ru-RU" dirty="0"/>
              <a:t>Инцидент с облучателем Therac-25 </a:t>
            </a:r>
            <a:r>
              <a:rPr lang="en-US" dirty="0"/>
              <a:t>(1985)</a:t>
            </a:r>
            <a:endParaRPr lang="ru-RU" dirty="0"/>
          </a:p>
          <a:p>
            <a:pPr lvl="1"/>
            <a:r>
              <a:rPr lang="ru-RU" dirty="0"/>
              <a:t>Катастрофа ракеты Ariane 5 </a:t>
            </a:r>
            <a:r>
              <a:rPr lang="en-US" dirty="0"/>
              <a:t>(1996)</a:t>
            </a:r>
          </a:p>
          <a:p>
            <a:r>
              <a:rPr lang="ru-RU" dirty="0"/>
              <a:t>История</a:t>
            </a:r>
            <a:r>
              <a:rPr lang="en-US" dirty="0"/>
              <a:t>:</a:t>
            </a:r>
          </a:p>
          <a:p>
            <a:pPr lvl="1"/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-ftrapv</a:t>
            </a:r>
            <a:r>
              <a:rPr lang="ru-RU" dirty="0"/>
              <a:t> появилась в </a:t>
            </a:r>
            <a:r>
              <a:rPr lang="en-US" dirty="0"/>
              <a:t>GCC </a:t>
            </a:r>
            <a:r>
              <a:rPr lang="ru-RU" dirty="0"/>
              <a:t>в 2000</a:t>
            </a:r>
          </a:p>
          <a:p>
            <a:pPr lvl="1"/>
            <a:r>
              <a:rPr lang="ru-RU" dirty="0"/>
              <a:t>Работы John Regehr над чекером </a:t>
            </a:r>
            <a:r>
              <a:rPr lang="en-US" dirty="0"/>
              <a:t>IOC </a:t>
            </a:r>
            <a:r>
              <a:rPr lang="ru-RU" dirty="0"/>
              <a:t>в </a:t>
            </a:r>
            <a:r>
              <a:rPr lang="ru-RU" dirty="0">
                <a:hlinkClick r:id="rId4"/>
              </a:rPr>
              <a:t>2010</a:t>
            </a:r>
            <a:endParaRPr lang="ru-RU" dirty="0"/>
          </a:p>
          <a:p>
            <a:pPr lvl="1"/>
            <a:r>
              <a:rPr lang="ru-RU" dirty="0"/>
              <a:t>Создание UBsan в 2014 </a:t>
            </a:r>
            <a:r>
              <a:rPr lang="en-US" dirty="0"/>
              <a:t>(</a:t>
            </a:r>
            <a:r>
              <a:rPr lang="ru-RU" dirty="0"/>
              <a:t>на волне популярности </a:t>
            </a:r>
            <a:r>
              <a:rPr lang="en-US" dirty="0"/>
              <a:t>Asan)</a:t>
            </a:r>
            <a:endParaRPr lang="ru-RU" dirty="0"/>
          </a:p>
          <a:p>
            <a:pPr lvl="2"/>
            <a:r>
              <a:rPr lang="en-US" dirty="0"/>
              <a:t>S</a:t>
            </a:r>
            <a:r>
              <a:rPr lang="ru-RU" dirty="0"/>
              <a:t>tate-of-the-art</a:t>
            </a:r>
            <a:r>
              <a:rPr lang="en-US" dirty="0"/>
              <a:t> </a:t>
            </a:r>
            <a:r>
              <a:rPr lang="ru-RU" dirty="0"/>
              <a:t>решение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69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CA8122-6D8A-4DA6-8226-D3412DBE5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9794" y="4300160"/>
            <a:ext cx="3615676" cy="16471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D96766-630C-4DEC-BE4E-73C894214D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8780" y="1189982"/>
            <a:ext cx="2205020" cy="2239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B82B62-37D7-4560-9439-FCF4D8945A73}"/>
              </a:ext>
            </a:extLst>
          </p:cNvPr>
          <p:cNvSpPr txBox="1"/>
          <p:nvPr/>
        </p:nvSpPr>
        <p:spPr>
          <a:xfrm>
            <a:off x="112428" y="6492875"/>
            <a:ext cx="32403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7"/>
              </a:rPr>
              <a:t>Image source</a:t>
            </a:r>
            <a:r>
              <a:rPr lang="en-US" sz="1200" dirty="0"/>
              <a:t> (J.R. Armstrong)</a:t>
            </a:r>
          </a:p>
        </p:txBody>
      </p:sp>
    </p:spTree>
    <p:extLst>
      <p:ext uri="{BB962C8B-B14F-4D97-AF65-F5344CB8AC3E}">
        <p14:creationId xmlns:p14="http://schemas.microsoft.com/office/powerpoint/2010/main" val="383578281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Дефолтные арифметические проверки</a:t>
            </a:r>
            <a:r>
              <a:rPr lang="en-US" dirty="0"/>
              <a:t> 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Некоторые </a:t>
            </a:r>
            <a:r>
              <a:rPr lang="en-US" dirty="0"/>
              <a:t>(</a:t>
            </a:r>
            <a:r>
              <a:rPr lang="ru-RU" dirty="0"/>
              <a:t>не самые опасные...) арифметические проверки включены по умолчанию</a:t>
            </a:r>
            <a:endParaRPr lang="en-US" dirty="0"/>
          </a:p>
          <a:p>
            <a:pPr lvl="1"/>
            <a:r>
              <a:rPr lang="ru-RU" dirty="0"/>
              <a:t>Деление на ноль</a:t>
            </a:r>
          </a:p>
          <a:p>
            <a:pPr lvl="1"/>
            <a:r>
              <a:rPr lang="ru-RU" dirty="0"/>
              <a:t>Знаковое переполнение при делении </a:t>
            </a:r>
            <a:r>
              <a:rPr lang="en-US" dirty="0"/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INT_MIN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/</a:t>
            </a:r>
            <a:r>
              <a:rPr lang="en-US" dirty="0"/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-1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Ограничение диапазона при преобразовании</a:t>
            </a:r>
            <a:r>
              <a:rPr lang="en-US" dirty="0"/>
              <a:t> float </a:t>
            </a:r>
            <a:r>
              <a:rPr lang="ru-RU" dirty="0"/>
              <a:t>в </a:t>
            </a:r>
            <a:r>
              <a:rPr lang="en-US" dirty="0"/>
              <a:t>integer</a:t>
            </a:r>
            <a:endParaRPr lang="ru-RU" dirty="0"/>
          </a:p>
          <a:p>
            <a:r>
              <a:rPr lang="ru-RU" dirty="0"/>
              <a:t>Целочисленные переполнения в контейнерах стандартной библиотеки</a:t>
            </a:r>
            <a:endParaRPr lang="en-US" dirty="0"/>
          </a:p>
          <a:p>
            <a:pPr lvl="1"/>
            <a:r>
              <a:rPr lang="ru-RU" dirty="0"/>
              <a:t>С помощью </a:t>
            </a:r>
            <a:r>
              <a:rPr lang="en-US" dirty="0"/>
              <a:t>assert!, </a:t>
            </a:r>
            <a:r>
              <a:rPr lang="en-US" dirty="0" err="1"/>
              <a:t>checked_add</a:t>
            </a:r>
            <a:r>
              <a:rPr lang="en-US" dirty="0"/>
              <a:t>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793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Важные проверки</a:t>
            </a:r>
            <a:r>
              <a:rPr lang="en-US" dirty="0"/>
              <a:t>,</a:t>
            </a:r>
            <a:r>
              <a:rPr lang="ru-RU" dirty="0"/>
              <a:t> отсутствующие в </a:t>
            </a:r>
            <a:r>
              <a:rPr lang="en-US" dirty="0"/>
              <a:t>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31542-4BA1-42A8-B9A6-F429EE45CD05}"/>
              </a:ext>
            </a:extLst>
          </p:cNvPr>
          <p:cNvSpPr txBox="1"/>
          <p:nvPr/>
        </p:nvSpPr>
        <p:spPr>
          <a:xfrm>
            <a:off x="1186190" y="3638663"/>
            <a:ext cx="24739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0x100i32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as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AA5361-B778-4B4C-8ED8-E9B27DF8E1F1}"/>
              </a:ext>
            </a:extLst>
          </p:cNvPr>
          <p:cNvSpPr txBox="1"/>
          <p:nvPr/>
        </p:nvSpPr>
        <p:spPr>
          <a:xfrm>
            <a:off x="5774605" y="5032911"/>
            <a:ext cx="52212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./test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thread 'main' panicked at test.rs:5:32: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called `Result::unwrap()` on an `Err` value: </a:t>
            </a:r>
            <a:r>
              <a:rPr lang="en-US" sz="1600" dirty="0" err="1">
                <a:latin typeface="Consolas" panose="020B0609020204030204" pitchFamily="49" charset="0"/>
                <a:cs typeface="Courier New" panose="02070309020205020404" pitchFamily="49" charset="0"/>
              </a:rPr>
              <a:t>TryFromIntError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(())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16260-CC29-409C-A4EE-266149B78C0F}"/>
              </a:ext>
            </a:extLst>
          </p:cNvPr>
          <p:cNvSpPr txBox="1"/>
          <p:nvPr/>
        </p:nvSpPr>
        <p:spPr>
          <a:xfrm>
            <a:off x="5763298" y="3638663"/>
            <a:ext cx="422137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use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convert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TryFrom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C0000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main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ru-RU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i8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try_from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0x100i32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unwrap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AE4936-67A4-4A5F-AE11-ACB52ACD92D4}"/>
              </a:ext>
            </a:extLst>
          </p:cNvPr>
          <p:cNvSpPr txBox="1"/>
          <p:nvPr/>
        </p:nvSpPr>
        <p:spPr>
          <a:xfrm>
            <a:off x="1186190" y="5032911"/>
            <a:ext cx="1941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$ ./test</a:t>
            </a:r>
          </a:p>
          <a:p>
            <a:r>
              <a:rPr lang="en-US" sz="1600" dirty="0"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C6FA219-EC48-4BED-980B-801019363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6470" y="1667528"/>
            <a:ext cx="11196917" cy="1972144"/>
          </a:xfrm>
        </p:spPr>
        <p:txBody>
          <a:bodyPr>
            <a:normAutofit/>
          </a:bodyPr>
          <a:lstStyle/>
          <a:p>
            <a:r>
              <a:rPr lang="ru-RU" dirty="0"/>
              <a:t>По историческим причинам некоторые важные проверки отсутствуют</a:t>
            </a:r>
            <a:endParaRPr lang="en-US" dirty="0"/>
          </a:p>
          <a:p>
            <a:pPr lvl="1"/>
            <a:r>
              <a:rPr lang="ru-RU" dirty="0"/>
              <a:t>И даже не могут быть включены по опции</a:t>
            </a:r>
            <a:endParaRPr lang="en-US" dirty="0"/>
          </a:p>
          <a:p>
            <a:r>
              <a:rPr lang="ru-RU" dirty="0"/>
              <a:t>Например переполнение при преобразовании типа с помощью </a:t>
            </a:r>
            <a:r>
              <a:rPr lang="en-US" dirty="0">
                <a:solidFill>
                  <a:srgbClr val="C00000"/>
                </a:solidFill>
              </a:rPr>
              <a:t>as</a:t>
            </a:r>
          </a:p>
          <a:p>
            <a:pPr lvl="1"/>
            <a:r>
              <a:rPr lang="ru-RU" dirty="0"/>
              <a:t>Нужно пользоваться альтернативным </a:t>
            </a:r>
            <a:r>
              <a:rPr lang="en-US" dirty="0"/>
              <a:t>API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try_into</a:t>
            </a:r>
            <a:r>
              <a:rPr lang="en-US" dirty="0"/>
              <a:t>/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</a:rPr>
              <a:t>try_from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46514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33C9C-A714-4725-8C8D-B0EA781B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Проверки переполнений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Rust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C00C1-408C-4B5B-992B-D5E9B1760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 умолчанию целочисленные переполнения в пользовательском коде проверяются </a:t>
            </a:r>
            <a:r>
              <a:rPr lang="ru-RU" i="1" dirty="0"/>
              <a:t>только</a:t>
            </a:r>
            <a:r>
              <a:rPr lang="ru-RU" dirty="0"/>
              <a:t> в </a:t>
            </a:r>
            <a:r>
              <a:rPr lang="en-US" dirty="0"/>
              <a:t>debug</a:t>
            </a:r>
            <a:r>
              <a:rPr lang="ru-RU" dirty="0"/>
              <a:t>-сборках</a:t>
            </a:r>
          </a:p>
          <a:p>
            <a:r>
              <a:rPr lang="en-US" dirty="0"/>
              <a:t>Two’s complement </a:t>
            </a:r>
            <a:r>
              <a:rPr lang="ru-RU" dirty="0"/>
              <a:t>в </a:t>
            </a:r>
            <a:r>
              <a:rPr lang="en-US" dirty="0"/>
              <a:t>release</a:t>
            </a:r>
            <a:endParaRPr lang="ru-RU" dirty="0"/>
          </a:p>
          <a:p>
            <a:r>
              <a:rPr lang="ru-RU" dirty="0"/>
              <a:t>Можно включить проверки по опции</a:t>
            </a:r>
            <a:r>
              <a:rPr lang="en-US" dirty="0"/>
              <a:t> -C overflow-checks=on</a:t>
            </a:r>
          </a:p>
          <a:p>
            <a:r>
              <a:rPr lang="ru-RU" dirty="0"/>
              <a:t>Причины</a:t>
            </a:r>
            <a:r>
              <a:rPr lang="en-US" dirty="0"/>
              <a:t>: </a:t>
            </a:r>
            <a:r>
              <a:rPr lang="ru-RU" dirty="0"/>
              <a:t>слишком большие накладные расходы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4152E-ABFD-484B-8B62-D7E0E23DE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88921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5586D-148C-4EA3-B4CF-8FC1CB80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Defined overflow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6D7FC-BFD0-42F8-BB1D-6DC003D3B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77475" cy="4351338"/>
          </a:xfrm>
        </p:spPr>
        <p:txBody>
          <a:bodyPr>
            <a:normAutofit/>
          </a:bodyPr>
          <a:lstStyle/>
          <a:p>
            <a:r>
              <a:rPr lang="ru-RU" dirty="0"/>
              <a:t>В отличие от </a:t>
            </a:r>
            <a:r>
              <a:rPr lang="en-US" dirty="0"/>
              <a:t>C/C++ </a:t>
            </a:r>
            <a:r>
              <a:rPr lang="ru-RU" dirty="0"/>
              <a:t>целочисленное переполнение не является </a:t>
            </a:r>
            <a:r>
              <a:rPr lang="en-US" dirty="0"/>
              <a:t>Undefined Behavior</a:t>
            </a:r>
          </a:p>
          <a:p>
            <a:pPr lvl="1"/>
            <a:r>
              <a:rPr lang="ru-RU" dirty="0"/>
              <a:t>Паника или </a:t>
            </a:r>
            <a:r>
              <a:rPr lang="en-US" dirty="0"/>
              <a:t>Two’s complement</a:t>
            </a:r>
          </a:p>
          <a:p>
            <a:r>
              <a:rPr lang="ru-RU" dirty="0"/>
              <a:t>Это лишает оптимизатор дополнительной информации</a:t>
            </a:r>
          </a:p>
          <a:p>
            <a:r>
              <a:rPr lang="ru-RU" dirty="0"/>
              <a:t>Может помешать точности анализов (особенно </a:t>
            </a:r>
            <a:r>
              <a:rPr lang="en-US" dirty="0" err="1"/>
              <a:t>ScalarEvolution</a:t>
            </a:r>
            <a:r>
              <a:rPr lang="en-US" dirty="0"/>
              <a:t>)</a:t>
            </a:r>
            <a:r>
              <a:rPr lang="ru-RU" dirty="0"/>
              <a:t> и оптимизаций в </a:t>
            </a:r>
            <a:r>
              <a:rPr lang="en-US" dirty="0"/>
              <a:t>LLVM</a:t>
            </a:r>
          </a:p>
          <a:p>
            <a:pPr lvl="1"/>
            <a:r>
              <a:rPr lang="ru-RU" dirty="0"/>
              <a:t>См. также </a:t>
            </a:r>
            <a:r>
              <a:rPr lang="en-US" dirty="0">
                <a:hlinkClick r:id="rId2"/>
              </a:rPr>
              <a:t>How undefined signed overflow enables optimizations in GCC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15EE7C-4206-4423-BB92-4F37A5CB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37665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 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Проверки арифметических переполнений намного хуже оптимизируются компилятором</a:t>
            </a:r>
          </a:p>
          <a:p>
            <a:r>
              <a:rPr lang="ru-RU" dirty="0"/>
              <a:t>При сборке компилятора</a:t>
            </a:r>
            <a:r>
              <a:rPr lang="en-US" dirty="0"/>
              <a:t> Rust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с </a:t>
            </a:r>
            <a:r>
              <a:rPr lang="en-US" dirty="0"/>
              <a:t>-</a:t>
            </a:r>
            <a:r>
              <a:rPr lang="en-US" dirty="0" err="1"/>
              <a:t>Coverflow</a:t>
            </a:r>
            <a:r>
              <a:rPr lang="en-US" dirty="0"/>
              <a:t>-checks=on) </a:t>
            </a:r>
            <a:r>
              <a:rPr lang="ru-RU" dirty="0"/>
              <a:t>удаляется </a:t>
            </a:r>
            <a:r>
              <a:rPr lang="en-US" dirty="0"/>
              <a:t>~30% </a:t>
            </a:r>
            <a:r>
              <a:rPr lang="ru-RU" dirty="0"/>
              <a:t>арифметических проверок</a:t>
            </a:r>
            <a:endParaRPr lang="en-US" dirty="0"/>
          </a:p>
          <a:p>
            <a:pPr lvl="1"/>
            <a:r>
              <a:rPr lang="ru-RU" dirty="0"/>
              <a:t>Данные получены на основе </a:t>
            </a:r>
            <a:r>
              <a:rPr lang="ru-RU" dirty="0">
                <a:hlinkClick r:id="rId2"/>
              </a:rPr>
              <a:t>анализа бинарного кода</a:t>
            </a:r>
            <a:endParaRPr lang="ru-RU" dirty="0"/>
          </a:p>
          <a:p>
            <a:r>
              <a:rPr lang="ru-RU" dirty="0"/>
              <a:t>Это основная причина их отключения в </a:t>
            </a:r>
            <a:r>
              <a:rPr lang="en-US" dirty="0"/>
              <a:t>release-</a:t>
            </a:r>
            <a:r>
              <a:rPr lang="ru-RU" dirty="0"/>
              <a:t>сборке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51261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Специальные </a:t>
            </a:r>
            <a:r>
              <a:rPr lang="en-US" dirty="0"/>
              <a:t>API </a:t>
            </a:r>
            <a:r>
              <a:rPr lang="ru-RU" dirty="0"/>
              <a:t>для арифметики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unchecked_add</a:t>
            </a:r>
            <a:r>
              <a:rPr lang="en-US" dirty="0"/>
              <a:t>, </a:t>
            </a:r>
            <a:r>
              <a:rPr lang="en-US" dirty="0" err="1"/>
              <a:t>wrapping_add</a:t>
            </a:r>
            <a:r>
              <a:rPr lang="en-US" dirty="0"/>
              <a:t>, </a:t>
            </a:r>
            <a:r>
              <a:rPr lang="en-US" dirty="0" err="1"/>
              <a:t>checked_add</a:t>
            </a:r>
            <a:r>
              <a:rPr lang="en-US" dirty="0"/>
              <a:t>, etc.</a:t>
            </a:r>
          </a:p>
          <a:p>
            <a:pPr lvl="1"/>
            <a:r>
              <a:rPr lang="en-US" dirty="0" err="1"/>
              <a:t>to_int_unchecked</a:t>
            </a:r>
            <a:endParaRPr lang="en-US" dirty="0"/>
          </a:p>
          <a:p>
            <a:pPr lvl="1"/>
            <a:r>
              <a:rPr lang="en-US" dirty="0"/>
              <a:t>std::hint::</a:t>
            </a:r>
            <a:r>
              <a:rPr lang="en-US" dirty="0" err="1"/>
              <a:t>unreachable_unchecked</a:t>
            </a:r>
            <a:endParaRPr lang="en-US" dirty="0"/>
          </a:p>
          <a:p>
            <a:pPr marL="914400" lvl="2" indent="0">
              <a:buNone/>
            </a:pP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&lt;=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||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MAX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&gt;&gt;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914400" lvl="2" indent="0">
              <a:buNone/>
            </a:pP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unsafe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hint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unreachable_unchecked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914400" lvl="2" indent="0">
              <a:buNone/>
            </a:pP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pPr marL="914400" lvl="2" indent="0">
              <a:buNone/>
            </a:pP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2</a:t>
            </a:r>
          </a:p>
          <a:p>
            <a:pPr lvl="1"/>
            <a:r>
              <a:rPr lang="ru-RU" dirty="0"/>
              <a:t>(проверки в стандартной библиотеке </a:t>
            </a:r>
            <a:r>
              <a:rPr lang="ru-RU" i="1" dirty="0"/>
              <a:t>не могут</a:t>
            </a:r>
            <a:r>
              <a:rPr lang="ru-RU" dirty="0"/>
              <a:t> быть отключены)</a:t>
            </a:r>
            <a:endParaRPr lang="en-US" dirty="0"/>
          </a:p>
          <a:p>
            <a:r>
              <a:rPr lang="ru-RU" dirty="0"/>
              <a:t>Специальные типы стандартной библиотеки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NonZeroU32</a:t>
            </a:r>
            <a:r>
              <a:rPr lang="ru-RU" dirty="0"/>
              <a:t> для отключения некоторых проверок деления</a:t>
            </a:r>
            <a:endParaRPr lang="en-US" dirty="0"/>
          </a:p>
          <a:p>
            <a:pPr lvl="1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Wrapping</a:t>
            </a:r>
            <a:r>
              <a:rPr lang="en-US" dirty="0">
                <a:solidFill>
                  <a:srgbClr val="0070C0"/>
                </a:solidFill>
              </a:rPr>
              <a:t>&lt;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</a:t>
            </a:r>
            <a:r>
              <a:rPr lang="en-US" dirty="0">
                <a:solidFill>
                  <a:srgbClr val="0070C0"/>
                </a:solidFill>
              </a:rPr>
              <a:t>&gt;</a:t>
            </a:r>
            <a:r>
              <a:rPr lang="en-US" dirty="0"/>
              <a:t> </a:t>
            </a:r>
            <a:r>
              <a:rPr lang="ru-RU" dirty="0"/>
              <a:t>для переполнений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3720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ru-RU" dirty="0"/>
              <a:t>Улучшение при отключении дефолтных проверок</a:t>
            </a:r>
            <a:r>
              <a:rPr lang="en-US" dirty="0"/>
              <a:t> (</a:t>
            </a:r>
            <a:r>
              <a:rPr lang="ru-RU" dirty="0"/>
              <a:t>деление на ноль и т.д.)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B68BA2-CBFD-43E1-85FE-4EA7DDB703B7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292F34-B868-44F3-81BA-EADEB4899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1398" y="1654002"/>
            <a:ext cx="6043332" cy="483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013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/>
          <a:lstStyle/>
          <a:p>
            <a:r>
              <a:rPr lang="ru-RU" dirty="0"/>
              <a:t>Замедление при включении целочисленных переполнений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B19A4-484A-4EEE-B3FC-AF51CAE2E3DE}"/>
              </a:ext>
            </a:extLst>
          </p:cNvPr>
          <p:cNvSpPr txBox="1"/>
          <p:nvPr/>
        </p:nvSpPr>
        <p:spPr>
          <a:xfrm>
            <a:off x="9346827" y="1810871"/>
            <a:ext cx="26389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Некоторые тесты отсутствуют из-за ошибок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Существенный рост числа проверок (</a:t>
            </a:r>
            <a:r>
              <a:rPr lang="en-US" sz="2400" dirty="0"/>
              <a:t>+30% </a:t>
            </a:r>
            <a:r>
              <a:rPr lang="ru-RU" sz="2400" dirty="0"/>
              <a:t>проверок в </a:t>
            </a:r>
            <a:r>
              <a:rPr lang="en-US" sz="2400" dirty="0" err="1"/>
              <a:t>rustc</a:t>
            </a:r>
            <a:r>
              <a:rPr lang="en-US" sz="240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AAAC00-4487-4E9F-81FD-BEB29524CF32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0F8D70-63AF-4A30-98DE-BA32EFECE5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1286" y="1520359"/>
            <a:ext cx="6252296" cy="500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7A2C3-CA4C-498D-BB42-CB2FDC362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8969"/>
            <a:ext cx="10515600" cy="1325563"/>
          </a:xfrm>
        </p:spPr>
        <p:txBody>
          <a:bodyPr/>
          <a:lstStyle/>
          <a:p>
            <a:r>
              <a:rPr lang="ru-RU" dirty="0"/>
              <a:t>Замедление в </a:t>
            </a:r>
            <a:r>
              <a:rPr lang="en-US" dirty="0"/>
              <a:t>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3D0B0-04C6-4EA0-8A1D-D0F5D6BD3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0A509F-DA50-46A0-858B-5BF264BE3DC7}"/>
              </a:ext>
            </a:extLst>
          </p:cNvPr>
          <p:cNvSpPr txBox="1"/>
          <p:nvPr/>
        </p:nvSpPr>
        <p:spPr>
          <a:xfrm>
            <a:off x="9346827" y="1810871"/>
            <a:ext cx="26389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Некоторые тесты отсутствуют из-за ошибок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/>
              <a:t>Даже б</a:t>
            </a:r>
            <a:r>
              <a:rPr lang="ru-RU" sz="2400" i="1" dirty="0"/>
              <a:t>о</a:t>
            </a:r>
            <a:r>
              <a:rPr lang="ru-RU" sz="2400" dirty="0"/>
              <a:t>льший оверхед в </a:t>
            </a:r>
            <a:r>
              <a:rPr lang="en-US" sz="2400" dirty="0" err="1"/>
              <a:t>UBsan</a:t>
            </a:r>
            <a:r>
              <a:rPr lang="en-US" sz="2400" dirty="0"/>
              <a:t> </a:t>
            </a:r>
            <a:r>
              <a:rPr lang="ru-RU" sz="2400" dirty="0"/>
              <a:t>для </a:t>
            </a:r>
            <a:r>
              <a:rPr lang="en-US" sz="2400" dirty="0"/>
              <a:t>C/C++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C41EBA-EBB8-4530-9C90-8F3BD6685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1774" y="1081088"/>
            <a:ext cx="6886013" cy="550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9559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целочисленное переполнение не является </a:t>
            </a:r>
            <a:r>
              <a:rPr lang="en-US" dirty="0"/>
              <a:t>UB</a:t>
            </a:r>
          </a:p>
          <a:p>
            <a:pPr lvl="1"/>
            <a:r>
              <a:rPr lang="ru-RU" dirty="0"/>
              <a:t>Мешает компилятору проводить некоторые агрессивные оптимизации</a:t>
            </a:r>
          </a:p>
          <a:p>
            <a:r>
              <a:rPr lang="ru-RU" dirty="0"/>
              <a:t>В языке приняты неочевидные решения о дефолтных арифметических проверках</a:t>
            </a:r>
            <a:endParaRPr lang="en-US" dirty="0"/>
          </a:p>
          <a:p>
            <a:pPr lvl="1"/>
            <a:r>
              <a:rPr lang="ru-RU" dirty="0"/>
              <a:t>Действительно важные ошибки типа приведения с потерями не проверяются</a:t>
            </a:r>
            <a:r>
              <a:rPr lang="en-US" dirty="0"/>
              <a:t>, </a:t>
            </a:r>
            <a:r>
              <a:rPr lang="ru-RU" dirty="0"/>
              <a:t>зато проверяется деление на ноль</a:t>
            </a:r>
            <a:endParaRPr lang="en-US" dirty="0"/>
          </a:p>
          <a:p>
            <a:pPr lvl="1"/>
            <a:r>
              <a:rPr lang="ru-RU" dirty="0"/>
              <a:t>Могут давать замедление </a:t>
            </a:r>
            <a:r>
              <a:rPr lang="en-US" dirty="0"/>
              <a:t>~</a:t>
            </a:r>
            <a:r>
              <a:rPr lang="ru-RU" dirty="0"/>
              <a:t>1%</a:t>
            </a:r>
            <a:endParaRPr lang="en-US" dirty="0"/>
          </a:p>
          <a:p>
            <a:r>
              <a:rPr lang="ru-RU" dirty="0"/>
              <a:t>Целочисленные переполнения имеют слишком большие накладные расходы</a:t>
            </a:r>
            <a:r>
              <a:rPr lang="en-US" dirty="0"/>
              <a:t> (</a:t>
            </a:r>
            <a:r>
              <a:rPr lang="ru-RU" dirty="0"/>
              <a:t>до 10%)</a:t>
            </a:r>
            <a:endParaRPr lang="en-US" dirty="0"/>
          </a:p>
          <a:p>
            <a:pPr lvl="1"/>
            <a:r>
              <a:rPr lang="ru-RU" dirty="0"/>
              <a:t>Аналогично </a:t>
            </a:r>
            <a:r>
              <a:rPr lang="en-US" dirty="0" err="1"/>
              <a:t>UBsan</a:t>
            </a:r>
            <a:endParaRPr lang="ru-RU" dirty="0"/>
          </a:p>
          <a:p>
            <a:pPr lvl="1"/>
            <a:r>
              <a:rPr lang="ru-RU" dirty="0"/>
              <a:t>Вряд ли будут включены по умолчанию в будущем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982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Отсутствие режима </a:t>
            </a:r>
            <a:r>
              <a:rPr lang="en-US" dirty="0"/>
              <a:t>fast-math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3A69B3-22A0-43DE-BB2B-83D0563E6D72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63611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ACA69-D0A3-4E3C-8669-E408153C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Вычисления с плавающей запятой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F77BD6-3BB8-4921-9B01-3030E44BB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7212106" cy="481006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Стандарт IEEE 754</a:t>
            </a:r>
          </a:p>
          <a:p>
            <a:pPr lvl="1"/>
            <a:r>
              <a:rPr lang="ru-RU" dirty="0"/>
              <a:t>Типы и их представление</a:t>
            </a:r>
          </a:p>
          <a:p>
            <a:pPr lvl="1"/>
            <a:r>
              <a:rPr lang="ru-RU" dirty="0"/>
              <a:t>Операции</a:t>
            </a:r>
            <a:r>
              <a:rPr lang="en-US" dirty="0"/>
              <a:t> </a:t>
            </a:r>
            <a:r>
              <a:rPr lang="ru-RU" dirty="0"/>
              <a:t>над ними</a:t>
            </a:r>
          </a:p>
          <a:p>
            <a:pPr lvl="1"/>
            <a:r>
              <a:rPr lang="ru-RU" dirty="0"/>
              <a:t>Округление</a:t>
            </a:r>
          </a:p>
          <a:p>
            <a:r>
              <a:rPr lang="ru-RU" dirty="0"/>
              <a:t>Большинство архитектур, языков и компиляторов следуют стандарту (почти полностью)</a:t>
            </a:r>
          </a:p>
          <a:p>
            <a:r>
              <a:rPr lang="ru-RU" dirty="0"/>
              <a:t>Причины расхождений</a:t>
            </a:r>
          </a:p>
          <a:p>
            <a:pPr lvl="1"/>
            <a:r>
              <a:rPr lang="ru-RU" dirty="0"/>
              <a:t>Аппаратная специфика</a:t>
            </a:r>
          </a:p>
          <a:p>
            <a:pPr lvl="1"/>
            <a:r>
              <a:rPr lang="ru-RU" dirty="0"/>
              <a:t>Больше возможностей для оптимизации</a:t>
            </a:r>
          </a:p>
          <a:p>
            <a:r>
              <a:rPr lang="en-US" dirty="0"/>
              <a:t>f</a:t>
            </a:r>
            <a:r>
              <a:rPr lang="ru-RU" dirty="0"/>
              <a:t>ast-math – собирательный термин для оптимизаций</a:t>
            </a:r>
            <a:r>
              <a:rPr lang="en-US" dirty="0"/>
              <a:t>, </a:t>
            </a:r>
            <a:r>
              <a:rPr lang="ru-RU" dirty="0"/>
              <a:t>связанных с ослаблением требований </a:t>
            </a:r>
            <a:r>
              <a:rPr lang="en-US" dirty="0"/>
              <a:t>IEEE 754</a:t>
            </a:r>
            <a:endParaRPr lang="ru-RU" dirty="0"/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7D72FEE-60CC-4F48-B04B-60F1587788D1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7566870" y="2481530"/>
            <a:ext cx="4283207" cy="2937289"/>
          </a:xfrm>
          <a:prstGeom prst="rect">
            <a:avLst/>
          </a:prstGeom>
          <a:ln w="0">
            <a:noFill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7D9632-C647-4C59-A2BA-93D8E7706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03469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F7A0F-557C-4F7A-8993-8C5788C9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</a:t>
            </a:r>
            <a:r>
              <a:rPr lang="en-US" dirty="0"/>
              <a:t>fast-math </a:t>
            </a:r>
            <a:r>
              <a:rPr lang="ru-RU" dirty="0"/>
              <a:t>флагов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56D31D-3650-4920-BB4C-E2AAEBDE0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812560" cy="4351338"/>
          </a:xfrm>
        </p:spPr>
        <p:txBody>
          <a:bodyPr>
            <a:normAutofit/>
          </a:bodyPr>
          <a:lstStyle/>
          <a:p>
            <a:r>
              <a:rPr lang="ru-RU" dirty="0"/>
              <a:t>Алгебраические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Ассоциативность</a:t>
            </a:r>
          </a:p>
          <a:p>
            <a:pPr lvl="1"/>
            <a:r>
              <a:rPr lang="ru-RU" dirty="0" err="1"/>
              <a:t>Беззнаковость</a:t>
            </a:r>
            <a:r>
              <a:rPr lang="ru-RU" dirty="0"/>
              <a:t> нуля</a:t>
            </a:r>
          </a:p>
          <a:p>
            <a:pPr lvl="1"/>
            <a:r>
              <a:rPr lang="ru-RU" dirty="0"/>
              <a:t>Замена деления на умножение</a:t>
            </a:r>
          </a:p>
          <a:p>
            <a:pPr lvl="1"/>
            <a:r>
              <a:rPr lang="ru-RU" dirty="0"/>
              <a:t>Объединение операций (например </a:t>
            </a:r>
            <a:r>
              <a:rPr lang="en-US" dirty="0"/>
              <a:t>FMA</a:t>
            </a:r>
            <a:r>
              <a:rPr lang="ru-RU" dirty="0"/>
              <a:t>)</a:t>
            </a:r>
          </a:p>
          <a:p>
            <a:r>
              <a:rPr lang="ru-RU" dirty="0"/>
              <a:t>Запрет нестандартных значений</a:t>
            </a:r>
            <a:r>
              <a:rPr lang="en-US" dirty="0"/>
              <a:t>:</a:t>
            </a:r>
            <a:r>
              <a:rPr lang="ru-RU" dirty="0"/>
              <a:t> </a:t>
            </a:r>
          </a:p>
          <a:p>
            <a:pPr lvl="1"/>
            <a:r>
              <a:rPr lang="ru-RU" dirty="0"/>
              <a:t>NaN</a:t>
            </a:r>
            <a:r>
              <a:rPr lang="en-US" dirty="0"/>
              <a:t>, Infinity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0D291-442C-427D-9859-C5C13D21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6F3795-B14E-4F68-9383-2B88B7980895}"/>
              </a:ext>
            </a:extLst>
          </p:cNvPr>
          <p:cNvSpPr txBox="1"/>
          <p:nvPr/>
        </p:nvSpPr>
        <p:spPr>
          <a:xfrm>
            <a:off x="7650760" y="841584"/>
            <a:ext cx="28755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/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3.0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586BBF-6326-4CEE-952E-AB2210C8440C}"/>
              </a:ext>
            </a:extLst>
          </p:cNvPr>
          <p:cNvSpPr txBox="1"/>
          <p:nvPr/>
        </p:nvSpPr>
        <p:spPr>
          <a:xfrm>
            <a:off x="7617722" y="1788900"/>
            <a:ext cx="42323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.LCPI0_0: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0x4008000000000000 #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divsd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FFD720-DA0D-4790-823C-579C6A5AFC01}"/>
              </a:ext>
            </a:extLst>
          </p:cNvPr>
          <p:cNvSpPr txBox="1"/>
          <p:nvPr/>
        </p:nvSpPr>
        <p:spPr>
          <a:xfrm>
            <a:off x="7617721" y="3957828"/>
            <a:ext cx="451939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.LCPI0_0: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0x4008000000000000 # 3.0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.LCPI0_1: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.quad   0x3fd5555555555555 # 1/3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.LCPI0_0]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qword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[rip + .LCPI0_1]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        ret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8EC60-2E3D-4DBF-AD07-F41C19C2FF73}"/>
              </a:ext>
            </a:extLst>
          </p:cNvPr>
          <p:cNvSpPr txBox="1"/>
          <p:nvPr/>
        </p:nvSpPr>
        <p:spPr>
          <a:xfrm>
            <a:off x="8751252" y="3640708"/>
            <a:ext cx="22523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C4C816-4E61-4A33-BE2E-E933E25126B8}"/>
              </a:ext>
            </a:extLst>
          </p:cNvPr>
          <p:cNvSpPr txBox="1"/>
          <p:nvPr/>
        </p:nvSpPr>
        <p:spPr>
          <a:xfrm>
            <a:off x="8536276" y="6204597"/>
            <a:ext cx="239519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freciprocal</a:t>
            </a:r>
            <a:r>
              <a:rPr lang="en-US" sz="1200" dirty="0"/>
              <a:t>-math</a:t>
            </a:r>
          </a:p>
        </p:txBody>
      </p:sp>
    </p:spTree>
    <p:extLst>
      <p:ext uri="{BB962C8B-B14F-4D97-AF65-F5344CB8AC3E}">
        <p14:creationId xmlns:p14="http://schemas.microsoft.com/office/powerpoint/2010/main" val="61897414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C43F28-ED6B-4157-B006-E640A4B39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 на это смотрят языки программирования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01371-9E42-47E5-A037-9C393952F3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У разных языков различные отношения к соблюдению IEEE 754</a:t>
            </a:r>
          </a:p>
          <a:p>
            <a:r>
              <a:rPr lang="ru-RU" dirty="0"/>
              <a:t>Стандарт C запрещает fast-math оптимизации</a:t>
            </a:r>
            <a:r>
              <a:rPr lang="en-US" dirty="0"/>
              <a:t> (</a:t>
            </a:r>
            <a:r>
              <a:rPr lang="ru-RU" dirty="0"/>
              <a:t>в </a:t>
            </a:r>
            <a:r>
              <a:rPr lang="en-US" dirty="0"/>
              <a:t>Annex F)</a:t>
            </a:r>
            <a:endParaRPr lang="ru-RU" dirty="0"/>
          </a:p>
          <a:p>
            <a:pPr lvl="1"/>
            <a:r>
              <a:rPr lang="ru-RU" dirty="0"/>
              <a:t>Но обычно их можно включить с помощью флагов (например </a:t>
            </a:r>
            <a:r>
              <a:rPr lang="en-US" dirty="0"/>
              <a:t>-</a:t>
            </a:r>
            <a:r>
              <a:rPr lang="en-US" dirty="0" err="1"/>
              <a:t>ffast</a:t>
            </a:r>
            <a:r>
              <a:rPr lang="en-US" dirty="0"/>
              <a:t>-math)</a:t>
            </a:r>
          </a:p>
          <a:p>
            <a:pPr lvl="1"/>
            <a:r>
              <a:rPr lang="ru-RU" dirty="0"/>
              <a:t>Часто используется в игровых движках</a:t>
            </a:r>
          </a:p>
          <a:p>
            <a:r>
              <a:rPr lang="ru-RU" dirty="0"/>
              <a:t>Аналогичное поведение для языка Swift</a:t>
            </a:r>
          </a:p>
          <a:p>
            <a:r>
              <a:rPr lang="ru-RU" dirty="0"/>
              <a:t>C# разрешает совершать вычисления с б</a:t>
            </a:r>
            <a:r>
              <a:rPr lang="ru-RU" i="1" dirty="0"/>
              <a:t>о</a:t>
            </a:r>
            <a:r>
              <a:rPr lang="ru-RU" dirty="0"/>
              <a:t>льшей точностью, чем результирующий тип</a:t>
            </a:r>
          </a:p>
          <a:p>
            <a:r>
              <a:rPr lang="ru-RU" dirty="0"/>
              <a:t>Go разрешает объединение операций</a:t>
            </a:r>
          </a:p>
          <a:p>
            <a:pPr lvl="1"/>
            <a:r>
              <a:rPr lang="ru-RU" dirty="0"/>
              <a:t>Но только если этому не препятствуют явные преобразования типов</a:t>
            </a:r>
          </a:p>
          <a:p>
            <a:r>
              <a:rPr lang="ru-RU" dirty="0"/>
              <a:t>Fortran явно разрешает нарушать IEEE 754 ради производительности</a:t>
            </a:r>
          </a:p>
          <a:p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B5E8E-9887-45B8-A360-38F25438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4276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399977-D071-4915-9CF3-AD6E90E96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:</a:t>
            </a:r>
            <a:r>
              <a:rPr lang="ru-RU" dirty="0"/>
              <a:t> Векторизация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E61A02-0C79-47F4-9757-4FDEF5361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75290" cy="1387358"/>
          </a:xfrm>
        </p:spPr>
        <p:txBody>
          <a:bodyPr/>
          <a:lstStyle/>
          <a:p>
            <a:r>
              <a:rPr lang="ru-RU" dirty="0"/>
              <a:t>-</a:t>
            </a:r>
            <a:r>
              <a:rPr lang="ru-RU" dirty="0" err="1"/>
              <a:t>fassociative-math</a:t>
            </a:r>
            <a:r>
              <a:rPr lang="ru-RU" dirty="0"/>
              <a:t> и -</a:t>
            </a:r>
            <a:r>
              <a:rPr lang="ru-RU" dirty="0" err="1"/>
              <a:t>fno-signed-zeros</a:t>
            </a:r>
            <a:r>
              <a:rPr lang="ru-RU" dirty="0"/>
              <a:t> позволяет компилятору переупорядочить итерации цикла и векторизовать вычисления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5F2256-84A3-4BBA-8E40-126A03EE8BA7}"/>
              </a:ext>
            </a:extLst>
          </p:cNvPr>
          <p:cNvSpPr txBox="1"/>
          <p:nvPr/>
        </p:nvSpPr>
        <p:spPr>
          <a:xfrm>
            <a:off x="8313490" y="967362"/>
            <a:ext cx="38785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</a:p>
          <a:p>
            <a:b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sum256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arr1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       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arr2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0.0f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&lt;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256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++)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arr1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arr2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];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2B9356-3629-45BE-A7E3-E27792D3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84</a:t>
            </a:fld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A7582E-FC58-410D-8036-BE33A3B5E121}"/>
              </a:ext>
            </a:extLst>
          </p:cNvPr>
          <p:cNvSpPr txBox="1"/>
          <p:nvPr/>
        </p:nvSpPr>
        <p:spPr>
          <a:xfrm>
            <a:off x="1687416" y="5922190"/>
            <a:ext cx="26050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D5F9B6-7C60-4D5D-8485-EFFEB6C3E65B}"/>
              </a:ext>
            </a:extLst>
          </p:cNvPr>
          <p:cNvSpPr txBox="1"/>
          <p:nvPr/>
        </p:nvSpPr>
        <p:spPr>
          <a:xfrm>
            <a:off x="6542721" y="5935099"/>
            <a:ext cx="5327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clang-21 -O2 -</a:t>
            </a:r>
            <a:r>
              <a:rPr lang="en-US" sz="1200" dirty="0" err="1"/>
              <a:t>fno</a:t>
            </a:r>
            <a:r>
              <a:rPr lang="en-US" sz="1200" dirty="0"/>
              <a:t>-unroll-loops </a:t>
            </a:r>
            <a:r>
              <a:rPr lang="en-US" sz="1200" b="1" dirty="0"/>
              <a:t>-</a:t>
            </a:r>
            <a:r>
              <a:rPr lang="en-US" sz="1200" b="1" dirty="0" err="1"/>
              <a:t>fassociative</a:t>
            </a:r>
            <a:r>
              <a:rPr lang="en-US" sz="1200" b="1" dirty="0"/>
              <a:t>-math -</a:t>
            </a:r>
            <a:r>
              <a:rPr lang="en-US" sz="1200" b="1" dirty="0" err="1"/>
              <a:t>fno</a:t>
            </a:r>
            <a:r>
              <a:rPr lang="en-US" sz="1200" b="1" dirty="0"/>
              <a:t>-signed-zeros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458B54-4DD2-4A1F-8376-99F02D6769AF}"/>
              </a:ext>
            </a:extLst>
          </p:cNvPr>
          <p:cNvSpPr txBox="1"/>
          <p:nvPr/>
        </p:nvSpPr>
        <p:spPr>
          <a:xfrm>
            <a:off x="1029872" y="3867244"/>
            <a:ext cx="480829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movss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dword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addss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400" dirty="0"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400" b="1" dirty="0">
                <a:latin typeface="Consolas" panose="020B0609020204030204" pitchFamily="49" charset="0"/>
                <a:cs typeface="Courier New" panose="02070309020205020404" pitchFamily="49" charset="0"/>
              </a:rPr>
              <a:t>один элемент за итерацию цикла</a:t>
            </a:r>
            <a:endParaRPr lang="en-US" sz="1400" b="1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inc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67AB90-494A-4EF4-8D68-A18C78167630}"/>
              </a:ext>
            </a:extLst>
          </p:cNvPr>
          <p:cNvSpPr txBox="1"/>
          <p:nvPr/>
        </p:nvSpPr>
        <p:spPr>
          <a:xfrm>
            <a:off x="6920916" y="3759523"/>
            <a:ext cx="49495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.LBB0_1: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movups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xmm1,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movups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xmm2,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xmmword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ptr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[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+ 4*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mulps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xmm2, xmm1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addps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xmm2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 </a:t>
            </a:r>
            <a:r>
              <a:rPr lang="ru-RU" sz="1400" b="1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4 элемента за итерацию цикла</a:t>
            </a:r>
            <a:endParaRPr lang="en-US" sz="1400" b="1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add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cmp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256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jne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.LBB0_1</a:t>
            </a:r>
          </a:p>
        </p:txBody>
      </p:sp>
    </p:spTree>
    <p:extLst>
      <p:ext uri="{BB962C8B-B14F-4D97-AF65-F5344CB8AC3E}">
        <p14:creationId xmlns:p14="http://schemas.microsoft.com/office/powerpoint/2010/main" val="399377062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E3706-717C-4841-B412-04992EDB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Finite only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CD7BED-F943-4234-9B1D-87D63C827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-</a:t>
            </a:r>
            <a:r>
              <a:rPr lang="ru-RU" dirty="0" err="1"/>
              <a:t>ffinite-math-only</a:t>
            </a:r>
            <a:r>
              <a:rPr lang="ru-RU" dirty="0"/>
              <a:t> разрешает оптимизации, основанные на том, что операнды не принимают </a:t>
            </a:r>
            <a:r>
              <a:rPr lang="ru-RU" dirty="0" err="1"/>
              <a:t>NaN</a:t>
            </a:r>
            <a:r>
              <a:rPr lang="ru-RU" dirty="0"/>
              <a:t> или </a:t>
            </a:r>
            <a:r>
              <a:rPr lang="ru-RU" dirty="0" err="1"/>
              <a:t>Inf</a:t>
            </a:r>
            <a:r>
              <a:rPr lang="ru-RU" dirty="0"/>
              <a:t> значений</a:t>
            </a:r>
          </a:p>
          <a:p>
            <a:r>
              <a:rPr lang="ru-RU" dirty="0"/>
              <a:t>Это позволяет:</a:t>
            </a:r>
          </a:p>
          <a:p>
            <a:pPr lvl="1"/>
            <a:r>
              <a:rPr lang="ru-RU" dirty="0"/>
              <a:t>Удалять проверки на </a:t>
            </a:r>
            <a:r>
              <a:rPr lang="ru-RU" dirty="0" err="1"/>
              <a:t>NaN</a:t>
            </a:r>
            <a:r>
              <a:rPr lang="ru-RU" dirty="0"/>
              <a:t> и </a:t>
            </a:r>
            <a:r>
              <a:rPr lang="ru-RU" dirty="0" err="1"/>
              <a:t>Inf</a:t>
            </a:r>
            <a:endParaRPr lang="ru-RU" dirty="0"/>
          </a:p>
          <a:p>
            <a:pPr lvl="1"/>
            <a:r>
              <a:rPr lang="ru-RU" dirty="0"/>
              <a:t>x == x =&gt; </a:t>
            </a:r>
            <a:r>
              <a:rPr lang="ru-RU" dirty="0" err="1"/>
              <a:t>tru</a:t>
            </a:r>
            <a:r>
              <a:rPr lang="en-US" dirty="0"/>
              <a:t>e</a:t>
            </a:r>
            <a:endParaRPr lang="ru-RU" dirty="0"/>
          </a:p>
          <a:p>
            <a:pPr lvl="1"/>
            <a:r>
              <a:rPr lang="ru-RU" dirty="0"/>
              <a:t>x / x =&gt; 1</a:t>
            </a:r>
            <a:endParaRPr lang="en-US" dirty="0"/>
          </a:p>
          <a:p>
            <a:r>
              <a:rPr lang="ru-RU" dirty="0"/>
              <a:t>А с -</a:t>
            </a:r>
            <a:r>
              <a:rPr lang="ru-RU" dirty="0" err="1"/>
              <a:t>fno-signed-zeros</a:t>
            </a:r>
            <a:r>
              <a:rPr lang="ru-RU" dirty="0"/>
              <a:t>:</a:t>
            </a:r>
          </a:p>
          <a:p>
            <a:pPr lvl="1"/>
            <a:r>
              <a:rPr lang="en-US" dirty="0"/>
              <a:t>x</a:t>
            </a:r>
            <a:r>
              <a:rPr lang="ru-RU" dirty="0"/>
              <a:t> – x =&gt; 0</a:t>
            </a:r>
          </a:p>
          <a:p>
            <a:pPr lvl="1"/>
            <a:r>
              <a:rPr lang="ru-RU" dirty="0"/>
              <a:t>0 / x =&gt; 0</a:t>
            </a:r>
          </a:p>
          <a:p>
            <a:pPr lvl="1"/>
            <a:r>
              <a:rPr lang="en-US" dirty="0"/>
              <a:t>x</a:t>
            </a:r>
            <a:r>
              <a:rPr lang="ru-RU" dirty="0"/>
              <a:t> * 0 =&gt;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DD09D-1B6E-4848-9701-BC8305F22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85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9CBCA6-C8C7-408F-AC7E-741BC51D3FFA}"/>
              </a:ext>
            </a:extLst>
          </p:cNvPr>
          <p:cNvSpPr txBox="1"/>
          <p:nvPr/>
        </p:nvSpPr>
        <p:spPr>
          <a:xfrm>
            <a:off x="5952564" y="3075794"/>
            <a:ext cx="221259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nn-NO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nn-NO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==</a:t>
            </a:r>
            <a:r>
              <a:rPr lang="nn-NO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nn-NO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nn-NO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7192B7-1069-41E3-9B19-CEDA26C993EF}"/>
              </a:ext>
            </a:extLst>
          </p:cNvPr>
          <p:cNvSpPr txBox="1"/>
          <p:nvPr/>
        </p:nvSpPr>
        <p:spPr>
          <a:xfrm>
            <a:off x="5952564" y="3959864"/>
            <a:ext cx="244748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ucomisd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setnp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al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D2968F-50A4-46F1-9D4A-1D5E8C81E320}"/>
              </a:ext>
            </a:extLst>
          </p:cNvPr>
          <p:cNvSpPr txBox="1"/>
          <p:nvPr/>
        </p:nvSpPr>
        <p:spPr>
          <a:xfrm>
            <a:off x="5952564" y="5234792"/>
            <a:ext cx="2078372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mov     al, 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024602-68EA-4536-BB51-6F47E0D76786}"/>
              </a:ext>
            </a:extLst>
          </p:cNvPr>
          <p:cNvSpPr txBox="1"/>
          <p:nvPr/>
        </p:nvSpPr>
        <p:spPr>
          <a:xfrm>
            <a:off x="9287492" y="3053767"/>
            <a:ext cx="259849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double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3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return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val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*</a:t>
            </a:r>
            <a:r>
              <a:rPr lang="en-US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3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3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611E9F-2528-4D1A-9FEA-8F4F5E395971}"/>
              </a:ext>
            </a:extLst>
          </p:cNvPr>
          <p:cNvSpPr txBox="1"/>
          <p:nvPr/>
        </p:nvSpPr>
        <p:spPr>
          <a:xfrm>
            <a:off x="9288237" y="3959865"/>
            <a:ext cx="259849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xmm1, xmm1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mulsd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xmm1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649533-DEED-4AB6-8ED1-BD9CE368FF6E}"/>
              </a:ext>
            </a:extLst>
          </p:cNvPr>
          <p:cNvSpPr txBox="1"/>
          <p:nvPr/>
        </p:nvSpPr>
        <p:spPr>
          <a:xfrm>
            <a:off x="9288237" y="5279618"/>
            <a:ext cx="250621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3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xorps</a:t>
            </a:r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xmm0, xmm0</a:t>
            </a:r>
          </a:p>
          <a:p>
            <a:r>
              <a:rPr lang="en-US" sz="13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1E66C-7583-4113-90A8-BF5798DBE2C7}"/>
              </a:ext>
            </a:extLst>
          </p:cNvPr>
          <p:cNvSpPr txBox="1"/>
          <p:nvPr/>
        </p:nvSpPr>
        <p:spPr>
          <a:xfrm>
            <a:off x="5923202" y="4846618"/>
            <a:ext cx="2506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021C5E-1B94-4B6E-B704-28E3D2344AA6}"/>
              </a:ext>
            </a:extLst>
          </p:cNvPr>
          <p:cNvSpPr txBox="1"/>
          <p:nvPr/>
        </p:nvSpPr>
        <p:spPr>
          <a:xfrm>
            <a:off x="9333631" y="4856788"/>
            <a:ext cx="2506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C6312E5-CB9E-4CEC-8139-FE8A693C7D1D}"/>
              </a:ext>
            </a:extLst>
          </p:cNvPr>
          <p:cNvSpPr txBox="1"/>
          <p:nvPr/>
        </p:nvSpPr>
        <p:spPr>
          <a:xfrm>
            <a:off x="5383545" y="5972115"/>
            <a:ext cx="3371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</a:t>
            </a:r>
            <a:r>
              <a:rPr lang="en-US" sz="1200" b="1" dirty="0"/>
              <a:t>-</a:t>
            </a:r>
            <a:r>
              <a:rPr lang="en-US" sz="1200" b="1" dirty="0" err="1"/>
              <a:t>ffinite</a:t>
            </a:r>
            <a:r>
              <a:rPr lang="en-US" sz="1200" b="1" dirty="0"/>
              <a:t>-math-only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9D6CBF-FBCB-46A3-85AD-2B2A6119C703}"/>
              </a:ext>
            </a:extLst>
          </p:cNvPr>
          <p:cNvSpPr txBox="1"/>
          <p:nvPr/>
        </p:nvSpPr>
        <p:spPr>
          <a:xfrm>
            <a:off x="8855459" y="5979446"/>
            <a:ext cx="3371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</a:t>
            </a:r>
            <a:r>
              <a:rPr lang="en-US" sz="1200" b="1" dirty="0"/>
              <a:t>-</a:t>
            </a:r>
            <a:r>
              <a:rPr lang="en-US" sz="1200" b="1" dirty="0" err="1"/>
              <a:t>ffinite</a:t>
            </a:r>
            <a:r>
              <a:rPr lang="en-US" sz="1200" b="1" dirty="0"/>
              <a:t>-math-only -</a:t>
            </a:r>
            <a:r>
              <a:rPr lang="en-US" sz="1200" b="1" dirty="0" err="1"/>
              <a:t>fno</a:t>
            </a:r>
            <a:r>
              <a:rPr lang="en-US" sz="1200" b="1" dirty="0"/>
              <a:t>-signed-zeros</a:t>
            </a:r>
          </a:p>
        </p:txBody>
      </p:sp>
    </p:spTree>
    <p:extLst>
      <p:ext uri="{BB962C8B-B14F-4D97-AF65-F5344CB8AC3E}">
        <p14:creationId xmlns:p14="http://schemas.microsoft.com/office/powerpoint/2010/main" val="209508644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1E3270-ABF2-44E4-8E10-A82FDCFD3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Подводные камни</a:t>
            </a:r>
            <a:r>
              <a:rPr lang="en-US" dirty="0"/>
              <a:t>:</a:t>
            </a:r>
            <a:r>
              <a:rPr lang="ru-RU" dirty="0"/>
              <a:t> Проверки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80A5FB-358D-4DC4-BD27-36F77C5C0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Появление </a:t>
            </a:r>
            <a:r>
              <a:rPr lang="ru-RU" dirty="0" err="1"/>
              <a:t>Inf</a:t>
            </a:r>
            <a:r>
              <a:rPr lang="ru-RU" dirty="0"/>
              <a:t> или </a:t>
            </a:r>
            <a:r>
              <a:rPr lang="ru-RU" dirty="0" err="1"/>
              <a:t>NaN</a:t>
            </a:r>
            <a:r>
              <a:rPr lang="ru-RU" dirty="0"/>
              <a:t> значений при использовании -</a:t>
            </a:r>
            <a:r>
              <a:rPr lang="ru-RU" dirty="0" err="1"/>
              <a:t>ffinite-math-only</a:t>
            </a:r>
            <a:r>
              <a:rPr lang="ru-RU" dirty="0"/>
              <a:t> приводит к UB</a:t>
            </a:r>
          </a:p>
          <a:p>
            <a:r>
              <a:rPr lang="ru-RU" dirty="0"/>
              <a:t>Если отсутствие этих значений обеспечивалось явными проверками</a:t>
            </a:r>
            <a:r>
              <a:rPr lang="en-US" dirty="0"/>
              <a:t>, </a:t>
            </a:r>
            <a:r>
              <a:rPr lang="ru-RU" dirty="0"/>
              <a:t>то</a:t>
            </a:r>
            <a:r>
              <a:rPr lang="en-US" dirty="0"/>
              <a:t> </a:t>
            </a:r>
            <a:r>
              <a:rPr lang="ru-RU" dirty="0"/>
              <a:t>они будут удалены компилятором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A88DD2-3CC5-4418-B23A-47FA1F70293D}"/>
              </a:ext>
            </a:extLst>
          </p:cNvPr>
          <p:cNvSpPr txBox="1"/>
          <p:nvPr/>
        </p:nvSpPr>
        <p:spPr>
          <a:xfrm>
            <a:off x="1039536" y="4452835"/>
            <a:ext cx="24139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#include &lt;</a:t>
            </a:r>
            <a:r>
              <a:rPr lang="en-US" sz="1400" b="0" dirty="0" err="1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math.h</a:t>
            </a:r>
            <a:r>
              <a:rPr lang="en-US" sz="1400" b="0" dirty="0">
                <a:solidFill>
                  <a:schemeClr val="accent2">
                    <a:lumMod val="50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&gt;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n-US" sz="1400" b="0" dirty="0">
              <a:solidFill>
                <a:srgbClr val="0000FF"/>
              </a:solidFill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int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float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b="0" dirty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isnan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chemeClr val="accent6">
                    <a:lumMod val="75000"/>
                  </a:schemeClr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</a:t>
            </a:r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sz="1400" b="0" dirty="0">
                <a:solidFill>
                  <a:srgbClr val="0070C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D071A-B244-42A7-AB61-B467229CF366}"/>
              </a:ext>
            </a:extLst>
          </p:cNvPr>
          <p:cNvSpPr txBox="1"/>
          <p:nvPr/>
        </p:nvSpPr>
        <p:spPr>
          <a:xfrm>
            <a:off x="4652394" y="4452835"/>
            <a:ext cx="241393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ucomiss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xmm0, xmm0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setp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al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19348-F5D5-4A35-886F-EF58F443C517}"/>
              </a:ext>
            </a:extLst>
          </p:cNvPr>
          <p:cNvSpPr txBox="1"/>
          <p:nvPr/>
        </p:nvSpPr>
        <p:spPr>
          <a:xfrm>
            <a:off x="8738532" y="4452835"/>
            <a:ext cx="241393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xor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   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lang="en-US" sz="1400" b="0" dirty="0" err="1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endParaRPr lang="en-US" sz="1400" b="0" dirty="0">
              <a:effectLst/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1400" b="0" dirty="0"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  ret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54438-A74E-414E-A290-284C84BCF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E3FF8C-1646-4154-BC1D-27D310AAE8C8}"/>
              </a:ext>
            </a:extLst>
          </p:cNvPr>
          <p:cNvSpPr txBox="1"/>
          <p:nvPr/>
        </p:nvSpPr>
        <p:spPr>
          <a:xfrm>
            <a:off x="4835243" y="5637609"/>
            <a:ext cx="25215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1B9086-CE5E-4ED3-B750-6FDB1C66341E}"/>
              </a:ext>
            </a:extLst>
          </p:cNvPr>
          <p:cNvSpPr txBox="1"/>
          <p:nvPr/>
        </p:nvSpPr>
        <p:spPr>
          <a:xfrm>
            <a:off x="8259615" y="5622386"/>
            <a:ext cx="33717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clang-21 -O2 </a:t>
            </a:r>
            <a:r>
              <a:rPr lang="en-US" sz="1200" b="1" dirty="0"/>
              <a:t>-</a:t>
            </a:r>
            <a:r>
              <a:rPr lang="en-US" sz="1200" b="1" dirty="0" err="1"/>
              <a:t>ffinite</a:t>
            </a:r>
            <a:r>
              <a:rPr lang="en-US" sz="1200" b="1" dirty="0"/>
              <a:t>-math-only</a:t>
            </a:r>
          </a:p>
        </p:txBody>
      </p:sp>
    </p:spTree>
    <p:extLst>
      <p:ext uri="{BB962C8B-B14F-4D97-AF65-F5344CB8AC3E}">
        <p14:creationId xmlns:p14="http://schemas.microsoft.com/office/powerpoint/2010/main" val="367329344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6B7337-8609-465A-BEB9-ABD904AD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Позиция </a:t>
            </a:r>
            <a:r>
              <a:rPr lang="en-US" dirty="0"/>
              <a:t>Rust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F31CD8-B1E0-4D6C-80F8-763B791F8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>
                <a:solidFill>
                  <a:srgbClr val="000000"/>
                </a:solidFill>
              </a:rPr>
              <a:t>Rust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отказывается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от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возможности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глобального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применения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fast-math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оптимизаций</a:t>
            </a:r>
            <a:endParaRPr lang="en-US" sz="2800" b="0" strike="noStrike" spc="-1" dirty="0">
              <a:solidFill>
                <a:srgbClr val="000000"/>
              </a:solidFill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 dirty="0" err="1">
                <a:solidFill>
                  <a:srgbClr val="000000"/>
                </a:solidFill>
              </a:rPr>
              <a:t>Основная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мотивация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–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опасность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недостаточно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осторожного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применения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этих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оптимизаций</a:t>
            </a:r>
            <a:r>
              <a:rPr lang="en-US" sz="2800" b="0" strike="noStrike" spc="-1" dirty="0">
                <a:solidFill>
                  <a:srgbClr val="000000"/>
                </a:solidFill>
              </a:rPr>
              <a:t>,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особенно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в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зависимостях</a:t>
            </a:r>
            <a:r>
              <a:rPr lang="en-US" sz="2800" b="0" strike="noStrike" spc="-1" dirty="0">
                <a:solidFill>
                  <a:srgbClr val="000000"/>
                </a:solidFill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</a:rPr>
              <a:t>проекта</a:t>
            </a:r>
            <a:endParaRPr lang="en-US" sz="2800" b="0" strike="noStrike" spc="-1" dirty="0">
              <a:solidFill>
                <a:srgbClr val="000000"/>
              </a:solidFill>
            </a:endParaRP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00C81D-7AEE-4A4B-BC75-A60742093FB1}"/>
              </a:ext>
            </a:extLst>
          </p:cNvPr>
          <p:cNvSpPr txBox="1"/>
          <p:nvPr/>
        </p:nvSpPr>
        <p:spPr>
          <a:xfrm>
            <a:off x="1784860" y="4340140"/>
            <a:ext cx="83533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“Everything about this flag fundamentally clashes with the idea of robust, compositional system design. It was a terrible mistake to ever add it to C compilers, and Rust should not repeat that mistake. </a:t>
            </a:r>
            <a:r>
              <a:rPr lang="en-US" b="1" dirty="0"/>
              <a:t>Rust should instead explore alternative, less fragile ways of exposing those semantics</a:t>
            </a:r>
            <a:r>
              <a:rPr lang="en-US" dirty="0"/>
              <a:t>.” (Ralf Jung, </a:t>
            </a:r>
            <a:r>
              <a:rPr lang="en-US" dirty="0">
                <a:hlinkClick r:id="rId2"/>
              </a:rPr>
              <a:t>rust #21690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C3CDA5-0D32-4AB9-B01D-80CA32A7E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83487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9D9B6-C96B-4D7F-8B0B-6DAF21DD4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Workarounds: </a:t>
            </a:r>
            <a:r>
              <a:rPr lang="ru-RU" dirty="0"/>
              <a:t>Интринсики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B6F7E1-D109-4CAD-BA2F-3A2E49CD6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6540"/>
          </a:xfrm>
        </p:spPr>
        <p:txBody>
          <a:bodyPr>
            <a:normAutofit/>
          </a:bodyPr>
          <a:lstStyle/>
          <a:p>
            <a:r>
              <a:rPr lang="en-US" dirty="0"/>
              <a:t>Rust </a:t>
            </a:r>
            <a:r>
              <a:rPr lang="ru-RU" dirty="0"/>
              <a:t>предоставляет </a:t>
            </a:r>
            <a:r>
              <a:rPr lang="en-US" dirty="0"/>
              <a:t>fast-math </a:t>
            </a:r>
            <a:r>
              <a:rPr lang="ru-RU" dirty="0"/>
              <a:t>оптимизации на уровне отдельных операций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intrinsics</a:t>
            </a:r>
            <a:r>
              <a:rPr lang="en-US" dirty="0"/>
              <a:t>::f{op}_fast</a:t>
            </a:r>
          </a:p>
          <a:p>
            <a:pPr lvl="1"/>
            <a:r>
              <a:rPr lang="en-US" dirty="0"/>
              <a:t>std::</a:t>
            </a:r>
            <a:r>
              <a:rPr lang="en-US" dirty="0" err="1"/>
              <a:t>intrinsics</a:t>
            </a:r>
            <a:r>
              <a:rPr lang="en-US" dirty="0"/>
              <a:t>::f{op}_algebraic</a:t>
            </a:r>
          </a:p>
          <a:p>
            <a:pPr lvl="1"/>
            <a:r>
              <a:rPr lang="en-US" dirty="0"/>
              <a:t>f(16/32/64)::algebraic_{op}</a:t>
            </a:r>
          </a:p>
          <a:p>
            <a:r>
              <a:rPr lang="ru-RU" dirty="0"/>
              <a:t>Недостатки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На данный момент эти </a:t>
            </a:r>
            <a:r>
              <a:rPr lang="en-US" dirty="0"/>
              <a:t>API </a:t>
            </a:r>
            <a:r>
              <a:rPr lang="ru-RU" dirty="0"/>
              <a:t>недоступны в стабильной версии</a:t>
            </a:r>
            <a:endParaRPr lang="en-US" dirty="0"/>
          </a:p>
          <a:p>
            <a:pPr lvl="1"/>
            <a:r>
              <a:rPr lang="ru-RU" dirty="0"/>
              <a:t>На данный момент </a:t>
            </a:r>
            <a:r>
              <a:rPr lang="ru-RU" dirty="0">
                <a:hlinkClick r:id="rId2"/>
              </a:rPr>
              <a:t>нет типов</a:t>
            </a:r>
            <a:r>
              <a:rPr lang="ru-RU" dirty="0"/>
              <a:t>, скрывающих внутри себя работу с интринсиками</a:t>
            </a:r>
          </a:p>
          <a:p>
            <a:pPr lvl="2"/>
            <a:r>
              <a:rPr lang="ru-RU" dirty="0"/>
              <a:t>Авторам математических библиотек придётся реализовывать код дважды</a:t>
            </a:r>
            <a:r>
              <a:rPr lang="en-US" dirty="0"/>
              <a:t> (</a:t>
            </a:r>
            <a:r>
              <a:rPr lang="ru-RU" dirty="0"/>
              <a:t>для </a:t>
            </a:r>
            <a:r>
              <a:rPr lang="en-US" dirty="0"/>
              <a:t>fast-math </a:t>
            </a:r>
            <a:r>
              <a:rPr lang="ru-RU" dirty="0"/>
              <a:t>и обычного варианта)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30800D-2C5A-4573-94F4-25BA9D2A6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6559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53DC0F5-3A55-411C-AAA3-1A3092EC87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070" y="921608"/>
            <a:ext cx="10452847" cy="5574853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BAAFFB-63EE-4302-A3DE-8AE9ACC4E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340" y="-181722"/>
            <a:ext cx="10515600" cy="1325563"/>
          </a:xfrm>
        </p:spPr>
        <p:txBody>
          <a:bodyPr/>
          <a:lstStyle/>
          <a:p>
            <a:r>
              <a:rPr lang="ru-RU" dirty="0"/>
              <a:t>Результаты при включении </a:t>
            </a:r>
            <a:r>
              <a:rPr lang="en-US" dirty="0"/>
              <a:t>fast-math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DCE2E-B0F6-484E-B156-451B4617CF1D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Ветка компилятора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887288-96E3-4958-988B-8B522120D4E7}"/>
              </a:ext>
            </a:extLst>
          </p:cNvPr>
          <p:cNvSpPr txBox="1"/>
          <p:nvPr/>
        </p:nvSpPr>
        <p:spPr>
          <a:xfrm>
            <a:off x="2451286" y="6492261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4"/>
              </a:rPr>
              <a:t>Ветка компилятора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04B9E4-DCEA-4373-A2AE-A33768815C57}"/>
              </a:ext>
            </a:extLst>
          </p:cNvPr>
          <p:cNvSpPr txBox="1"/>
          <p:nvPr/>
        </p:nvSpPr>
        <p:spPr>
          <a:xfrm>
            <a:off x="3441323" y="4564664"/>
            <a:ext cx="302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Проблемы с автовекторизацией</a:t>
            </a:r>
          </a:p>
        </p:txBody>
      </p:sp>
      <p:cxnSp>
        <p:nvCxnSpPr>
          <p:cNvPr id="9" name="Прямая со стрелкой 5">
            <a:extLst>
              <a:ext uri="{FF2B5EF4-FFF2-40B4-BE49-F238E27FC236}">
                <a16:creationId xmlns:a16="http://schemas.microsoft.com/office/drawing/2014/main" id="{78BD24BB-A33B-4908-BFC7-55D0439017B2}"/>
              </a:ext>
            </a:extLst>
          </p:cNvPr>
          <p:cNvCxnSpPr>
            <a:cxnSpLocks/>
          </p:cNvCxnSpPr>
          <p:nvPr/>
        </p:nvCxnSpPr>
        <p:spPr>
          <a:xfrm flipH="1">
            <a:off x="2891790" y="4933156"/>
            <a:ext cx="918210" cy="352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6">
            <a:extLst>
              <a:ext uri="{FF2B5EF4-FFF2-40B4-BE49-F238E27FC236}">
                <a16:creationId xmlns:a16="http://schemas.microsoft.com/office/drawing/2014/main" id="{EFB97770-0F6E-4689-9D35-26E320C131A5}"/>
              </a:ext>
            </a:extLst>
          </p:cNvPr>
          <p:cNvCxnSpPr>
            <a:cxnSpLocks/>
          </p:cNvCxnSpPr>
          <p:nvPr/>
        </p:nvCxnSpPr>
        <p:spPr>
          <a:xfrm>
            <a:off x="6096000" y="4933156"/>
            <a:ext cx="905435" cy="352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AA6410-1192-43C0-8D9B-A879A7B20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42254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Rust</a:t>
            </a:r>
            <a:r>
              <a:rPr lang="ru-RU" dirty="0"/>
              <a:t> не предоставляет возможности глобально включить </a:t>
            </a:r>
            <a:r>
              <a:rPr lang="en-US" dirty="0"/>
              <a:t>fast-math </a:t>
            </a:r>
            <a:r>
              <a:rPr lang="ru-RU" dirty="0"/>
              <a:t>оптимизации</a:t>
            </a:r>
          </a:p>
          <a:p>
            <a:r>
              <a:rPr lang="ru-RU" dirty="0"/>
              <a:t>Разрешать эти оптимизации можно на уровне отдельных операций</a:t>
            </a:r>
            <a:r>
              <a:rPr lang="en-US" dirty="0"/>
              <a:t> </a:t>
            </a:r>
            <a:r>
              <a:rPr lang="ru-RU" dirty="0"/>
              <a:t>с помощью интринсиков</a:t>
            </a:r>
          </a:p>
          <a:p>
            <a:pPr lvl="1"/>
            <a:r>
              <a:rPr lang="ru-RU" dirty="0"/>
              <a:t>Пока только в </a:t>
            </a:r>
            <a:r>
              <a:rPr lang="en-US" dirty="0"/>
              <a:t>nightly</a:t>
            </a:r>
            <a:r>
              <a:rPr lang="ru-RU" dirty="0"/>
              <a:t>-версии</a:t>
            </a:r>
          </a:p>
          <a:p>
            <a:r>
              <a:rPr lang="en-US" dirty="0"/>
              <a:t>Fast-math </a:t>
            </a:r>
            <a:r>
              <a:rPr lang="ru-RU" dirty="0"/>
              <a:t>может как положительно, так и отрицательно влиять на производительность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38839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Локализация символов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0185C-4993-41AF-B35D-98ABA6DCB189}"/>
              </a:ext>
            </a:extLst>
          </p:cNvPr>
          <p:cNvSpPr txBox="1"/>
          <p:nvPr/>
        </p:nvSpPr>
        <p:spPr>
          <a:xfrm>
            <a:off x="180975" y="6356350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Детальный разбор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0315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Локализация символов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Функции, объявленные в единице трансляции</a:t>
            </a:r>
            <a:r>
              <a:rPr lang="en-US" dirty="0"/>
              <a:t> (</a:t>
            </a:r>
            <a:r>
              <a:rPr lang="ru-RU" dirty="0"/>
              <a:t>крейт в </a:t>
            </a:r>
            <a:r>
              <a:rPr lang="en-US" dirty="0"/>
              <a:t>Rust, </a:t>
            </a:r>
            <a:r>
              <a:rPr lang="en-US" dirty="0" err="1"/>
              <a:t>cpp</a:t>
            </a:r>
            <a:r>
              <a:rPr lang="en-US" dirty="0"/>
              <a:t>-</a:t>
            </a:r>
            <a:r>
              <a:rPr lang="ru-RU" dirty="0"/>
              <a:t>файл</a:t>
            </a:r>
            <a:r>
              <a:rPr lang="en-US" dirty="0"/>
              <a:t> </a:t>
            </a:r>
            <a:r>
              <a:rPr lang="ru-RU" dirty="0"/>
              <a:t>в </a:t>
            </a:r>
            <a:r>
              <a:rPr lang="en-US" dirty="0"/>
              <a:t>C++</a:t>
            </a:r>
            <a:r>
              <a:rPr lang="ru-RU" dirty="0"/>
              <a:t>), могут быть локальными для неё или глобальными</a:t>
            </a:r>
            <a:endParaRPr lang="en-US" dirty="0"/>
          </a:p>
          <a:p>
            <a:pPr lvl="1"/>
            <a:r>
              <a:rPr lang="ru-RU" dirty="0"/>
              <a:t>В </a:t>
            </a:r>
            <a:r>
              <a:rPr lang="en-US" dirty="0"/>
              <a:t>C/C++ </a:t>
            </a:r>
            <a:r>
              <a:rPr lang="ru-RU" dirty="0"/>
              <a:t>контролируется с помощью </a:t>
            </a:r>
            <a:r>
              <a:rPr lang="en-US" dirty="0">
                <a:solidFill>
                  <a:srgbClr val="C00000"/>
                </a:solidFill>
              </a:rPr>
              <a:t>static</a:t>
            </a:r>
            <a:r>
              <a:rPr lang="en-US" dirty="0"/>
              <a:t> </a:t>
            </a:r>
            <a:r>
              <a:rPr lang="ru-RU" dirty="0"/>
              <a:t>или </a:t>
            </a:r>
            <a:r>
              <a:rPr lang="en-US" dirty="0"/>
              <a:t>anonymous namespaces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с помощью</a:t>
            </a:r>
            <a:r>
              <a:rPr lang="en-US" dirty="0"/>
              <a:t> </a:t>
            </a:r>
            <a:r>
              <a:rPr lang="ru-RU" dirty="0"/>
              <a:t>атрибутов </a:t>
            </a:r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/>
              <a:t>,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pub(crate)</a:t>
            </a:r>
            <a:r>
              <a:rPr lang="ru-RU" dirty="0"/>
              <a:t> и других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C++ </a:t>
            </a:r>
            <a:r>
              <a:rPr lang="ru-RU" dirty="0"/>
              <a:t>выбраны противоположные решения о дефолтном поведении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В </a:t>
            </a:r>
            <a:r>
              <a:rPr lang="en-US" dirty="0"/>
              <a:t>Rust </a:t>
            </a:r>
            <a:r>
              <a:rPr lang="ru-RU" dirty="0"/>
              <a:t>функции по умолчанию локальны</a:t>
            </a:r>
            <a:r>
              <a:rPr lang="en-US" dirty="0"/>
              <a:t> </a:t>
            </a:r>
            <a:r>
              <a:rPr lang="ru-RU" dirty="0"/>
              <a:t>для своего модуля</a:t>
            </a:r>
            <a:r>
              <a:rPr lang="en-US" dirty="0"/>
              <a:t> (top-level </a:t>
            </a:r>
            <a:r>
              <a:rPr lang="ru-RU" dirty="0"/>
              <a:t>функции – для своего крейта)</a:t>
            </a:r>
            <a:endParaRPr lang="en-US" dirty="0"/>
          </a:p>
          <a:p>
            <a:pPr lvl="1"/>
            <a:r>
              <a:rPr lang="ru-RU" dirty="0"/>
              <a:t>Глобальными являются только </a:t>
            </a:r>
            <a:r>
              <a:rPr lang="en-US" dirty="0">
                <a:solidFill>
                  <a:srgbClr val="C00000"/>
                </a:solidFill>
              </a:rPr>
              <a:t>pub</a:t>
            </a:r>
            <a:r>
              <a:rPr lang="en-US" dirty="0"/>
              <a:t>-</a:t>
            </a:r>
            <a:r>
              <a:rPr lang="ru-RU" dirty="0"/>
              <a:t>функции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588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Оптимизации</a:t>
            </a:r>
            <a:r>
              <a:rPr lang="en-US" dirty="0"/>
              <a:t> </a:t>
            </a:r>
            <a:r>
              <a:rPr lang="ru-RU" dirty="0"/>
              <a:t>в компиляторе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Локальные функции лучше оптимизируются компилятором</a:t>
            </a:r>
          </a:p>
          <a:p>
            <a:r>
              <a:rPr lang="ru-RU" dirty="0"/>
              <a:t>Как правило такие оптимизации связаны с изменением </a:t>
            </a:r>
            <a:r>
              <a:rPr lang="en-US" dirty="0"/>
              <a:t>API </a:t>
            </a:r>
            <a:r>
              <a:rPr lang="ru-RU" dirty="0"/>
              <a:t>или </a:t>
            </a:r>
            <a:r>
              <a:rPr lang="en-US" dirty="0"/>
              <a:t>ABI:</a:t>
            </a:r>
          </a:p>
          <a:p>
            <a:pPr lvl="1"/>
            <a:r>
              <a:rPr lang="ru-RU" dirty="0"/>
              <a:t>Межпроцедурное распространение констант </a:t>
            </a:r>
            <a:r>
              <a:rPr lang="en-US" dirty="0"/>
              <a:t>(IPSCCP)</a:t>
            </a:r>
          </a:p>
          <a:p>
            <a:pPr lvl="1"/>
            <a:r>
              <a:rPr lang="ru-RU" dirty="0"/>
              <a:t>Замена передачи по ссылке на передачу по значению</a:t>
            </a:r>
            <a:r>
              <a:rPr lang="en-US" dirty="0"/>
              <a:t> (</a:t>
            </a:r>
            <a:r>
              <a:rPr lang="en-US" dirty="0" err="1"/>
              <a:t>ArgumentPromotion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Удаление мёртвых аргументов или возвращаемых значений </a:t>
            </a:r>
            <a:r>
              <a:rPr lang="en-US" dirty="0"/>
              <a:t>(</a:t>
            </a:r>
            <a:r>
              <a:rPr lang="en-US" dirty="0" err="1"/>
              <a:t>DeadArgumentElimination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Релаксация </a:t>
            </a:r>
            <a:r>
              <a:rPr lang="en-US" dirty="0"/>
              <a:t>calling convention</a:t>
            </a:r>
          </a:p>
          <a:p>
            <a:pPr lvl="1"/>
            <a:r>
              <a:rPr lang="ru-RU" dirty="0"/>
              <a:t>Межпроцедурная аллокация регистров </a:t>
            </a:r>
            <a:r>
              <a:rPr lang="en-US" dirty="0"/>
              <a:t>(IPRA)</a:t>
            </a:r>
          </a:p>
          <a:p>
            <a:r>
              <a:rPr lang="ru-RU" dirty="0"/>
              <a:t>А также</a:t>
            </a:r>
            <a:endParaRPr lang="en-US" dirty="0"/>
          </a:p>
          <a:p>
            <a:pPr lvl="1"/>
            <a:r>
              <a:rPr lang="ru-RU" dirty="0"/>
              <a:t>Более агрессивный </a:t>
            </a:r>
            <a:r>
              <a:rPr lang="en-US" dirty="0" err="1"/>
              <a:t>inlining</a:t>
            </a:r>
            <a:endParaRPr lang="ru-RU" dirty="0"/>
          </a:p>
          <a:p>
            <a:pPr lvl="2"/>
            <a:r>
              <a:rPr lang="ru-RU" dirty="0"/>
              <a:t>Например, всегда инлайнятся однократно вызываемые локальные функции</a:t>
            </a:r>
            <a:endParaRPr lang="en-US" dirty="0"/>
          </a:p>
          <a:p>
            <a:pPr lvl="1"/>
            <a:r>
              <a:rPr lang="ru-RU" dirty="0"/>
              <a:t>Улучшенное обнаружение мёртвого кода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6206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оптимизации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498188-CC2B-4A07-A091-648F940167BB}"/>
              </a:ext>
            </a:extLst>
          </p:cNvPr>
          <p:cNvSpPr txBox="1"/>
          <p:nvPr/>
        </p:nvSpPr>
        <p:spPr>
          <a:xfrm>
            <a:off x="838200" y="1779543"/>
            <a:ext cx="687593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#[inline(never)]  // Simulate </a:t>
            </a:r>
            <a:r>
              <a:rPr lang="en-US" dirty="0" err="1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inliner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fail</a:t>
            </a:r>
          </a:p>
          <a:p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bool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seed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else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^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pub </a:t>
            </a:r>
            <a:r>
              <a:rPr lang="en-US" dirty="0" err="1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bar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: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&amp;[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i32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let mut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for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0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..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+=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foo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true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s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ans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C3CDA-6CBB-4932-9207-C0D70939F56C}"/>
              </a:ext>
            </a:extLst>
          </p:cNvPr>
          <p:cNvSpPr txBox="1"/>
          <p:nvPr/>
        </p:nvSpPr>
        <p:spPr>
          <a:xfrm>
            <a:off x="7409331" y="3108799"/>
            <a:ext cx="50112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foo: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lea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eax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, [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rsi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rdi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  ret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27A8BB4-B397-4188-B34A-A2233ED323EE}"/>
              </a:ext>
            </a:extLst>
          </p:cNvPr>
          <p:cNvCxnSpPr/>
          <p:nvPr/>
        </p:nvCxnSpPr>
        <p:spPr>
          <a:xfrm>
            <a:off x="5531224" y="3774141"/>
            <a:ext cx="986117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1A7C1FA-2524-422C-B83B-C2876D280E86}"/>
              </a:ext>
            </a:extLst>
          </p:cNvPr>
          <p:cNvSpPr txBox="1"/>
          <p:nvPr/>
        </p:nvSpPr>
        <p:spPr>
          <a:xfrm>
            <a:off x="7714130" y="4585370"/>
            <a:ext cx="31583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Цикл в </a:t>
            </a:r>
            <a:r>
              <a:rPr lang="en-US" sz="2800" dirty="0"/>
              <a:t>foo </a:t>
            </a:r>
            <a:r>
              <a:rPr lang="ru-RU" sz="2800" dirty="0"/>
              <a:t>был полностью оптимизирован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881413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037B0-B911-4403-B700-3797F770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с </a:t>
            </a:r>
            <a:r>
              <a:rPr lang="en-US" dirty="0"/>
              <a:t>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014B8-8AF4-4AD9-BE96-D8C521972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Многие авторитетные руководства рекомендуют локализовывать функции</a:t>
            </a:r>
            <a:r>
              <a:rPr lang="en-US" dirty="0"/>
              <a:t>:</a:t>
            </a:r>
          </a:p>
          <a:p>
            <a:pPr lvl="1"/>
            <a:r>
              <a:rPr lang="en-US" dirty="0">
                <a:hlinkClick r:id="rId2"/>
              </a:rPr>
              <a:t>Google C++ Style Guide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LLVM Coding Standard</a:t>
            </a:r>
            <a:r>
              <a:rPr lang="en-US" dirty="0"/>
              <a:t> (Restrict Visibility)</a:t>
            </a:r>
          </a:p>
          <a:p>
            <a:pPr lvl="1"/>
            <a:r>
              <a:rPr lang="en-US" dirty="0">
                <a:hlinkClick r:id="rId4"/>
              </a:rPr>
              <a:t>C++ Core Guidelines</a:t>
            </a:r>
            <a:endParaRPr lang="en-US" dirty="0"/>
          </a:p>
          <a:p>
            <a:pPr lvl="1"/>
            <a:r>
              <a:rPr lang="en-US" dirty="0">
                <a:hlinkClick r:id="rId5"/>
              </a:rPr>
              <a:t>Chromium C++ Style Guide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6D27-2321-4B0F-A031-DEA90CB4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0714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Распространённость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Сколько локальных функций в реальных программах на </a:t>
            </a:r>
            <a:r>
              <a:rPr lang="en-US" dirty="0"/>
              <a:t>Rust?</a:t>
            </a:r>
          </a:p>
          <a:p>
            <a:pPr lvl="1"/>
            <a:r>
              <a:rPr lang="en-US" dirty="0"/>
              <a:t>80-90%</a:t>
            </a:r>
            <a:endParaRPr lang="ru-RU" dirty="0"/>
          </a:p>
          <a:p>
            <a:pPr lvl="1"/>
            <a:r>
              <a:rPr lang="ru-RU" dirty="0"/>
              <a:t>Для сбора статистики использовался </a:t>
            </a:r>
            <a:r>
              <a:rPr lang="ru-RU" dirty="0">
                <a:hlinkClick r:id="rId2"/>
              </a:rPr>
              <a:t>патч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C/C++ </a:t>
            </a:r>
            <a:r>
              <a:rPr lang="ru-RU" dirty="0"/>
              <a:t>результаты сильно зависят от проекта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80-90% (clang, </a:t>
            </a:r>
            <a:r>
              <a:rPr lang="en-US" dirty="0" err="1"/>
              <a:t>ffmpeg</a:t>
            </a:r>
            <a:r>
              <a:rPr lang="en-US" dirty="0"/>
              <a:t>, git, </a:t>
            </a:r>
            <a:r>
              <a:rPr lang="en-US" dirty="0" err="1"/>
              <a:t>opencv</a:t>
            </a:r>
            <a:r>
              <a:rPr lang="en-US" dirty="0"/>
              <a:t>, bitcoin)</a:t>
            </a:r>
          </a:p>
          <a:p>
            <a:pPr lvl="1"/>
            <a:r>
              <a:rPr lang="en-US" dirty="0"/>
              <a:t>40-50% (</a:t>
            </a:r>
            <a:r>
              <a:rPr lang="en-US" dirty="0" err="1"/>
              <a:t>openssl</a:t>
            </a:r>
            <a:r>
              <a:rPr lang="en-US" dirty="0"/>
              <a:t>, </a:t>
            </a:r>
            <a:r>
              <a:rPr lang="en-US" dirty="0" err="1"/>
              <a:t>tmux</a:t>
            </a:r>
            <a:r>
              <a:rPr lang="en-US" dirty="0"/>
              <a:t>, </a:t>
            </a:r>
            <a:r>
              <a:rPr lang="en-US" dirty="0" err="1"/>
              <a:t>gcc</a:t>
            </a:r>
            <a:r>
              <a:rPr lang="en-US" dirty="0"/>
              <a:t>, </a:t>
            </a:r>
            <a:r>
              <a:rPr lang="en-US" dirty="0" err="1"/>
              <a:t>libuv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Для сбора статистики использовалась утилита </a:t>
            </a:r>
            <a:r>
              <a:rPr lang="en-US" dirty="0">
                <a:hlinkClick r:id="rId3"/>
              </a:rPr>
              <a:t>Localizer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79292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Замедление при отключении локализации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7C78D5-D629-481B-A9F8-E89D0159B296}"/>
              </a:ext>
            </a:extLst>
          </p:cNvPr>
          <p:cNvSpPr txBox="1"/>
          <p:nvPr/>
        </p:nvSpPr>
        <p:spPr>
          <a:xfrm>
            <a:off x="71717" y="649651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Патч для компилятора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2F7C87-8A9B-47F5-9ACD-AB51A4475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57" y="1666545"/>
            <a:ext cx="6258485" cy="500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78976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D18B6-1D07-4D57-8C29-4A13591B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4AF2B-27EB-4FD1-B415-F6194F25C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Локализация функций позволяет компилятору генерировать существенно более производительный код</a:t>
            </a:r>
            <a:r>
              <a:rPr lang="en-US" dirty="0"/>
              <a:t> (5% </a:t>
            </a:r>
            <a:r>
              <a:rPr lang="ru-RU" dirty="0"/>
              <a:t>и более)</a:t>
            </a:r>
            <a:endParaRPr lang="en-US" dirty="0"/>
          </a:p>
          <a:p>
            <a:r>
              <a:rPr lang="ru-RU" dirty="0"/>
              <a:t>В </a:t>
            </a:r>
            <a:r>
              <a:rPr lang="en-US" dirty="0"/>
              <a:t>Rust</a:t>
            </a:r>
            <a:r>
              <a:rPr lang="ru-RU" dirty="0"/>
              <a:t> по умолчанию принято более эффективное (с точки зрения производительности) решение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22C97-9D23-4618-AB75-8A464C4E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6160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65113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170DB-3C9A-48F2-8509-324EDEBEF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30" y="0"/>
            <a:ext cx="10515600" cy="1325563"/>
          </a:xfrm>
        </p:spPr>
        <p:txBody>
          <a:bodyPr/>
          <a:lstStyle/>
          <a:p>
            <a:r>
              <a:rPr lang="ru-RU" dirty="0"/>
              <a:t>Ускорение при отключении (почти) всех проверок </a:t>
            </a:r>
            <a:r>
              <a:rPr lang="en-US" dirty="0"/>
              <a:t>Rust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D4754-DAF3-4E9D-9901-0D8F2F73F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3DD279-E2DF-496F-B6DF-186FC9B6574D}"/>
              </a:ext>
            </a:extLst>
          </p:cNvPr>
          <p:cNvSpPr txBox="1"/>
          <p:nvPr/>
        </p:nvSpPr>
        <p:spPr>
          <a:xfrm>
            <a:off x="9108141" y="1204885"/>
            <a:ext cx="25325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Отключались проверки индексов и арифметики, переполнения контейнеров </a:t>
            </a:r>
            <a:r>
              <a:rPr lang="en-US" dirty="0" err="1"/>
              <a:t>stdlib</a:t>
            </a:r>
            <a:r>
              <a:rPr lang="en-US" dirty="0"/>
              <a:t>, </a:t>
            </a:r>
            <a:r>
              <a:rPr lang="ru-RU" dirty="0"/>
              <a:t>проверки </a:t>
            </a:r>
            <a:r>
              <a:rPr lang="en-US" dirty="0"/>
              <a:t>UTF-8</a:t>
            </a:r>
            <a:r>
              <a:rPr lang="ru-RU" dirty="0"/>
              <a:t> в строках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отражены накладные расходы на избыточную инициализацию</a:t>
            </a:r>
            <a:r>
              <a:rPr lang="en-US" dirty="0"/>
              <a:t> (</a:t>
            </a:r>
            <a:r>
              <a:rPr lang="ru-RU" dirty="0"/>
              <a:t>полагаем не менее 1%)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8AB6A-C8AB-46FD-AE36-196F57572CB1}"/>
              </a:ext>
            </a:extLst>
          </p:cNvPr>
          <p:cNvSpPr txBox="1"/>
          <p:nvPr/>
        </p:nvSpPr>
        <p:spPr>
          <a:xfrm>
            <a:off x="228039" y="6488668"/>
            <a:ext cx="2223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2"/>
              </a:rPr>
              <a:t>Ветка компилятора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755540-41DA-4D73-B905-EEA3DEC96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5279" y="1178018"/>
            <a:ext cx="6701117" cy="536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63794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AA3E-F2DB-44FA-A971-57C185B7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Распределение замедлений в бенчмарках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9E90-A0BD-4666-95A4-BA9E074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A2BE0-209A-4034-8A73-0174BD764AD6}"/>
              </a:ext>
            </a:extLst>
          </p:cNvPr>
          <p:cNvSpPr txBox="1"/>
          <p:nvPr/>
        </p:nvSpPr>
        <p:spPr>
          <a:xfrm>
            <a:off x="7590865" y="1663794"/>
            <a:ext cx="36486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носят иллюстративный характер</a:t>
            </a:r>
            <a:r>
              <a:rPr lang="en-US" dirty="0"/>
              <a:t>!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Собирались данные по всем бенчмаркам</a:t>
            </a:r>
            <a:r>
              <a:rPr lang="en-US" dirty="0"/>
              <a:t> </a:t>
            </a:r>
            <a:r>
              <a:rPr lang="ru-RU" dirty="0"/>
              <a:t>всех проектов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Одинаковые тесты с разными параметрами усреднялись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</a:t>
            </a:r>
            <a:r>
              <a:rPr lang="ru-RU" b="1" dirty="0"/>
              <a:t>смещённая</a:t>
            </a:r>
            <a:r>
              <a:rPr lang="ru-RU" dirty="0"/>
              <a:t> оценка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Проекты с б</a:t>
            </a:r>
            <a:r>
              <a:rPr lang="ru-RU" i="1" dirty="0"/>
              <a:t>о</a:t>
            </a:r>
            <a:r>
              <a:rPr lang="ru-RU" dirty="0"/>
              <a:t>льшим числом бенчей доминируют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Сценарии внутри проекта с б</a:t>
            </a:r>
            <a:r>
              <a:rPr lang="ru-RU" i="1" dirty="0"/>
              <a:t>о</a:t>
            </a:r>
            <a:r>
              <a:rPr lang="ru-RU" dirty="0"/>
              <a:t>льшим числом бенчей доминируют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отражены накладные расходы на инициализацию (не менее </a:t>
            </a:r>
            <a:r>
              <a:rPr lang="en-US" dirty="0"/>
              <a:t>1% </a:t>
            </a:r>
            <a:r>
              <a:rPr lang="ru-RU" dirty="0"/>
              <a:t>для среднего</a:t>
            </a:r>
            <a:r>
              <a:rPr lang="en-US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956633-B71C-4DDA-8526-4E2A7F3D7F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989" y="1234435"/>
            <a:ext cx="6203576" cy="465268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B9F085D-C89E-46D6-AD8A-8D85CC9EFFE9}"/>
              </a:ext>
            </a:extLst>
          </p:cNvPr>
          <p:cNvSpPr txBox="1"/>
          <p:nvPr/>
        </p:nvSpPr>
        <p:spPr>
          <a:xfrm>
            <a:off x="206187" y="6075144"/>
            <a:ext cx="2850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Скрипт</a:t>
            </a:r>
            <a:r>
              <a:rPr lang="en-US" dirty="0">
                <a:hlinkClick r:id="rId3"/>
              </a:rPr>
              <a:t> </a:t>
            </a:r>
            <a:r>
              <a:rPr lang="ru-RU" dirty="0">
                <a:hlinkClick r:id="rId3"/>
              </a:rPr>
              <a:t>для построения графиков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232090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C696195-B1AD-49B5-B50A-58D024521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071" y="1241689"/>
            <a:ext cx="6217023" cy="466276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CDE44-F350-483E-8164-C901DC080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329" y="206068"/>
            <a:ext cx="10515600" cy="1325563"/>
          </a:xfrm>
        </p:spPr>
        <p:txBody>
          <a:bodyPr/>
          <a:lstStyle/>
          <a:p>
            <a:r>
              <a:rPr lang="ru-RU" dirty="0"/>
              <a:t>Распределение замедлений в бенчмарках</a:t>
            </a:r>
            <a:r>
              <a:rPr lang="en-US" dirty="0"/>
              <a:t> Hardened C++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581C1D-D665-481B-82E8-04F48100F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F0A19-A089-4119-89C3-78EA5E50992F}"/>
              </a:ext>
            </a:extLst>
          </p:cNvPr>
          <p:cNvSpPr txBox="1"/>
          <p:nvPr/>
        </p:nvSpPr>
        <p:spPr>
          <a:xfrm>
            <a:off x="7915836" y="1820332"/>
            <a:ext cx="364863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Данные носят иллюстративный характер</a:t>
            </a:r>
            <a:r>
              <a:rPr lang="en-US" dirty="0"/>
              <a:t>!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Намного меньше бенчмарков</a:t>
            </a:r>
            <a:r>
              <a:rPr lang="en-US" dirty="0"/>
              <a:t> </a:t>
            </a:r>
            <a:r>
              <a:rPr lang="ru-RU" dirty="0"/>
              <a:t>чем в случае </a:t>
            </a:r>
            <a:r>
              <a:rPr lang="en-US" dirty="0"/>
              <a:t>Rust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отличие от </a:t>
            </a:r>
            <a:r>
              <a:rPr lang="en-US" dirty="0"/>
              <a:t>Rust </a:t>
            </a:r>
            <a:r>
              <a:rPr lang="ru-RU" dirty="0"/>
              <a:t>большинство проектов </a:t>
            </a:r>
            <a:r>
              <a:rPr lang="ru-RU" b="1" dirty="0"/>
              <a:t>не тюнилось </a:t>
            </a:r>
            <a:r>
              <a:rPr lang="ru-RU" dirty="0"/>
              <a:t>под </a:t>
            </a:r>
            <a:r>
              <a:rPr lang="en-US" dirty="0"/>
              <a:t>Hardened C++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Включенные защиты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-D_FORTIFY_SOURCE=3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-</a:t>
            </a:r>
            <a:r>
              <a:rPr lang="en-US" dirty="0" err="1"/>
              <a:t>fsanitize</a:t>
            </a:r>
            <a:r>
              <a:rPr lang="en-US" dirty="0"/>
              <a:t>=</a:t>
            </a:r>
            <a:r>
              <a:rPr lang="en-US" dirty="0" err="1"/>
              <a:t>bounds,object</a:t>
            </a:r>
            <a:r>
              <a:rPr lang="en-US" dirty="0"/>
              <a:t>-size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Hardened STL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(</a:t>
            </a:r>
            <a:r>
              <a:rPr lang="ru-RU" dirty="0"/>
              <a:t>инициализацию не включали чтобы соответствовать </a:t>
            </a:r>
            <a:r>
              <a:rPr lang="en-US" dirty="0"/>
              <a:t>Rust)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DED8B5-106E-4B36-A58C-38D624265C63}"/>
              </a:ext>
            </a:extLst>
          </p:cNvPr>
          <p:cNvSpPr txBox="1"/>
          <p:nvPr/>
        </p:nvSpPr>
        <p:spPr>
          <a:xfrm>
            <a:off x="206187" y="6075144"/>
            <a:ext cx="2850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Скрипт</a:t>
            </a:r>
            <a:r>
              <a:rPr lang="en-US" dirty="0">
                <a:hlinkClick r:id="rId3"/>
              </a:rPr>
              <a:t> </a:t>
            </a:r>
            <a:r>
              <a:rPr lang="ru-RU" dirty="0">
                <a:hlinkClick r:id="rId3"/>
              </a:rPr>
              <a:t>для построения графиков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40886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B1833-38B4-4063-9B93-C4DE4D1C7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B03CD-37F1-47EE-8BB4-41E78788B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/>
              <a:t>Сообщество </a:t>
            </a:r>
            <a:r>
              <a:rPr lang="en-US" dirty="0"/>
              <a:t>Rust </a:t>
            </a:r>
            <a:r>
              <a:rPr lang="ru-RU" dirty="0"/>
              <a:t>следит за балансом безопасности</a:t>
            </a:r>
            <a:r>
              <a:rPr lang="en-US" dirty="0"/>
              <a:t> </a:t>
            </a:r>
            <a:r>
              <a:rPr lang="ru-RU" dirty="0"/>
              <a:t>и производительности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ru-RU" dirty="0"/>
              <a:t>Бескомпромиссно включаются только проверки </a:t>
            </a:r>
            <a:r>
              <a:rPr lang="en-US" dirty="0"/>
              <a:t>memory safety</a:t>
            </a:r>
          </a:p>
          <a:p>
            <a:pPr lvl="1"/>
            <a:r>
              <a:rPr lang="ru-RU" dirty="0"/>
              <a:t>Остальные делаются только если не влияют существенно на производительность</a:t>
            </a:r>
          </a:p>
          <a:p>
            <a:pPr lvl="1"/>
            <a:r>
              <a:rPr lang="ru-RU" dirty="0"/>
              <a:t>Например по умолчанию отключены проверки </a:t>
            </a:r>
            <a:r>
              <a:rPr lang="en-US" dirty="0"/>
              <a:t>integer overflow</a:t>
            </a:r>
            <a:endParaRPr lang="ru-RU" dirty="0"/>
          </a:p>
          <a:p>
            <a:r>
              <a:rPr lang="ru-RU" dirty="0"/>
              <a:t>Оверхед динамических проверок зависит от проекта</a:t>
            </a:r>
            <a:endParaRPr lang="en-US" dirty="0"/>
          </a:p>
          <a:p>
            <a:pPr lvl="1"/>
            <a:r>
              <a:rPr lang="ru-RU" dirty="0"/>
              <a:t>В среднем не превосходит </a:t>
            </a:r>
            <a:r>
              <a:rPr lang="en-US" dirty="0"/>
              <a:t>5% (P95 11%) </a:t>
            </a:r>
            <a:r>
              <a:rPr lang="ru-RU" dirty="0"/>
              <a:t>и сравним с </a:t>
            </a:r>
            <a:r>
              <a:rPr lang="en-US" dirty="0"/>
              <a:t>Hardened C++</a:t>
            </a:r>
          </a:p>
          <a:p>
            <a:r>
              <a:rPr lang="ru-RU" dirty="0"/>
              <a:t>Факторы, наиболее существенно влияющие на производительность программ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Индексные проверки, обязательная инициализация</a:t>
            </a:r>
            <a:r>
              <a:rPr lang="en-US" dirty="0"/>
              <a:t>, </a:t>
            </a:r>
            <a:r>
              <a:rPr lang="ru-RU" dirty="0"/>
              <a:t>отсутствие </a:t>
            </a:r>
            <a:r>
              <a:rPr lang="en-US" dirty="0" err="1"/>
              <a:t>inplace</a:t>
            </a:r>
            <a:r>
              <a:rPr lang="en-US" dirty="0"/>
              <a:t>-</a:t>
            </a:r>
            <a:r>
              <a:rPr lang="ru-RU" dirty="0"/>
              <a:t>инициализации</a:t>
            </a:r>
            <a:endParaRPr lang="en-US" dirty="0"/>
          </a:p>
          <a:p>
            <a:r>
              <a:rPr lang="ru-RU" dirty="0"/>
              <a:t>Скорее всего будут оптимизироваться в будущих версиях </a:t>
            </a:r>
            <a:r>
              <a:rPr lang="en-US" dirty="0"/>
              <a:t>Rust </a:t>
            </a:r>
            <a:r>
              <a:rPr lang="ru-RU" dirty="0"/>
              <a:t>и </a:t>
            </a:r>
            <a:r>
              <a:rPr lang="en-US" dirty="0"/>
              <a:t>LLVM</a:t>
            </a:r>
          </a:p>
          <a:p>
            <a:r>
              <a:rPr lang="ru-RU" dirty="0"/>
              <a:t>Но полностью их негативное влияние обойти нельзя </a:t>
            </a:r>
            <a:r>
              <a:rPr lang="en-US" dirty="0"/>
              <a:t>(</a:t>
            </a:r>
            <a:r>
              <a:rPr lang="ru-RU" dirty="0"/>
              <a:t>по крайней мере в текущей версии языка)</a:t>
            </a:r>
            <a:endParaRPr lang="en-US" dirty="0"/>
          </a:p>
          <a:p>
            <a:r>
              <a:rPr lang="ru-RU" dirty="0"/>
              <a:t>Всегда будут требовать тюнинга (в частности небезопасного</a:t>
            </a:r>
            <a:r>
              <a:rPr lang="en-US" dirty="0"/>
              <a:t> </a:t>
            </a:r>
            <a:r>
              <a:rPr lang="ru-RU" dirty="0"/>
              <a:t>кода</a:t>
            </a:r>
            <a:r>
              <a:rPr lang="en-US" dirty="0"/>
              <a:t>)</a:t>
            </a:r>
            <a:r>
              <a:rPr lang="ru-RU" dirty="0"/>
              <a:t> для достижения оптимальной производительности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46ACA-D854-4F0B-A214-36D1A17F8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103</a:t>
            </a:fld>
            <a:endParaRPr lang="en-US"/>
          </a:p>
        </p:txBody>
      </p:sp>
      <p:pic>
        <p:nvPicPr>
          <p:cNvPr id="5" name="Picture 2" descr="Weigh,plus,minus,horizontal,plus minus - free image from needpix.com">
            <a:extLst>
              <a:ext uri="{FF2B5EF4-FFF2-40B4-BE49-F238E27FC236}">
                <a16:creationId xmlns:a16="http://schemas.microsoft.com/office/drawing/2014/main" id="{585E5ADC-D558-496A-8BFE-56E9F5D1C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185083"/>
            <a:ext cx="1631857" cy="1631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BFD8AC-7846-44B1-84EB-DAA5C259843D}"/>
              </a:ext>
            </a:extLst>
          </p:cNvPr>
          <p:cNvSpPr txBox="1"/>
          <p:nvPr/>
        </p:nvSpPr>
        <p:spPr>
          <a:xfrm>
            <a:off x="125507" y="6492875"/>
            <a:ext cx="7467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3"/>
              </a:rPr>
              <a:t>Image source</a:t>
            </a:r>
            <a:r>
              <a:rPr lang="en-US" sz="1000" dirty="0"/>
              <a:t> (3dman_eu)</a:t>
            </a:r>
          </a:p>
        </p:txBody>
      </p:sp>
    </p:spTree>
    <p:extLst>
      <p:ext uri="{BB962C8B-B14F-4D97-AF65-F5344CB8AC3E}">
        <p14:creationId xmlns:p14="http://schemas.microsoft.com/office/powerpoint/2010/main" val="342715075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71F1-62A6-4ACF-B7FD-0872B6C31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чём мы не успели рассказать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/>
              <a:t>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CCD66-23D4-45F1-8540-9C549942D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dirty="0">
                <a:hlinkClick r:id="rId2"/>
              </a:rPr>
              <a:t>Отсутствие </a:t>
            </a:r>
            <a:r>
              <a:rPr lang="en-US" dirty="0" err="1">
                <a:hlinkClick r:id="rId2"/>
              </a:rPr>
              <a:t>inplace</a:t>
            </a:r>
            <a:r>
              <a:rPr lang="en-US" dirty="0">
                <a:hlinkClick r:id="rId2"/>
              </a:rPr>
              <a:t>-</a:t>
            </a:r>
            <a:r>
              <a:rPr lang="ru-RU" dirty="0">
                <a:hlinkClick r:id="rId2"/>
              </a:rPr>
              <a:t>инициализаций</a:t>
            </a:r>
            <a:endParaRPr lang="en-US" dirty="0"/>
          </a:p>
          <a:p>
            <a:pPr lvl="1"/>
            <a:r>
              <a:rPr lang="ru-RU" dirty="0"/>
              <a:t>Доступна в полной презентации</a:t>
            </a:r>
            <a:endParaRPr lang="en-US" dirty="0"/>
          </a:p>
          <a:p>
            <a:r>
              <a:rPr lang="ru-RU" dirty="0">
                <a:hlinkClick r:id="rId3"/>
              </a:rPr>
              <a:t>Особенности</a:t>
            </a:r>
            <a:r>
              <a:rPr lang="ru-RU" dirty="0"/>
              <a:t> </a:t>
            </a:r>
            <a:r>
              <a:rPr lang="ru-RU" dirty="0">
                <a:hlinkClick r:id="rId4"/>
              </a:rPr>
              <a:t>стандартной библиотеки</a:t>
            </a:r>
            <a:endParaRPr lang="ru-RU" dirty="0"/>
          </a:p>
          <a:p>
            <a:pPr lvl="1"/>
            <a:r>
              <a:rPr lang="ru-RU" dirty="0"/>
              <a:t>Доступна в полной презентации</a:t>
            </a:r>
            <a:endParaRPr lang="en-US" dirty="0"/>
          </a:p>
          <a:p>
            <a:r>
              <a:rPr lang="en-US" dirty="0" err="1">
                <a:hlinkClick r:id="rId5"/>
              </a:rPr>
              <a:t>Codegen</a:t>
            </a:r>
            <a:r>
              <a:rPr lang="en-US" dirty="0">
                <a:hlinkClick r:id="rId5"/>
              </a:rPr>
              <a:t> units</a:t>
            </a:r>
            <a:endParaRPr lang="en-US" dirty="0"/>
          </a:p>
          <a:p>
            <a:pPr lvl="1"/>
            <a:r>
              <a:rPr lang="ru-RU" dirty="0"/>
              <a:t>Похожи на </a:t>
            </a:r>
            <a:r>
              <a:rPr lang="en-US" dirty="0"/>
              <a:t>unity builds </a:t>
            </a:r>
            <a:r>
              <a:rPr lang="ru-RU" dirty="0"/>
              <a:t>в </a:t>
            </a:r>
            <a:r>
              <a:rPr lang="en-US" dirty="0"/>
              <a:t>C/C++</a:t>
            </a:r>
          </a:p>
          <a:p>
            <a:r>
              <a:rPr lang="ru-RU" dirty="0">
                <a:hlinkClick r:id="rId6"/>
              </a:rPr>
              <a:t>Особенности реализации паник (исключений)</a:t>
            </a:r>
            <a:endParaRPr lang="en-US" dirty="0"/>
          </a:p>
          <a:p>
            <a:pPr lvl="1"/>
            <a:r>
              <a:rPr lang="ru-RU" dirty="0"/>
              <a:t>Накладные расходы аналогичны исключениям в </a:t>
            </a:r>
            <a:r>
              <a:rPr lang="en-US" dirty="0"/>
              <a:t>C++</a:t>
            </a:r>
          </a:p>
          <a:p>
            <a:r>
              <a:rPr lang="en-US" dirty="0">
                <a:hlinkClick r:id="rId7"/>
              </a:rPr>
              <a:t>GC-sections by default</a:t>
            </a:r>
            <a:endParaRPr lang="en-US" dirty="0"/>
          </a:p>
          <a:p>
            <a:r>
              <a:rPr lang="ru-RU" dirty="0">
                <a:hlinkClick r:id="rId8"/>
              </a:rPr>
              <a:t>Особенности </a:t>
            </a:r>
            <a:r>
              <a:rPr lang="en-US" dirty="0">
                <a:hlinkClick r:id="rId8"/>
              </a:rPr>
              <a:t>ABI</a:t>
            </a:r>
            <a:endParaRPr lang="en-US" dirty="0"/>
          </a:p>
          <a:p>
            <a:r>
              <a:rPr lang="ru-RU" dirty="0">
                <a:hlinkClick r:id="rId9"/>
              </a:rPr>
              <a:t>Отключение </a:t>
            </a:r>
            <a:r>
              <a:rPr lang="en-US" dirty="0">
                <a:hlinkClick r:id="rId9"/>
              </a:rPr>
              <a:t>PLT</a:t>
            </a:r>
            <a:endParaRPr lang="en-US" dirty="0"/>
          </a:p>
          <a:p>
            <a:r>
              <a:rPr lang="ru-RU" dirty="0">
                <a:hlinkClick r:id="rId10"/>
              </a:rPr>
              <a:t>Особенности реализации виртуальных методов</a:t>
            </a:r>
            <a:endParaRPr lang="en-US" dirty="0"/>
          </a:p>
          <a:p>
            <a:r>
              <a:rPr lang="ru-RU" dirty="0">
                <a:hlinkClick r:id="rId11"/>
              </a:rPr>
              <a:t>Проверки </a:t>
            </a:r>
            <a:r>
              <a:rPr lang="en-US" dirty="0">
                <a:hlinkClick r:id="rId11"/>
              </a:rPr>
              <a:t>Stack Clashing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7B5CF-53DC-4874-8867-5767E738A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104</a:t>
            </a:fld>
            <a:endParaRPr lang="en-US"/>
          </a:p>
        </p:txBody>
      </p:sp>
      <p:pic>
        <p:nvPicPr>
          <p:cNvPr id="6" name="Picture 2" descr="Timeglass - Free Vector Download | VectorPortal">
            <a:extLst>
              <a:ext uri="{FF2B5EF4-FFF2-40B4-BE49-F238E27FC236}">
                <a16:creationId xmlns:a16="http://schemas.microsoft.com/office/drawing/2014/main" id="{8652A61B-B784-42C1-82F7-9606C6B52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8776" y="136525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E34BEE-EB2B-402F-B341-6033FBB5CD07}"/>
              </a:ext>
            </a:extLst>
          </p:cNvPr>
          <p:cNvSpPr txBox="1"/>
          <p:nvPr/>
        </p:nvSpPr>
        <p:spPr>
          <a:xfrm>
            <a:off x="116541" y="6475254"/>
            <a:ext cx="57732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hlinkClick r:id="rId13"/>
              </a:rPr>
              <a:t>Image source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4833074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AAD5-05CA-4363-BFB9-CB5D39DA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214B99-B012-4B2B-B47E-E2ADAA7A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1E161-805D-4F67-BEB2-29F98030D6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52" y="1412782"/>
            <a:ext cx="3314097" cy="33605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9E1585-139A-4A85-99AC-012B23439C18}"/>
              </a:ext>
            </a:extLst>
          </p:cNvPr>
          <p:cNvSpPr txBox="1"/>
          <p:nvPr/>
        </p:nvSpPr>
        <p:spPr>
          <a:xfrm>
            <a:off x="7530352" y="4794676"/>
            <a:ext cx="3245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Последняя версия слайдов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https://github.com/yugr/rust-slides/blob/main/RU.pdf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73C7C4-1563-455D-864D-26F0D7B4D7B1}"/>
              </a:ext>
            </a:extLst>
          </p:cNvPr>
          <p:cNvSpPr txBox="1"/>
          <p:nvPr/>
        </p:nvSpPr>
        <p:spPr>
          <a:xfrm>
            <a:off x="930090" y="1462703"/>
            <a:ext cx="66899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Выражаем благодарность нашим рецензентам</a:t>
            </a:r>
            <a:r>
              <a:rPr lang="en-US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Вадим Петроченков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4"/>
              </a:rPr>
              <a:t>https://github.com/petrochenkov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Александр Чичигин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5"/>
              </a:rPr>
              <a:t>https://github.com/Gabriel-Fallen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Jakub </a:t>
            </a:r>
            <a:r>
              <a:rPr lang="en-US" sz="2400" dirty="0" err="1"/>
              <a:t>Beránek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6"/>
              </a:rPr>
              <a:t>https://github.com/kobzol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Александр Монаков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7"/>
              </a:rPr>
              <a:t>https://github.com/amonakov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8"/>
              </a:rPr>
              <a:t>https://codeberg.org/amonakov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Per </a:t>
            </a:r>
            <a:r>
              <a:rPr lang="en-US" sz="2400" dirty="0" err="1"/>
              <a:t>Vognsen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hlinkClick r:id="rId9"/>
              </a:rPr>
              <a:t>https://mastodon.social/@pervognsen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529875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40EF6-FFB8-49AA-B5DF-1C8DB1177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Приложения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4C4B47-A116-427D-B09D-CBE4593A4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FF772-26C0-4B3E-964B-0964EB9F1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5574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0FAAF-8587-4679-98EF-7D25EAD4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035" y="-83111"/>
            <a:ext cx="10515600" cy="1325563"/>
          </a:xfrm>
        </p:spPr>
        <p:txBody>
          <a:bodyPr/>
          <a:lstStyle/>
          <a:p>
            <a:r>
              <a:rPr lang="en-US" dirty="0"/>
              <a:t>Rust primer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87FCC3-8CB5-4A94-90D0-1BA5FA12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2B1E8-4CEB-4FDF-8F98-3EE1CECA4C3F}"/>
              </a:ext>
            </a:extLst>
          </p:cNvPr>
          <p:cNvSpPr txBox="1"/>
          <p:nvPr/>
        </p:nvSpPr>
        <p:spPr>
          <a:xfrm>
            <a:off x="6490447" y="1029712"/>
            <a:ext cx="549536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sz="16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nl-NL" sz="16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endParaRPr lang="nl-NL" sz="1600" dirty="0">
              <a:solidFill>
                <a:srgbClr val="C00000"/>
              </a:solidFill>
              <a:latin typeface="Consolas" panose="020B0609020204030204" pitchFamily="49" charset="0"/>
            </a:endParaRPr>
          </a:p>
          <a:p>
            <a:r>
              <a:rPr lang="nl-NL" sz="1600" dirty="0">
                <a:solidFill>
                  <a:srgbClr val="C00000"/>
                </a:solidFill>
                <a:latin typeface="Consolas" panose="020B0609020204030204" pitchFamily="49" charset="0"/>
              </a:rPr>
              <a:t>enum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Ok</a:t>
            </a:r>
            <a:r>
              <a:rPr lang="nl-NL" sz="1600" dirty="0">
                <a:solidFill>
                  <a:srgbClr val="0070C0"/>
                </a:solidFill>
                <a:latin typeface="Consolas" panose="020B0609020204030204" pitchFamily="49" charset="0"/>
              </a:rPr>
              <a:t>,</a:t>
            </a:r>
            <a:r>
              <a:rPr lang="nl-NL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l-NL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Warn</a:t>
            </a:r>
            <a:r>
              <a:rPr lang="nl-NL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nl-NL" sz="1600" dirty="0">
                <a:solidFill>
                  <a:srgbClr val="C00000"/>
                </a:solidFill>
                <a:latin typeface="Consolas" panose="020B0609020204030204" pitchFamily="49" charset="0"/>
              </a:rPr>
              <a:t>u32</a:t>
            </a:r>
            <a:r>
              <a:rPr lang="nl-NL" sz="1600" dirty="0">
                <a:solidFill>
                  <a:srgbClr val="0070C0"/>
                </a:solidFill>
                <a:latin typeface="Consolas" panose="020B0609020204030204" pitchFamily="49" charset="0"/>
              </a:rPr>
              <a:t>), }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C00000"/>
                </a:solidFill>
                <a:latin typeface="Consolas" panose="020B0609020204030204" pitchFamily="49" charset="0"/>
              </a:rPr>
              <a:t>fn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check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&amp;[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],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Option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f64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&gt;) -&gt;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i32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 mut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result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mx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unwrap_or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1.0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as u32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match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Warn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mx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result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},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            _ =&gt;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(),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result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F5B16-B504-4EF0-8C3C-5F26AD714AE5}"/>
              </a:ext>
            </a:extLst>
          </p:cNvPr>
          <p:cNvSpPr txBox="1"/>
          <p:nvPr/>
        </p:nvSpPr>
        <p:spPr>
          <a:xfrm>
            <a:off x="497541" y="1029712"/>
            <a:ext cx="58674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{};</a:t>
            </a: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struct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Warn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uint32_t code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using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variant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Good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Warn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&gt;;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check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span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optional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double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const 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uint32_t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max</a:t>
            </a:r>
            <a:r>
              <a:rPr lang="en-US" sz="1600" dirty="0" err="1">
                <a:solidFill>
                  <a:srgbClr val="0070C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value_or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1.0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));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const auto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events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const auto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std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::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get_if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Warn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&gt;(&amp;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e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-&gt;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code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mx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++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result</a:t>
            </a:r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2858605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FAA3E-F2DB-44FA-A971-57C185B79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8231"/>
            <a:ext cx="10515600" cy="1325563"/>
          </a:xfrm>
        </p:spPr>
        <p:txBody>
          <a:bodyPr/>
          <a:lstStyle/>
          <a:p>
            <a:r>
              <a:rPr lang="ru-RU" dirty="0"/>
              <a:t>Распределение замедлений в бенчмарках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39E90-A0BD-4666-95A4-BA9E07412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A2BE0-209A-4034-8A73-0174BD764AD6}"/>
              </a:ext>
            </a:extLst>
          </p:cNvPr>
          <p:cNvSpPr txBox="1"/>
          <p:nvPr/>
        </p:nvSpPr>
        <p:spPr>
          <a:xfrm>
            <a:off x="7620000" y="1838670"/>
            <a:ext cx="364863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Собирались данные по всем бенчмаркам внутри каждого проекта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Одинаковые тесты с разными параметрами усреднялись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Это </a:t>
            </a:r>
            <a:r>
              <a:rPr lang="ru-RU" b="1" dirty="0"/>
              <a:t>смещённая</a:t>
            </a:r>
            <a:r>
              <a:rPr lang="ru-RU" dirty="0"/>
              <a:t> оценка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dirty="0"/>
              <a:t>Сценарии внутри проекта с б</a:t>
            </a:r>
            <a:r>
              <a:rPr lang="ru-RU" i="1" dirty="0"/>
              <a:t>о</a:t>
            </a:r>
            <a:r>
              <a:rPr lang="ru-RU" dirty="0"/>
              <a:t>льшим числом бенчей доминируют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Не отражены накладные расходы на инициализацию (не менее </a:t>
            </a:r>
            <a:r>
              <a:rPr lang="en-US" dirty="0"/>
              <a:t>1%</a:t>
            </a:r>
            <a:r>
              <a:rPr lang="ru-RU" dirty="0"/>
              <a:t> для среднего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FC95BE-4B04-45D6-80F3-449A6BC16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996" y="1490766"/>
            <a:ext cx="5852172" cy="43891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BC93EC-59F2-462A-83CF-E2AE899D5640}"/>
              </a:ext>
            </a:extLst>
          </p:cNvPr>
          <p:cNvSpPr txBox="1"/>
          <p:nvPr/>
        </p:nvSpPr>
        <p:spPr>
          <a:xfrm>
            <a:off x="206187" y="6075144"/>
            <a:ext cx="28507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hlinkClick r:id="rId3"/>
              </a:rPr>
              <a:t>Скрипт</a:t>
            </a:r>
            <a:r>
              <a:rPr lang="en-US" dirty="0">
                <a:hlinkClick r:id="rId3"/>
              </a:rPr>
              <a:t> </a:t>
            </a:r>
            <a:r>
              <a:rPr lang="ru-RU" dirty="0">
                <a:hlinkClick r:id="rId3"/>
              </a:rPr>
              <a:t>для построения графиков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03844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136B-B365-46F5-825E-7A9918916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Подготовка доклада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DBF354-0DC2-4803-89E3-1ABEE8FE4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Собрано и проанализировано</a:t>
            </a:r>
            <a:r>
              <a:rPr lang="en-US" dirty="0"/>
              <a:t> </a:t>
            </a:r>
            <a:r>
              <a:rPr lang="ru-RU" dirty="0"/>
              <a:t>более 350 статей, блогпостов и обсуждений по теме доклада из разных источников</a:t>
            </a:r>
            <a:r>
              <a:rPr lang="en-US" dirty="0"/>
              <a:t> (</a:t>
            </a:r>
            <a:r>
              <a:rPr lang="en-US" dirty="0">
                <a:hlinkClick r:id="rId2"/>
              </a:rPr>
              <a:t>materials</a:t>
            </a:r>
            <a:r>
              <a:rPr lang="en-US" dirty="0"/>
              <a:t>)</a:t>
            </a:r>
            <a:endParaRPr lang="ru-RU" dirty="0"/>
          </a:p>
          <a:p>
            <a:r>
              <a:rPr lang="ru-RU" dirty="0"/>
              <a:t>Общие временные затраты на подготовку (на апрель 2026)</a:t>
            </a:r>
            <a:r>
              <a:rPr lang="en-US" dirty="0"/>
              <a:t>:</a:t>
            </a:r>
            <a:endParaRPr lang="ru-RU" dirty="0"/>
          </a:p>
          <a:p>
            <a:pPr lvl="1"/>
            <a:r>
              <a:rPr lang="en-US" dirty="0"/>
              <a:t>&gt; 3 </a:t>
            </a:r>
            <a:r>
              <a:rPr lang="ru-RU" dirty="0"/>
              <a:t>человекомесяцев</a:t>
            </a:r>
            <a:endParaRPr lang="en-US" dirty="0"/>
          </a:p>
          <a:p>
            <a:r>
              <a:rPr lang="ru-RU" dirty="0"/>
              <a:t>Анализ проводился для</a:t>
            </a:r>
            <a:endParaRPr lang="en-US" dirty="0"/>
          </a:p>
          <a:p>
            <a:pPr lvl="1"/>
            <a:r>
              <a:rPr lang="en-US" dirty="0"/>
              <a:t>Rust 1.87.0 (</a:t>
            </a:r>
            <a:r>
              <a:rPr lang="ru-RU" dirty="0"/>
              <a:t>май 2025)</a:t>
            </a:r>
            <a:endParaRPr lang="en-US" dirty="0"/>
          </a:p>
          <a:p>
            <a:pPr lvl="1"/>
            <a:r>
              <a:rPr lang="en-US" dirty="0"/>
              <a:t>Clang llvmorg-20.1.7 (</a:t>
            </a:r>
            <a:r>
              <a:rPr lang="ru-RU" dirty="0"/>
              <a:t>июнь 2025)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4E76B-4928-4306-BECE-744C1528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87520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</a:t>
            </a:r>
            <a:r>
              <a:rPr lang="ru-RU" dirty="0"/>
              <a:t>-бенчмарки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Для сравнения использовались стандартные </a:t>
            </a:r>
            <a:r>
              <a:rPr lang="en-US" dirty="0"/>
              <a:t>Criterion-</a:t>
            </a:r>
            <a:r>
              <a:rPr lang="ru-RU" dirty="0"/>
              <a:t>бенчмарки каждого проекта </a:t>
            </a:r>
            <a:r>
              <a:rPr lang="en-US" dirty="0"/>
              <a:t>(cargo bench)</a:t>
            </a:r>
            <a:r>
              <a:rPr lang="ru-RU" dirty="0"/>
              <a:t>, усреднённые с помощью </a:t>
            </a:r>
            <a:r>
              <a:rPr lang="en-US" dirty="0"/>
              <a:t>geomean</a:t>
            </a:r>
            <a:endParaRPr lang="ru-RU" dirty="0"/>
          </a:p>
          <a:p>
            <a:pPr lvl="1"/>
            <a:r>
              <a:rPr lang="ru-RU" dirty="0"/>
              <a:t>Некоторые особо медленные тесты в </a:t>
            </a:r>
            <a:r>
              <a:rPr lang="en-US" dirty="0" err="1"/>
              <a:t>oxipng</a:t>
            </a:r>
            <a:r>
              <a:rPr lang="en-US" dirty="0"/>
              <a:t> </a:t>
            </a:r>
            <a:r>
              <a:rPr lang="ru-RU" dirty="0"/>
              <a:t>были отключены</a:t>
            </a:r>
            <a:endParaRPr lang="en-US" dirty="0"/>
          </a:p>
          <a:p>
            <a:pPr lvl="1"/>
            <a:r>
              <a:rPr lang="ru-RU" dirty="0"/>
              <a:t>Для борьбы с системными шумами бралось минимальное значение</a:t>
            </a:r>
            <a:r>
              <a:rPr lang="en-US" dirty="0"/>
              <a:t> </a:t>
            </a:r>
            <a:r>
              <a:rPr lang="ru-RU" dirty="0"/>
              <a:t>средних из нескольких прогонов</a:t>
            </a:r>
            <a:endParaRPr lang="en-US" dirty="0"/>
          </a:p>
          <a:p>
            <a:pPr lvl="1"/>
            <a:r>
              <a:rPr lang="ru-RU" dirty="0"/>
              <a:t>Важно</a:t>
            </a:r>
            <a:r>
              <a:rPr lang="en-US" dirty="0"/>
              <a:t>: 1% geomean </a:t>
            </a:r>
            <a:r>
              <a:rPr lang="ru-RU" dirty="0"/>
              <a:t>может означать что</a:t>
            </a:r>
          </a:p>
          <a:p>
            <a:pPr lvl="2"/>
            <a:r>
              <a:rPr lang="ru-RU" dirty="0"/>
              <a:t>Все тесты в проекте замедлились на 1</a:t>
            </a:r>
            <a:r>
              <a:rPr lang="en-US" dirty="0"/>
              <a:t>%</a:t>
            </a:r>
            <a:endParaRPr lang="ru-RU" dirty="0"/>
          </a:p>
          <a:p>
            <a:pPr lvl="2"/>
            <a:r>
              <a:rPr lang="en-US" dirty="0"/>
              <a:t>10% </a:t>
            </a:r>
            <a:r>
              <a:rPr lang="ru-RU" dirty="0"/>
              <a:t>тестов замедлилось на 10</a:t>
            </a:r>
            <a:r>
              <a:rPr lang="en-US" dirty="0"/>
              <a:t>% (</a:t>
            </a:r>
            <a:r>
              <a:rPr lang="ru-RU" dirty="0"/>
              <a:t>более вероятно)</a:t>
            </a:r>
            <a:endParaRPr lang="en-US" dirty="0"/>
          </a:p>
          <a:p>
            <a:pPr lvl="1"/>
            <a:r>
              <a:rPr lang="ru-RU" dirty="0"/>
              <a:t>Отдельные тесты могли замедлиться (или ускориться) на десятки процентов</a:t>
            </a:r>
            <a:endParaRPr lang="en-US" dirty="0"/>
          </a:p>
          <a:p>
            <a:r>
              <a:rPr lang="ru-RU" dirty="0"/>
              <a:t>Оценка с помощью </a:t>
            </a:r>
            <a:r>
              <a:rPr lang="en-US" dirty="0"/>
              <a:t>geomean </a:t>
            </a:r>
            <a:r>
              <a:rPr lang="ru-RU" dirty="0"/>
              <a:t>неидеальна</a:t>
            </a:r>
          </a:p>
          <a:p>
            <a:pPr lvl="1"/>
            <a:r>
              <a:rPr lang="ru-RU" dirty="0"/>
              <a:t>Сценарии с б</a:t>
            </a:r>
            <a:r>
              <a:rPr lang="ru-RU" i="1" dirty="0"/>
              <a:t>о</a:t>
            </a:r>
            <a:r>
              <a:rPr lang="ru-RU" dirty="0"/>
              <a:t>льшим количеством бенчей сильнее влияют</a:t>
            </a:r>
            <a:r>
              <a:rPr lang="en-US" dirty="0"/>
              <a:t> </a:t>
            </a:r>
            <a:r>
              <a:rPr lang="ru-RU" dirty="0"/>
              <a:t>на результат</a:t>
            </a:r>
            <a:endParaRPr lang="en-US" dirty="0"/>
          </a:p>
          <a:p>
            <a:r>
              <a:rPr lang="ru-RU" dirty="0"/>
              <a:t>Дополнительные детали</a:t>
            </a:r>
            <a:r>
              <a:rPr lang="en-US" dirty="0"/>
              <a:t> </a:t>
            </a:r>
            <a:r>
              <a:rPr lang="ru-RU" dirty="0">
                <a:hlinkClick r:id="rId2"/>
              </a:rPr>
              <a:t>здесь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190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5CA1B-E0AE-4385-B529-287CD5DF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</a:t>
            </a:r>
            <a:r>
              <a:rPr lang="ru-RU" dirty="0"/>
              <a:t>бенчмарки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A4F79-CC8D-4D79-B7AC-BED163797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Использовался компилятор </a:t>
            </a:r>
            <a:r>
              <a:rPr lang="en-US" dirty="0"/>
              <a:t>Clang </a:t>
            </a:r>
            <a:r>
              <a:rPr lang="ru-RU" dirty="0"/>
              <a:t>версии </a:t>
            </a:r>
            <a:r>
              <a:rPr lang="en-US" dirty="0"/>
              <a:t>llvmorg-20.1.7</a:t>
            </a:r>
          </a:p>
          <a:p>
            <a:r>
              <a:rPr lang="en-US" dirty="0" err="1"/>
              <a:t>Llvm</a:t>
            </a:r>
            <a:r>
              <a:rPr lang="en-US" dirty="0"/>
              <a:t>-bench (</a:t>
            </a:r>
            <a:r>
              <a:rPr lang="en-US" dirty="0">
                <a:hlinkClick r:id="rId2"/>
              </a:rPr>
              <a:t>benchmarks/cpp/</a:t>
            </a:r>
            <a:r>
              <a:rPr lang="en-US" dirty="0" err="1">
                <a:hlinkClick r:id="rId2"/>
              </a:rPr>
              <a:t>llvm</a:t>
            </a:r>
            <a:r>
              <a:rPr lang="en-US" dirty="0">
                <a:hlinkClick r:id="rId2"/>
              </a:rPr>
              <a:t>-bench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Замерялось медианное время </a:t>
            </a:r>
            <a:r>
              <a:rPr lang="en-US" dirty="0"/>
              <a:t>O2-</a:t>
            </a:r>
            <a:r>
              <a:rPr lang="ru-RU" dirty="0"/>
              <a:t>компиляции</a:t>
            </a:r>
            <a:r>
              <a:rPr lang="en-US" dirty="0"/>
              <a:t> </a:t>
            </a:r>
            <a:r>
              <a:rPr lang="ru-RU" dirty="0"/>
              <a:t>файла </a:t>
            </a:r>
            <a:r>
              <a:rPr lang="en-US" dirty="0"/>
              <a:t>CGBuiltin.cpp (</a:t>
            </a:r>
            <a:r>
              <a:rPr lang="ru-RU" dirty="0"/>
              <a:t>самый большой файл в </a:t>
            </a:r>
            <a:r>
              <a:rPr lang="en-US" dirty="0"/>
              <a:t>LLVM) </a:t>
            </a:r>
            <a:r>
              <a:rPr lang="ru-RU" dirty="0"/>
              <a:t>компилятором </a:t>
            </a:r>
            <a:r>
              <a:rPr lang="en-US" dirty="0"/>
              <a:t>Clang</a:t>
            </a:r>
          </a:p>
          <a:p>
            <a:pPr lvl="1"/>
            <a:r>
              <a:rPr lang="ru-RU" dirty="0"/>
              <a:t>Тестируемый </a:t>
            </a:r>
            <a:r>
              <a:rPr lang="en-US" dirty="0"/>
              <a:t>Clang </a:t>
            </a:r>
            <a:r>
              <a:rPr lang="ru-RU" dirty="0"/>
              <a:t>был собран самим собой</a:t>
            </a:r>
            <a:endParaRPr lang="en-US" dirty="0"/>
          </a:p>
          <a:p>
            <a:r>
              <a:rPr lang="en-US" dirty="0" err="1"/>
              <a:t>Ffmpeg</a:t>
            </a:r>
            <a:r>
              <a:rPr lang="en-US" dirty="0"/>
              <a:t>-bench (</a:t>
            </a:r>
            <a:r>
              <a:rPr lang="en-US" dirty="0">
                <a:hlinkClick r:id="rId3"/>
              </a:rPr>
              <a:t>benchmarks/</a:t>
            </a:r>
            <a:r>
              <a:rPr lang="en-US" dirty="0" err="1">
                <a:hlinkClick r:id="rId3"/>
              </a:rPr>
              <a:t>cpp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ffmpeg</a:t>
            </a:r>
            <a:r>
              <a:rPr lang="en-US" dirty="0">
                <a:hlinkClick r:id="rId3"/>
              </a:rPr>
              <a:t>-bench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По мотивам </a:t>
            </a:r>
            <a:r>
              <a:rPr lang="en-US" dirty="0">
                <a:hlinkClick r:id="rId4"/>
              </a:rPr>
              <a:t>Stack Smashing Protection and Its Performance Impact</a:t>
            </a:r>
            <a:endParaRPr lang="en-US" dirty="0"/>
          </a:p>
          <a:p>
            <a:pPr lvl="1"/>
            <a:r>
              <a:rPr lang="ru-RU" dirty="0"/>
              <a:t>Замерялось медианное время конвертации файла </a:t>
            </a:r>
            <a:r>
              <a:rPr lang="en-US" dirty="0"/>
              <a:t>FLV </a:t>
            </a:r>
            <a:r>
              <a:rPr lang="ru-RU" dirty="0"/>
              <a:t>в </a:t>
            </a:r>
            <a:r>
              <a:rPr lang="en-US" dirty="0"/>
              <a:t>MP4</a:t>
            </a:r>
          </a:p>
          <a:p>
            <a:r>
              <a:rPr lang="en-US" dirty="0" err="1"/>
              <a:t>Phoronix</a:t>
            </a:r>
            <a:r>
              <a:rPr lang="en-US" dirty="0"/>
              <a:t> Test Suite (</a:t>
            </a:r>
            <a:r>
              <a:rPr lang="en-US" dirty="0">
                <a:hlinkClick r:id="rId5"/>
              </a:rPr>
              <a:t>benchmarks/cpp/PTS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Популярный набор бенчмарков</a:t>
            </a:r>
            <a:r>
              <a:rPr lang="en-US" dirty="0"/>
              <a:t> </a:t>
            </a:r>
            <a:r>
              <a:rPr lang="ru-RU" dirty="0"/>
              <a:t>с </a:t>
            </a:r>
            <a:r>
              <a:rPr lang="en-US" dirty="0">
                <a:hlinkClick r:id="rId6"/>
              </a:rPr>
              <a:t>phoronix-test-suite.com</a:t>
            </a:r>
            <a:endParaRPr lang="en-US" dirty="0"/>
          </a:p>
          <a:p>
            <a:pPr lvl="1"/>
            <a:r>
              <a:rPr lang="ru-RU" dirty="0"/>
              <a:t>Замерялись бенчмарки </a:t>
            </a:r>
            <a:r>
              <a:rPr lang="en-US" dirty="0" err="1"/>
              <a:t>botan</a:t>
            </a:r>
            <a:r>
              <a:rPr lang="en-US" dirty="0"/>
              <a:t>, bullet, </a:t>
            </a:r>
            <a:r>
              <a:rPr lang="en-US" dirty="0" err="1"/>
              <a:t>coremark</a:t>
            </a:r>
            <a:r>
              <a:rPr lang="en-US" dirty="0"/>
              <a:t>, c-ray, dav1d, </a:t>
            </a:r>
            <a:r>
              <a:rPr lang="en-US" dirty="0" err="1"/>
              <a:t>gcrypt</a:t>
            </a:r>
            <a:r>
              <a:rPr lang="en-US" dirty="0"/>
              <a:t>, </a:t>
            </a:r>
            <a:r>
              <a:rPr lang="en-US" dirty="0" err="1"/>
              <a:t>gmpbench</a:t>
            </a:r>
            <a:r>
              <a:rPr lang="en-US" dirty="0"/>
              <a:t>, </a:t>
            </a:r>
            <a:r>
              <a:rPr lang="en-US" dirty="0" err="1"/>
              <a:t>luajit</a:t>
            </a:r>
            <a:r>
              <a:rPr lang="en-US" dirty="0"/>
              <a:t>, </a:t>
            </a:r>
            <a:r>
              <a:rPr lang="en-US" dirty="0" err="1"/>
              <a:t>nginx</a:t>
            </a:r>
            <a:r>
              <a:rPr lang="en-US" dirty="0"/>
              <a:t>, </a:t>
            </a:r>
            <a:r>
              <a:rPr lang="en-US" dirty="0" err="1"/>
              <a:t>opencv</a:t>
            </a:r>
            <a:r>
              <a:rPr lang="en-US" dirty="0"/>
              <a:t>, </a:t>
            </a:r>
            <a:r>
              <a:rPr lang="en-US" dirty="0" err="1"/>
              <a:t>openssl</a:t>
            </a:r>
            <a:r>
              <a:rPr lang="en-US" dirty="0"/>
              <a:t>, </a:t>
            </a:r>
            <a:r>
              <a:rPr lang="en-US" dirty="0" err="1"/>
              <a:t>polybench</a:t>
            </a:r>
            <a:r>
              <a:rPr lang="en-US" dirty="0"/>
              <a:t>-c, </a:t>
            </a:r>
            <a:r>
              <a:rPr lang="en-US" dirty="0" err="1"/>
              <a:t>povray</a:t>
            </a:r>
            <a:r>
              <a:rPr lang="en-US" dirty="0"/>
              <a:t>, </a:t>
            </a:r>
            <a:r>
              <a:rPr lang="en-US" dirty="0" err="1"/>
              <a:t>rocksdb</a:t>
            </a:r>
            <a:r>
              <a:rPr lang="en-US" dirty="0"/>
              <a:t>, </a:t>
            </a:r>
            <a:r>
              <a:rPr lang="en-US" dirty="0" err="1"/>
              <a:t>simdjson</a:t>
            </a:r>
            <a:r>
              <a:rPr lang="en-US" dirty="0"/>
              <a:t>, </a:t>
            </a:r>
            <a:r>
              <a:rPr lang="en-US" dirty="0" err="1"/>
              <a:t>vpxenc</a:t>
            </a:r>
            <a:r>
              <a:rPr lang="en-US" dirty="0"/>
              <a:t>, x265 (</a:t>
            </a:r>
            <a:r>
              <a:rPr lang="ru-RU" dirty="0"/>
              <a:t>см. </a:t>
            </a:r>
            <a:r>
              <a:rPr lang="en-US" dirty="0">
                <a:hlinkClick r:id="rId7"/>
              </a:rPr>
              <a:t>#55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Использовалось медианное время</a:t>
            </a:r>
            <a:r>
              <a:rPr lang="en-US" dirty="0"/>
              <a:t> </a:t>
            </a:r>
            <a:r>
              <a:rPr lang="ru-RU" dirty="0"/>
              <a:t>работы бенчмарка</a:t>
            </a:r>
          </a:p>
          <a:p>
            <a:pPr lvl="1"/>
            <a:r>
              <a:rPr lang="ru-RU" dirty="0"/>
              <a:t>Игнорировались тесты с </a:t>
            </a:r>
            <a:r>
              <a:rPr lang="en-US" dirty="0" err="1"/>
              <a:t>Stdev</a:t>
            </a:r>
            <a:r>
              <a:rPr lang="en-US" dirty="0"/>
              <a:t> &gt; 0.5%</a:t>
            </a:r>
            <a:r>
              <a:rPr lang="ru-RU" dirty="0"/>
              <a:t> и изменениями </a:t>
            </a:r>
            <a:r>
              <a:rPr lang="en-US" dirty="0"/>
              <a:t>&lt; 1%</a:t>
            </a:r>
            <a:endParaRPr lang="ru-RU" dirty="0"/>
          </a:p>
          <a:p>
            <a:r>
              <a:rPr lang="ru-RU" dirty="0"/>
              <a:t>Для борьбы с системными шумами бралось минимальное значение медиан из 2-3 прогонов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6D97D-68D9-4155-9ADF-837DD999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1472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2B02C-7FBB-4909-9D61-C4D0CFD7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Тестовый сервер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55D9A-E0E4-447F-8F27-C8746DF10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Все бенчмарки (кроме </a:t>
            </a:r>
            <a:r>
              <a:rPr lang="en-US" dirty="0"/>
              <a:t>no-static</a:t>
            </a:r>
            <a:r>
              <a:rPr lang="ru-RU" dirty="0"/>
              <a:t>) были замерены на</a:t>
            </a:r>
            <a:r>
              <a:rPr lang="en-US" dirty="0"/>
              <a:t> </a:t>
            </a:r>
            <a:r>
              <a:rPr lang="ru-RU" dirty="0"/>
              <a:t>Intel Xeon E-2236</a:t>
            </a:r>
            <a:endParaRPr lang="en-US" dirty="0"/>
          </a:p>
          <a:p>
            <a:pPr lvl="1"/>
            <a:r>
              <a:rPr lang="ru-RU" dirty="0"/>
              <a:t>С частотой зафиксированной на 2 ГГц</a:t>
            </a:r>
            <a:endParaRPr lang="en-US" dirty="0"/>
          </a:p>
          <a:p>
            <a:pPr lvl="1"/>
            <a:r>
              <a:rPr lang="ru-RU" dirty="0"/>
              <a:t>С установленной </a:t>
            </a:r>
            <a:r>
              <a:rPr lang="en-US" dirty="0"/>
              <a:t>Ubuntu 24.04</a:t>
            </a:r>
          </a:p>
          <a:p>
            <a:r>
              <a:rPr lang="ru-RU" dirty="0"/>
              <a:t>Сервера настраивались в соответствии с </a:t>
            </a:r>
            <a:r>
              <a:rPr lang="ru-RU" dirty="0">
                <a:hlinkClick r:id="rId2"/>
              </a:rPr>
              <a:t>методологией </a:t>
            </a:r>
            <a:r>
              <a:rPr lang="en-US" dirty="0" err="1">
                <a:hlinkClick r:id="rId2"/>
              </a:rPr>
              <a:t>uInit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A9ED1-B3D8-48FA-9749-8A12A80EE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380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42CED-06E0-4945-B954-B71ECA6C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32FD0-943A-4D42-94F4-8E534E567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660"/>
            <a:ext cx="10515600" cy="4351338"/>
          </a:xfrm>
        </p:spPr>
        <p:txBody>
          <a:bodyPr>
            <a:normAutofit/>
          </a:bodyPr>
          <a:lstStyle/>
          <a:p>
            <a:r>
              <a:rPr lang="en-US"/>
              <a:t>(</a:t>
            </a:r>
            <a:r>
              <a:rPr lang="en-US" dirty="0" err="1"/>
              <a:t>Yugr</a:t>
            </a:r>
            <a:r>
              <a:rPr lang="en-US" dirty="0"/>
              <a:t>) </a:t>
            </a:r>
            <a:r>
              <a:rPr lang="ru-RU" dirty="0"/>
              <a:t>Померять </a:t>
            </a:r>
            <a:r>
              <a:rPr lang="en-US" dirty="0" err="1"/>
              <a:t>meilisearch</a:t>
            </a:r>
            <a:endParaRPr lang="en-US" dirty="0"/>
          </a:p>
          <a:p>
            <a:r>
              <a:rPr lang="en-US" dirty="0"/>
              <a:t>(Zak) Fast-math: </a:t>
            </a:r>
            <a:r>
              <a:rPr lang="ru-RU" dirty="0"/>
              <a:t>дополнить анализ </a:t>
            </a:r>
            <a:r>
              <a:rPr lang="en-US" dirty="0"/>
              <a:t>(P3715, -</a:t>
            </a:r>
            <a:r>
              <a:rPr lang="en-US" dirty="0" err="1"/>
              <a:t>fno</a:t>
            </a:r>
            <a:r>
              <a:rPr lang="en-US" dirty="0"/>
              <a:t>-math-</a:t>
            </a:r>
            <a:r>
              <a:rPr lang="en-US" dirty="0" err="1"/>
              <a:t>errno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/>
              <a:t>-</a:t>
            </a:r>
            <a:r>
              <a:rPr lang="en-US" dirty="0" err="1"/>
              <a:t>fno</a:t>
            </a:r>
            <a:r>
              <a:rPr lang="en-US" dirty="0"/>
              <a:t>-trapping-math)</a:t>
            </a:r>
          </a:p>
          <a:p>
            <a:r>
              <a:rPr lang="en-US" dirty="0"/>
              <a:t>(Zak) Struct reorder: </a:t>
            </a:r>
            <a:r>
              <a:rPr lang="ru-RU" dirty="0"/>
              <a:t>заполнить анализ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BFC05-DC86-4D82-B3D8-5A738801D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160C7-74EC-4178-99AC-60BDA62A8651}" type="slidenum">
              <a:rPr lang="en-US" smtClean="0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3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24934</TotalTime>
  <Words>8454</Words>
  <Application>Microsoft Office PowerPoint</Application>
  <PresentationFormat>Widescreen</PresentationFormat>
  <Paragraphs>1314</Paragraphs>
  <Slides>113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113</vt:i4>
      </vt:variant>
    </vt:vector>
  </HeadingPairs>
  <TitlesOfParts>
    <vt:vector size="120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Производительность языка Rust</vt:lpstr>
      <vt:lpstr>Об авторах</vt:lpstr>
      <vt:lpstr>Полная версия слайдов</vt:lpstr>
      <vt:lpstr>Особенности языка Rust</vt:lpstr>
      <vt:lpstr>Производительность Rust: Минусы</vt:lpstr>
      <vt:lpstr>Производительность Rust: Плюсы</vt:lpstr>
      <vt:lpstr>Цели доклада</vt:lpstr>
      <vt:lpstr>Мнение создателей языка</vt:lpstr>
      <vt:lpstr>Анализ накладных расходов</vt:lpstr>
      <vt:lpstr>Бенчмарки</vt:lpstr>
      <vt:lpstr>Rust и C++</vt:lpstr>
      <vt:lpstr>Чего не будет в докладе: Другие аспекты языков</vt:lpstr>
      <vt:lpstr>Чего не будет в докладе: Небезопасный код</vt:lpstr>
      <vt:lpstr>Bounds checks</vt:lpstr>
      <vt:lpstr>Переполнения буфера</vt:lpstr>
      <vt:lpstr>Распространённость buffer overflow уязвимостей</vt:lpstr>
      <vt:lpstr>Memory safety в Rust</vt:lpstr>
      <vt:lpstr>Накладные расходы</vt:lpstr>
      <vt:lpstr>Оптимизации в компиляторе</vt:lpstr>
      <vt:lpstr>Успешная оптимизация</vt:lpstr>
      <vt:lpstr>Неуспешная оптимизация</vt:lpstr>
      <vt:lpstr>Workarounds: Общие соображения</vt:lpstr>
      <vt:lpstr>Workarounds: Unsafe-код</vt:lpstr>
      <vt:lpstr>Workarounds: Использование ограниченных типов</vt:lpstr>
      <vt:lpstr>Workarounds: Ручные asserts</vt:lpstr>
      <vt:lpstr>Workarounds: Reslicing</vt:lpstr>
      <vt:lpstr>Workarounds: Итераторы</vt:lpstr>
      <vt:lpstr>Недостатки итераторов</vt:lpstr>
      <vt:lpstr>Распространённость</vt:lpstr>
      <vt:lpstr>Рост производительности при отключении проверок</vt:lpstr>
      <vt:lpstr>Hardened C/C++</vt:lpstr>
      <vt:lpstr>Rust vs. Hardened C++</vt:lpstr>
      <vt:lpstr>Накладные расходы в Hardened C++</vt:lpstr>
      <vt:lpstr>Выводы</vt:lpstr>
      <vt:lpstr>Правила алиасинга</vt:lpstr>
      <vt:lpstr>Алиасинг указателей</vt:lpstr>
      <vt:lpstr>Почему важен алиасинг?</vt:lpstr>
      <vt:lpstr>Алиасинг в Rust</vt:lpstr>
      <vt:lpstr>Ограничения</vt:lpstr>
      <vt:lpstr>Ограничения</vt:lpstr>
      <vt:lpstr>Эффективность правил алиасинга Rust</vt:lpstr>
      <vt:lpstr>Ухудшение производительности при отключении правил алиасинга</vt:lpstr>
      <vt:lpstr>Ситуация в C/C++</vt:lpstr>
      <vt:lpstr>Выводы</vt:lpstr>
      <vt:lpstr>Обязательная инициализация</vt:lpstr>
      <vt:lpstr>Обязательная инициализация</vt:lpstr>
      <vt:lpstr>Подход Rust</vt:lpstr>
      <vt:lpstr>Другие языки</vt:lpstr>
      <vt:lpstr>Проблема с обязательными инициализациями</vt:lpstr>
      <vt:lpstr>Распространённость лишних инициализаций</vt:lpstr>
      <vt:lpstr>Накладные расходы</vt:lpstr>
      <vt:lpstr>Накладные расходы в Rust</vt:lpstr>
      <vt:lpstr>Накладные расходы при включении инициализаций стека и кучи (на примере C++)</vt:lpstr>
      <vt:lpstr>Оптимизации в компиляторе</vt:lpstr>
      <vt:lpstr>Workarounds</vt:lpstr>
      <vt:lpstr>Выводы</vt:lpstr>
      <vt:lpstr>Оптимизации расположения полей</vt:lpstr>
      <vt:lpstr>Выравнивание полей структур</vt:lpstr>
      <vt:lpstr>Структуры в Rust</vt:lpstr>
      <vt:lpstr>Оптимизация порядка полей</vt:lpstr>
      <vt:lpstr>Что есть в C++</vt:lpstr>
      <vt:lpstr>Устройство Rust enums</vt:lpstr>
      <vt:lpstr>Ниши</vt:lpstr>
      <vt:lpstr>Примеры ниш</vt:lpstr>
      <vt:lpstr>Что есть в C++</vt:lpstr>
      <vt:lpstr>Замедление при выключении переупорядочивания</vt:lpstr>
      <vt:lpstr>Выводы</vt:lpstr>
      <vt:lpstr>Арифметические проверки</vt:lpstr>
      <vt:lpstr>Введение</vt:lpstr>
      <vt:lpstr>Дефолтные арифметические проверки Rust</vt:lpstr>
      <vt:lpstr>Важные проверки, отсутствующие в Rust</vt:lpstr>
      <vt:lpstr>Проверки переполнений в Rust</vt:lpstr>
      <vt:lpstr>Defined overflow</vt:lpstr>
      <vt:lpstr>Оптимизации в компиляторе</vt:lpstr>
      <vt:lpstr>Workarounds</vt:lpstr>
      <vt:lpstr>Улучшение при отключении дефолтных проверок (деление на ноль и т.д.)</vt:lpstr>
      <vt:lpstr>Замедление при включении целочисленных переполнений</vt:lpstr>
      <vt:lpstr>Замедление в C++</vt:lpstr>
      <vt:lpstr>Выводы</vt:lpstr>
      <vt:lpstr>Отсутствие режима fast-math</vt:lpstr>
      <vt:lpstr>Вычисления с плавающей запятой</vt:lpstr>
      <vt:lpstr>Виды fast-math флагов</vt:lpstr>
      <vt:lpstr>Как на это смотрят языки программирования</vt:lpstr>
      <vt:lpstr>Оптимизации: Векторизация</vt:lpstr>
      <vt:lpstr>Оптимизации: Finite only</vt:lpstr>
      <vt:lpstr>Подводные камни: Проверки</vt:lpstr>
      <vt:lpstr>Позиция Rust</vt:lpstr>
      <vt:lpstr>Workarounds: Интринсики</vt:lpstr>
      <vt:lpstr>Результаты при включении fast-math</vt:lpstr>
      <vt:lpstr>Выводы</vt:lpstr>
      <vt:lpstr>Локализация символов</vt:lpstr>
      <vt:lpstr>Локализация символов</vt:lpstr>
      <vt:lpstr>Оптимизации в компиляторе</vt:lpstr>
      <vt:lpstr>Пример оптимизации</vt:lpstr>
      <vt:lpstr>Сравнение с C/C++</vt:lpstr>
      <vt:lpstr>Распространённость</vt:lpstr>
      <vt:lpstr>Замедление при отключении локализации</vt:lpstr>
      <vt:lpstr>Выводы</vt:lpstr>
      <vt:lpstr>Выводы</vt:lpstr>
      <vt:lpstr>Ускорение при отключении (почти) всех проверок Rust</vt:lpstr>
      <vt:lpstr>Распределение замедлений в бенчмарках</vt:lpstr>
      <vt:lpstr>Распределение замедлений в бенчмарках Hardened C++</vt:lpstr>
      <vt:lpstr>Выводы</vt:lpstr>
      <vt:lpstr>О чём мы не успели рассказать ...</vt:lpstr>
      <vt:lpstr>The End</vt:lpstr>
      <vt:lpstr>Приложения</vt:lpstr>
      <vt:lpstr>Rust primer</vt:lpstr>
      <vt:lpstr>Распределение замедлений в бенчмарках</vt:lpstr>
      <vt:lpstr>Подготовка доклада</vt:lpstr>
      <vt:lpstr>Rust-бенчмарки</vt:lpstr>
      <vt:lpstr>C++ бенчмарки</vt:lpstr>
      <vt:lpstr>Тестовый сервер</vt:lpstr>
      <vt:lpstr>TODO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Производительность языка Rust</dc:title>
  <dc:creator>Asus</dc:creator>
  <cp:lastModifiedBy>Asus</cp:lastModifiedBy>
  <cp:revision>1078</cp:revision>
  <dcterms:created xsi:type="dcterms:W3CDTF">2026-01-25T07:50:40Z</dcterms:created>
  <dcterms:modified xsi:type="dcterms:W3CDTF">2026-05-14T20:33:39Z</dcterms:modified>
</cp:coreProperties>
</file>